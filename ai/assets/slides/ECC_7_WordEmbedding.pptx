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606" r:id="rId2"/>
    <p:sldId id="607" r:id="rId3"/>
    <p:sldId id="471" r:id="rId4"/>
    <p:sldId id="588" r:id="rId5"/>
    <p:sldId id="433" r:id="rId6"/>
    <p:sldId id="731" r:id="rId7"/>
    <p:sldId id="732" r:id="rId8"/>
    <p:sldId id="733" r:id="rId9"/>
    <p:sldId id="734" r:id="rId10"/>
    <p:sldId id="735" r:id="rId11"/>
    <p:sldId id="736" r:id="rId12"/>
    <p:sldId id="737" r:id="rId13"/>
    <p:sldId id="738" r:id="rId14"/>
    <p:sldId id="739" r:id="rId15"/>
    <p:sldId id="740" r:id="rId16"/>
    <p:sldId id="742" r:id="rId17"/>
    <p:sldId id="741" r:id="rId18"/>
    <p:sldId id="718" r:id="rId19"/>
    <p:sldId id="719" r:id="rId20"/>
    <p:sldId id="725" r:id="rId21"/>
    <p:sldId id="726" r:id="rId22"/>
    <p:sldId id="444" r:id="rId23"/>
    <p:sldId id="492" r:id="rId24"/>
    <p:sldId id="276" r:id="rId25"/>
    <p:sldId id="415" r:id="rId26"/>
    <p:sldId id="431" r:id="rId27"/>
    <p:sldId id="446" r:id="rId28"/>
    <p:sldId id="743" r:id="rId29"/>
    <p:sldId id="728" r:id="rId30"/>
    <p:sldId id="744" r:id="rId31"/>
    <p:sldId id="745" r:id="rId32"/>
    <p:sldId id="748" r:id="rId33"/>
    <p:sldId id="749" r:id="rId34"/>
    <p:sldId id="751" r:id="rId35"/>
    <p:sldId id="750" r:id="rId36"/>
    <p:sldId id="752" r:id="rId37"/>
    <p:sldId id="753" r:id="rId38"/>
    <p:sldId id="754" r:id="rId39"/>
    <p:sldId id="755" r:id="rId40"/>
    <p:sldId id="746" r:id="rId41"/>
    <p:sldId id="747" r:id="rId42"/>
    <p:sldId id="756" r:id="rId43"/>
    <p:sldId id="685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sit" initials="p" lastIdx="22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CD3830-85D1-4120-A46B-CD9B950C3BB9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F3F3AB-41E1-4FEB-829F-210A55F37E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736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FD0FAF20-943D-6D5B-EB55-42994CDC5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28949e6b4_2_98:notes">
            <a:extLst>
              <a:ext uri="{FF2B5EF4-FFF2-40B4-BE49-F238E27FC236}">
                <a16:creationId xmlns:a16="http://schemas.microsoft.com/office/drawing/2014/main" id="{34F18E50-8493-6570-0E07-D091FF04F3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28949e6b4_2_98:notes">
            <a:extLst>
              <a:ext uri="{FF2B5EF4-FFF2-40B4-BE49-F238E27FC236}">
                <a16:creationId xmlns:a16="http://schemas.microsoft.com/office/drawing/2014/main" id="{954DDAC6-91EA-6BC4-139B-63C67B3B54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2660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228949e6b4_2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228949e6b4_2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6636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25D5B-60F4-47F1-97DF-38107AB8C824}" type="datetime1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3B269-3C36-483D-9396-A3070A3EEBFC}" type="datetime1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9002D-9AE5-44B1-9B10-FB085242BC49}" type="datetime1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523B4-6842-4C37-A800-C33970BE139B}" type="datetime1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BD90C-7828-4672-BF49-1995FC6B6F2E}" type="datetime1">
              <a:rPr lang="en-IN" smtClean="0"/>
              <a:t>14-01-2026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48D36-75F5-45C8-B989-D8905602C277}" type="datetime1">
              <a:rPr lang="en-IN" smtClean="0"/>
              <a:t>14-01-2026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3B91-B51D-491E-9A46-4F6FE91CE402}" type="datetime1">
              <a:rPr lang="en-IN" smtClean="0"/>
              <a:t>14-01-2026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36345-3E21-4EBB-8437-B3131759110C}" type="datetime1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9C83C-29EA-4B4B-B64D-AFECCD6272DB}" type="datetime1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55DD2-246D-4D36-82D4-8AE838B18C1F}" type="datetime1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717C7-A10A-4DB0-A56B-2C771F1D3D41}" type="datetime1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20137-03FE-479B-A65D-815EC44829E7}" type="datetime1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0.pn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2.png"/><Relationship Id="rId4" Type="http://schemas.openxmlformats.org/officeDocument/2006/relationships/hyperlink" Target="https://www.manning.com/books/build-a-large-language-model-from-scratch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884D8-88AA-506C-A995-4816CF45C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3">
            <a:extLst>
              <a:ext uri="{FF2B5EF4-FFF2-40B4-BE49-F238E27FC236}">
                <a16:creationId xmlns:a16="http://schemas.microsoft.com/office/drawing/2014/main" id="{93EDC3FF-C190-C8EA-7DEC-7D397F529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850" y="4384675"/>
            <a:ext cx="7496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Dr. Pooja Agarwal</a:t>
            </a:r>
          </a:p>
        </p:txBody>
      </p:sp>
      <p:sp>
        <p:nvSpPr>
          <p:cNvPr id="2052" name="Rectangle 14">
            <a:extLst>
              <a:ext uri="{FF2B5EF4-FFF2-40B4-BE49-F238E27FC236}">
                <a16:creationId xmlns:a16="http://schemas.microsoft.com/office/drawing/2014/main" id="{E126F1CE-3265-D2D3-A8ED-FB29F4A96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850" y="4846638"/>
            <a:ext cx="74961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Dept. of CSE, PES University, Bangalore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5A5893B-36D7-B39F-6574-0BEF4B614DA0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357EE55-932E-282C-F262-08B6A35DE8A3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ED1F7A9-6D4B-6583-A540-C61464640517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D2D032-4BDF-904C-4128-8AC3A456DDE2}"/>
              </a:ext>
            </a:extLst>
          </p:cNvPr>
          <p:cNvCxnSpPr/>
          <p:nvPr/>
        </p:nvCxnSpPr>
        <p:spPr>
          <a:xfrm flipV="1">
            <a:off x="4889500" y="4384675"/>
            <a:ext cx="4581525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7FCCEBE-CF5C-2002-9968-7EA6E810D44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F0BEC23-062A-FD79-274A-8A4CCCDFE8C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AE9A012-124A-AB39-5001-C490129B421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pic>
        <p:nvPicPr>
          <p:cNvPr id="2056" name="object 5">
            <a:extLst>
              <a:ext uri="{FF2B5EF4-FFF2-40B4-BE49-F238E27FC236}">
                <a16:creationId xmlns:a16="http://schemas.microsoft.com/office/drawing/2014/main" id="{3E2B4B40-4943-37DE-2983-E6D43431E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275" y="1787525"/>
            <a:ext cx="2374900" cy="365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105DE2F-FA5D-ECAD-E530-C3EA137ADC55}"/>
              </a:ext>
            </a:extLst>
          </p:cNvPr>
          <p:cNvSpPr/>
          <p:nvPr/>
        </p:nvSpPr>
        <p:spPr>
          <a:xfrm>
            <a:off x="6096000" y="1730266"/>
            <a:ext cx="21812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u="sng" dirty="0">
                <a:solidFill>
                  <a:srgbClr val="FF0000"/>
                </a:solidFill>
              </a:rPr>
              <a:t>Unit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B971A3-32DB-BD1A-6B28-A37F3C620372}"/>
              </a:ext>
            </a:extLst>
          </p:cNvPr>
          <p:cNvSpPr/>
          <p:nvPr/>
        </p:nvSpPr>
        <p:spPr>
          <a:xfrm>
            <a:off x="4731026" y="3667444"/>
            <a:ext cx="61496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Word Embeddings</a:t>
            </a:r>
            <a:endParaRPr lang="en-IN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2AC26A-E62F-8101-6EC5-6B9CB1FE6B7D}"/>
              </a:ext>
            </a:extLst>
          </p:cNvPr>
          <p:cNvSpPr/>
          <p:nvPr/>
        </p:nvSpPr>
        <p:spPr>
          <a:xfrm>
            <a:off x="2567536" y="503881"/>
            <a:ext cx="7497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135" name="Google Shape;135;p21">
            <a:extLst>
              <a:ext uri="{FF2B5EF4-FFF2-40B4-BE49-F238E27FC236}">
                <a16:creationId xmlns:a16="http://schemas.microsoft.com/office/drawing/2014/main" id="{67F86042-2C35-03EC-2220-3972DA3DDCCA}"/>
              </a:ext>
            </a:extLst>
          </p:cNvPr>
          <p:cNvSpPr/>
          <p:nvPr/>
        </p:nvSpPr>
        <p:spPr>
          <a:xfrm>
            <a:off x="6316143" y="2640500"/>
            <a:ext cx="2612000" cy="8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endParaRPr sz="186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3600"/>
            </a:pPr>
            <a:r>
              <a:rPr lang="en-GB" sz="2667" b="1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(UE23CS342BA4)</a:t>
            </a:r>
            <a:endParaRPr sz="2667" b="1" dirty="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714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45B4DC6B-8399-4A01-0583-8CDBBAD22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>
            <a:extLst>
              <a:ext uri="{FF2B5EF4-FFF2-40B4-BE49-F238E27FC236}">
                <a16:creationId xmlns:a16="http://schemas.microsoft.com/office/drawing/2014/main" id="{C0774D66-BD6C-1C5C-A17D-ABE50FF83244}"/>
              </a:ext>
            </a:extLst>
          </p:cNvPr>
          <p:cNvSpPr/>
          <p:nvPr/>
        </p:nvSpPr>
        <p:spPr>
          <a:xfrm>
            <a:off x="693900" y="1887267"/>
            <a:ext cx="7792000" cy="7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r>
              <a:rPr lang="en-GB" sz="3733" b="1" dirty="0">
                <a:latin typeface="Calibri"/>
                <a:ea typeface="Calibri"/>
                <a:cs typeface="Calibri"/>
                <a:sym typeface="Calibri"/>
              </a:rPr>
              <a:t>Generative AI and its Applications</a:t>
            </a:r>
            <a:endParaRPr sz="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21">
            <a:extLst>
              <a:ext uri="{FF2B5EF4-FFF2-40B4-BE49-F238E27FC236}">
                <a16:creationId xmlns:a16="http://schemas.microsoft.com/office/drawing/2014/main" id="{3E684A38-8B94-C6B2-5ABA-D43D749E0B98}"/>
              </a:ext>
            </a:extLst>
          </p:cNvPr>
          <p:cNvCxnSpPr/>
          <p:nvPr/>
        </p:nvCxnSpPr>
        <p:spPr>
          <a:xfrm rot="10800000" flipH="1">
            <a:off x="71481" y="2555167"/>
            <a:ext cx="8214800" cy="6120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3" name="Google Shape;143;p21">
            <a:extLst>
              <a:ext uri="{FF2B5EF4-FFF2-40B4-BE49-F238E27FC236}">
                <a16:creationId xmlns:a16="http://schemas.microsoft.com/office/drawing/2014/main" id="{D0027974-4BB1-9BC5-9AB2-B1CA1B2FF39C}"/>
              </a:ext>
            </a:extLst>
          </p:cNvPr>
          <p:cNvSpPr txBox="1"/>
          <p:nvPr/>
        </p:nvSpPr>
        <p:spPr>
          <a:xfrm>
            <a:off x="693900" y="3247067"/>
            <a:ext cx="92076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Word Embeddings</a:t>
            </a:r>
            <a:endParaRPr lang="en-IN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364C0D01-8E70-CA60-CC1F-3C76BDEDCB9A}"/>
              </a:ext>
            </a:extLst>
          </p:cNvPr>
          <p:cNvSpPr/>
          <p:nvPr/>
        </p:nvSpPr>
        <p:spPr>
          <a:xfrm>
            <a:off x="10408068" y="252240"/>
            <a:ext cx="839610" cy="15546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424669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39182" y="637847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Acknowledgement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03435-562F-6B36-6764-2B23A3388569}"/>
              </a:ext>
            </a:extLst>
          </p:cNvPr>
          <p:cNvSpPr txBox="1"/>
          <p:nvPr/>
        </p:nvSpPr>
        <p:spPr>
          <a:xfrm>
            <a:off x="618877" y="2214438"/>
            <a:ext cx="95808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/>
              <a:t>The slides are prepared from  various resources from the Universities from abroad and India. Also, some material is taken from reliable resources from internet throughout this course.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62AAB39-893C-D3AB-EF7A-F1898677FE1E}"/>
              </a:ext>
            </a:extLst>
          </p:cNvPr>
          <p:cNvSpPr/>
          <p:nvPr/>
        </p:nvSpPr>
        <p:spPr>
          <a:xfrm>
            <a:off x="10408068" y="252240"/>
            <a:ext cx="839610" cy="15546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2470E-30FB-46E8-B5F5-08D8E617A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0E5DD98-2855-EC01-0751-B2A2312B4E51}"/>
              </a:ext>
            </a:extLst>
          </p:cNvPr>
          <p:cNvSpPr/>
          <p:nvPr/>
        </p:nvSpPr>
        <p:spPr>
          <a:xfrm>
            <a:off x="598883" y="977902"/>
            <a:ext cx="74972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cap="all" dirty="0" err="1"/>
              <a:t>generativeAI</a:t>
            </a:r>
            <a:r>
              <a:rPr lang="en-US" sz="3600" b="1" cap="all" dirty="0"/>
              <a:t> and Its Applications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ED0267-41DF-5F97-C6C8-6CB560D7AA53}"/>
              </a:ext>
            </a:extLst>
          </p:cNvPr>
          <p:cNvSpPr/>
          <p:nvPr/>
        </p:nvSpPr>
        <p:spPr>
          <a:xfrm>
            <a:off x="598883" y="2016908"/>
            <a:ext cx="7497214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Sequence to be followed: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accent1">
                    <a:lumMod val="75000"/>
                  </a:schemeClr>
                </a:solidFill>
              </a:rPr>
              <a:t>One hot Encoding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accent1">
                    <a:lumMod val="75000"/>
                  </a:schemeClr>
                </a:solidFill>
              </a:rPr>
              <a:t>Bag of Words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500" dirty="0" err="1">
                <a:solidFill>
                  <a:schemeClr val="accent1">
                    <a:lumMod val="75000"/>
                  </a:schemeClr>
                </a:solidFill>
              </a:rPr>
              <a:t>Ngrams</a:t>
            </a:r>
            <a:endParaRPr lang="en-US" sz="25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accent1">
                    <a:lumMod val="75000"/>
                  </a:schemeClr>
                </a:solidFill>
              </a:rPr>
              <a:t>TF-IDF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accent1">
                    <a:lumMod val="75000"/>
                  </a:schemeClr>
                </a:solidFill>
              </a:rPr>
              <a:t>Word Embedding- Word2Vec, </a:t>
            </a:r>
            <a:r>
              <a:rPr lang="en-US" sz="2500" dirty="0" err="1">
                <a:solidFill>
                  <a:schemeClr val="accent1">
                    <a:lumMod val="75000"/>
                  </a:schemeClr>
                </a:solidFill>
              </a:rPr>
              <a:t>SkipGram</a:t>
            </a:r>
            <a:r>
              <a:rPr lang="en-US" sz="2500" dirty="0">
                <a:solidFill>
                  <a:schemeClr val="accent1">
                    <a:lumMod val="75000"/>
                  </a:schemeClr>
                </a:solidFill>
              </a:rPr>
              <a:t>, CBOW, Glove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accent1">
                    <a:lumMod val="75000"/>
                  </a:schemeClr>
                </a:solidFill>
              </a:rPr>
              <a:t>POS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accent1">
                    <a:lumMod val="75000"/>
                  </a:schemeClr>
                </a:solidFill>
              </a:rPr>
              <a:t>NER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accent1">
                    <a:lumMod val="75000"/>
                  </a:schemeClr>
                </a:solidFill>
              </a:rPr>
              <a:t>Text Classification</a:t>
            </a:r>
            <a:endParaRPr lang="en-IN" sz="2500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0198F66-767D-DFF0-2C76-9FAEDB43184E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AC12E10-1527-7256-E8E4-450EBC4468B3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CBE3374-6EFD-A865-A9AA-7E0FD3D98944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976CF69-D5BA-65EF-3617-628E8C729D83}"/>
              </a:ext>
            </a:extLst>
          </p:cNvPr>
          <p:cNvCxnSpPr/>
          <p:nvPr/>
        </p:nvCxnSpPr>
        <p:spPr>
          <a:xfrm flipV="1">
            <a:off x="0" y="172495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792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598883" y="814827"/>
            <a:ext cx="61352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One-Hot Encoding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0CD2BAB1-4018-4F72-952A-F45EAB956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111" y="3108070"/>
            <a:ext cx="9912939" cy="3176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To train embeddings, words need to be converted to one-hot  encodings so that they can be used </a:t>
            </a:r>
            <a:r>
              <a:rPr lang="en-US" sz="2400" dirty="0">
                <a:solidFill>
                  <a:srgbClr val="00B0F0"/>
                </a:solidFill>
              </a:rPr>
              <a:t>as input to a neural network</a:t>
            </a:r>
            <a:endParaRPr lang="en-IN" sz="2400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DE7C21-E40E-3840-B3B4-0F3B64A0E93F}"/>
              </a:ext>
            </a:extLst>
          </p:cNvPr>
          <p:cNvSpPr txBox="1"/>
          <p:nvPr/>
        </p:nvSpPr>
        <p:spPr>
          <a:xfrm>
            <a:off x="393111" y="1486687"/>
            <a:ext cx="91857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Word vectors are </a:t>
            </a:r>
            <a:r>
              <a:rPr lang="en-US" sz="2400" dirty="0">
                <a:solidFill>
                  <a:srgbClr val="7030A0"/>
                </a:solidFill>
              </a:rPr>
              <a:t>vectors of weights</a:t>
            </a:r>
            <a:r>
              <a:rPr lang="en-US" sz="2400" dirty="0"/>
              <a:t>. Say there are </a:t>
            </a:r>
            <a:r>
              <a:rPr lang="en-US" sz="2400" dirty="0">
                <a:solidFill>
                  <a:srgbClr val="00B050"/>
                </a:solidFill>
              </a:rPr>
              <a:t>some dimensions </a:t>
            </a:r>
            <a:r>
              <a:rPr lang="en-US" sz="2400" dirty="0"/>
              <a:t>and these vectors are defining those </a:t>
            </a:r>
            <a:r>
              <a:rPr lang="en-US" sz="2400" dirty="0">
                <a:solidFill>
                  <a:srgbClr val="00B0F0"/>
                </a:solidFill>
              </a:rPr>
              <a:t>words in these n dimensions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 a simple 1-of-N (or one-hot) encoding </a:t>
            </a:r>
            <a:r>
              <a:rPr lang="en-US" sz="2400" dirty="0">
                <a:solidFill>
                  <a:srgbClr val="FF0000"/>
                </a:solidFill>
              </a:rPr>
              <a:t>every element in the vector is associated with a word in the vocabulary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66F137-867A-AB45-ABA2-9F50F2EBC403}"/>
              </a:ext>
            </a:extLst>
          </p:cNvPr>
          <p:cNvSpPr txBox="1"/>
          <p:nvPr/>
        </p:nvSpPr>
        <p:spPr>
          <a:xfrm>
            <a:off x="747318" y="4227291"/>
            <a:ext cx="201837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Amongst all the dimensions, only one dimension is 1 and all other dimensions are 0 and this dimension may correspond to the index of the word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C2DC74-31BD-9B4A-B6A2-B1C4AC0C2FD2}"/>
              </a:ext>
            </a:extLst>
          </p:cNvPr>
          <p:cNvSpPr txBox="1"/>
          <p:nvPr/>
        </p:nvSpPr>
        <p:spPr>
          <a:xfrm>
            <a:off x="7692948" y="4227291"/>
            <a:ext cx="26131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this encoding, computing semantic similarity is difficult.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Sim(hotel, motel)=0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84C1BD-8491-C74E-A326-D0F3A9665B9F}"/>
              </a:ext>
            </a:extLst>
          </p:cNvPr>
          <p:cNvSpPr/>
          <p:nvPr/>
        </p:nvSpPr>
        <p:spPr>
          <a:xfrm>
            <a:off x="3048000" y="448890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Hotel [0 0 0 0 1 0 0 0 0 0 0 0 0 0 0 ]</a:t>
            </a:r>
          </a:p>
          <a:p>
            <a:r>
              <a:rPr lang="en-US" dirty="0">
                <a:solidFill>
                  <a:srgbClr val="00B050"/>
                </a:solidFill>
              </a:rPr>
              <a:t>Motel[0 0 0 0 0 0 0 0 1 0 0 0 0 0 0 ]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12250D-E1E6-4180-8B23-EB387F978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3D2F2C27-2AF8-9D9B-BB6C-4B5BF5E6385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0216ACE-50D3-6E27-69DA-26196FF40134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04125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5BDE3-5813-21C0-36A2-0630AF1C6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4DC2B1-83FE-32C2-96D5-34F3FA6EAAEC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F7EEBA4-28FA-C098-7ADF-4182B7868B4E}"/>
              </a:ext>
            </a:extLst>
          </p:cNvPr>
          <p:cNvSpPr/>
          <p:nvPr/>
        </p:nvSpPr>
        <p:spPr>
          <a:xfrm>
            <a:off x="598883" y="814827"/>
            <a:ext cx="61352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One-Hot Encoding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A03990-7F6E-D325-156D-F77A9AC96A06}"/>
              </a:ext>
            </a:extLst>
          </p:cNvPr>
          <p:cNvSpPr txBox="1"/>
          <p:nvPr/>
        </p:nvSpPr>
        <p:spPr>
          <a:xfrm>
            <a:off x="393111" y="1486687"/>
            <a:ext cx="9185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One Hot Encoding</a:t>
            </a:r>
            <a:r>
              <a:rPr lang="en-US" dirty="0"/>
              <a:t> is a </a:t>
            </a:r>
            <a:r>
              <a:rPr lang="en-US" b="1" i="1" dirty="0"/>
              <a:t>method for converting categorical variables into a binary format. </a:t>
            </a:r>
            <a:r>
              <a:rPr lang="en-US" dirty="0"/>
              <a:t>It creates new columns for each category where </a:t>
            </a:r>
            <a:r>
              <a:rPr lang="en-US" b="1" dirty="0"/>
              <a:t>1</a:t>
            </a:r>
            <a:r>
              <a:rPr lang="en-US" dirty="0"/>
              <a:t> means the category is present and </a:t>
            </a:r>
            <a:r>
              <a:rPr lang="en-US" b="1" dirty="0"/>
              <a:t>0</a:t>
            </a:r>
            <a:r>
              <a:rPr lang="en-US" dirty="0"/>
              <a:t> means it is not.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0ABA72-5563-07C3-D4D0-195D391FF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6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1D310FD7-71D2-946F-82D0-24C17F79339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C217B61-D636-60DA-A389-134D22069B76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76A221A-71E4-A803-4BAF-D14ED6B52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532" y="2580245"/>
            <a:ext cx="6706536" cy="121937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47FBA2E-C1F3-2F31-1345-CB8965EC6279}"/>
              </a:ext>
            </a:extLst>
          </p:cNvPr>
          <p:cNvSpPr txBox="1"/>
          <p:nvPr/>
        </p:nvSpPr>
        <p:spPr>
          <a:xfrm>
            <a:off x="884236" y="4101075"/>
            <a:ext cx="10053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Create Vocabulary</a:t>
            </a:r>
          </a:p>
          <a:p>
            <a:pPr>
              <a:buNone/>
            </a:pPr>
            <a:r>
              <a:rPr lang="en-US" dirty="0"/>
              <a:t>We first build a </a:t>
            </a:r>
            <a:r>
              <a:rPr lang="en-US" b="1" dirty="0"/>
              <a:t>fixed vocabulary</a:t>
            </a:r>
            <a:r>
              <a:rPr lang="en-US" dirty="0"/>
              <a:t> from the dataset.</a:t>
            </a:r>
          </a:p>
          <a:p>
            <a:pPr>
              <a:buNone/>
            </a:pPr>
            <a:r>
              <a:rPr lang="en-US" b="1" dirty="0"/>
              <a:t>Vocabulary (Size = 7) = [</a:t>
            </a:r>
            <a:r>
              <a:rPr lang="en-US" dirty="0"/>
              <a:t>The, food, is, good, bad, pizza, amazing]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C02FEA-F270-4278-4B92-B81CC5F13A98}"/>
              </a:ext>
            </a:extLst>
          </p:cNvPr>
          <p:cNvSpPr txBox="1"/>
          <p:nvPr/>
        </p:nvSpPr>
        <p:spPr>
          <a:xfrm>
            <a:off x="884236" y="5234600"/>
            <a:ext cx="10053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One hot Representation of the words:</a:t>
            </a:r>
          </a:p>
          <a:p>
            <a:r>
              <a:rPr lang="en-US" dirty="0"/>
              <a:t>The: </a:t>
            </a:r>
            <a:r>
              <a:rPr lang="en-IN" dirty="0"/>
              <a:t>[1 0 0 0 0 0 0], food: [0 1 0 0 0 0 0], is: [0 0 1 0 0 0 0], good: [0 0 0 1 0 0 0], bad: [0 0 0 0 1 0 0], pizza: [0 0 0 0  0 1 0]  , amazing : [0 0 0 0 0 0 1]</a:t>
            </a:r>
          </a:p>
        </p:txBody>
      </p:sp>
    </p:spTree>
    <p:extLst>
      <p:ext uri="{BB962C8B-B14F-4D97-AF65-F5344CB8AC3E}">
        <p14:creationId xmlns:p14="http://schemas.microsoft.com/office/powerpoint/2010/main" val="77904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F31A0-B444-93F3-DFBB-4CA8156AF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E94467-FDE2-66B6-0BAE-C1017DFCAE9F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2E5D436-8A1A-FA6A-FC5F-C61A0314391A}"/>
              </a:ext>
            </a:extLst>
          </p:cNvPr>
          <p:cNvSpPr/>
          <p:nvPr/>
        </p:nvSpPr>
        <p:spPr>
          <a:xfrm>
            <a:off x="598883" y="814827"/>
            <a:ext cx="61352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One-Hot Encodings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B4314F-DC95-1154-D22A-83884E442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502E555A-D00F-2B75-0BD0-920AB983DD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33F9044-2038-7C79-E1DE-DE7267D5CF2F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312957-5FD8-A54D-2DB5-D6B0FE7250E5}"/>
              </a:ext>
            </a:extLst>
          </p:cNvPr>
          <p:cNvSpPr txBox="1"/>
          <p:nvPr/>
        </p:nvSpPr>
        <p:spPr>
          <a:xfrm>
            <a:off x="819151" y="1632203"/>
            <a:ext cx="10053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Sentence Level Encoding</a:t>
            </a:r>
          </a:p>
          <a:p>
            <a:r>
              <a:rPr lang="en-US" dirty="0"/>
              <a:t>Sentence S1: “The food is good”</a:t>
            </a:r>
          </a:p>
          <a:p>
            <a:r>
              <a:rPr lang="en-IN" dirty="0"/>
              <a:t>Number of words = </a:t>
            </a:r>
            <a:r>
              <a:rPr lang="en-IN" b="1" dirty="0"/>
              <a:t>4, </a:t>
            </a:r>
            <a:r>
              <a:rPr lang="en-IN" dirty="0"/>
              <a:t>Vocabulary size = </a:t>
            </a:r>
            <a:r>
              <a:rPr lang="en-IN" b="1" dirty="0"/>
              <a:t>7, </a:t>
            </a:r>
            <a:r>
              <a:rPr lang="fr-FR" dirty="0"/>
              <a:t>Sentence Matrix Size = 4 × 7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1E785C-39C2-BD4D-0267-2DD2ABFB7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529" y="2694917"/>
            <a:ext cx="3172268" cy="13908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2ABDDB-27C7-E5C4-37A5-1174787A3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8637" y="3076621"/>
            <a:ext cx="1886213" cy="17147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DB1B0F-DF0A-F388-08E2-C9C1FEDF732A}"/>
              </a:ext>
            </a:extLst>
          </p:cNvPr>
          <p:cNvSpPr txBox="1"/>
          <p:nvPr/>
        </p:nvSpPr>
        <p:spPr>
          <a:xfrm>
            <a:off x="598883" y="4862872"/>
            <a:ext cx="6101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Sentence S2: “The food is bad”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Matrix Size = 4 × 7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60A197-CDE0-4B34-F0D2-8E94F5688A46}"/>
              </a:ext>
            </a:extLst>
          </p:cNvPr>
          <p:cNvSpPr txBox="1"/>
          <p:nvPr/>
        </p:nvSpPr>
        <p:spPr>
          <a:xfrm>
            <a:off x="598883" y="5637972"/>
            <a:ext cx="6101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Sentence S3: “Pizza is amazing”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Number of words = </a:t>
            </a:r>
            <a:r>
              <a:rPr lang="en-US" b="1" dirty="0"/>
              <a:t>3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Matrix Size = 3 × 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40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2BCAC-A555-C86E-2C1F-658C274D2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973DEC-6628-870B-DF43-29D98D0A5817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333BDA8-4DB4-53CA-905E-52550BBEF56B}"/>
              </a:ext>
            </a:extLst>
          </p:cNvPr>
          <p:cNvSpPr/>
          <p:nvPr/>
        </p:nvSpPr>
        <p:spPr>
          <a:xfrm>
            <a:off x="598883" y="814827"/>
            <a:ext cx="61352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Limitations of One-Hot Encoding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1F0A44-F274-2E56-2CDB-DC03CA609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8A584F74-3465-CEBB-1FBD-E3C33438E5C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53D7344-2B40-2CF5-EDFD-24B8C8637851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3A333D-F2FA-11BE-ECE2-6EE6E5CBF3C6}"/>
              </a:ext>
            </a:extLst>
          </p:cNvPr>
          <p:cNvSpPr txBox="1"/>
          <p:nvPr/>
        </p:nvSpPr>
        <p:spPr>
          <a:xfrm>
            <a:off x="819151" y="1632203"/>
            <a:ext cx="100533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Sparse Matrix</a:t>
            </a:r>
          </a:p>
          <a:p>
            <a:r>
              <a:rPr lang="en-US" dirty="0"/>
              <a:t>Mostly zeros</a:t>
            </a:r>
          </a:p>
          <a:p>
            <a:r>
              <a:rPr lang="en-US" dirty="0"/>
              <a:t>High-dimensional vectors</a:t>
            </a:r>
          </a:p>
          <a:p>
            <a:r>
              <a:rPr lang="en-US" dirty="0"/>
              <a:t>Leads to </a:t>
            </a:r>
            <a:r>
              <a:rPr lang="en-US" b="1" dirty="0"/>
              <a:t>overfitting</a:t>
            </a:r>
            <a:r>
              <a:rPr lang="en-US" dirty="0"/>
              <a:t>, especially with limited data</a:t>
            </a:r>
          </a:p>
          <a:p>
            <a:endParaRPr lang="en-US" dirty="0"/>
          </a:p>
          <a:p>
            <a:r>
              <a:rPr lang="en-US" b="1" dirty="0"/>
              <a:t>No Semantic Meaning Captured</a:t>
            </a:r>
          </a:p>
          <a:p>
            <a:r>
              <a:rPr lang="en-US" dirty="0"/>
              <a:t>“good” and “amazing” are </a:t>
            </a:r>
            <a:r>
              <a:rPr lang="en-US" b="1" dirty="0"/>
              <a:t>equally distant</a:t>
            </a:r>
            <a:endParaRPr lang="en-US" dirty="0"/>
          </a:p>
          <a:p>
            <a:r>
              <a:rPr lang="en-US" dirty="0"/>
              <a:t>Model cannot learn similarity between words</a:t>
            </a:r>
          </a:p>
          <a:p>
            <a:endParaRPr lang="en-US" dirty="0"/>
          </a:p>
          <a:p>
            <a:r>
              <a:rPr lang="en-US" dirty="0"/>
              <a:t>distance(food  good) = distance(food not good)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4A52EF-0329-52FE-01B8-69A6AB6119DF}"/>
              </a:ext>
            </a:extLst>
          </p:cNvPr>
          <p:cNvSpPr txBox="1"/>
          <p:nvPr/>
        </p:nvSpPr>
        <p:spPr>
          <a:xfrm>
            <a:off x="896620" y="4810269"/>
            <a:ext cx="6101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Variable Sentence Length 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S1 → 4×7 matrix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S3 → 3×7 matrix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ML algorithms expect fixed-size inputs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9A274A-CDAE-2695-560B-6D5C946C22D7}"/>
              </a:ext>
            </a:extLst>
          </p:cNvPr>
          <p:cNvSpPr txBox="1"/>
          <p:nvPr/>
        </p:nvSpPr>
        <p:spPr>
          <a:xfrm>
            <a:off x="6096000" y="4699388"/>
            <a:ext cx="61010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Out-of-Vocabulary (OOV) Problem</a:t>
            </a:r>
          </a:p>
          <a:p>
            <a:pPr>
              <a:buNone/>
            </a:pPr>
            <a:r>
              <a:rPr lang="en-US" b="1" dirty="0"/>
              <a:t>New Sentence:</a:t>
            </a:r>
            <a:endParaRPr lang="en-US" dirty="0"/>
          </a:p>
          <a:p>
            <a:pPr>
              <a:buNone/>
            </a:pPr>
            <a:r>
              <a:rPr lang="en-US" i="1" dirty="0"/>
              <a:t>“Berger is bad”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Word </a:t>
            </a:r>
            <a:r>
              <a:rPr lang="en-US" b="1" dirty="0"/>
              <a:t>“Berger”</a:t>
            </a:r>
            <a:r>
              <a:rPr lang="en-US" dirty="0"/>
              <a:t> not in vocabulary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Cannot be encoded using existing one-hot vectors</a:t>
            </a:r>
          </a:p>
        </p:txBody>
      </p:sp>
    </p:spTree>
    <p:extLst>
      <p:ext uri="{BB962C8B-B14F-4D97-AF65-F5344CB8AC3E}">
        <p14:creationId xmlns:p14="http://schemas.microsoft.com/office/powerpoint/2010/main" val="3625270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38A93-A32D-3F0E-277A-C3A04DB8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9142113-0240-6AC7-5FAC-20027BBACB97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74EAE65-E1F3-DE42-85C0-FDE2648EB285}"/>
              </a:ext>
            </a:extLst>
          </p:cNvPr>
          <p:cNvSpPr/>
          <p:nvPr/>
        </p:nvSpPr>
        <p:spPr>
          <a:xfrm>
            <a:off x="598883" y="814827"/>
            <a:ext cx="61352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Bag Of Words (BOW)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88D64D-AB80-2D69-4555-DF13231CDA8C}"/>
              </a:ext>
            </a:extLst>
          </p:cNvPr>
          <p:cNvSpPr txBox="1"/>
          <p:nvPr/>
        </p:nvSpPr>
        <p:spPr>
          <a:xfrm>
            <a:off x="393111" y="1486687"/>
            <a:ext cx="103866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BOW is used to convert </a:t>
            </a:r>
            <a:r>
              <a:rPr lang="en-US" sz="2400" dirty="0">
                <a:highlight>
                  <a:srgbClr val="FFFF00"/>
                </a:highlight>
              </a:rPr>
              <a:t>text into a numerical format </a:t>
            </a:r>
            <a:r>
              <a:rPr lang="en-US" sz="2400" dirty="0"/>
              <a:t>that machine learning algorithms can process.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</a:t>
            </a:r>
            <a:r>
              <a:rPr lang="en-US" sz="2400" b="1" dirty="0"/>
              <a:t>represents a document as an unordered collection </a:t>
            </a:r>
            <a:r>
              <a:rPr lang="en-US" sz="2400" dirty="0"/>
              <a:t>("bag") of the words it contains, keeping </a:t>
            </a:r>
            <a:r>
              <a:rPr lang="en-US" sz="2400" b="1" dirty="0"/>
              <a:t>track of word frequencies </a:t>
            </a:r>
            <a:r>
              <a:rPr lang="en-US" sz="2400" dirty="0"/>
              <a:t>while </a:t>
            </a:r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entirely disregarding grammar and word order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.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96CC6A-6ABF-89F9-42BC-11DA63ADD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9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D71CC66A-9725-9914-AF47-2AD2BEC122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EE1ADB1-07EE-9833-5D38-0B7DBCFC81FF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7B5FDB5-2AD5-864C-8137-2E78A01CB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668" y="3965239"/>
            <a:ext cx="6897063" cy="129558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618A3F0-2DF5-96EA-E229-B174A0278D6D}"/>
              </a:ext>
            </a:extLst>
          </p:cNvPr>
          <p:cNvSpPr txBox="1"/>
          <p:nvPr/>
        </p:nvSpPr>
        <p:spPr>
          <a:xfrm>
            <a:off x="353655" y="5438052"/>
            <a:ext cx="1038664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Let’s first perform the Text preprocessing: </a:t>
            </a:r>
          </a:p>
          <a:p>
            <a:pPr lvl="2"/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1. lower the word cases</a:t>
            </a:r>
          </a:p>
          <a:p>
            <a:pPr lvl="2"/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2. Removal of stop words</a:t>
            </a:r>
          </a:p>
        </p:txBody>
      </p:sp>
    </p:spTree>
    <p:extLst>
      <p:ext uri="{BB962C8B-B14F-4D97-AF65-F5344CB8AC3E}">
        <p14:creationId xmlns:p14="http://schemas.microsoft.com/office/powerpoint/2010/main" val="1053050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1C6F8-E25C-2C96-86C7-98E7B265B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04727D-8112-F1FA-B016-DCE545C9F90D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376EACA-3A93-A645-897F-DB968479FA21}"/>
              </a:ext>
            </a:extLst>
          </p:cNvPr>
          <p:cNvSpPr/>
          <p:nvPr/>
        </p:nvSpPr>
        <p:spPr>
          <a:xfrm>
            <a:off x="598883" y="814827"/>
            <a:ext cx="61352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Bag Of Words (BOW) (</a:t>
            </a:r>
            <a:r>
              <a:rPr lang="en-US" sz="2200" b="1" i="1" dirty="0">
                <a:solidFill>
                  <a:schemeClr val="accent2">
                    <a:lumMod val="75000"/>
                  </a:schemeClr>
                </a:solidFill>
              </a:rPr>
              <a:t>BOW and Binary BOW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F62DF5-14CB-9ED9-1CCF-3833D60D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E4B2C565-697A-0F6E-AE43-3184C246FE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C120B61-FECD-421A-81E8-EA2070F217DF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583549-8737-E839-9875-889DB3503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97" y="1479121"/>
            <a:ext cx="6162483" cy="115759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85F5D04-248E-8577-BEA4-208F13490F9F}"/>
              </a:ext>
            </a:extLst>
          </p:cNvPr>
          <p:cNvSpPr txBox="1"/>
          <p:nvPr/>
        </p:nvSpPr>
        <p:spPr>
          <a:xfrm>
            <a:off x="5840435" y="1363978"/>
            <a:ext cx="55403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After preprocessing we get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6ADA59-F70E-418A-49A0-7E21AB609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183" y="1842384"/>
            <a:ext cx="5106113" cy="13908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0A7E0F-E8FC-B4E5-C106-A36138790258}"/>
              </a:ext>
            </a:extLst>
          </p:cNvPr>
          <p:cNvSpPr txBox="1"/>
          <p:nvPr/>
        </p:nvSpPr>
        <p:spPr>
          <a:xfrm>
            <a:off x="393111" y="2751858"/>
            <a:ext cx="72319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Vocabulary: {good, boy, girl}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Count the Frequency of each word in the vocabulary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good: 3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boy: 2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girl: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6FEEC9-BBE9-852A-1726-D614B2A1314A}"/>
              </a:ext>
            </a:extLst>
          </p:cNvPr>
          <p:cNvSpPr txBox="1"/>
          <p:nvPr/>
        </p:nvSpPr>
        <p:spPr>
          <a:xfrm>
            <a:off x="378102" y="4805993"/>
            <a:ext cx="93856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BoW</a:t>
            </a:r>
            <a:r>
              <a:rPr lang="en-IN" b="1" dirty="0"/>
              <a:t> Vector format</a:t>
            </a:r>
            <a:r>
              <a:rPr lang="en-IN" dirty="0"/>
              <a:t> – based on the descending order of the word frequency</a:t>
            </a:r>
            <a:r>
              <a:rPr lang="en-IN" b="1" dirty="0"/>
              <a:t> [good, boy, girl]</a:t>
            </a:r>
          </a:p>
          <a:p>
            <a:endParaRPr lang="en-IN" dirty="0"/>
          </a:p>
          <a:p>
            <a:r>
              <a:rPr lang="en-IN" b="1" dirty="0">
                <a:highlight>
                  <a:srgbClr val="FFFF00"/>
                </a:highlight>
              </a:rPr>
              <a:t>BOW: represents the frequency of the word in the sentence</a:t>
            </a:r>
          </a:p>
          <a:p>
            <a:r>
              <a:rPr lang="en-IN" dirty="0"/>
              <a:t>Sentence 1: [1, 1, 0]</a:t>
            </a:r>
          </a:p>
          <a:p>
            <a:r>
              <a:rPr lang="en-IN" dirty="0"/>
              <a:t>Sentence 2: [1, 0, 1]</a:t>
            </a:r>
          </a:p>
          <a:p>
            <a:r>
              <a:rPr lang="en-IN" dirty="0"/>
              <a:t>Sentence 3: [1, 1, 1]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25C12C-D90D-ECF3-60E9-5B384A86A1AD}"/>
              </a:ext>
            </a:extLst>
          </p:cNvPr>
          <p:cNvSpPr txBox="1"/>
          <p:nvPr/>
        </p:nvSpPr>
        <p:spPr>
          <a:xfrm>
            <a:off x="7475762" y="3366109"/>
            <a:ext cx="39050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Sentence 4: </a:t>
            </a:r>
            <a:r>
              <a:rPr lang="en-IN" dirty="0">
                <a:solidFill>
                  <a:schemeClr val="accent1"/>
                </a:solidFill>
              </a:rPr>
              <a:t>girl good </a:t>
            </a:r>
            <a:r>
              <a:rPr lang="en-IN" dirty="0" err="1">
                <a:solidFill>
                  <a:schemeClr val="accent1"/>
                </a:solidFill>
              </a:rPr>
              <a:t>good</a:t>
            </a:r>
            <a:endParaRPr lang="en-IN" dirty="0">
              <a:solidFill>
                <a:schemeClr val="accent1"/>
              </a:solidFill>
            </a:endParaRPr>
          </a:p>
          <a:p>
            <a:r>
              <a:rPr lang="en-IN" b="1" dirty="0">
                <a:solidFill>
                  <a:schemeClr val="accent1"/>
                </a:solidFill>
              </a:rPr>
              <a:t>BOW: </a:t>
            </a:r>
            <a:r>
              <a:rPr lang="en-IN" dirty="0">
                <a:solidFill>
                  <a:schemeClr val="accent1"/>
                </a:solidFill>
              </a:rPr>
              <a:t>[2, 0, 1]</a:t>
            </a:r>
          </a:p>
          <a:p>
            <a:r>
              <a:rPr lang="en-IN" b="1" dirty="0">
                <a:solidFill>
                  <a:schemeClr val="accent1"/>
                </a:solidFill>
              </a:rPr>
              <a:t>Binary BOW</a:t>
            </a:r>
            <a:r>
              <a:rPr lang="en-IN" dirty="0">
                <a:solidFill>
                  <a:schemeClr val="accent1"/>
                </a:solidFill>
              </a:rPr>
              <a:t>: [1, 0, 1]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8EE1C7-F1B1-7E74-2835-65ED6D7562ED}"/>
              </a:ext>
            </a:extLst>
          </p:cNvPr>
          <p:cNvSpPr txBox="1"/>
          <p:nvPr/>
        </p:nvSpPr>
        <p:spPr>
          <a:xfrm>
            <a:off x="6937946" y="4849929"/>
            <a:ext cx="44580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b="1" dirty="0">
                <a:highlight>
                  <a:srgbClr val="FFFF00"/>
                </a:highlight>
              </a:rPr>
              <a:t>Binary BOW: represents the existence of the word in the sentence</a:t>
            </a:r>
          </a:p>
          <a:p>
            <a:r>
              <a:rPr lang="en-IN" dirty="0"/>
              <a:t>Sentence 1: [1, 1, 0]</a:t>
            </a:r>
          </a:p>
          <a:p>
            <a:r>
              <a:rPr lang="en-IN" dirty="0"/>
              <a:t>Sentence 2: [1, 0, 1]</a:t>
            </a:r>
          </a:p>
          <a:p>
            <a:r>
              <a:rPr lang="en-IN" dirty="0"/>
              <a:t>Sentence 3: [1, 1, 1]</a:t>
            </a:r>
          </a:p>
        </p:txBody>
      </p:sp>
    </p:spTree>
    <p:extLst>
      <p:ext uri="{BB962C8B-B14F-4D97-AF65-F5344CB8AC3E}">
        <p14:creationId xmlns:p14="http://schemas.microsoft.com/office/powerpoint/2010/main" val="358632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43B61-0051-E3C2-782F-7069DFB62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382329-57CE-C440-BD04-A5B4E8D2A0DC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AE33319-74B2-4FCB-4764-BEEDBD878175}"/>
              </a:ext>
            </a:extLst>
          </p:cNvPr>
          <p:cNvSpPr/>
          <p:nvPr/>
        </p:nvSpPr>
        <p:spPr>
          <a:xfrm>
            <a:off x="598883" y="814827"/>
            <a:ext cx="61352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Advantages and Limitations of BOW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2F5C5F-158C-2B32-1A84-AE7ED3ED9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11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773C9B94-DEE1-76FD-C904-3AE30AADDF9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708D4D2-D18C-1C33-AA2D-357A002D18A8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4D4C28-DA26-B9A3-9BC1-1E8D15A743AD}"/>
              </a:ext>
            </a:extLst>
          </p:cNvPr>
          <p:cNvSpPr txBox="1"/>
          <p:nvPr/>
        </p:nvSpPr>
        <p:spPr>
          <a:xfrm>
            <a:off x="819151" y="1632203"/>
            <a:ext cx="10053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Advantages of Bag Of Words</a:t>
            </a:r>
          </a:p>
          <a:p>
            <a:pPr marL="342900" indent="-342900">
              <a:buAutoNum type="arabicPeriod"/>
            </a:pPr>
            <a:r>
              <a:rPr lang="en-US" dirty="0"/>
              <a:t>Simple and Intuitive</a:t>
            </a:r>
          </a:p>
          <a:p>
            <a:pPr marL="342900" indent="-342900">
              <a:buAutoNum type="arabicPeriod"/>
            </a:pPr>
            <a:r>
              <a:rPr lang="en-US" dirty="0"/>
              <a:t>Fixed Size Input (Based on Vocabulary)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B7507A-EF03-9F37-BEFA-EC23D8D1C647}"/>
              </a:ext>
            </a:extLst>
          </p:cNvPr>
          <p:cNvSpPr txBox="1"/>
          <p:nvPr/>
        </p:nvSpPr>
        <p:spPr>
          <a:xfrm>
            <a:off x="819150" y="2871277"/>
            <a:ext cx="968311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Limitations of Bag Of Words</a:t>
            </a:r>
          </a:p>
          <a:p>
            <a:pPr marL="342900" indent="-342900">
              <a:buAutoNum type="arabicPeriod"/>
            </a:pPr>
            <a:r>
              <a:rPr lang="en-IN" dirty="0"/>
              <a:t>Sparse Matrix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Ordering of words is getting changed</a:t>
            </a:r>
          </a:p>
          <a:p>
            <a:pPr marL="342900" indent="-342900">
              <a:buFontTx/>
              <a:buAutoNum type="arabicPeriod"/>
            </a:pPr>
            <a:endParaRPr lang="en-US" dirty="0"/>
          </a:p>
          <a:p>
            <a:pPr marL="342900" indent="-342900">
              <a:buFontTx/>
              <a:buAutoNum type="arabicPeriod"/>
            </a:pPr>
            <a:r>
              <a:rPr lang="en-US" dirty="0"/>
              <a:t>Out-of-Vocabulary (OOV) Problem  - If the word is not the part of vocabulary</a:t>
            </a:r>
          </a:p>
          <a:p>
            <a:pPr marL="342900" indent="-342900">
              <a:buFontTx/>
              <a:buAutoNum type="arabicPeriod"/>
            </a:pPr>
            <a:endParaRPr lang="en-US" dirty="0"/>
          </a:p>
          <a:p>
            <a:pPr marL="342900" indent="-342900">
              <a:buFontTx/>
              <a:buAutoNum type="arabicPeriod"/>
            </a:pPr>
            <a:r>
              <a:rPr lang="en-US" dirty="0"/>
              <a:t>Semantic meaning not getting Captured – </a:t>
            </a:r>
          </a:p>
          <a:p>
            <a:endParaRPr lang="en-US" dirty="0"/>
          </a:p>
          <a:p>
            <a:r>
              <a:rPr lang="en-US" b="1" dirty="0"/>
              <a:t>Say there are two sentences.</a:t>
            </a:r>
            <a:r>
              <a:rPr lang="en-US" dirty="0"/>
              <a:t> </a:t>
            </a:r>
            <a:r>
              <a:rPr lang="en-US" dirty="0">
                <a:highlight>
                  <a:srgbClr val="FFFF00"/>
                </a:highlight>
              </a:rPr>
              <a:t>S1 </a:t>
            </a:r>
            <a:r>
              <a:rPr lang="en-US" dirty="0"/>
              <a:t>– “</a:t>
            </a:r>
            <a:r>
              <a:rPr lang="en-US" b="1" dirty="0"/>
              <a:t>The food is good</a:t>
            </a:r>
            <a:r>
              <a:rPr lang="en-US" dirty="0"/>
              <a:t>” and vector for this is [1, 1, 1, 0, 1]</a:t>
            </a:r>
          </a:p>
          <a:p>
            <a:r>
              <a:rPr lang="en-US" dirty="0">
                <a:highlight>
                  <a:srgbClr val="FFFF00"/>
                </a:highlight>
              </a:rPr>
              <a:t>S2</a:t>
            </a:r>
            <a:r>
              <a:rPr lang="en-US" dirty="0"/>
              <a:t> – “</a:t>
            </a:r>
            <a:r>
              <a:rPr lang="en-US" b="1" dirty="0"/>
              <a:t>The food is not good</a:t>
            </a:r>
            <a:r>
              <a:rPr lang="en-US" dirty="0"/>
              <a:t>” and vector for this is [1, 1, 1, 1, 1]</a:t>
            </a:r>
          </a:p>
          <a:p>
            <a:endParaRPr lang="en-US" dirty="0"/>
          </a:p>
          <a:p>
            <a:r>
              <a:rPr lang="en-US" dirty="0"/>
              <a:t>Plot these two vector as points, </a:t>
            </a:r>
            <a:r>
              <a:rPr lang="en-US" b="1" i="1" dirty="0"/>
              <a:t>they will be very near to each other</a:t>
            </a:r>
            <a:r>
              <a:rPr lang="en-US" dirty="0"/>
              <a:t> and </a:t>
            </a:r>
            <a:r>
              <a:rPr lang="en-US" b="1" dirty="0"/>
              <a:t>will not represent that they are complete opposite to each other in semantics.</a:t>
            </a:r>
            <a:endParaRPr lang="en-IN" b="1" dirty="0"/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2899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6F4FB-A9AB-377A-55A0-AC9B57760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02B199-3473-AAB2-A8A0-A61092B10417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7CB46BA-8C17-CBBD-BCCC-54100E15A2EE}"/>
              </a:ext>
            </a:extLst>
          </p:cNvPr>
          <p:cNvSpPr/>
          <p:nvPr/>
        </p:nvSpPr>
        <p:spPr>
          <a:xfrm>
            <a:off x="598883" y="814827"/>
            <a:ext cx="61352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N-grams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can be used for the Embedding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3DDC17-B344-D2E7-0F3C-908EF106F318}"/>
              </a:ext>
            </a:extLst>
          </p:cNvPr>
          <p:cNvSpPr txBox="1"/>
          <p:nvPr/>
        </p:nvSpPr>
        <p:spPr>
          <a:xfrm>
            <a:off x="393111" y="1486687"/>
            <a:ext cx="1038664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 gram can be used for the Word embedding. Say there are two sentences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Remove the stop words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Vocabulary = [food, not, good]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Convert these sentences to vectors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S1 = [1 0 1]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S2 = [1 1 1]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824C5A-2D2E-9BD0-679D-A22AC7B96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12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807332FF-1E17-3355-3155-220396BFA34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40A3584-1C5E-EA9C-8628-46A53DF3470E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F7AD59-6E6D-36F8-2B7A-8A48B66B15E8}"/>
              </a:ext>
            </a:extLst>
          </p:cNvPr>
          <p:cNvSpPr txBox="1"/>
          <p:nvPr/>
        </p:nvSpPr>
        <p:spPr>
          <a:xfrm>
            <a:off x="353655" y="5438052"/>
            <a:ext cx="103866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These vectors if plotted will be very near to each other and hence represent that these two sentences are very similar to each other.</a:t>
            </a:r>
            <a:endParaRPr lang="en-US" sz="22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2BBD1E-AF94-6407-F919-7AC2E2032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2519" y="2200082"/>
            <a:ext cx="5058481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398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C8441-4571-D083-1803-C922EDCF8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A5D9DA1-7577-AB46-5EAE-2B658A27A50B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ACD815F-A3A2-6D9F-4D03-9CAA4D5685D3}"/>
              </a:ext>
            </a:extLst>
          </p:cNvPr>
          <p:cNvSpPr/>
          <p:nvPr/>
        </p:nvSpPr>
        <p:spPr>
          <a:xfrm>
            <a:off x="598882" y="814827"/>
            <a:ext cx="79050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N-grams can be used for the Embedding (Using Bigram)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B8F5CA-F2DC-EF95-6E00-5210E8E6F92C}"/>
              </a:ext>
            </a:extLst>
          </p:cNvPr>
          <p:cNvSpPr txBox="1"/>
          <p:nvPr/>
        </p:nvSpPr>
        <p:spPr>
          <a:xfrm>
            <a:off x="393111" y="1486687"/>
            <a:ext cx="103866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Let’s use bi-grams ( combination of two words)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Vocabulary = [food, not, good, food good, food not, not good]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Convert these sentences to vectors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S1 = [1 0 1 1 0 0]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S2 = [1 1 1 0 1 1]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7091D2-844A-99A7-BB25-5BEBB8DD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13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6D46791B-509F-DAA0-C92C-B25A654F20C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57A12B0-E1D8-B30B-7FF3-0CDCE9BCAAB0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F70AAE-FBBA-80C5-8056-87EEF1A84D29}"/>
              </a:ext>
            </a:extLst>
          </p:cNvPr>
          <p:cNvSpPr txBox="1"/>
          <p:nvPr/>
        </p:nvSpPr>
        <p:spPr>
          <a:xfrm>
            <a:off x="241895" y="4361092"/>
            <a:ext cx="103866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These vectors if plotted will be little far from each other in comparison to the previous vectors and hence better embedding.</a:t>
            </a:r>
            <a:endParaRPr lang="en-US" sz="22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623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149BC-B346-78E5-2688-2F2D0C586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9C244E-DF68-C9D1-540C-FC3D0BAB10DA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6DEC95E-A509-2A8C-12C9-306F6EDB62A4}"/>
              </a:ext>
            </a:extLst>
          </p:cNvPr>
          <p:cNvSpPr/>
          <p:nvPr/>
        </p:nvSpPr>
        <p:spPr>
          <a:xfrm>
            <a:off x="598882" y="814827"/>
            <a:ext cx="84739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TF-IDF (Term frequency- Inverse Document Frequency)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C367D7-5E72-8CCA-FD6A-7653BB6BD076}"/>
              </a:ext>
            </a:extLst>
          </p:cNvPr>
          <p:cNvSpPr txBox="1"/>
          <p:nvPr/>
        </p:nvSpPr>
        <p:spPr>
          <a:xfrm>
            <a:off x="393110" y="1380049"/>
            <a:ext cx="1038664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TF-IDF (Term Frequency–Inverse Document Frequency) is a statistical method </a:t>
            </a:r>
            <a:r>
              <a:rPr lang="en-US" sz="2400" b="1" dirty="0"/>
              <a:t>used in natural language processing </a:t>
            </a:r>
            <a:r>
              <a:rPr lang="en-US" sz="2400" dirty="0"/>
              <a:t>and information retrieval </a:t>
            </a:r>
            <a:r>
              <a:rPr lang="en-US" sz="2400" b="1" u="sng" dirty="0">
                <a:solidFill>
                  <a:srgbClr val="FF0000"/>
                </a:solidFill>
              </a:rPr>
              <a:t>to evaluate how important a word is to a document</a:t>
            </a:r>
            <a:r>
              <a:rPr lang="en-US" sz="2400" dirty="0"/>
              <a:t> in relation to a larger collection of documents.</a:t>
            </a:r>
          </a:p>
          <a:p>
            <a:endParaRPr lang="en-IN" dirty="0"/>
          </a:p>
          <a:p>
            <a:r>
              <a:rPr lang="en-IN" dirty="0"/>
              <a:t>TF-IDF combines two components: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u="sng" dirty="0"/>
              <a:t>Term Frequency (TF):</a:t>
            </a:r>
            <a:r>
              <a:rPr lang="en-US" dirty="0"/>
              <a:t> Measures </a:t>
            </a:r>
            <a:r>
              <a:rPr lang="en-US" b="1" dirty="0">
                <a:solidFill>
                  <a:srgbClr val="FF0000"/>
                </a:solidFill>
              </a:rPr>
              <a:t>how often a word appears in a document</a:t>
            </a:r>
            <a:r>
              <a:rPr lang="en-US" dirty="0"/>
              <a:t>. A higher frequency suggests </a:t>
            </a:r>
            <a:r>
              <a:rPr lang="en-US" b="1" dirty="0"/>
              <a:t>greater importance. </a:t>
            </a:r>
            <a:r>
              <a:rPr lang="en-US" dirty="0"/>
              <a:t>If a term appears frequently in a document, it is likely relevant to the document’s content.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1DC0F9-3D74-E4E8-78C3-CD68B7E79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14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15B1294B-7B5F-4BFE-B3C4-C35505500D1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C67C0E1-C048-8837-260C-C00E29FED3E2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A24630-9B6F-4829-1EFF-8B1BA8A0C257}"/>
              </a:ext>
            </a:extLst>
          </p:cNvPr>
          <p:cNvSpPr txBox="1"/>
          <p:nvPr/>
        </p:nvSpPr>
        <p:spPr>
          <a:xfrm>
            <a:off x="311831" y="4964846"/>
            <a:ext cx="103866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u="sng" dirty="0"/>
              <a:t>Inverse Document Frequency (IDF):</a:t>
            </a:r>
            <a:r>
              <a:rPr lang="en-US" dirty="0"/>
              <a:t> </a:t>
            </a:r>
            <a:r>
              <a:rPr lang="en-US" b="1" u="sng" dirty="0">
                <a:solidFill>
                  <a:srgbClr val="FF0000"/>
                </a:solidFill>
              </a:rPr>
              <a:t>Reduces</a:t>
            </a:r>
            <a:r>
              <a:rPr lang="en-US" dirty="0">
                <a:solidFill>
                  <a:srgbClr val="FF0000"/>
                </a:solidFill>
              </a:rPr>
              <a:t> the weight of </a:t>
            </a:r>
            <a:r>
              <a:rPr lang="en-US" b="1" u="sng" dirty="0">
                <a:solidFill>
                  <a:srgbClr val="FF0000"/>
                </a:solidFill>
              </a:rPr>
              <a:t>common words </a:t>
            </a:r>
            <a:r>
              <a:rPr lang="en-US" dirty="0">
                <a:solidFill>
                  <a:srgbClr val="FF0000"/>
                </a:solidFill>
              </a:rPr>
              <a:t>across multiple documents </a:t>
            </a:r>
            <a:r>
              <a:rPr lang="en-US" dirty="0">
                <a:solidFill>
                  <a:schemeClr val="accent1"/>
                </a:solidFill>
              </a:rPr>
              <a:t>while</a:t>
            </a:r>
            <a:r>
              <a:rPr lang="en-US" b="1" u="sng" dirty="0">
                <a:solidFill>
                  <a:schemeClr val="accent1"/>
                </a:solidFill>
              </a:rPr>
              <a:t> increasing </a:t>
            </a:r>
            <a:r>
              <a:rPr lang="en-US" dirty="0">
                <a:solidFill>
                  <a:schemeClr val="accent1"/>
                </a:solidFill>
              </a:rPr>
              <a:t>the weight of </a:t>
            </a:r>
            <a:r>
              <a:rPr lang="en-US" b="1" u="sng" dirty="0">
                <a:solidFill>
                  <a:schemeClr val="accent1"/>
                </a:solidFill>
              </a:rPr>
              <a:t>rare words</a:t>
            </a:r>
            <a:r>
              <a:rPr lang="en-US" dirty="0">
                <a:solidFill>
                  <a:schemeClr val="accent1"/>
                </a:solidFill>
              </a:rPr>
              <a:t>. </a:t>
            </a:r>
            <a:r>
              <a:rPr lang="en-US" dirty="0"/>
              <a:t>If a </a:t>
            </a:r>
            <a:r>
              <a:rPr lang="en-US" dirty="0">
                <a:highlight>
                  <a:srgbClr val="C0C0C0"/>
                </a:highlight>
              </a:rPr>
              <a:t>term appears in fewer documents, it is more likely to be </a:t>
            </a:r>
            <a:r>
              <a:rPr lang="en-US" u="sng" dirty="0">
                <a:highlight>
                  <a:srgbClr val="FFFF00"/>
                </a:highlight>
              </a:rPr>
              <a:t>meaningful and specific</a:t>
            </a:r>
            <a:r>
              <a:rPr lang="en-US" dirty="0">
                <a:highlight>
                  <a:srgbClr val="FFFF00"/>
                </a:highlight>
              </a:rPr>
              <a:t>.</a:t>
            </a:r>
            <a:endParaRPr lang="en-US" sz="2200" dirty="0">
              <a:solidFill>
                <a:schemeClr val="accent2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8A864A-D5EF-42CF-2B89-2498E44AA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26" y="3854461"/>
            <a:ext cx="7506748" cy="10288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4CA6DE-68DE-090D-2627-30E44BD3C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8075" y="5668626"/>
            <a:ext cx="7243285" cy="108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601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CE199-3B46-D0A3-34D7-7B0CE63B6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55E6C1-C1C1-4867-7E4C-2A0B5A4277B8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BE04090-0EF9-EA01-309E-F58D27EDB9C0}"/>
              </a:ext>
            </a:extLst>
          </p:cNvPr>
          <p:cNvSpPr/>
          <p:nvPr/>
        </p:nvSpPr>
        <p:spPr>
          <a:xfrm>
            <a:off x="598882" y="814827"/>
            <a:ext cx="79050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TF-IDF (Term frequency- Inverse Document Frequency)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6245A-EC37-A452-8FBC-77468DB3AFBF}"/>
              </a:ext>
            </a:extLst>
          </p:cNvPr>
          <p:cNvSpPr txBox="1"/>
          <p:nvPr/>
        </p:nvSpPr>
        <p:spPr>
          <a:xfrm>
            <a:off x="393111" y="1486687"/>
            <a:ext cx="1038664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Let’s consider the dataset 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Vocab = { good, boy, girl 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Total number of sentences (N) = 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0C639E-0E9A-BDA3-6A6E-2480274BB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15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DF7D9806-7389-C08E-B344-68740DDFD2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9741D12-6FCB-3417-9536-D5A7054ABE91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BC5752-F1F1-0294-D442-BE0E592FD51F}"/>
              </a:ext>
            </a:extLst>
          </p:cNvPr>
          <p:cNvSpPr txBox="1"/>
          <p:nvPr/>
        </p:nvSpPr>
        <p:spPr>
          <a:xfrm>
            <a:off x="241894" y="4013851"/>
            <a:ext cx="10386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Let’s do the calculation of vector embedding using TF-IDF now</a:t>
            </a:r>
            <a:endParaRPr lang="en-US" sz="22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6AFCF4-027A-58FD-FC45-42DE71020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426" y="1992510"/>
            <a:ext cx="4915586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430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888BF-2FBA-442A-DB20-27DEF40F1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02AFD6-7679-B20C-15D9-471463715EF6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9845F33-5F01-7C6B-2DBF-7C587BEAF697}"/>
              </a:ext>
            </a:extLst>
          </p:cNvPr>
          <p:cNvSpPr/>
          <p:nvPr/>
        </p:nvSpPr>
        <p:spPr>
          <a:xfrm>
            <a:off x="598882" y="814827"/>
            <a:ext cx="79050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TF-IDF (Term frequency- Inverse Document Frequency)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38A8A-D835-20CC-6D4D-7759CD1B8868}"/>
              </a:ext>
            </a:extLst>
          </p:cNvPr>
          <p:cNvSpPr txBox="1"/>
          <p:nvPr/>
        </p:nvSpPr>
        <p:spPr>
          <a:xfrm>
            <a:off x="393111" y="1486687"/>
            <a:ext cx="103866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dataset 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Vocab = { good, boy, girl 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Total number of sentences (N) = 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B1EA7C-4E66-5C26-A76B-AF6BCEA5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16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564A8474-08B7-5BFA-E831-685AD9837E2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53898" y="38936"/>
            <a:ext cx="593089" cy="88827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1188E69-40CA-7A58-AEF1-6B3EEF33CDF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0E1EE5-FF61-79A8-E5E9-6D4D1FD579E2}"/>
              </a:ext>
            </a:extLst>
          </p:cNvPr>
          <p:cNvSpPr txBox="1"/>
          <p:nvPr/>
        </p:nvSpPr>
        <p:spPr>
          <a:xfrm>
            <a:off x="304243" y="5031409"/>
            <a:ext cx="4724958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Vector embedding using TF-IDF now</a:t>
            </a:r>
            <a:endParaRPr lang="en-US" sz="2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BDE918-ED8C-EDA3-CB16-F0810DFDD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837" y="1232426"/>
            <a:ext cx="4915586" cy="1162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9C5F5B-A16F-E1A0-64C4-5483D1948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8986" y="2464611"/>
            <a:ext cx="3072654" cy="4211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CBC040-FE8F-B3B9-874E-95E75D0C46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8986" y="3111793"/>
            <a:ext cx="2964814" cy="4438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28F742-2894-BD78-85F7-A6AFB0FFC3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313" y="3726295"/>
            <a:ext cx="6878010" cy="13432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E9FD37A-B628-C935-8BCF-500529BE17C7}"/>
              </a:ext>
            </a:extLst>
          </p:cNvPr>
          <p:cNvSpPr txBox="1"/>
          <p:nvPr/>
        </p:nvSpPr>
        <p:spPr>
          <a:xfrm>
            <a:off x="598882" y="3142475"/>
            <a:ext cx="10386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Calculation of TF and IDF</a:t>
            </a:r>
            <a:endParaRPr lang="en-US" sz="2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6D4470-29E1-C25A-CD86-E9DD64D5E3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8994" y="3691092"/>
            <a:ext cx="2286319" cy="140037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A4951EB-B217-B708-0A32-42945117D2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393" y="5466510"/>
            <a:ext cx="8811855" cy="55252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96E3864-34BE-609B-06D2-EBE9D82017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233" y="6003260"/>
            <a:ext cx="8964276" cy="33342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DA1929A-C2FE-E447-EA27-575A278EB2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80" y="6307837"/>
            <a:ext cx="8859486" cy="32389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EBB2C0D-5586-D3FE-E4E2-EF5257E4132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557" y="5309428"/>
            <a:ext cx="2743200" cy="89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158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A338B-11F4-706C-A1DD-2C23F24D1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4692223-F919-A2CE-44C9-73DD18FA0D18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BB89D5B-F981-281F-3899-BF572B446DF7}"/>
              </a:ext>
            </a:extLst>
          </p:cNvPr>
          <p:cNvSpPr/>
          <p:nvPr/>
        </p:nvSpPr>
        <p:spPr>
          <a:xfrm>
            <a:off x="598883" y="814827"/>
            <a:ext cx="61352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Advantages and Limitations of TF-IDF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DF3147-DA75-E5F1-827A-8C4C5140E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17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D3EAD67D-8BA2-737C-B5A7-CA99B6216EE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ADB42B-E2C3-8500-6CBB-670D200C710C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CEDF07-2E93-0515-AAB3-D73BB3A48578}"/>
              </a:ext>
            </a:extLst>
          </p:cNvPr>
          <p:cNvSpPr txBox="1"/>
          <p:nvPr/>
        </p:nvSpPr>
        <p:spPr>
          <a:xfrm>
            <a:off x="819151" y="1632203"/>
            <a:ext cx="100533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Advantages of TF-IDF</a:t>
            </a:r>
          </a:p>
          <a:p>
            <a:pPr marL="342900" indent="-342900">
              <a:buAutoNum type="arabicPeriod"/>
            </a:pPr>
            <a:r>
              <a:rPr lang="en-US" dirty="0"/>
              <a:t>Simple and Intuitive</a:t>
            </a:r>
          </a:p>
          <a:p>
            <a:pPr marL="342900" indent="-342900">
              <a:buAutoNum type="arabicPeriod"/>
            </a:pPr>
            <a:r>
              <a:rPr lang="en-US" dirty="0"/>
              <a:t>Fixed Size Input (Based on Vocabulary)</a:t>
            </a:r>
          </a:p>
          <a:p>
            <a:pPr marL="342900" indent="-342900">
              <a:buAutoNum type="arabicPeriod"/>
            </a:pPr>
            <a:r>
              <a:rPr lang="en-US" b="1" dirty="0"/>
              <a:t>Word importance is given – </a:t>
            </a:r>
            <a:r>
              <a:rPr lang="en-US" dirty="0"/>
              <a:t>Semantic meaning is getting captured</a:t>
            </a:r>
          </a:p>
          <a:p>
            <a:endParaRPr lang="en-US" dirty="0"/>
          </a:p>
          <a:p>
            <a:r>
              <a:rPr lang="en-US" dirty="0"/>
              <a:t>      like “good” is not distinguishing. But sentence 1 has “boy” very important that’s why there is some value. Similarly in sentence 2 “girl” is important,  so some value is getting captured. And in sentence 3 both are playing major role.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1643E0-B899-A906-82C6-C56759FCB936}"/>
              </a:ext>
            </a:extLst>
          </p:cNvPr>
          <p:cNvSpPr txBox="1"/>
          <p:nvPr/>
        </p:nvSpPr>
        <p:spPr>
          <a:xfrm>
            <a:off x="819151" y="4025469"/>
            <a:ext cx="968311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Limitations of TF- IDF</a:t>
            </a:r>
          </a:p>
          <a:p>
            <a:pPr marL="342900" indent="-342900">
              <a:buAutoNum type="arabicPeriod"/>
            </a:pPr>
            <a:r>
              <a:rPr lang="en-IN" dirty="0"/>
              <a:t>Sparsity still exist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Out of vocabulary problem exist</a:t>
            </a:r>
          </a:p>
          <a:p>
            <a:pPr marL="342900" indent="-342900">
              <a:buAutoNum type="arabicPeriod"/>
            </a:pPr>
            <a:endParaRPr lang="en-IN" dirty="0"/>
          </a:p>
          <a:p>
            <a:r>
              <a:rPr lang="en-IN" dirty="0"/>
              <a:t>To get rid of this we start talking about </a:t>
            </a:r>
            <a:r>
              <a:rPr lang="en-IN" b="1" dirty="0"/>
              <a:t>word embedding</a:t>
            </a:r>
          </a:p>
          <a:p>
            <a:pPr marL="342900" indent="-342900">
              <a:buFontTx/>
              <a:buAutoNum type="arabicPeriod"/>
            </a:pPr>
            <a:endParaRPr lang="en-US" dirty="0"/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7765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4E009-D8E8-5C0C-43E5-DA25B4095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C23384-F3CA-21C2-C27F-077C103C0669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12C4E3-4CDC-41C0-36AB-ACED48F6F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18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90DE8863-1EDC-52BE-A116-CAE8AA4DEB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8B79972-C26E-6467-725E-322C9DC64042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5E415-EC67-0140-2EBB-CE52BD411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5" y="1316458"/>
            <a:ext cx="6364187" cy="21125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0A5837-730F-EB88-52CF-6958B5D1D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5" y="3428996"/>
            <a:ext cx="9264945" cy="313323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4D39AA9-6515-C3EC-7ABC-E420D51A6DE6}"/>
              </a:ext>
            </a:extLst>
          </p:cNvPr>
          <p:cNvSpPr/>
          <p:nvPr/>
        </p:nvSpPr>
        <p:spPr>
          <a:xfrm>
            <a:off x="189199" y="784349"/>
            <a:ext cx="8858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TF-IDF (Term frequency- Inverse Document Frequency) 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(Example)</a:t>
            </a:r>
          </a:p>
        </p:txBody>
      </p:sp>
    </p:spTree>
    <p:extLst>
      <p:ext uri="{BB962C8B-B14F-4D97-AF65-F5344CB8AC3E}">
        <p14:creationId xmlns:p14="http://schemas.microsoft.com/office/powerpoint/2010/main" val="277472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53CD3-4ECC-9573-271D-25B0ECB88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754B4A-8238-2E8B-F1EC-EB16128EBB8F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17B788-3847-0529-BDBA-90A8DC65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19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58EBBFEC-4515-DAC7-A778-3BB636C38A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5A1B80B-395F-0530-2FF5-90CDE9B2ED8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74C4FC-AD62-6511-0266-D9849B088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8" y="1316458"/>
            <a:ext cx="6872066" cy="25713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6CFF60-47CF-46A2-11E3-33897744E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8" y="3897330"/>
            <a:ext cx="7576252" cy="264158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EBC222C-D1E9-78FC-CC5F-43993FDF8240}"/>
              </a:ext>
            </a:extLst>
          </p:cNvPr>
          <p:cNvSpPr/>
          <p:nvPr/>
        </p:nvSpPr>
        <p:spPr>
          <a:xfrm>
            <a:off x="189199" y="784349"/>
            <a:ext cx="8858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TF-IDF (Term frequency- Inverse Document Frequency) 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(Example)</a:t>
            </a:r>
          </a:p>
        </p:txBody>
      </p:sp>
    </p:spTree>
    <p:extLst>
      <p:ext uri="{BB962C8B-B14F-4D97-AF65-F5344CB8AC3E}">
        <p14:creationId xmlns:p14="http://schemas.microsoft.com/office/powerpoint/2010/main" val="330345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13DE6-EFF6-A083-ADCE-4D7306F9C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627E76-F00A-D0CE-DF9A-BA958DBC6053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99A116-6DE9-4737-A219-B0E055A8C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20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BBB9B8FA-C17D-FCA4-923F-9D884E73386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45B86F8-0102-50FB-0A45-65728A08567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2C8B86-DE09-3FB6-61E4-704640465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20" y="1397405"/>
            <a:ext cx="10048875" cy="809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29C563-991D-3F01-B803-A2B60901B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65" y="2207030"/>
            <a:ext cx="6723432" cy="40673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7BC283-9F5F-40CE-31C5-B309DE099E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797" y="2155570"/>
            <a:ext cx="4642886" cy="20851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746373-1283-EE54-9A26-8FA4C2AC39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1797" y="4265263"/>
            <a:ext cx="3061402" cy="17853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2461707-7018-2F22-7B2E-10389D277BD4}"/>
              </a:ext>
            </a:extLst>
          </p:cNvPr>
          <p:cNvSpPr/>
          <p:nvPr/>
        </p:nvSpPr>
        <p:spPr>
          <a:xfrm>
            <a:off x="189199" y="784349"/>
            <a:ext cx="8858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TF-IDF (Term frequency- Inverse Document Frequency) 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(Example)</a:t>
            </a:r>
          </a:p>
        </p:txBody>
      </p:sp>
    </p:spTree>
    <p:extLst>
      <p:ext uri="{BB962C8B-B14F-4D97-AF65-F5344CB8AC3E}">
        <p14:creationId xmlns:p14="http://schemas.microsoft.com/office/powerpoint/2010/main" val="232943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BACF6-7386-1BE5-D8CA-6339BE548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6C36C0A-334F-59EE-1877-A5DF5A20D9F3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DA1CB2-AB8F-3FED-48D5-39CF7C7D8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21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E6897C40-72F8-4EFA-116A-6A92EB956E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7F4BFFB-8BD9-36D5-9B94-A6537FBC42CC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8A6602-6510-7B9A-116B-FB5CF892F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" y="1333396"/>
            <a:ext cx="5240410" cy="28500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F7B117-DFB0-B95D-B5CB-714C0DA4D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912" y="3361758"/>
            <a:ext cx="6348413" cy="317715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511D3FE-D2EB-17C9-D96E-0AB1A63BE24F}"/>
              </a:ext>
            </a:extLst>
          </p:cNvPr>
          <p:cNvSpPr/>
          <p:nvPr/>
        </p:nvSpPr>
        <p:spPr>
          <a:xfrm>
            <a:off x="189199" y="784349"/>
            <a:ext cx="8858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TF-IDF (Term frequency- Inverse Document Frequency) 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(Example)</a:t>
            </a:r>
          </a:p>
        </p:txBody>
      </p:sp>
    </p:spTree>
    <p:extLst>
      <p:ext uri="{BB962C8B-B14F-4D97-AF65-F5344CB8AC3E}">
        <p14:creationId xmlns:p14="http://schemas.microsoft.com/office/powerpoint/2010/main" val="399574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54793"/>
            <a:ext cx="61352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Distributional Representation of words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07DFE1-8F76-F448-9C32-6F8C6D2F0B04}"/>
              </a:ext>
            </a:extLst>
          </p:cNvPr>
          <p:cNvSpPr txBox="1"/>
          <p:nvPr/>
        </p:nvSpPr>
        <p:spPr>
          <a:xfrm>
            <a:off x="602166" y="1516566"/>
            <a:ext cx="898788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Dense Vectors </a:t>
            </a:r>
            <a:r>
              <a:rPr lang="en-US" dirty="0"/>
              <a:t>are good at capturing synonyms and semantic similarity.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we talk about word embeddings( word  vector) being d-dimensional, which may vary from 50-1000. These d-dimensions don’t have very clear interpretation.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Dense vectors work better for almost all NLP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Consider King, Queen, Man, Woman, Child as 5 words in a vocabulary and now say Queen can represented as a1-hot encoding                                           and king 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Lets consider the 5-dimensions as Royalty, Masculine, Feminine, Age, Height </a:t>
            </a:r>
            <a:r>
              <a:rPr lang="en-US" dirty="0" err="1"/>
              <a:t>etc</a:t>
            </a:r>
            <a:r>
              <a:rPr lang="en-US" dirty="0"/>
              <a:t> and define some words based on 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King.           Queen.          Man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295019BE-82C9-AD4D-AF83-7B013499FDAC}"/>
              </a:ext>
            </a:extLst>
          </p:cNvPr>
          <p:cNvGraphicFramePr>
            <a:graphicFrameLocks noGrp="1"/>
          </p:cNvGraphicFramePr>
          <p:nvPr/>
        </p:nvGraphicFramePr>
        <p:xfrm>
          <a:off x="789060" y="5003800"/>
          <a:ext cx="72235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351">
                  <a:extLst>
                    <a:ext uri="{9D8B030D-6E8A-4147-A177-3AD203B41FA5}">
                      <a16:colId xmlns:a16="http://schemas.microsoft.com/office/drawing/2014/main" val="23664006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30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820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618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119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919207"/>
                  </a:ext>
                </a:extLst>
              </a:tr>
            </a:tbl>
          </a:graphicData>
        </a:graphic>
      </p:graphicFrame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61DF465C-081A-844D-9784-897D47315662}"/>
              </a:ext>
            </a:extLst>
          </p:cNvPr>
          <p:cNvGraphicFramePr>
            <a:graphicFrameLocks noGrp="1"/>
          </p:cNvGraphicFramePr>
          <p:nvPr/>
        </p:nvGraphicFramePr>
        <p:xfrm>
          <a:off x="1944320" y="5003800"/>
          <a:ext cx="72235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351">
                  <a:extLst>
                    <a:ext uri="{9D8B030D-6E8A-4147-A177-3AD203B41FA5}">
                      <a16:colId xmlns:a16="http://schemas.microsoft.com/office/drawing/2014/main" val="23664006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30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820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618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119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919207"/>
                  </a:ext>
                </a:extLst>
              </a:tr>
            </a:tbl>
          </a:graphicData>
        </a:graphic>
      </p:graphicFrame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5C7C6DA4-BC2E-4047-94EC-E224E60A76C4}"/>
              </a:ext>
            </a:extLst>
          </p:cNvPr>
          <p:cNvGraphicFramePr>
            <a:graphicFrameLocks noGrp="1"/>
          </p:cNvGraphicFramePr>
          <p:nvPr/>
        </p:nvGraphicFramePr>
        <p:xfrm>
          <a:off x="3099580" y="5003800"/>
          <a:ext cx="72235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351">
                  <a:extLst>
                    <a:ext uri="{9D8B030D-6E8A-4147-A177-3AD203B41FA5}">
                      <a16:colId xmlns:a16="http://schemas.microsoft.com/office/drawing/2014/main" val="23664006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30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820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618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119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919207"/>
                  </a:ext>
                </a:extLst>
              </a:tr>
            </a:tbl>
          </a:graphicData>
        </a:graphic>
      </p:graphicFrame>
      <p:graphicFrame>
        <p:nvGraphicFramePr>
          <p:cNvPr id="7" name="Table 11">
            <a:extLst>
              <a:ext uri="{FF2B5EF4-FFF2-40B4-BE49-F238E27FC236}">
                <a16:creationId xmlns:a16="http://schemas.microsoft.com/office/drawing/2014/main" id="{BF008233-6189-9D47-B94F-D5666E330618}"/>
              </a:ext>
            </a:extLst>
          </p:cNvPr>
          <p:cNvGraphicFramePr>
            <a:graphicFrameLocks noGrp="1"/>
          </p:cNvGraphicFramePr>
          <p:nvPr/>
        </p:nvGraphicFramePr>
        <p:xfrm>
          <a:off x="4321703" y="3445727"/>
          <a:ext cx="20865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306">
                  <a:extLst>
                    <a:ext uri="{9D8B030D-6E8A-4147-A177-3AD203B41FA5}">
                      <a16:colId xmlns:a16="http://schemas.microsoft.com/office/drawing/2014/main" val="2448022553"/>
                    </a:ext>
                  </a:extLst>
                </a:gridCol>
                <a:gridCol w="417306">
                  <a:extLst>
                    <a:ext uri="{9D8B030D-6E8A-4147-A177-3AD203B41FA5}">
                      <a16:colId xmlns:a16="http://schemas.microsoft.com/office/drawing/2014/main" val="594045580"/>
                    </a:ext>
                  </a:extLst>
                </a:gridCol>
                <a:gridCol w="417306">
                  <a:extLst>
                    <a:ext uri="{9D8B030D-6E8A-4147-A177-3AD203B41FA5}">
                      <a16:colId xmlns:a16="http://schemas.microsoft.com/office/drawing/2014/main" val="4111371490"/>
                    </a:ext>
                  </a:extLst>
                </a:gridCol>
                <a:gridCol w="417306">
                  <a:extLst>
                    <a:ext uri="{9D8B030D-6E8A-4147-A177-3AD203B41FA5}">
                      <a16:colId xmlns:a16="http://schemas.microsoft.com/office/drawing/2014/main" val="1385889837"/>
                    </a:ext>
                  </a:extLst>
                </a:gridCol>
                <a:gridCol w="417306">
                  <a:extLst>
                    <a:ext uri="{9D8B030D-6E8A-4147-A177-3AD203B41FA5}">
                      <a16:colId xmlns:a16="http://schemas.microsoft.com/office/drawing/2014/main" val="4089778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82109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463B07F-768C-0549-AC9C-C2FF3D7BD82B}"/>
              </a:ext>
            </a:extLst>
          </p:cNvPr>
          <p:cNvGraphicFramePr>
            <a:graphicFrameLocks noGrp="1"/>
          </p:cNvGraphicFramePr>
          <p:nvPr/>
        </p:nvGraphicFramePr>
        <p:xfrm>
          <a:off x="7619374" y="3429000"/>
          <a:ext cx="187031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063">
                  <a:extLst>
                    <a:ext uri="{9D8B030D-6E8A-4147-A177-3AD203B41FA5}">
                      <a16:colId xmlns:a16="http://schemas.microsoft.com/office/drawing/2014/main" val="2448022553"/>
                    </a:ext>
                  </a:extLst>
                </a:gridCol>
                <a:gridCol w="374063">
                  <a:extLst>
                    <a:ext uri="{9D8B030D-6E8A-4147-A177-3AD203B41FA5}">
                      <a16:colId xmlns:a16="http://schemas.microsoft.com/office/drawing/2014/main" val="594045580"/>
                    </a:ext>
                  </a:extLst>
                </a:gridCol>
                <a:gridCol w="374063">
                  <a:extLst>
                    <a:ext uri="{9D8B030D-6E8A-4147-A177-3AD203B41FA5}">
                      <a16:colId xmlns:a16="http://schemas.microsoft.com/office/drawing/2014/main" val="4111371490"/>
                    </a:ext>
                  </a:extLst>
                </a:gridCol>
                <a:gridCol w="374063">
                  <a:extLst>
                    <a:ext uri="{9D8B030D-6E8A-4147-A177-3AD203B41FA5}">
                      <a16:colId xmlns:a16="http://schemas.microsoft.com/office/drawing/2014/main" val="1385889837"/>
                    </a:ext>
                  </a:extLst>
                </a:gridCol>
                <a:gridCol w="374063">
                  <a:extLst>
                    <a:ext uri="{9D8B030D-6E8A-4147-A177-3AD203B41FA5}">
                      <a16:colId xmlns:a16="http://schemas.microsoft.com/office/drawing/2014/main" val="4089778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82109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9AD357D-EC4E-8241-B2F4-B986A52511EF}"/>
              </a:ext>
            </a:extLst>
          </p:cNvPr>
          <p:cNvSpPr txBox="1"/>
          <p:nvPr/>
        </p:nvSpPr>
        <p:spPr>
          <a:xfrm rot="20382062">
            <a:off x="9589819" y="2890391"/>
            <a:ext cx="27928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But with this representation we can’t establish semantic similarity between King and queen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37D188-7B5B-4442-9385-0504332F5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965A17-112E-BCE7-8EF6-A36D2ED75857}"/>
              </a:ext>
            </a:extLst>
          </p:cNvPr>
          <p:cNvSpPr txBox="1"/>
          <p:nvPr/>
        </p:nvSpPr>
        <p:spPr>
          <a:xfrm>
            <a:off x="5553075" y="5644901"/>
            <a:ext cx="624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The dense vectors are also capable of capturing the synonymy.</a:t>
            </a:r>
          </a:p>
        </p:txBody>
      </p:sp>
      <p:pic>
        <p:nvPicPr>
          <p:cNvPr id="16" name="object 5">
            <a:extLst>
              <a:ext uri="{FF2B5EF4-FFF2-40B4-BE49-F238E27FC236}">
                <a16:creationId xmlns:a16="http://schemas.microsoft.com/office/drawing/2014/main" id="{D9D364E4-EC0D-0C48-CD1B-D836C2620CF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B27FC14-013C-788A-4C22-2C9EBE2DBCDC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906360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D0B11-8492-10E9-F28C-12B96BEAB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C2F63C-8B15-D3B2-0974-FD47CF997384}"/>
              </a:ext>
            </a:extLst>
          </p:cNvPr>
          <p:cNvCxnSpPr/>
          <p:nvPr/>
        </p:nvCxnSpPr>
        <p:spPr>
          <a:xfrm>
            <a:off x="-8308" y="12099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FCDA6F9-65C9-0D40-9FE9-9D9521E18118}"/>
              </a:ext>
            </a:extLst>
          </p:cNvPr>
          <p:cNvSpPr/>
          <p:nvPr/>
        </p:nvSpPr>
        <p:spPr>
          <a:xfrm>
            <a:off x="371880" y="651898"/>
            <a:ext cx="799975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IN" sz="2400" b="1" dirty="0">
                <a:solidFill>
                  <a:schemeClr val="accent1"/>
                </a:solidFill>
              </a:rPr>
              <a:t>Input Embedding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88FEB5-1EDF-1893-B0A8-4303E7DFEF84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1459B164-AFD3-FB47-908B-E935F1F027C6}"/>
              </a:ext>
            </a:extLst>
          </p:cNvPr>
          <p:cNvSpPr/>
          <p:nvPr/>
        </p:nvSpPr>
        <p:spPr>
          <a:xfrm>
            <a:off x="11282712" y="104779"/>
            <a:ext cx="839610" cy="15546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BF6BEC-F125-FEB5-7647-09C212B6D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38" y="3024814"/>
            <a:ext cx="4071524" cy="26232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932459-7E21-4A83-FDBB-FD8FF8889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962" y="1511931"/>
            <a:ext cx="8458200" cy="1314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5D6165-1808-1EF7-1A0E-614E7A4F9D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605" y="2681363"/>
            <a:ext cx="7439608" cy="384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9191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" name="Google Shape;266;p33"/>
          <p:cNvCxnSpPr/>
          <p:nvPr/>
        </p:nvCxnSpPr>
        <p:spPr>
          <a:xfrm>
            <a:off x="46400" y="1276341"/>
            <a:ext cx="11066800" cy="0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7" name="Google Shape;267;p33"/>
          <p:cNvSpPr txBox="1"/>
          <p:nvPr/>
        </p:nvSpPr>
        <p:spPr>
          <a:xfrm>
            <a:off x="46400" y="1148433"/>
            <a:ext cx="12145600" cy="56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</a:pPr>
            <a:r>
              <a:rPr lang="en-GB" sz="2000" b="1" dirty="0">
                <a:solidFill>
                  <a:schemeClr val="dk1"/>
                </a:solidFill>
              </a:rPr>
              <a:t>What are Word Embeddings?</a:t>
            </a:r>
            <a:br>
              <a:rPr lang="en-GB" sz="1467" b="1" dirty="0">
                <a:solidFill>
                  <a:schemeClr val="dk1"/>
                </a:solidFill>
              </a:rPr>
            </a:br>
            <a:r>
              <a:rPr lang="en-GB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embeddings are </a:t>
            </a:r>
            <a:r>
              <a:rPr lang="en-GB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 representations </a:t>
            </a:r>
            <a:r>
              <a:rPr lang="en-GB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text that </a:t>
            </a:r>
            <a:r>
              <a:rPr lang="en-GB" b="1" u="sng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 words into vectors </a:t>
            </a:r>
            <a:r>
              <a:rPr lang="en-GB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machines can understand and process. Think of them as translating human language into a mathematical language that AI models can work with.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lang="en-GB" sz="2000" b="1" dirty="0">
                <a:solidFill>
                  <a:schemeClr val="dk1"/>
                </a:solidFill>
              </a:rPr>
              <a:t>Why Do We Need Them?</a:t>
            </a:r>
            <a:endParaRPr sz="2000" b="1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spcBef>
                <a:spcPts val="1600"/>
              </a:spcBef>
              <a:buClr>
                <a:schemeClr val="dk1"/>
              </a:buClr>
              <a:buSzPts val="1100"/>
              <a:buChar char="●"/>
            </a:pPr>
            <a:r>
              <a:rPr lang="en-GB" sz="1467" dirty="0">
                <a:solidFill>
                  <a:schemeClr val="dk1"/>
                </a:solidFill>
              </a:rPr>
              <a:t>Neural networks can't process raw text directly (Input is generally vectors)</a:t>
            </a:r>
            <a:endParaRPr sz="1467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GB" sz="1467" dirty="0">
                <a:solidFill>
                  <a:schemeClr val="dk1"/>
                </a:solidFill>
              </a:rPr>
              <a:t>Text needs to be converted to continuous-valued </a:t>
            </a:r>
            <a:r>
              <a:rPr lang="en-GB" sz="1467" b="1" dirty="0">
                <a:solidFill>
                  <a:schemeClr val="dk1"/>
                </a:solidFill>
              </a:rPr>
              <a:t>vectors </a:t>
            </a:r>
            <a:r>
              <a:rPr lang="en-GB" sz="1467" dirty="0">
                <a:solidFill>
                  <a:schemeClr val="dk1"/>
                </a:solidFill>
              </a:rPr>
              <a:t>(Array of Numbers)</a:t>
            </a:r>
            <a:endParaRPr sz="1467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GB" sz="1467" dirty="0">
                <a:solidFill>
                  <a:schemeClr val="dk1"/>
                </a:solidFill>
              </a:rPr>
              <a:t>Enables mathematical operations required for neural networks</a:t>
            </a:r>
            <a:endParaRPr sz="1467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GB" sz="1467" dirty="0">
                <a:solidFill>
                  <a:schemeClr val="dk1"/>
                </a:solidFill>
              </a:rPr>
              <a:t>Captures semantic relationships between words</a:t>
            </a:r>
            <a:endParaRPr sz="1467" dirty="0">
              <a:solidFill>
                <a:schemeClr val="dk1"/>
              </a:solidFill>
            </a:endParaRPr>
          </a:p>
          <a:p>
            <a:pPr marL="609585" indent="-397923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GB" sz="1467" dirty="0">
                <a:solidFill>
                  <a:schemeClr val="dk1"/>
                </a:solidFill>
              </a:rPr>
              <a:t>A good embedding should preserve the meaning of the token that should adapt well to the context in which it is used</a:t>
            </a:r>
            <a:endParaRPr sz="1467" dirty="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600"/>
              </a:spcBef>
            </a:pP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15000"/>
              </a:lnSpc>
              <a:spcBef>
                <a:spcPts val="800"/>
              </a:spcBef>
            </a:pP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15000"/>
              </a:lnSpc>
              <a:spcBef>
                <a:spcPts val="800"/>
              </a:spcBef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Bef>
                <a:spcPts val="800"/>
              </a:spcBef>
            </a:pPr>
            <a:endParaRPr sz="2000" dirty="0">
              <a:solidFill>
                <a:schemeClr val="dk2"/>
              </a:solidFill>
            </a:endParaRPr>
          </a:p>
        </p:txBody>
      </p:sp>
      <p:pic>
        <p:nvPicPr>
          <p:cNvPr id="269" name="Google Shape;26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3501" y="4211533"/>
            <a:ext cx="4294967" cy="22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3"/>
          <p:cNvSpPr txBox="1"/>
          <p:nvPr/>
        </p:nvSpPr>
        <p:spPr>
          <a:xfrm>
            <a:off x="0" y="6163200"/>
            <a:ext cx="36888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GB" sz="1067">
                <a:solidFill>
                  <a:schemeClr val="dk2"/>
                </a:solidFill>
              </a:rPr>
              <a:t>References:</a:t>
            </a:r>
            <a:endParaRPr sz="1067">
              <a:solidFill>
                <a:schemeClr val="dk2"/>
              </a:solidFill>
            </a:endParaRPr>
          </a:p>
          <a:p>
            <a:r>
              <a:rPr lang="en-GB" sz="1067" u="sng">
                <a:solidFill>
                  <a:schemeClr val="hlink"/>
                </a:solidFill>
                <a:hlinkClick r:id="rId4"/>
              </a:rPr>
              <a:t>Book: Build a Large Language Model (From Scratch) </a:t>
            </a:r>
            <a:endParaRPr sz="1067">
              <a:solidFill>
                <a:schemeClr val="dk2"/>
              </a:solidFill>
            </a:endParaRPr>
          </a:p>
          <a:p>
            <a:endParaRPr sz="1067">
              <a:solidFill>
                <a:schemeClr val="dk2"/>
              </a:solidFill>
            </a:endParaRPr>
          </a:p>
        </p:txBody>
      </p:sp>
      <p:pic>
        <p:nvPicPr>
          <p:cNvPr id="271" name="Google Shape;271;p33"/>
          <p:cNvPicPr preferRelativeResize="0"/>
          <p:nvPr/>
        </p:nvPicPr>
        <p:blipFill rotWithShape="1">
          <a:blip r:embed="rId5">
            <a:alphaModFix/>
          </a:blip>
          <a:srcRect t="3063"/>
          <a:stretch/>
        </p:blipFill>
        <p:spPr>
          <a:xfrm>
            <a:off x="4229621" y="4512575"/>
            <a:ext cx="3212367" cy="21381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E92BEBD-8BBA-A198-DB92-2642921F9AF9}"/>
              </a:ext>
            </a:extLst>
          </p:cNvPr>
          <p:cNvSpPr/>
          <p:nvPr/>
        </p:nvSpPr>
        <p:spPr>
          <a:xfrm>
            <a:off x="669044" y="668514"/>
            <a:ext cx="73324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  <a:highlight>
                  <a:srgbClr val="FFFF00"/>
                </a:highlight>
              </a:rPr>
              <a:t>Word Embeddings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75A656-B07A-94F9-9E37-B6824531DF4E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7CE3EAE7-D3F8-6AFF-219F-45FF1F7DE70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217307" y="180593"/>
            <a:ext cx="870585" cy="137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058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Word Embeddings</a:t>
            </a:r>
          </a:p>
        </p:txBody>
      </p:sp>
      <p:sp>
        <p:nvSpPr>
          <p:cNvPr id="12" name="object 14">
            <a:extLst>
              <a:ext uri="{FF2B5EF4-FFF2-40B4-BE49-F238E27FC236}">
                <a16:creationId xmlns:a16="http://schemas.microsoft.com/office/drawing/2014/main" id="{18CF7B8A-6585-4C35-A7E9-DA42EE71D56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3700" y="1692275"/>
            <a:ext cx="9902825" cy="4734694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515"/>
              </a:spcBef>
            </a:pPr>
            <a:r>
              <a:rPr sz="2400" b="1" spc="10" dirty="0">
                <a:cs typeface="Arial"/>
              </a:rPr>
              <a:t>Definition</a:t>
            </a:r>
            <a:endParaRPr sz="2400" b="1" dirty="0">
              <a:cs typeface="Arial"/>
            </a:endParaRPr>
          </a:p>
          <a:p>
            <a:pPr marL="469900" marR="95885" lvl="1" algn="just">
              <a:lnSpc>
                <a:spcPct val="115399"/>
              </a:lnSpc>
              <a:spcBef>
                <a:spcPts val="145"/>
              </a:spcBef>
            </a:pPr>
            <a:r>
              <a:rPr spc="-5" dirty="0">
                <a:solidFill>
                  <a:srgbClr val="00305E"/>
                </a:solidFill>
                <a:cs typeface="Arial"/>
              </a:rPr>
              <a:t>Real-valued and sub-symbolic representations of words as </a:t>
            </a:r>
            <a:r>
              <a:rPr b="1" spc="-5" dirty="0">
                <a:solidFill>
                  <a:srgbClr val="00305E"/>
                </a:solidFill>
                <a:cs typeface="Arial"/>
              </a:rPr>
              <a:t>dense  numeric</a:t>
            </a:r>
            <a:r>
              <a:rPr lang="en-US" b="1" spc="-10" dirty="0">
                <a:solidFill>
                  <a:srgbClr val="00305E"/>
                </a:solidFill>
                <a:cs typeface="Arial"/>
              </a:rPr>
              <a:t> </a:t>
            </a:r>
            <a:r>
              <a:rPr b="1" spc="-10" dirty="0">
                <a:solidFill>
                  <a:srgbClr val="00305E"/>
                </a:solidFill>
                <a:cs typeface="Arial"/>
              </a:rPr>
              <a:t>vectors</a:t>
            </a:r>
            <a:r>
              <a:rPr spc="-10" dirty="0">
                <a:solidFill>
                  <a:srgbClr val="00305E"/>
                </a:solidFill>
                <a:cs typeface="Arial"/>
              </a:rPr>
              <a:t>.</a:t>
            </a:r>
            <a:r>
              <a:rPr lang="en-US" spc="-10" dirty="0">
                <a:solidFill>
                  <a:srgbClr val="00305E"/>
                </a:solidFill>
                <a:cs typeface="Arial"/>
              </a:rPr>
              <a:t> So word embeddings are dense numeric vectors.</a:t>
            </a:r>
            <a:endParaRPr lang="en-US" dirty="0">
              <a:cs typeface="Arial"/>
            </a:endParaRPr>
          </a:p>
          <a:p>
            <a:pPr marL="469900" marR="95885" lvl="1" algn="just">
              <a:lnSpc>
                <a:spcPct val="115399"/>
              </a:lnSpc>
              <a:spcBef>
                <a:spcPts val="145"/>
              </a:spcBef>
            </a:pPr>
            <a:r>
              <a:rPr lang="en-US" spc="-5" dirty="0">
                <a:solidFill>
                  <a:srgbClr val="00305E"/>
                </a:solidFill>
                <a:cs typeface="Arial"/>
              </a:rPr>
              <a:t>D</a:t>
            </a:r>
            <a:r>
              <a:rPr spc="-5" dirty="0">
                <a:solidFill>
                  <a:srgbClr val="00305E"/>
                </a:solidFill>
                <a:cs typeface="Arial"/>
              </a:rPr>
              <a:t>istributed representation of word meanings (not  count-based</a:t>
            </a:r>
            <a:r>
              <a:rPr lang="en-US" spc="-5" dirty="0">
                <a:solidFill>
                  <a:srgbClr val="00305E"/>
                </a:solidFill>
                <a:cs typeface="Arial"/>
              </a:rPr>
              <a:t> on frequency of word</a:t>
            </a:r>
            <a:r>
              <a:rPr spc="-5" dirty="0">
                <a:solidFill>
                  <a:srgbClr val="00305E"/>
                </a:solidFill>
                <a:cs typeface="Arial"/>
              </a:rPr>
              <a:t>)</a:t>
            </a:r>
            <a:endParaRPr lang="en-IN" spc="-5" dirty="0">
              <a:solidFill>
                <a:srgbClr val="00305E"/>
              </a:solidFill>
              <a:cs typeface="Arial"/>
            </a:endParaRPr>
          </a:p>
          <a:p>
            <a:pPr marL="469900" marR="95885" lvl="1" algn="just">
              <a:lnSpc>
                <a:spcPct val="115399"/>
              </a:lnSpc>
              <a:spcBef>
                <a:spcPts val="145"/>
              </a:spcBef>
            </a:pPr>
            <a:r>
              <a:rPr lang="en-US" spc="-5" dirty="0">
                <a:solidFill>
                  <a:srgbClr val="00305E"/>
                </a:solidFill>
                <a:cs typeface="Arial"/>
              </a:rPr>
              <a:t>u</a:t>
            </a:r>
            <a:r>
              <a:rPr sz="2400" spc="-5" dirty="0">
                <a:solidFill>
                  <a:srgbClr val="00305E"/>
                </a:solidFill>
                <a:cs typeface="Arial"/>
              </a:rPr>
              <a:t>sually </a:t>
            </a:r>
            <a:r>
              <a:rPr sz="2400" dirty="0">
                <a:solidFill>
                  <a:srgbClr val="00305E"/>
                </a:solidFill>
                <a:cs typeface="Arial"/>
              </a:rPr>
              <a:t>learned </a:t>
            </a:r>
            <a:r>
              <a:rPr sz="2400" spc="-5" dirty="0">
                <a:solidFill>
                  <a:srgbClr val="00305E"/>
                </a:solidFill>
                <a:cs typeface="Arial"/>
              </a:rPr>
              <a:t>with neural</a:t>
            </a:r>
            <a:r>
              <a:rPr sz="2400" spc="-15" dirty="0">
                <a:solidFill>
                  <a:srgbClr val="00305E"/>
                </a:solidFill>
                <a:cs typeface="Arial"/>
              </a:rPr>
              <a:t> </a:t>
            </a:r>
            <a:r>
              <a:rPr sz="2400" spc="-5" dirty="0">
                <a:solidFill>
                  <a:srgbClr val="00305E"/>
                </a:solidFill>
                <a:cs typeface="Arial"/>
              </a:rPr>
              <a:t>networks</a:t>
            </a:r>
            <a:r>
              <a:rPr lang="en-US" sz="2400" spc="-5" dirty="0">
                <a:solidFill>
                  <a:srgbClr val="00305E"/>
                </a:solidFill>
                <a:cs typeface="Arial"/>
              </a:rPr>
              <a:t>.</a:t>
            </a:r>
            <a:endParaRPr lang="en-US" dirty="0">
              <a:cs typeface="Arial"/>
            </a:endParaRPr>
          </a:p>
          <a:p>
            <a:pPr marL="469900" marR="95885" lvl="1" algn="just">
              <a:lnSpc>
                <a:spcPct val="115399"/>
              </a:lnSpc>
              <a:spcBef>
                <a:spcPts val="145"/>
              </a:spcBef>
            </a:pPr>
            <a:r>
              <a:rPr lang="en-US" spc="-5" dirty="0">
                <a:solidFill>
                  <a:srgbClr val="00305E"/>
                </a:solidFill>
                <a:cs typeface="Arial"/>
              </a:rPr>
              <a:t>S</a:t>
            </a:r>
            <a:r>
              <a:rPr sz="2400" spc="-5" dirty="0">
                <a:solidFill>
                  <a:srgbClr val="00305E"/>
                </a:solidFill>
                <a:cs typeface="Arial"/>
              </a:rPr>
              <a:t>pecific dimensions of the resulting </a:t>
            </a:r>
            <a:r>
              <a:rPr sz="2400" spc="-10" dirty="0">
                <a:solidFill>
                  <a:srgbClr val="00305E"/>
                </a:solidFill>
                <a:cs typeface="Arial"/>
              </a:rPr>
              <a:t>vectors </a:t>
            </a:r>
            <a:r>
              <a:rPr sz="2400" spc="-5" dirty="0">
                <a:solidFill>
                  <a:srgbClr val="00305E"/>
                </a:solidFill>
                <a:cs typeface="Arial"/>
              </a:rPr>
              <a:t>cannot bet directly  mapped to symbolic</a:t>
            </a:r>
            <a:r>
              <a:rPr sz="2400" spc="-10" dirty="0">
                <a:solidFill>
                  <a:srgbClr val="00305E"/>
                </a:solidFill>
                <a:cs typeface="Arial"/>
              </a:rPr>
              <a:t> </a:t>
            </a:r>
            <a:r>
              <a:rPr sz="2400" spc="-5" dirty="0">
                <a:solidFill>
                  <a:srgbClr val="00305E"/>
                </a:solidFill>
                <a:cs typeface="Arial"/>
              </a:rPr>
              <a:t>representation</a:t>
            </a:r>
            <a:endParaRPr lang="en-US" dirty="0">
              <a:cs typeface="Arial"/>
            </a:endParaRPr>
          </a:p>
          <a:p>
            <a:pPr marL="469900" marR="95885" lvl="1" algn="just">
              <a:lnSpc>
                <a:spcPct val="115399"/>
              </a:lnSpc>
              <a:spcBef>
                <a:spcPts val="145"/>
              </a:spcBef>
            </a:pPr>
            <a:r>
              <a:rPr lang="en-US" spc="-5" dirty="0">
                <a:solidFill>
                  <a:srgbClr val="00305E"/>
                </a:solidFill>
                <a:cs typeface="Arial"/>
              </a:rPr>
              <a:t>M</a:t>
            </a:r>
            <a:r>
              <a:rPr sz="2400" spc="-5" dirty="0">
                <a:solidFill>
                  <a:srgbClr val="00305E"/>
                </a:solidFill>
                <a:cs typeface="Arial"/>
              </a:rPr>
              <a:t>odels that seek to predict between a </a:t>
            </a:r>
            <a:r>
              <a:rPr sz="2400" spc="-5" dirty="0">
                <a:solidFill>
                  <a:srgbClr val="FF0000"/>
                </a:solidFill>
                <a:cs typeface="Arial"/>
              </a:rPr>
              <a:t>center word </a:t>
            </a:r>
            <a:r>
              <a:rPr sz="2400" spc="-5" dirty="0">
                <a:solidFill>
                  <a:srgbClr val="00305E"/>
                </a:solidFill>
                <a:cs typeface="Arial"/>
              </a:rPr>
              <a:t>and  </a:t>
            </a:r>
            <a:r>
              <a:rPr sz="2400" spc="-10" dirty="0">
                <a:solidFill>
                  <a:srgbClr val="FF0000"/>
                </a:solidFill>
                <a:cs typeface="Arial"/>
              </a:rPr>
              <a:t>context </a:t>
            </a:r>
            <a:r>
              <a:rPr sz="2400" spc="-5" dirty="0">
                <a:solidFill>
                  <a:srgbClr val="FF0000"/>
                </a:solidFill>
                <a:cs typeface="Arial"/>
              </a:rPr>
              <a:t>words</a:t>
            </a:r>
            <a:r>
              <a:rPr sz="2400" spc="-5" dirty="0">
                <a:solidFill>
                  <a:srgbClr val="00305E"/>
                </a:solidFill>
                <a:cs typeface="Arial"/>
              </a:rPr>
              <a:t> </a:t>
            </a:r>
            <a:r>
              <a:rPr lang="en-US" sz="2400" spc="-5" dirty="0">
                <a:solidFill>
                  <a:srgbClr val="00305E"/>
                </a:solidFill>
                <a:cs typeface="Arial"/>
              </a:rPr>
              <a:t> </a:t>
            </a:r>
            <a:r>
              <a:rPr lang="en-US" spc="-5" dirty="0">
                <a:solidFill>
                  <a:srgbClr val="00305E"/>
                </a:solidFill>
                <a:cs typeface="Arial"/>
              </a:rPr>
              <a:t>(</a:t>
            </a:r>
            <a:r>
              <a:rPr sz="2400" spc="-5" dirty="0">
                <a:solidFill>
                  <a:srgbClr val="00305E"/>
                </a:solidFill>
                <a:cs typeface="Arial"/>
              </a:rPr>
              <a:t>predict models)</a:t>
            </a:r>
            <a:endParaRPr lang="en-US" dirty="0">
              <a:cs typeface="Arial"/>
            </a:endParaRPr>
          </a:p>
          <a:p>
            <a:pPr marL="469900" marR="95885" lvl="1" algn="just">
              <a:lnSpc>
                <a:spcPct val="115399"/>
              </a:lnSpc>
              <a:spcBef>
                <a:spcPts val="145"/>
              </a:spcBef>
            </a:pPr>
            <a:r>
              <a:rPr lang="en-IN" sz="2400" spc="-20" dirty="0">
                <a:solidFill>
                  <a:srgbClr val="00305E"/>
                </a:solidFill>
                <a:cs typeface="Arial"/>
              </a:rPr>
              <a:t>K</a:t>
            </a:r>
            <a:r>
              <a:rPr sz="2400" spc="-20" dirty="0" err="1">
                <a:solidFill>
                  <a:srgbClr val="00305E"/>
                </a:solidFill>
                <a:cs typeface="Arial"/>
              </a:rPr>
              <a:t>ey</a:t>
            </a:r>
            <a:r>
              <a:rPr sz="2400" spc="-20" dirty="0">
                <a:solidFill>
                  <a:srgbClr val="00305E"/>
                </a:solidFill>
                <a:cs typeface="Arial"/>
              </a:rPr>
              <a:t> </a:t>
            </a:r>
            <a:r>
              <a:rPr sz="2400" spc="-5" dirty="0">
                <a:solidFill>
                  <a:srgbClr val="00305E"/>
                </a:solidFill>
                <a:cs typeface="Arial"/>
              </a:rPr>
              <a:t>elements of </a:t>
            </a:r>
            <a:r>
              <a:rPr sz="2400" b="1" spc="-5" dirty="0">
                <a:solidFill>
                  <a:srgbClr val="00305E"/>
                </a:solidFill>
                <a:cs typeface="Arial"/>
              </a:rPr>
              <a:t>deep </a:t>
            </a:r>
            <a:r>
              <a:rPr sz="2400" b="1" dirty="0">
                <a:solidFill>
                  <a:srgbClr val="00305E"/>
                </a:solidFill>
                <a:cs typeface="Arial"/>
              </a:rPr>
              <a:t>learning</a:t>
            </a:r>
            <a:r>
              <a:rPr sz="2400" b="1" spc="5" dirty="0">
                <a:solidFill>
                  <a:srgbClr val="00305E"/>
                </a:solidFill>
                <a:cs typeface="Arial"/>
              </a:rPr>
              <a:t> </a:t>
            </a:r>
            <a:r>
              <a:rPr sz="2400" spc="-5" dirty="0">
                <a:solidFill>
                  <a:srgbClr val="00305E"/>
                </a:solidFill>
                <a:cs typeface="Arial"/>
              </a:rPr>
              <a:t>models</a:t>
            </a:r>
            <a:r>
              <a:rPr lang="en-US" sz="2400" spc="-5" dirty="0">
                <a:solidFill>
                  <a:srgbClr val="00305E"/>
                </a:solidFill>
                <a:cs typeface="Arial"/>
              </a:rPr>
              <a:t>.</a:t>
            </a:r>
            <a:endParaRPr sz="2400" dirty="0"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02A218-53C6-4C7C-A079-A12DA881B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25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30E0CA32-6D6A-1B28-9111-0A66406E1A8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AF6CC67-E1A4-D725-7F1C-3CB4F7C7AED3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3890300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Neural Word embeddings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0CD2BAB1-4018-4F72-952A-F45EAB956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901" y="1468810"/>
            <a:ext cx="9912939" cy="428032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Framework for learning word embeddings; 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Takes </a:t>
            </a:r>
            <a:r>
              <a:rPr lang="en-US" dirty="0">
                <a:solidFill>
                  <a:srgbClr val="C00000"/>
                </a:solidFill>
              </a:rPr>
              <a:t>words from a very large corpus </a:t>
            </a:r>
            <a:r>
              <a:rPr lang="en-US" dirty="0"/>
              <a:t>of text as input  	(unsupervised)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>
                <a:solidFill>
                  <a:srgbClr val="C00000"/>
                </a:solidFill>
              </a:rPr>
              <a:t>Learn a vector representation for each word </a:t>
            </a:r>
            <a:r>
              <a:rPr lang="en-US" dirty="0"/>
              <a:t>to predict relation between  	every word and its context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/>
              <a:t>Fully connected </a:t>
            </a:r>
            <a:r>
              <a:rPr lang="en-US" dirty="0">
                <a:solidFill>
                  <a:srgbClr val="C00000"/>
                </a:solidFill>
              </a:rPr>
              <a:t>feed-forward neural network</a:t>
            </a:r>
            <a:r>
              <a:rPr lang="en-US" dirty="0"/>
              <a:t> with one hidden  	layer</a:t>
            </a:r>
          </a:p>
          <a:p>
            <a:pPr marL="0" indent="0" algn="just">
              <a:buNone/>
            </a:pPr>
            <a:r>
              <a:rPr lang="en-US" dirty="0"/>
              <a:t>Two main algorithms: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b="1" dirty="0">
                <a:solidFill>
                  <a:srgbClr val="7030A0"/>
                </a:solidFill>
              </a:rPr>
              <a:t>Skip-gram</a:t>
            </a:r>
            <a:r>
              <a:rPr lang="en-US" b="1" dirty="0"/>
              <a:t>: </a:t>
            </a:r>
            <a:r>
              <a:rPr lang="en-US" dirty="0">
                <a:highlight>
                  <a:srgbClr val="FFFF00"/>
                </a:highlight>
              </a:rPr>
              <a:t>predicts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context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taking the center/target word as  input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b="1" dirty="0">
                <a:solidFill>
                  <a:srgbClr val="7030A0"/>
                </a:solidFill>
              </a:rPr>
              <a:t>Continuous Bag of Words</a:t>
            </a:r>
            <a:r>
              <a:rPr lang="en-US" b="1" dirty="0"/>
              <a:t> (CBOW): </a:t>
            </a:r>
            <a:r>
              <a:rPr lang="en-US" dirty="0">
                <a:highlight>
                  <a:srgbClr val="FFFF00"/>
                </a:highlight>
              </a:rPr>
              <a:t>predicts center/target/focus  </a:t>
            </a:r>
            <a:r>
              <a:rPr lang="en-US" dirty="0"/>
              <a:t>word from the given context (sum of surrounding words  vectors)</a:t>
            </a: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2CEF9B-E535-4A5D-B9AC-F19ECC04E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26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0EE3C9B9-2C46-2555-0EBD-EC9B6DCF318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DDFB2C-D9CD-E5B5-9424-88CE8B90B2FF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3796069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Word2vec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0CD2BAB1-4018-4F72-952A-F45EAB956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145" y="1045659"/>
            <a:ext cx="9498020" cy="513694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endParaRPr lang="en-IN" dirty="0"/>
          </a:p>
          <a:p>
            <a:pPr algn="just"/>
            <a:r>
              <a:rPr lang="en-IN" dirty="0"/>
              <a:t>Word2vec is not a single algorithm but a combination of two techniques – </a:t>
            </a:r>
          </a:p>
          <a:p>
            <a:pPr algn="just"/>
            <a:endParaRPr lang="en-IN" dirty="0"/>
          </a:p>
          <a:p>
            <a:pPr lvl="1" algn="just"/>
            <a:r>
              <a:rPr lang="en-IN" b="1" dirty="0"/>
              <a:t>CBOW(Continuous bag of words) and Skip-gram model.</a:t>
            </a:r>
          </a:p>
          <a:p>
            <a:pPr marL="457200" lvl="1" indent="0" algn="just">
              <a:buNone/>
            </a:pPr>
            <a:r>
              <a:rPr lang="en-IN" dirty="0"/>
              <a:t> </a:t>
            </a:r>
          </a:p>
          <a:p>
            <a:pPr algn="just"/>
            <a:r>
              <a:rPr lang="en-IN" dirty="0"/>
              <a:t>Both of these are not Deep neural networks, they are </a:t>
            </a:r>
            <a:r>
              <a:rPr lang="en-IN" dirty="0">
                <a:solidFill>
                  <a:srgbClr val="FF0000"/>
                </a:solidFill>
              </a:rPr>
              <a:t>shallow neural networks </a:t>
            </a:r>
            <a:r>
              <a:rPr lang="en-IN" dirty="0"/>
              <a:t>which map word(s) to the target variable which is also a word(s). 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Both of these techniques learn weights which act as word vector representations.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069E85-D652-40AA-8236-DB7133280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27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0D689C2C-585A-D506-25FB-82AF61348C0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4373EA5-22E9-709A-A663-884B5146911E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24885485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DAE51-8B58-B07C-E496-69664578D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8B24B4-1644-3A85-6ECF-6DA20D6B3CE7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327757B-547B-FEAD-4254-4A3C4C87892B}"/>
              </a:ext>
            </a:extLst>
          </p:cNvPr>
          <p:cNvSpPr/>
          <p:nvPr/>
        </p:nvSpPr>
        <p:spPr>
          <a:xfrm>
            <a:off x="598882" y="814827"/>
            <a:ext cx="76928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Word2vec (Vector representation of the words)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D7BF78-6045-96E7-439D-485AD6E92577}"/>
              </a:ext>
            </a:extLst>
          </p:cNvPr>
          <p:cNvSpPr txBox="1"/>
          <p:nvPr/>
        </p:nvSpPr>
        <p:spPr>
          <a:xfrm>
            <a:off x="393111" y="1486687"/>
            <a:ext cx="91857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Vocabulary is the combination of unique words in the document and that becomes the corpus.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Suppose the words in vocabulary are</a:t>
            </a:r>
          </a:p>
          <a:p>
            <a:r>
              <a:rPr lang="en-US" sz="2400" dirty="0">
                <a:solidFill>
                  <a:srgbClr val="FF0000"/>
                </a:solidFill>
              </a:rPr>
              <a:t>				[boy  girl  king  queen   apple   mango]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ECDCD0-77EC-45E5-5F55-ED494D5D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28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AEB1165F-0A0D-939B-4414-86E8A67416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883343D-3C9F-C580-3FE9-C6EADCEE1662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A85D48-7A68-2863-C8C5-FBF297773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39" y="2756293"/>
            <a:ext cx="1820347" cy="18283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BC0875-D246-3E1C-61D5-201F9A6F3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8500" y="3190277"/>
            <a:ext cx="9221487" cy="2762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C50EED-D3D0-CD6C-5FAE-0BA6ABE9CC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9766" y="3446221"/>
            <a:ext cx="9180221" cy="114988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B0CA24C-7230-9F40-B0C0-A54ABA9BE5FF}"/>
              </a:ext>
            </a:extLst>
          </p:cNvPr>
          <p:cNvSpPr txBox="1"/>
          <p:nvPr/>
        </p:nvSpPr>
        <p:spPr>
          <a:xfrm>
            <a:off x="1010712" y="4687840"/>
            <a:ext cx="91857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Suppose the vector for king, man, queen and girl in 2 feature rep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King [.95. .96] , man [.95, .98]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0000"/>
                </a:solidFill>
              </a:rPr>
              <a:t>Queeen</a:t>
            </a:r>
            <a:r>
              <a:rPr lang="en-US" sz="2400" dirty="0">
                <a:solidFill>
                  <a:srgbClr val="FF0000"/>
                </a:solidFill>
              </a:rPr>
              <a:t> [ -.96, .95], girl [-.99, -.96]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Apply king – man + Queen = girl</a:t>
            </a:r>
          </a:p>
        </p:txBody>
      </p:sp>
    </p:spTree>
    <p:extLst>
      <p:ext uri="{BB962C8B-B14F-4D97-AF65-F5344CB8AC3E}">
        <p14:creationId xmlns:p14="http://schemas.microsoft.com/office/powerpoint/2010/main" val="2330267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A983D-575A-9C25-F699-5486F2952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8D826C-D671-B964-487C-96F13B24C127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9F78C1-99A3-72C0-ACC5-5DD2257A0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29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3D28AB62-6094-2FC4-4BA2-3522EB73CC3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2CCFB1A-87F9-21ED-CB11-9F5780EDC58C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ED3F72-EB79-AAB3-00EF-16492E5BF28C}"/>
              </a:ext>
            </a:extLst>
          </p:cNvPr>
          <p:cNvSpPr/>
          <p:nvPr/>
        </p:nvSpPr>
        <p:spPr>
          <a:xfrm>
            <a:off x="598882" y="814827"/>
            <a:ext cx="76928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Word2vec (Vector representation of the words)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BBD112-68E8-D3E0-3E14-43BC82BF60C6}"/>
              </a:ext>
            </a:extLst>
          </p:cNvPr>
          <p:cNvSpPr/>
          <p:nvPr/>
        </p:nvSpPr>
        <p:spPr>
          <a:xfrm>
            <a:off x="598882" y="1377414"/>
            <a:ext cx="76928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Using Cosine Similarity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56C1F9-2A38-F722-2B0A-50220778A57A}"/>
              </a:ext>
            </a:extLst>
          </p:cNvPr>
          <p:cNvSpPr txBox="1"/>
          <p:nvPr/>
        </p:nvSpPr>
        <p:spPr>
          <a:xfrm>
            <a:off x="598882" y="1839079"/>
            <a:ext cx="1016055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If we plot the vector of king and man as points and calculate the distance, using distance = 1-cosine similarity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cosine simi = Cos 45 = 0.707</a:t>
            </a:r>
          </a:p>
          <a:p>
            <a:r>
              <a:rPr lang="en-US" sz="2400" dirty="0">
                <a:solidFill>
                  <a:srgbClr val="FF0000"/>
                </a:solidFill>
              </a:rPr>
              <a:t>	distance = .29,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since distance is very near to zero that indicates that both the words are very similar.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57CFB3-5718-0181-4C7A-B730768A7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802" y="2708717"/>
            <a:ext cx="6570198" cy="242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5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68EC9-263A-CB1C-1122-29856E366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DA80EF-0264-DB08-6DAD-1D94AF48009D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33D5DD-F573-EEBB-0DD8-DC86D1B8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30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123206CA-AE70-B870-A9E5-6FF4F1A418C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378A365-7F79-529B-2EF4-18005A57B34E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37B96B-5BB8-F34B-0B14-C2BF7B0522BB}"/>
              </a:ext>
            </a:extLst>
          </p:cNvPr>
          <p:cNvSpPr/>
          <p:nvPr/>
        </p:nvSpPr>
        <p:spPr>
          <a:xfrm>
            <a:off x="598882" y="814827"/>
            <a:ext cx="76928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Word2vec (Training of Word2vec)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0119A5-C229-9EA2-08DF-EB6EC0DB74DC}"/>
              </a:ext>
            </a:extLst>
          </p:cNvPr>
          <p:cNvSpPr/>
          <p:nvPr/>
        </p:nvSpPr>
        <p:spPr>
          <a:xfrm>
            <a:off x="598882" y="1377414"/>
            <a:ext cx="86263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Word2Vec </a:t>
            </a:r>
            <a:r>
              <a:rPr lang="en-US" sz="2400" dirty="0"/>
              <a:t>model gets trained with the help of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/>
              <a:t>CBOW and </a:t>
            </a:r>
            <a:r>
              <a:rPr lang="en-US" sz="2400" dirty="0" err="1"/>
              <a:t>Skipgram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1DC69E-F04E-B2FB-6F40-2A25B6D97ECD}"/>
              </a:ext>
            </a:extLst>
          </p:cNvPr>
          <p:cNvSpPr txBox="1"/>
          <p:nvPr/>
        </p:nvSpPr>
        <p:spPr>
          <a:xfrm>
            <a:off x="776998" y="3116223"/>
            <a:ext cx="1016055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Word2Vec and </a:t>
            </a:r>
            <a:r>
              <a:rPr lang="en-US" sz="2400" dirty="0" err="1"/>
              <a:t>GloVe</a:t>
            </a:r>
            <a:r>
              <a:rPr lang="en-US" sz="2400" dirty="0"/>
              <a:t> are </a:t>
            </a:r>
            <a:r>
              <a:rPr lang="en-US" sz="2400" dirty="0">
                <a:highlight>
                  <a:srgbClr val="C0C0C0"/>
                </a:highlight>
              </a:rPr>
              <a:t>word embedding techniques</a:t>
            </a:r>
            <a:r>
              <a:rPr lang="en-US" sz="2400" dirty="0"/>
              <a:t>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Skip-Gram and CBOW are the </a:t>
            </a:r>
            <a:r>
              <a:rPr lang="en-US" sz="2400" b="1" dirty="0"/>
              <a:t>two training architectures </a:t>
            </a:r>
            <a:r>
              <a:rPr lang="en-US" sz="2400" dirty="0"/>
              <a:t>used </a:t>
            </a:r>
            <a:r>
              <a:rPr lang="en-US" sz="2400" dirty="0">
                <a:highlight>
                  <a:srgbClr val="C0C0C0"/>
                </a:highlight>
              </a:rPr>
              <a:t>within Word2Vec.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48874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5E66F-C45C-BAE4-9AA5-C9544BE57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E445A3-7F8A-BF62-E300-F101F28F31C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9A85949-4BDF-AF4D-2ACA-4873F89B77B7}"/>
              </a:ext>
            </a:extLst>
          </p:cNvPr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CBOW (Continuous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BagOfWords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)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62439BD-8761-3F41-76B6-D3C549DC3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144" y="1045659"/>
            <a:ext cx="10836415" cy="513694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IN" dirty="0"/>
          </a:p>
          <a:p>
            <a:pPr algn="just"/>
            <a:r>
              <a:rPr lang="en-US" dirty="0"/>
              <a:t>Continuous Bag of Words (CBOW) is a NLP technique used to generate word embeddings. CBOW is a neural network-based algorithm that </a:t>
            </a:r>
            <a:r>
              <a:rPr lang="en-US" b="1" dirty="0">
                <a:solidFill>
                  <a:schemeClr val="accent1"/>
                </a:solidFill>
              </a:rPr>
              <a:t>predicts a target word </a:t>
            </a:r>
            <a:r>
              <a:rPr lang="en-US" dirty="0">
                <a:solidFill>
                  <a:srgbClr val="FF0000"/>
                </a:solidFill>
              </a:rPr>
              <a:t>given its surrounding context words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It can learn from unlabeled data, and it is often used to pre-train word embeddings that can be used for various NLP tasks such as sentiment analysis, text classification.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590357-233E-0BE6-5A46-B261A2256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31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764E5820-B59B-06F1-F21F-7A4309274BD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3271" y="190553"/>
            <a:ext cx="870585" cy="13784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CFB5E4A-0E17-616F-EEBB-2D486DC74E6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DFD1A0-9188-EA84-8CDD-971A18C13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910" y="3726594"/>
            <a:ext cx="5349170" cy="312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62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D09A7-603D-EE76-1DEE-1BAA23E5F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512AED-3428-BCBC-4135-5FCB206AC0B5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ACC1F56-FEC5-0CAC-0E9B-BCA8F9253563}"/>
              </a:ext>
            </a:extLst>
          </p:cNvPr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Comparison between BOW and CBOW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C898942-6471-AEFC-8949-B80BC9C56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144" y="1045659"/>
            <a:ext cx="10836415" cy="513694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IN" dirty="0"/>
          </a:p>
          <a:p>
            <a:pPr algn="just"/>
            <a:r>
              <a:rPr lang="en-US" dirty="0"/>
              <a:t>The </a:t>
            </a:r>
            <a:r>
              <a:rPr lang="en-US" dirty="0" err="1"/>
              <a:t>BoW</a:t>
            </a:r>
            <a:r>
              <a:rPr lang="en-US" dirty="0"/>
              <a:t> model represents text as a collection of words and their frequency in a given document or corpus. It does not consider the order or context in which the words appear, and therefore, it may not capture the full meaning of the text.</a:t>
            </a:r>
          </a:p>
          <a:p>
            <a:pPr algn="just"/>
            <a:r>
              <a:rPr lang="en-US" dirty="0"/>
              <a:t>CBOW model is a neural network-based approach that captures the context of words. It learns to predict the target word based on the words that appear before and after it in a given context window.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78B163-36BC-5976-31A1-2B1B1F69E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32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4DB1ADCC-5EE7-F396-5380-4F71051D4A4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3271" y="190553"/>
            <a:ext cx="870585" cy="13784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08E82C1-1BE3-B970-C5CC-F368AA98672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6125962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F8A84-9456-FFC6-D12A-685D9522B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DB2013-ED7E-1730-D3AD-2D0B6CE8B25F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F17B735-496D-3A64-A360-031582754271}"/>
              </a:ext>
            </a:extLst>
          </p:cNvPr>
          <p:cNvSpPr/>
          <p:nvPr/>
        </p:nvSpPr>
        <p:spPr>
          <a:xfrm>
            <a:off x="393111" y="713905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Architecture of CBOW Model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179E42A0-A6AD-6339-11C9-92BFD865F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144" y="1045659"/>
            <a:ext cx="10836415" cy="513694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IN" dirty="0"/>
          </a:p>
          <a:p>
            <a:pPr algn="just"/>
            <a:r>
              <a:rPr lang="en-US" dirty="0"/>
              <a:t>Example </a:t>
            </a:r>
            <a:r>
              <a:rPr lang="en-US" b="1" dirty="0"/>
              <a:t>"She is a great dancer.“</a:t>
            </a:r>
          </a:p>
          <a:p>
            <a:pPr algn="just"/>
            <a:r>
              <a:rPr lang="en-US" dirty="0"/>
              <a:t>CBOW model converts this phrase into </a:t>
            </a:r>
            <a:r>
              <a:rPr lang="en-US" b="1" i="1" dirty="0"/>
              <a:t>pairs of context words and target words</a:t>
            </a:r>
            <a:r>
              <a:rPr lang="en-US" dirty="0"/>
              <a:t>.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9180A9-74E0-C6CA-0FE8-B7F239EA9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33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770066EF-7BFF-C661-A29C-C69A9620FDA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3271" y="190553"/>
            <a:ext cx="870585" cy="13784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E521369-228F-25A2-8817-2B7CE250D8B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905002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7883C-595C-ACD0-E315-94450CCBE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5DAB66-66E5-581F-BEBF-5B74D301CD9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324BCDD-B8C6-F57C-75BA-DFC667CA8981}"/>
              </a:ext>
            </a:extLst>
          </p:cNvPr>
          <p:cNvSpPr/>
          <p:nvPr/>
        </p:nvSpPr>
        <p:spPr>
          <a:xfrm>
            <a:off x="393111" y="713905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Architecture of CBOW Model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A5301A8-792E-2B7F-3D27-64EFC925F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144" y="1045659"/>
            <a:ext cx="10836415" cy="513694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endParaRPr lang="en-IN" dirty="0"/>
          </a:p>
          <a:p>
            <a:pPr algn="just"/>
            <a:r>
              <a:rPr lang="en-US" dirty="0"/>
              <a:t>Example </a:t>
            </a:r>
            <a:r>
              <a:rPr lang="en-US" b="1" dirty="0"/>
              <a:t>"She is a great dancer.“</a:t>
            </a:r>
          </a:p>
          <a:p>
            <a:pPr algn="just"/>
            <a:r>
              <a:rPr lang="en-US" dirty="0"/>
              <a:t>CBOW model converts this phrase into </a:t>
            </a:r>
            <a:r>
              <a:rPr lang="en-US" b="1" i="1" dirty="0"/>
              <a:t>pairs of context words and target words</a:t>
            </a:r>
            <a:r>
              <a:rPr lang="en-US" dirty="0"/>
              <a:t>. </a:t>
            </a:r>
          </a:p>
          <a:p>
            <a:pPr algn="just"/>
            <a:r>
              <a:rPr lang="en-US" dirty="0"/>
              <a:t>The </a:t>
            </a:r>
            <a:r>
              <a:rPr lang="en-US" b="1" dirty="0">
                <a:solidFill>
                  <a:schemeClr val="accent1"/>
                </a:solidFill>
              </a:rPr>
              <a:t>word pairings for window size=1 </a:t>
            </a:r>
            <a:r>
              <a:rPr lang="en-US" dirty="0"/>
              <a:t>would appear like this </a:t>
            </a:r>
          </a:p>
          <a:p>
            <a:pPr lvl="1" algn="just"/>
            <a:r>
              <a:rPr lang="en-US" b="1" dirty="0"/>
              <a:t>([she, a], is), ([is, great], a) ([a, dancer], great)   </a:t>
            </a:r>
            <a:endParaRPr lang="en-IN" dirty="0"/>
          </a:p>
          <a:p>
            <a:pPr marL="457200" lvl="1" indent="0" algn="just">
              <a:buNone/>
            </a:pPr>
            <a:endParaRPr lang="en-US" b="1" dirty="0"/>
          </a:p>
          <a:p>
            <a:pPr marL="457200" lvl="1" indent="0" algn="just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</a:t>
            </a:r>
            <a:r>
              <a:rPr 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considers the context words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tries to predict the target term.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1∗W input vectors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passed to the input layer (if have four words as context words)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is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one target word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layer will receive the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vectors and then multiply them by a W∗N matrix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1∗N output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hidden layer finally enters the sum layer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the vectors are element-wise summed before a final activation is carried out and the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is obtained from the output layer.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F5C910-4D61-C9A7-AF01-0B44B03C1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34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DC94E970-B737-78FE-773F-751E09E151B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3271" y="190553"/>
            <a:ext cx="870585" cy="13784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B3DC91-8B91-3B5C-02E2-1CEE80560D80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5A0579-73BA-623F-3517-531613973DD7}"/>
                  </a:ext>
                </a:extLst>
              </p:cNvPr>
              <p:cNvSpPr txBox="1"/>
              <p:nvPr/>
            </p:nvSpPr>
            <p:spPr>
              <a:xfrm>
                <a:off x="6487160" y="3186606"/>
                <a:ext cx="618744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If </a:t>
                </a:r>
                <a:r>
                  <a:rPr lang="en-US" b="1" dirty="0"/>
                  <a:t>window size = k</a:t>
                </a:r>
                <a:br>
                  <a:rPr lang="en-US" dirty="0"/>
                </a:br>
                <a:r>
                  <a:rPr lang="en-US" b="1" dirty="0" err="1"/>
                  <a:t>k</a:t>
                </a:r>
                <a:r>
                  <a:rPr lang="en-US" b="1" dirty="0"/>
                  <a:t> words on the left + k words on the right</a:t>
                </a:r>
                <a:r>
                  <a:rPr lang="en-US" dirty="0"/>
                  <a:t> of the target word are considered.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/>
                        <m:t>Total</m:t>
                      </m:r>
                      <m:r>
                        <m:rPr>
                          <m:nor/>
                        </m:rPr>
                        <a:rPr lang="en-US" b="0" i="1"/>
                        <m:t> </m:t>
                      </m:r>
                      <m:r>
                        <m:rPr>
                          <m:nor/>
                        </m:rPr>
                        <a:rPr lang="en-US" b="0" i="1"/>
                        <m:t>context</m:t>
                      </m:r>
                      <m:r>
                        <m:rPr>
                          <m:nor/>
                        </m:rPr>
                        <a:rPr lang="en-US" b="0" i="1"/>
                        <m:t> </m:t>
                      </m:r>
                      <m:r>
                        <m:rPr>
                          <m:nor/>
                        </m:rPr>
                        <a:rPr lang="en-US" b="0" i="1"/>
                        <m:t>words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5A0579-73BA-623F-3517-531613973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160" y="3186606"/>
                <a:ext cx="6187440" cy="1200329"/>
              </a:xfrm>
              <a:prstGeom prst="rect">
                <a:avLst/>
              </a:prstGeom>
              <a:blipFill>
                <a:blip r:embed="rId3"/>
                <a:stretch>
                  <a:fillRect l="-788" t="-3046" r="-16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4854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09CB4-906C-4CD9-A2E5-BBA2E12F0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0949311-C431-EFFF-F894-4CFD3C8FF893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0BB3139-0AF5-AF9C-BE22-1F15BA3A52CD}"/>
              </a:ext>
            </a:extLst>
          </p:cNvPr>
          <p:cNvSpPr/>
          <p:nvPr/>
        </p:nvSpPr>
        <p:spPr>
          <a:xfrm>
            <a:off x="393111" y="713905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CBOW Example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6376C7F-B847-8691-FFF5-7098F26B2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144" y="1045659"/>
            <a:ext cx="10836415" cy="513694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: Harry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related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hogward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Vocabulary size = 7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{ harry, name, is, related, to,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hogward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university }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word is initially represented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7 dimensional vector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 to the CBOW network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(not the final embeddings.)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 Size = 5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(Context Words)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harry, name, related, to ]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(Output Word)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CBOW learns: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(harry + name + related + to)  →  is</a:t>
            </a:r>
          </a:p>
          <a:p>
            <a:pPr algn="just"/>
            <a:endParaRPr lang="en-US" sz="1800" dirty="0"/>
          </a:p>
          <a:p>
            <a:pPr algn="just"/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CDFDD3-CBD5-DBEC-4D69-EBB8CB41B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35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8A001903-8C53-7D8C-5AEE-C609099DE93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3271" y="190553"/>
            <a:ext cx="870585" cy="13784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9719CC-B015-D675-DA30-8DB180D1E3A4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B46141-B246-489D-33CA-B627BD05A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798" y="3983216"/>
            <a:ext cx="3458058" cy="25054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B6AAC5-006C-B795-61D3-B292796F1A33}"/>
              </a:ext>
            </a:extLst>
          </p:cNvPr>
          <p:cNvSpPr txBox="1"/>
          <p:nvPr/>
        </p:nvSpPr>
        <p:spPr>
          <a:xfrm>
            <a:off x="3375660" y="3730664"/>
            <a:ext cx="45897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Weight Matrix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Shape of W₁ = </a:t>
            </a:r>
            <a:r>
              <a:rPr lang="en-US" b="1" dirty="0"/>
              <a:t>7 × 5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7 → vocabulary size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5 → number of neurons in the hidden layer</a:t>
            </a:r>
          </a:p>
        </p:txBody>
      </p:sp>
    </p:spTree>
    <p:extLst>
      <p:ext uri="{BB962C8B-B14F-4D97-AF65-F5344CB8AC3E}">
        <p14:creationId xmlns:p14="http://schemas.microsoft.com/office/powerpoint/2010/main" val="197152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9761D-BB19-44C6-58BF-140F04838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5D2C54-5809-6339-3F2D-7928A3D4B42F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EB438F5-1630-BF2E-4B94-BF2D51DC7AB5}"/>
              </a:ext>
            </a:extLst>
          </p:cNvPr>
          <p:cNvSpPr/>
          <p:nvPr/>
        </p:nvSpPr>
        <p:spPr>
          <a:xfrm>
            <a:off x="393111" y="713905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CBOW Model (Example)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866F19B-C6A1-39DB-DE5B-98BD60E77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2926" y="1434858"/>
            <a:ext cx="4923296" cy="51369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One-hot vectors:</a:t>
            </a:r>
          </a:p>
          <a:p>
            <a:pPr marL="0" indent="0">
              <a:buNone/>
            </a:pPr>
            <a:r>
              <a:rPr lang="en-US" sz="2200" dirty="0"/>
              <a:t>I        → [1 0 0 0]</a:t>
            </a:r>
          </a:p>
          <a:p>
            <a:pPr marL="0" indent="0">
              <a:buNone/>
            </a:pPr>
            <a:r>
              <a:rPr lang="en-US" sz="2200" dirty="0"/>
              <a:t>like     → [0 1 0 0]</a:t>
            </a:r>
          </a:p>
          <a:p>
            <a:pPr marL="0" indent="0">
              <a:buNone/>
            </a:pPr>
            <a:r>
              <a:rPr lang="en-US" sz="2200" dirty="0"/>
              <a:t>deep     → [0 0 1 0]</a:t>
            </a:r>
          </a:p>
          <a:p>
            <a:pPr marL="0" indent="0">
              <a:buNone/>
            </a:pPr>
            <a:r>
              <a:rPr lang="en-US" sz="2200" dirty="0"/>
              <a:t>learning → [0 0 0 1]</a:t>
            </a:r>
          </a:p>
          <a:p>
            <a:pPr marL="0" indent="0">
              <a:buNone/>
            </a:pPr>
            <a:r>
              <a:rPr lang="en-IN" sz="2200" b="1" dirty="0"/>
              <a:t>Embedding size, </a:t>
            </a:r>
            <a:r>
              <a:rPr lang="en-IN" sz="2200" dirty="0"/>
              <a:t>N = 2</a:t>
            </a:r>
          </a:p>
          <a:p>
            <a:pPr marL="0" indent="0">
              <a:buNone/>
            </a:pPr>
            <a:r>
              <a:rPr lang="en-US" sz="2200" b="1" dirty="0"/>
              <a:t>Initial weight matrices (randomly initialized)</a:t>
            </a:r>
          </a:p>
          <a:p>
            <a:pPr marL="0" indent="0">
              <a:buNone/>
            </a:pPr>
            <a:r>
              <a:rPr lang="en-US" sz="2200" dirty="0"/>
              <a:t>W₁ (Input → Hidden) (4 × 2)</a:t>
            </a:r>
          </a:p>
          <a:p>
            <a:pPr algn="just"/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7894F4-2CE8-EA5B-2C76-AC7B18370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36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00C4E506-A360-2DFE-B1EA-AEB0C4F19B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3271" y="190553"/>
            <a:ext cx="870585" cy="13784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65678D0-6AE4-334C-9D05-B27AD94F67A8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5AEC406-9936-AD2E-5E35-AF16C5F6CCA9}"/>
              </a:ext>
            </a:extLst>
          </p:cNvPr>
          <p:cNvSpPr txBox="1">
            <a:spLocks/>
          </p:cNvSpPr>
          <p:nvPr/>
        </p:nvSpPr>
        <p:spPr>
          <a:xfrm>
            <a:off x="400545" y="1198059"/>
            <a:ext cx="4026305" cy="51369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en-IN" dirty="0"/>
          </a:p>
          <a:p>
            <a:pPr marL="0" indent="0">
              <a:buNone/>
            </a:pPr>
            <a:r>
              <a:rPr lang="en-US" sz="2400" b="1" dirty="0"/>
              <a:t>Sentence</a:t>
            </a:r>
          </a:p>
          <a:p>
            <a:pPr marL="0" indent="0">
              <a:buNone/>
            </a:pPr>
            <a:r>
              <a:rPr lang="en-US" sz="2400" dirty="0"/>
              <a:t>I like deep learning</a:t>
            </a:r>
          </a:p>
          <a:p>
            <a:pPr marL="0" indent="0">
              <a:buNone/>
            </a:pPr>
            <a:r>
              <a:rPr lang="en-IN" sz="2400" b="1" dirty="0"/>
              <a:t>Target word</a:t>
            </a:r>
          </a:p>
          <a:p>
            <a:pPr marL="0" indent="0">
              <a:buNone/>
            </a:pPr>
            <a:r>
              <a:rPr lang="en-IN" sz="2400" dirty="0"/>
              <a:t>deep</a:t>
            </a:r>
          </a:p>
          <a:p>
            <a:pPr marL="0" indent="0">
              <a:buNone/>
            </a:pPr>
            <a:r>
              <a:rPr lang="en-IN" sz="2400" b="1" dirty="0"/>
              <a:t>Window size</a:t>
            </a:r>
          </a:p>
          <a:p>
            <a:pPr marL="0" indent="0">
              <a:buNone/>
            </a:pPr>
            <a:r>
              <a:rPr lang="en-IN" sz="2400" dirty="0"/>
              <a:t>1</a:t>
            </a:r>
          </a:p>
          <a:p>
            <a:pPr marL="0" indent="0">
              <a:buNone/>
            </a:pPr>
            <a:r>
              <a:rPr lang="en-US" sz="2400" b="1" dirty="0"/>
              <a:t>So,</a:t>
            </a:r>
          </a:p>
          <a:p>
            <a:pPr marL="0" indent="0">
              <a:buNone/>
            </a:pPr>
            <a:r>
              <a:rPr lang="en-US" sz="2400" b="1" dirty="0"/>
              <a:t>Context words </a:t>
            </a:r>
            <a:r>
              <a:rPr lang="en-US" sz="2400" dirty="0"/>
              <a:t>= [like, learning]</a:t>
            </a:r>
          </a:p>
          <a:p>
            <a:pPr marL="0" indent="0">
              <a:buNone/>
            </a:pPr>
            <a:r>
              <a:rPr lang="en-US" sz="2400" b="1" dirty="0"/>
              <a:t>Vocabulary:</a:t>
            </a:r>
          </a:p>
          <a:p>
            <a:pPr marL="0" indent="0">
              <a:buNone/>
            </a:pPr>
            <a:r>
              <a:rPr lang="en-US" sz="2400" dirty="0"/>
              <a:t>[I, like, deep, learning]</a:t>
            </a:r>
          </a:p>
          <a:p>
            <a:pPr marL="0" indent="0">
              <a:buNone/>
            </a:pPr>
            <a:r>
              <a:rPr lang="en-US" sz="2400" dirty="0"/>
              <a:t>|V| = 4</a:t>
            </a:r>
          </a:p>
          <a:p>
            <a:pPr algn="just"/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B96757-2ACB-ED42-4E42-2640C2191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114" y="5101259"/>
            <a:ext cx="4474075" cy="178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482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3A229-C189-271A-4157-F21EEB062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1E8EF19-0514-B3A1-8D83-422D905BBB68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AED5C50-74C8-D33C-D683-0343FE5ACAF7}"/>
              </a:ext>
            </a:extLst>
          </p:cNvPr>
          <p:cNvSpPr/>
          <p:nvPr/>
        </p:nvSpPr>
        <p:spPr>
          <a:xfrm>
            <a:off x="393111" y="713905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CBOW Model (Example)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2FF797-31B7-0B81-E056-2198AC43D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37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DACBF735-E729-FFBD-0F6F-E6C9B4BC809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3271" y="190553"/>
            <a:ext cx="870585" cy="13784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DAA309D-D0E1-0910-C924-764B921140E2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5C19D5-3F88-4BB6-6DFA-1C14E395E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68" y="1457347"/>
            <a:ext cx="8764223" cy="206721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FDE042-0744-0D92-78BA-FCAB887BFE39}"/>
              </a:ext>
            </a:extLst>
          </p:cNvPr>
          <p:cNvSpPr txBox="1"/>
          <p:nvPr/>
        </p:nvSpPr>
        <p:spPr>
          <a:xfrm>
            <a:off x="525168" y="3665448"/>
            <a:ext cx="6101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3: Forward Pass (Iteration 1)</a:t>
            </a:r>
          </a:p>
          <a:p>
            <a:pPr>
              <a:buNone/>
            </a:pPr>
            <a:r>
              <a:rPr lang="en-US" b="1" dirty="0"/>
              <a:t>Context embeddings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Embedding(like)     = [0.0, 0.3]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Embedding(learning) = [0.1, 0.5]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E670080-2D34-D637-2E8C-1FB93C6B2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168" y="5041717"/>
            <a:ext cx="6383632" cy="13146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004A4D-1259-FF39-4019-129A9C8DBB9D}"/>
                  </a:ext>
                </a:extLst>
              </p:cNvPr>
              <p:cNvSpPr txBox="1"/>
              <p:nvPr/>
            </p:nvSpPr>
            <p:spPr>
              <a:xfrm>
                <a:off x="5976620" y="3636891"/>
                <a:ext cx="610108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Output Scores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 rtl="0">
                  <a:buNone/>
                </a:pPr>
                <a:r>
                  <a:rPr lang="en-IN" dirty="0">
                    <a:latin typeface="Courier New" panose="02070309020205020404" pitchFamily="49" charset="0"/>
                  </a:rPr>
                  <a:t>u(I)        = 0.05×0.3 + 0.4×0.1 = 0.055</a:t>
                </a:r>
              </a:p>
              <a:p>
                <a:pPr rtl="0">
                  <a:buNone/>
                </a:pPr>
                <a:r>
                  <a:rPr lang="en-IN" dirty="0">
                    <a:latin typeface="Courier New" panose="02070309020205020404" pitchFamily="49" charset="0"/>
                  </a:rPr>
                  <a:t>u(like)     = 0.05×0.2 + 0.4×0.4 = 0.17</a:t>
                </a:r>
              </a:p>
              <a:p>
                <a:pPr rtl="0">
                  <a:buNone/>
                </a:pPr>
                <a:r>
                  <a:rPr lang="en-IN" dirty="0">
                    <a:latin typeface="Courier New" panose="02070309020205020404" pitchFamily="49" charset="0"/>
                  </a:rPr>
                  <a:t>u(deep)     = 0.05×0.4 + 0.4×0.2 = 0.10</a:t>
                </a:r>
              </a:p>
              <a:p>
                <a:pPr rtl="0">
                  <a:buNone/>
                </a:pPr>
                <a:r>
                  <a:rPr lang="en-IN" dirty="0">
                    <a:latin typeface="Courier New" panose="02070309020205020404" pitchFamily="49" charset="0"/>
                  </a:rPr>
                  <a:t>u(learning) = 0.05×0.1 + 0.4×0.5 = 0.205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004A4D-1259-FF39-4019-129A9C8DB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620" y="3636891"/>
                <a:ext cx="6101080" cy="1754326"/>
              </a:xfrm>
              <a:prstGeom prst="rect">
                <a:avLst/>
              </a:prstGeom>
              <a:blipFill>
                <a:blip r:embed="rId5"/>
                <a:stretch>
                  <a:fillRect l="-799" t="-2091" b="-48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0166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23BDD-F944-7EE1-B7E7-B2CD6A370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6044A9-C7CB-00D2-82C6-04995CAA81C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9DEA4DB-1ABB-123E-957E-3870BBDDA3FD}"/>
              </a:ext>
            </a:extLst>
          </p:cNvPr>
          <p:cNvSpPr/>
          <p:nvPr/>
        </p:nvSpPr>
        <p:spPr>
          <a:xfrm>
            <a:off x="393111" y="713905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CBOW Model (Example)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769FC8-7FC4-7DD7-B7DB-CBAB1C7CF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38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263F1E5F-33CB-87C7-57B4-69D61E70BDE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3271" y="190553"/>
            <a:ext cx="870585" cy="13784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68D3942-7532-0043-CC0A-0229AD93095E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0376F5-E091-B2CA-3127-2EDE1D31E6F4}"/>
              </a:ext>
            </a:extLst>
          </p:cNvPr>
          <p:cNvSpPr txBox="1"/>
          <p:nvPr/>
        </p:nvSpPr>
        <p:spPr>
          <a:xfrm>
            <a:off x="281328" y="1569011"/>
            <a:ext cx="61010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STEP 5: </a:t>
            </a:r>
            <a:r>
              <a:rPr lang="en-IN" b="1" dirty="0" err="1"/>
              <a:t>Softmax</a:t>
            </a:r>
            <a:r>
              <a:rPr lang="en-IN" b="1" dirty="0"/>
              <a:t> Probabilities</a:t>
            </a:r>
          </a:p>
          <a:p>
            <a:r>
              <a:rPr lang="en-IN" dirty="0"/>
              <a:t>Approximate </a:t>
            </a:r>
            <a:r>
              <a:rPr lang="en-IN" dirty="0" err="1"/>
              <a:t>softmax</a:t>
            </a:r>
            <a:r>
              <a:rPr lang="en-IN" dirty="0"/>
              <a:t>:</a:t>
            </a:r>
          </a:p>
          <a:p>
            <a:r>
              <a:rPr lang="en-IN" dirty="0"/>
              <a:t>P(I)        ≈ 0.23</a:t>
            </a:r>
          </a:p>
          <a:p>
            <a:r>
              <a:rPr lang="en-IN" dirty="0"/>
              <a:t>P(like)     ≈ 0.27</a:t>
            </a:r>
          </a:p>
          <a:p>
            <a:r>
              <a:rPr lang="en-IN" dirty="0"/>
              <a:t>P(deep)     ≈ 0.25   ← target</a:t>
            </a:r>
          </a:p>
          <a:p>
            <a:r>
              <a:rPr lang="en-IN" dirty="0"/>
              <a:t>P(learning) ≈ 0.29   ← highest (wrong)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04FAA6-0406-CA11-7E06-B10699DC9EA8}"/>
              </a:ext>
            </a:extLst>
          </p:cNvPr>
          <p:cNvSpPr txBox="1"/>
          <p:nvPr/>
        </p:nvSpPr>
        <p:spPr>
          <a:xfrm>
            <a:off x="281328" y="3941691"/>
            <a:ext cx="61010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STEP 6: Loss Computation</a:t>
            </a:r>
          </a:p>
          <a:p>
            <a:r>
              <a:rPr lang="en-US" dirty="0"/>
              <a:t>Using </a:t>
            </a:r>
            <a:r>
              <a:rPr lang="en-US" b="1" dirty="0"/>
              <a:t>cross-entropy loss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Loss is </a:t>
            </a:r>
            <a:r>
              <a:rPr lang="en-US" b="1" dirty="0"/>
              <a:t>high</a:t>
            </a:r>
            <a:r>
              <a:rPr lang="en-US" dirty="0"/>
              <a:t>, so learning must happen.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7D1B2A-C147-E5B6-4DDD-65EB27656AFE}"/>
              </a:ext>
            </a:extLst>
          </p:cNvPr>
          <p:cNvSpPr txBox="1"/>
          <p:nvPr/>
        </p:nvSpPr>
        <p:spPr>
          <a:xfrm>
            <a:off x="393111" y="3385314"/>
            <a:ext cx="610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Model prediction is </a:t>
            </a:r>
            <a:r>
              <a:rPr lang="en-US" b="1" dirty="0">
                <a:solidFill>
                  <a:srgbClr val="FF0000"/>
                </a:solidFill>
              </a:rPr>
              <a:t>learning</a:t>
            </a:r>
            <a:r>
              <a:rPr lang="en-US" dirty="0">
                <a:solidFill>
                  <a:srgbClr val="FF0000"/>
                </a:solidFill>
              </a:rPr>
              <a:t>, not </a:t>
            </a:r>
            <a:r>
              <a:rPr lang="en-US" b="1" dirty="0">
                <a:solidFill>
                  <a:srgbClr val="FF0000"/>
                </a:solidFill>
              </a:rPr>
              <a:t>deep  WRONG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D4765B-860B-5A4A-05AB-42672758A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28" y="4526973"/>
            <a:ext cx="5404024" cy="4006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5F40F9-98E5-99C3-4DE2-AB76EB26C9BF}"/>
              </a:ext>
            </a:extLst>
          </p:cNvPr>
          <p:cNvSpPr txBox="1"/>
          <p:nvPr/>
        </p:nvSpPr>
        <p:spPr>
          <a:xfrm>
            <a:off x="6095999" y="1427556"/>
            <a:ext cx="541256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7: Backpropagation (Conceptual but Complete)</a:t>
            </a:r>
          </a:p>
          <a:p>
            <a:pPr>
              <a:buNone/>
            </a:pPr>
            <a:r>
              <a:rPr lang="en-US" b="1" dirty="0"/>
              <a:t>Error signal at output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error(word) = predicted − actual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r>
              <a:rPr lang="en-IN" dirty="0"/>
              <a:t>For target </a:t>
            </a:r>
            <a:r>
              <a:rPr lang="en-IN" b="1" dirty="0"/>
              <a:t>deep</a:t>
            </a:r>
            <a:r>
              <a:rPr lang="en-IN" dirty="0"/>
              <a:t>:</a:t>
            </a:r>
          </a:p>
          <a:p>
            <a:r>
              <a:rPr lang="en-IN" dirty="0"/>
              <a:t>error(deep) = 0.25 − 1 = −0.75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r>
              <a:rPr lang="en-US" dirty="0"/>
              <a:t>For others (example):</a:t>
            </a:r>
          </a:p>
          <a:p>
            <a:r>
              <a:rPr lang="en-US" dirty="0"/>
              <a:t>error(learning) = 0.29 − 0 = +0.29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r>
              <a:rPr lang="en-US" b="1" dirty="0"/>
              <a:t>STEP 8: Weight Updates</a:t>
            </a:r>
          </a:p>
          <a:p>
            <a:r>
              <a:rPr lang="en-US" b="1" dirty="0"/>
              <a:t>Update W₂ (Hidden → Output)</a:t>
            </a:r>
          </a:p>
          <a:p>
            <a:r>
              <a:rPr lang="en-US" dirty="0"/>
              <a:t>Reduce weights leading to </a:t>
            </a:r>
            <a:r>
              <a:rPr lang="en-US" b="1" dirty="0"/>
              <a:t>learning</a:t>
            </a:r>
            <a:endParaRPr lang="en-US" dirty="0"/>
          </a:p>
          <a:p>
            <a:r>
              <a:rPr lang="en-US" dirty="0"/>
              <a:t>Increase weights leading to </a:t>
            </a:r>
            <a:r>
              <a:rPr lang="en-US" b="1" dirty="0"/>
              <a:t>deep</a:t>
            </a:r>
            <a:endParaRPr lang="en-US" dirty="0"/>
          </a:p>
          <a:p>
            <a:r>
              <a:rPr lang="en-US" dirty="0"/>
              <a:t>After update (conceptually):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</a:rPr>
              <a:t>W₂(deep) weights ↑</a:t>
            </a:r>
          </a:p>
          <a:p>
            <a:r>
              <a:rPr lang="en-US" dirty="0">
                <a:latin typeface="Courier New" panose="02070309020205020404" pitchFamily="49" charset="0"/>
              </a:rPr>
              <a:t>W₂(learning) weights ↓</a:t>
            </a:r>
          </a:p>
        </p:txBody>
      </p:sp>
    </p:spTree>
    <p:extLst>
      <p:ext uri="{BB962C8B-B14F-4D97-AF65-F5344CB8AC3E}">
        <p14:creationId xmlns:p14="http://schemas.microsoft.com/office/powerpoint/2010/main" val="1124255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6E244-7EC2-0E5D-4C23-8A3EB5060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9E39A1-7CD7-BE71-D2EF-BDDDD0CC5991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0789CB1-63C7-5401-3226-D1EC6FFB981D}"/>
              </a:ext>
            </a:extLst>
          </p:cNvPr>
          <p:cNvSpPr/>
          <p:nvPr/>
        </p:nvSpPr>
        <p:spPr>
          <a:xfrm>
            <a:off x="393111" y="713905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CBOW Model (Example)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5B6013-C742-7ED5-3857-AAF444EC8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39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9D493197-A906-3BF5-6684-9C97A415C0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3271" y="190553"/>
            <a:ext cx="870585" cy="13784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39AB321-DFDA-4BF1-0FAC-DC76628CFD21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21138A-9B67-FA36-2322-359D3C57811E}"/>
              </a:ext>
            </a:extLst>
          </p:cNvPr>
          <p:cNvSpPr txBox="1"/>
          <p:nvPr/>
        </p:nvSpPr>
        <p:spPr>
          <a:xfrm>
            <a:off x="281328" y="1569011"/>
            <a:ext cx="610108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Update W₁ (Input → Hidden)</a:t>
            </a:r>
          </a:p>
          <a:p>
            <a:r>
              <a:rPr lang="en-US" dirty="0"/>
              <a:t>Only </a:t>
            </a:r>
            <a:r>
              <a:rPr lang="en-US" b="1" dirty="0"/>
              <a:t>context words are updated</a:t>
            </a:r>
            <a:r>
              <a:rPr lang="en-US" dirty="0"/>
              <a:t>:</a:t>
            </a:r>
          </a:p>
          <a:p>
            <a:r>
              <a:rPr lang="en-US" dirty="0"/>
              <a:t>like, learning</a:t>
            </a:r>
          </a:p>
          <a:p>
            <a:r>
              <a:rPr lang="en-US" dirty="0"/>
              <a:t>Their embeddings move closer to deep.</a:t>
            </a:r>
          </a:p>
          <a:p>
            <a:endParaRPr lang="en-US" dirty="0"/>
          </a:p>
          <a:p>
            <a:r>
              <a:rPr lang="en-US" b="1" dirty="0"/>
              <a:t>STEP 9: Forward Pass (Iteration 2)</a:t>
            </a:r>
          </a:p>
          <a:p>
            <a:r>
              <a:rPr lang="en-US" dirty="0"/>
              <a:t>After weight update, recompute:</a:t>
            </a:r>
          </a:p>
          <a:p>
            <a:r>
              <a:rPr lang="en-US" dirty="0"/>
              <a:t>New context embeddings</a:t>
            </a:r>
          </a:p>
          <a:p>
            <a:r>
              <a:rPr lang="en-US" dirty="0"/>
              <a:t>New hidden vector</a:t>
            </a:r>
          </a:p>
          <a:p>
            <a:r>
              <a:rPr lang="en-US" dirty="0"/>
              <a:t>New output probabilities</a:t>
            </a:r>
          </a:p>
          <a:p>
            <a:endParaRPr lang="en-US" dirty="0"/>
          </a:p>
          <a:p>
            <a:r>
              <a:rPr lang="en-US" dirty="0"/>
              <a:t>Now probabilities look like:</a:t>
            </a:r>
          </a:p>
          <a:p>
            <a:endParaRPr lang="en-US" dirty="0"/>
          </a:p>
          <a:p>
            <a:r>
              <a:rPr lang="en-US" dirty="0"/>
              <a:t>P(deep) ≈ 0.55</a:t>
            </a:r>
          </a:p>
          <a:p>
            <a:r>
              <a:rPr lang="en-US" dirty="0"/>
              <a:t>P(learning) ≈ 0.20</a:t>
            </a:r>
          </a:p>
          <a:p>
            <a:endParaRPr lang="en-US" dirty="0"/>
          </a:p>
          <a:p>
            <a:r>
              <a:rPr lang="en-IN" dirty="0"/>
              <a:t>Loss decreases:</a:t>
            </a:r>
          </a:p>
          <a:p>
            <a:r>
              <a:rPr lang="en-IN" dirty="0"/>
              <a:t>Loss ≈ 0.60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6FA1FA-D0EC-E3F1-B582-0E1A464E3434}"/>
              </a:ext>
            </a:extLst>
          </p:cNvPr>
          <p:cNvSpPr txBox="1"/>
          <p:nvPr/>
        </p:nvSpPr>
        <p:spPr>
          <a:xfrm>
            <a:off x="6021558" y="3593348"/>
            <a:ext cx="5412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Process Repeats</a:t>
            </a:r>
            <a:endParaRPr lang="en-US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95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FD7B4-3D5E-2F04-36F2-404205979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ED1E3E-D35A-551E-B1B1-AB047B1774D8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0855E24-BBB8-6F64-BD1D-8878CC6194DC}"/>
              </a:ext>
            </a:extLst>
          </p:cNvPr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SkipGram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EDD164C-86C6-577B-180C-D85EF7C77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145" y="1045659"/>
            <a:ext cx="6782575" cy="513694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endParaRPr lang="en-IN" dirty="0"/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Skip-Gram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surrounding (context) words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target (center) word.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of CBOW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Sentence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like deep learning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the target word be: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</a:p>
          <a:p>
            <a:pPr marL="0" indent="0" algn="just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Context Words</a:t>
            </a:r>
          </a:p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words = [like, learning]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Skip-Gram Training Pairs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Skip-Gram creates multiple input–output pairs from one target word.</a:t>
            </a:r>
          </a:p>
          <a:p>
            <a:pPr marL="0" indent="0" algn="just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5011FA-500D-A1BA-C148-E2CEBF1C1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40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F8C66AED-C509-D94D-CB82-231B06B1234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3FB1900-F760-9571-A15E-FC42E3D245F1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794B1B-1899-0D58-B2D1-2FED26E46A5C}"/>
              </a:ext>
            </a:extLst>
          </p:cNvPr>
          <p:cNvSpPr txBox="1"/>
          <p:nvPr/>
        </p:nvSpPr>
        <p:spPr>
          <a:xfrm>
            <a:off x="6332220" y="2081798"/>
            <a:ext cx="530098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Skip-Gram Learns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word (deep) is converted to one-hot vector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Passed through a neural network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predicts probabilities of context words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 are backpropagated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 are updated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training: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Words appearing in similar contexts get similar embeddings</a:t>
            </a:r>
          </a:p>
        </p:txBody>
      </p:sp>
    </p:spTree>
    <p:extLst>
      <p:ext uri="{BB962C8B-B14F-4D97-AF65-F5344CB8AC3E}">
        <p14:creationId xmlns:p14="http://schemas.microsoft.com/office/powerpoint/2010/main" val="17685857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17951-A696-2AF5-CC3A-6F991988F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7EA9E8-AA3C-C05F-ECF7-40AB01BD1477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247F5D3-1B6F-6804-4319-FEA587E58102}"/>
              </a:ext>
            </a:extLst>
          </p:cNvPr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Glove(</a:t>
            </a:r>
            <a:r>
              <a:rPr lang="en-US" sz="2400" dirty="0">
                <a:highlight>
                  <a:srgbClr val="FFFF00"/>
                </a:highlight>
              </a:rPr>
              <a:t>Global Vectors for Word Representation)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D40C2D5-E018-0120-08FE-C2FE74FE4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145" y="1045659"/>
            <a:ext cx="6081535" cy="513694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learns word embeddings using global word co-occurrence statistics from the entire corpus.</a:t>
            </a:r>
          </a:p>
          <a:p>
            <a:pPr marL="0" indent="0" algn="just">
              <a:buNone/>
            </a:pPr>
            <a:r>
              <a:rPr lang="en-US" sz="2400" dirty="0"/>
              <a:t>Unlike CBOW/Skip-Gram (which use local context), </a:t>
            </a:r>
            <a:r>
              <a:rPr lang="en-US" sz="2400" b="1" dirty="0" err="1"/>
              <a:t>GloVe</a:t>
            </a:r>
            <a:r>
              <a:rPr lang="en-US" sz="2400" b="1" dirty="0"/>
              <a:t> looks at the whole dataset at once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Simple Example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Corpus (2 sentences)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S1: I like deep learning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S2: I like machine learning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Vocabulary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Vocabulary = { I, like, deep, machine, learning }</a:t>
            </a:r>
          </a:p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DA39A1-F831-AFD9-137E-17F1732B3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41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DFCEA9EA-EB74-386E-85B9-8672385BCD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76AE8C3-6888-0D8B-9FC8-7635B92C1F73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F46580-EB14-C961-5EE4-4BF79122E501}"/>
              </a:ext>
            </a:extLst>
          </p:cNvPr>
          <p:cNvSpPr txBox="1"/>
          <p:nvPr/>
        </p:nvSpPr>
        <p:spPr>
          <a:xfrm>
            <a:off x="7297420" y="1632202"/>
            <a:ext cx="464643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Co-Occurrence Matrix</a:t>
            </a:r>
          </a:p>
          <a:p>
            <a:r>
              <a:rPr lang="en-US" sz="2200" dirty="0"/>
              <a:t>We count </a:t>
            </a:r>
            <a:r>
              <a:rPr lang="en-US" sz="2200" b="1" dirty="0"/>
              <a:t>how often two words appear together</a:t>
            </a:r>
            <a:r>
              <a:rPr lang="en-US" sz="2200" dirty="0"/>
              <a:t> in a fixed window.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1F41AE-7BF5-8746-8CFF-6C3F23E08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2044" y="3022798"/>
            <a:ext cx="6164325" cy="24262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8E1B26E-1514-7565-9489-4501E32B0DB0}"/>
              </a:ext>
            </a:extLst>
          </p:cNvPr>
          <p:cNvSpPr txBox="1"/>
          <p:nvPr/>
        </p:nvSpPr>
        <p:spPr>
          <a:xfrm>
            <a:off x="6329680" y="5541542"/>
            <a:ext cx="6101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Observation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deep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</a:rPr>
              <a:t>machine</a:t>
            </a:r>
            <a:r>
              <a:rPr lang="en-US" dirty="0"/>
              <a:t> </a:t>
            </a:r>
            <a:r>
              <a:rPr lang="en-US" b="1" dirty="0"/>
              <a:t>never appear together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Both appear with </a:t>
            </a:r>
            <a:r>
              <a:rPr lang="en-US" b="1" dirty="0"/>
              <a:t>learning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Hence they will get </a:t>
            </a:r>
            <a:r>
              <a:rPr lang="en-US" b="1" dirty="0"/>
              <a:t>similar vectors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52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10460-3AAE-84C0-B46E-5E2A9C618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10BAE5-2ACD-B9B0-3411-9F8539276647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2C486E5-9830-C8C4-3291-0855F7A4664D}"/>
              </a:ext>
            </a:extLst>
          </p:cNvPr>
          <p:cNvSpPr/>
          <p:nvPr/>
        </p:nvSpPr>
        <p:spPr>
          <a:xfrm>
            <a:off x="393111" y="814827"/>
            <a:ext cx="63410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Glove(</a:t>
            </a:r>
            <a:r>
              <a:rPr lang="en-US" sz="2400" dirty="0"/>
              <a:t>Global Vectors for Word Representation)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1EF7432-E613-0D4B-B5FF-354D1B24E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702" y="1356425"/>
            <a:ext cx="6081535" cy="513694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endParaRPr lang="en-IN" dirty="0"/>
          </a:p>
          <a:p>
            <a:pPr marL="0" indent="0">
              <a:buNone/>
            </a:pPr>
            <a:r>
              <a:rPr lang="en-US" sz="2400" b="1" dirty="0"/>
              <a:t>What </a:t>
            </a:r>
            <a:r>
              <a:rPr lang="en-US" sz="2400" b="1" dirty="0" err="1"/>
              <a:t>GloVe</a:t>
            </a:r>
            <a:r>
              <a:rPr lang="en-US" sz="2400" b="1" dirty="0"/>
              <a:t> Learns</a:t>
            </a:r>
          </a:p>
          <a:p>
            <a:pPr marL="0" indent="0">
              <a:buNone/>
            </a:pPr>
            <a:r>
              <a:rPr lang="en-US" sz="2400" dirty="0" err="1"/>
              <a:t>GloVe</a:t>
            </a:r>
            <a:r>
              <a:rPr lang="en-US" sz="2400" dirty="0"/>
              <a:t> factorizes this matrix to learn </a:t>
            </a:r>
            <a:r>
              <a:rPr lang="en-US" sz="2400" b="1" dirty="0"/>
              <a:t>dense vectors</a:t>
            </a:r>
            <a:r>
              <a:rPr lang="en-US" sz="2400" dirty="0"/>
              <a:t> such that: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So it learns embeddings like: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deep ≈ machine</a:t>
            </a:r>
            <a:r>
              <a:rPr lang="en-US" sz="2400" dirty="0"/>
              <a:t> because their global usage pattern is similar.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369A19-294B-3479-31D5-20488022F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42</a:t>
            </a:fld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A64BC269-600C-3763-F095-ED33040514B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02264" y="253745"/>
            <a:ext cx="870585" cy="137845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15C1DE7-5AAF-67BD-CF8B-F9DFD165AC60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GenerativeAI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and Its Applications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9875A8-012D-F7B1-F590-9D0D00D1B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65" y="2775428"/>
            <a:ext cx="5220429" cy="5239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3E88B14-2C51-CD1F-2FB3-96E5A99CF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429" y="4369911"/>
            <a:ext cx="2610214" cy="9716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660EFDC-F9BB-0D01-C9BA-C0190038FBD0}"/>
              </a:ext>
            </a:extLst>
          </p:cNvPr>
          <p:cNvSpPr txBox="1"/>
          <p:nvPr/>
        </p:nvSpPr>
        <p:spPr>
          <a:xfrm>
            <a:off x="6096000" y="2775428"/>
            <a:ext cx="6101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Intuition (Very Important)</a:t>
            </a:r>
          </a:p>
          <a:p>
            <a:pPr>
              <a:buNone/>
            </a:pPr>
            <a:r>
              <a:rPr lang="en-US" dirty="0"/>
              <a:t>Words with similar global co-occurrence patterns get similar embeddings.</a:t>
            </a:r>
          </a:p>
        </p:txBody>
      </p:sp>
    </p:spTree>
    <p:extLst>
      <p:ext uri="{BB962C8B-B14F-4D97-AF65-F5344CB8AC3E}">
        <p14:creationId xmlns:p14="http://schemas.microsoft.com/office/powerpoint/2010/main" val="365213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B811A-2FC1-0C77-BD31-2E6C082F4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6DF6489-D7A3-40AC-112A-543C900C9F3F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6D25856-DCFF-7A6A-4374-83D050D31E24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A71B449-2826-7977-8466-4D1865C32AA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9CDF589-379E-0A5A-E263-6500CA2727EE}"/>
              </a:ext>
            </a:extLst>
          </p:cNvPr>
          <p:cNvCxnSpPr/>
          <p:nvPr/>
        </p:nvCxnSpPr>
        <p:spPr>
          <a:xfrm flipV="1">
            <a:off x="4889500" y="4384675"/>
            <a:ext cx="4581525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2A50068-80A7-0452-01BA-6FF1BFF4A0D8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B4D576D-9B28-A545-1BD0-2B01A87345AC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6175C2-36E1-01FD-5B60-D8FD3FB0A51F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  <p:pic>
        <p:nvPicPr>
          <p:cNvPr id="2056" name="object 5">
            <a:extLst>
              <a:ext uri="{FF2B5EF4-FFF2-40B4-BE49-F238E27FC236}">
                <a16:creationId xmlns:a16="http://schemas.microsoft.com/office/drawing/2014/main" id="{83248446-CE7F-0835-D6E8-CAE0E10E0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275" y="1787525"/>
            <a:ext cx="2374900" cy="365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9F8ED8-595B-56B2-E722-3B6812D733E9}"/>
              </a:ext>
            </a:extLst>
          </p:cNvPr>
          <p:cNvSpPr/>
          <p:nvPr/>
        </p:nvSpPr>
        <p:spPr>
          <a:xfrm>
            <a:off x="4731026" y="3615531"/>
            <a:ext cx="61496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         Thank You</a:t>
            </a:r>
            <a:endParaRPr lang="en-IN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51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24342</TotalTime>
  <Words>3579</Words>
  <Application>Microsoft Office PowerPoint</Application>
  <PresentationFormat>Widescreen</PresentationFormat>
  <Paragraphs>536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Calibri</vt:lpstr>
      <vt:lpstr>Calibri Light</vt:lpstr>
      <vt:lpstr>Cambria Math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MHR</dc:creator>
  <cp:lastModifiedBy>Dr Pooja Agarwal</cp:lastModifiedBy>
  <cp:revision>420</cp:revision>
  <dcterms:created xsi:type="dcterms:W3CDTF">2020-06-03T14:19:11Z</dcterms:created>
  <dcterms:modified xsi:type="dcterms:W3CDTF">2026-01-15T17:36:33Z</dcterms:modified>
</cp:coreProperties>
</file>