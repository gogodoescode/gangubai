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7"/>
  </p:notesMasterIdLst>
  <p:sldIdLst>
    <p:sldId id="606" r:id="rId2"/>
    <p:sldId id="471" r:id="rId3"/>
    <p:sldId id="640" r:id="rId4"/>
    <p:sldId id="546" r:id="rId5"/>
    <p:sldId id="547" r:id="rId6"/>
    <p:sldId id="498" r:id="rId7"/>
    <p:sldId id="499" r:id="rId8"/>
    <p:sldId id="500" r:id="rId9"/>
    <p:sldId id="553" r:id="rId10"/>
    <p:sldId id="552" r:id="rId11"/>
    <p:sldId id="573" r:id="rId12"/>
    <p:sldId id="505" r:id="rId13"/>
    <p:sldId id="577" r:id="rId14"/>
    <p:sldId id="506" r:id="rId15"/>
    <p:sldId id="574" r:id="rId16"/>
    <p:sldId id="507" r:id="rId17"/>
    <p:sldId id="575" r:id="rId18"/>
    <p:sldId id="508" r:id="rId19"/>
    <p:sldId id="509" r:id="rId20"/>
    <p:sldId id="510" r:id="rId21"/>
    <p:sldId id="541" r:id="rId22"/>
    <p:sldId id="540" r:id="rId23"/>
    <p:sldId id="511" r:id="rId24"/>
    <p:sldId id="512" r:id="rId25"/>
    <p:sldId id="576" r:id="rId26"/>
    <p:sldId id="558" r:id="rId27"/>
    <p:sldId id="561" r:id="rId28"/>
    <p:sldId id="562" r:id="rId29"/>
    <p:sldId id="563" r:id="rId30"/>
    <p:sldId id="564" r:id="rId31"/>
    <p:sldId id="565" r:id="rId32"/>
    <p:sldId id="566" r:id="rId33"/>
    <p:sldId id="567" r:id="rId34"/>
    <p:sldId id="568" r:id="rId35"/>
    <p:sldId id="685" r:id="rId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esit" initials="p" lastIdx="169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99" autoAdjust="0"/>
    <p:restoredTop sz="94660"/>
  </p:normalViewPr>
  <p:slideViewPr>
    <p:cSldViewPr snapToGrid="0">
      <p:cViewPr varScale="1">
        <p:scale>
          <a:sx n="59" d="100"/>
          <a:sy n="59" d="100"/>
        </p:scale>
        <p:origin x="848" y="5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commentAuthors" Target="commentAuthor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8176" units="cm"/>
          <inkml:channel name="Y" type="integer" max="1024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584.43732" units="1/cm"/>
          <inkml:channelProperty channel="Y" name="resolution" value="585.1428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10-25T05:31:51.37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17556 4865 12 0,'0'0'0'0,"0"0"0"0,0 0 0 15,0 0 0-15,0 0 0 0,0 0 0 0,3 0 0 0,-3 0 0 16,10-6 0-16,-10 6 0 0,28-11 0 0,-4 9 0 16,4-2 0-16,-2 3 0 0,-4 1 0 0,1 0 0 15,-3 0 0-15,1 0 0 0,3 0 0 0,4 0 0 0,3 0 0 16,1-4 0-16,2 4 0 0,3 0 0 0,2 4 0 15,4-4 0-15,-4 1 0 0,2-1 0 0,4-1 0 16,-8 1 0-16,2 1 0 0,0 3 0 0,0-4 0 16,-1 2 0-16,-3 0 0 0,-5-4 0 0,-4 2 0 15,-2-2 0-15,0 2 0 0,-1 2 0 0,-1-2 0 16,-3 0 0-16,-6 0 0 0,-4 0 0 0,-3-2 0 16,-3-2 0-16,1 4 0 0,-4 0 0 0,0 0 0 0,0 0 0 15,0 0 0-15,-4 0 0 0,1 0 0 0,-5 0 0 16,-5 0 0-16,-11 0 1 0,-6 4 0 0,-1-4-1 15,-1 0 0-15,0 0 6 0,-1 0-1 0,-5 0-5 16,5 0 0-16,-4 0 10 0,-4 0 2 0,1 0-12 16,1 0 0-16,-9 0 13 0,1 2 2 0,1-2-15 15,7 0 0-15,-8 2 18 0,4 2 1 0,0-4-19 16,0 0 0-16,1 0 18 0,-1 5 1 0,2-5-19 16,2-5 0-16,-1 5 19 0,1-4 0 0,0 2-19 15,8 4 0-15,-1-2 14 0,0 0 1 0,2-2-15 16,2 0 0-16,0 2 12 0,4 0 1 0,-2 2-13 15,4 0 0-15,1 2 11 0,3 1 0 0,1 1-11 0,4-4 0 16,-2-2 9-16,6 0 0 0,1 0-9 0,-3 0 0 16,-2 0 7-16,11 0 1 0,-5 2-8 0,1 1 0 0,0-3 5 15,3 0 2-15,-1 0-7 0,4 0 0 16,-4 0 5-16,2 0-1 0,-1 0-4 0,3 0 0 16,-2 0 3-16,0 0 2 0,2 0-5 0,4 0 0 0,1 2 4 15,3 2 1-15,7-4-5 0,9 0 0 0,8 0 4 0,5 0 2 16,2 0-6-16,4 0 0 0,-2 0 5 15,4 0-1-15,1 0-4 0,4 0 0 0,6-4 4 16,8 2 2-16,-3-3-6 0,4 5 0 0,2 0 6 0,2 0-1 16,2 0-5-16,2 0 0 0,-2-8 6 0,1 3 1 15,-1 5-7-15,0-4 0 0,0 4 6 0,-6 4 1 16,-2-2-7-16,-5-2 0 0,-4-2 6 0,-4 4-1 16,-3-2-5-16,-8 0 0 0,-2 3 5 0,-1-3 0 0,-8 2-5 15,-6 2 0-15,0-4 6 0,-7 0 0 0,-2-4-6 16,-1 2 0-16,-12 2 4 0,0 0 1 0,0 0-5 15,-6 0 0-15,2 0 3 0,2-5 1 0,-14 1-4 16,-9 2 0-16,-10 0 6 0,-12 2 0 0,-5-4-6 16,4 3 0-16,-6 1 8 0,-2 1-1 0,-4-1-7 15,1 0 0-15,-8 4 9 0,-2-4 2 0,2 0-11 16,-1 0 0-16,7 4 12 0,-4 0 0 0,1 1-12 16,5-5 0-16,5 0 11 0,-2 0 2 0,6 2-13 15,1 2 0-15,4-4 11 0,6 0 1 0,0 2-12 16,2-2 0-16,5-2 10 0,6-2 2 0,6 4-12 0,3 6 0 15,8-6 10-15,-1 2 1 0,6 1-11 0,-1-3 0 16,5 0 8-16,2 0 1 0,5 0-9 0,6 0 0 16,10 0 7-16,5 0-1 0,7 0-6 0,4 0 0 15,8 0 6-15,3-3-1 0,6 1-5 0,0 0 0 16,2-4 5-16,-1 3-1 0,3 1-4 0,1 2 0 16,1-4 4-16,3 2 0 0,-9 0-4 0,2 2 0 15,-10-5 3-15,3 1-1 0,-3 0-2 0,0 4 0 0,-1-4 1 16,0 4 0-16,-6-1-1 0,-6-5 0 0,-5 0 0 15,-6 1 1-15,-4 3-1 0,3 2 0 0,-3-4 0 16,-1 2 1-16,-2 2-1 0,-6 0 0 0,-7 2 0 0,-1-2 0 16,-1 0 0-16,0 0 0 0,-2 0 0 0,2 0 0 15,-2 0 0-15,4 0 0 0,-4 0 0 0,0 0 0 16,0 0 0-16,0 0 0 0,0 0 0 0,0 0 0 16,0 0 0-16,0 0 0 0,0 0 1 0,0 4 1 0,0-4-2 15,0 2 0-15,-4 2 1 0,2-4 1 0,-2 1-2 16,4 5 0-16,0-6-513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8176" units="cm"/>
          <inkml:channel name="Y" type="integer" max="1024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584.43732" units="1/cm"/>
          <inkml:channelProperty channel="Y" name="resolution" value="585.1428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10-25T06:28:46.752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16043 13577 12 0,'0'0'0'16,"0"0"0"-16,3 0 0 0,-3 0 0 0,4 0 0 15,-4 0 0-15,0 0 0 0,0 0-10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CD3830-85D1-4120-A46B-CD9B950C3BB9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F3F3AB-41E1-4FEB-829F-210A55F37E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87360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E7196-0A1D-43F9-96F8-6131A8C3E5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91A347-14E4-4DA6-8466-E20F5DD0C1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25BB59-6C06-4608-B9C2-AFD556E0E8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25D5B-60F4-47F1-97DF-38107AB8C824}" type="datetime1">
              <a:rPr lang="en-IN" smtClean="0"/>
              <a:t>14-01-2026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024737-A7EA-405D-9C53-00DC763580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AFCA8F-5152-4E17-A634-AAC30C0A1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9389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97697-0E3B-45DE-993E-41D6192C5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F5D431-817D-468E-AC74-4AEFB8C24B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E66076-D71B-432E-B3DA-D6BFA8E70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3B269-3C36-483D-9396-A3070A3EEBFC}" type="datetime1">
              <a:rPr lang="en-IN" smtClean="0"/>
              <a:t>14-01-2026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E9EAE1-A891-420F-AABF-E5D357075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050AF0-4B82-4D90-9977-2702EFAD0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8037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876000-B1F3-49B4-8840-4F2FE09F31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9AD8B6-0C53-47EB-9E27-9A8CFF9C0D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4A0F0A-5BC1-44A8-A937-DAAFBEA3C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9002D-9AE5-44B1-9B10-FB085242BC49}" type="datetime1">
              <a:rPr lang="en-IN" smtClean="0"/>
              <a:t>14-01-2026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16B7DB-3DF3-4E87-84F1-6D3BB836F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586888-F8BA-4159-BE04-8C9B0A74B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11804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1BC13-A691-4A44-8F09-DEAB94E6E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0470BA-CF69-482F-86D7-B3B2B81039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EF3F02-F9D9-4D4B-932D-10D3C70151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54D0B3-961E-4BAC-9CA4-08D89CF82A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523B4-6842-4C37-A800-C33970BE139B}" type="datetime1">
              <a:rPr lang="en-IN" smtClean="0"/>
              <a:t>14-01-2026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D4364F-C564-48E4-84D0-352B17CE69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B6F2F7-150E-4C49-B6B7-8E72E6E8E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1502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61F13-E7B0-4450-891A-12D3F00317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070134-48F1-45F0-9C63-38634B426A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F6F59C-8B0A-4097-8A5D-BA9FB1FC2E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0E4A01-83B3-465C-B056-C028FF594C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DF7CD2-C62B-450F-A438-929A17296D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13DBE79-A9B6-48AB-9F01-88AA6A05B5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BD90C-7828-4672-BF49-1995FC6B6F2E}" type="datetime1">
              <a:rPr lang="en-IN" smtClean="0"/>
              <a:t>14-01-2026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CA1A849-F61D-416C-82D9-FD2F0D5B2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4E5968-BD8E-49EA-B1C0-883FDCD51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42830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5C0C5-C1DF-4B30-86BF-702058A09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980EB2-6319-452D-816A-655EE9C34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48D36-75F5-45C8-B989-D8905602C277}" type="datetime1">
              <a:rPr lang="en-IN" smtClean="0"/>
              <a:t>14-01-2026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847E02-77DD-4F7C-9461-431051F308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B48EC9-FFDF-4F14-A006-9ED08C221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51357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DAC4010-3CC3-4ED9-BC47-437A2B958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C3B91-B51D-491E-9A46-4F6FE91CE402}" type="datetime1">
              <a:rPr lang="en-IN" smtClean="0"/>
              <a:t>14-01-2026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0484C3-38E2-44A7-AD87-98DF739A72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07CE2B-838A-454A-852B-8EAFFA5BC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08889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18C39-136A-490F-82E6-B74F16102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4E3FA5-A6D0-407B-9353-45807BDC70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65529D-8A1D-4CEC-ACF2-A9668B5DFA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1B61FA-7B4A-49EE-9F1B-8F14E749E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36345-3E21-4EBB-8437-B3131759110C}" type="datetime1">
              <a:rPr lang="en-IN" smtClean="0"/>
              <a:t>14-01-2026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6BDBE7-EB71-426C-8E02-2F39733F7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714907-13EA-4E79-8417-0EC5E502E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74836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C4529-7C3C-4D10-AD9C-86CB67D2BF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2173FF7-1E37-47DA-BCCB-AFDD0F6F84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C43DAF-8DA8-48F8-B118-56B11692BF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DBE107-EEF1-4F60-8BFB-A0B8F32EFE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9C83C-29EA-4B4B-B64D-AFECCD6272DB}" type="datetime1">
              <a:rPr lang="en-IN" smtClean="0"/>
              <a:t>14-01-2026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B2FC9C-1AB4-400D-8A60-C7B3A8058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25E51E-1606-443F-8DDC-5BC7A3D91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56989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81B9E-9443-4F41-8CDB-8E6E4CF270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37440A-C0A0-4620-8CB7-BC24F4E100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ECDE26-EE92-4514-B595-DD288D69B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55DD2-246D-4D36-82D4-8AE838B18C1F}" type="datetime1">
              <a:rPr lang="en-IN" smtClean="0"/>
              <a:t>14-01-2026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B18649-6317-4A86-BF87-6BCCFA208E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9FA2ED-B0E3-48EA-BF01-F14C24A36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62705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C195C72-B502-4011-AB72-4BBC7CCE94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A45A48-60F9-47B3-9E1A-0E76EE6ED6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C2F640-11BE-4566-9603-D1D7F7E96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717C7-A10A-4DB0-A56B-2C771F1D3D41}" type="datetime1">
              <a:rPr lang="en-IN" smtClean="0"/>
              <a:t>14-01-2026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45CB06-5043-4F88-9848-829BAD7A0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693EAC-3ADD-4236-B7D3-0540B8D65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06872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F435DF9-745D-444C-9DD7-A6DD954688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A09DCF-D326-45B4-9E4E-070E325317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80EC5D-D4D0-42B9-9170-212F1B335C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C20137-03FE-479B-A65D-815EC44829E7}" type="datetime1">
              <a:rPr lang="en-IN" smtClean="0"/>
              <a:t>14-01-2026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7E3022-2659-46A1-A7BE-9894421E21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EAFC63-250A-46C7-8FC2-85F3F3181D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14269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NULL"/><Relationship Id="rId4" Type="http://schemas.openxmlformats.org/officeDocument/2006/relationships/customXml" Target="../ink/ink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NUL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1884D8-88AA-506C-A995-4816CF45C3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3">
            <a:extLst>
              <a:ext uri="{FF2B5EF4-FFF2-40B4-BE49-F238E27FC236}">
                <a16:creationId xmlns:a16="http://schemas.microsoft.com/office/drawing/2014/main" id="{93EDC3FF-C190-C8EA-7DEC-7D397F5296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1850" y="4384675"/>
            <a:ext cx="74961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400" b="1" dirty="0">
                <a:latin typeface="Arial" panose="020B0604020202020204" pitchFamily="34" charset="0"/>
              </a:rPr>
              <a:t>Dr. Pooja Agarwal</a:t>
            </a:r>
          </a:p>
        </p:txBody>
      </p:sp>
      <p:sp>
        <p:nvSpPr>
          <p:cNvPr id="2052" name="Rectangle 14">
            <a:extLst>
              <a:ext uri="{FF2B5EF4-FFF2-40B4-BE49-F238E27FC236}">
                <a16:creationId xmlns:a16="http://schemas.microsoft.com/office/drawing/2014/main" id="{E126F1CE-3265-D2D3-A8ED-FB29F4A969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1850" y="4846638"/>
            <a:ext cx="74961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400">
                <a:latin typeface="Arial" panose="020B0604020202020204" pitchFamily="34" charset="0"/>
              </a:rPr>
              <a:t>Dept. of CSE, PES University, Bangalore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5A5893B-36D7-B39F-6574-0BEF4B614DA0}"/>
              </a:ext>
            </a:extLst>
          </p:cNvPr>
          <p:cNvGrpSpPr/>
          <p:nvPr/>
        </p:nvGrpSpPr>
        <p:grpSpPr>
          <a:xfrm>
            <a:off x="313844" y="5489699"/>
            <a:ext cx="1066895" cy="1078155"/>
            <a:chOff x="313844" y="5489699"/>
            <a:chExt cx="1066895" cy="1078155"/>
          </a:xfrm>
          <a:solidFill>
            <a:schemeClr val="accent2">
              <a:lumMod val="75000"/>
            </a:schemeClr>
          </a:solidFill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B357EE55-932E-282C-F262-08B6A35DE8A3}"/>
                </a:ext>
              </a:extLst>
            </p:cNvPr>
            <p:cNvSpPr/>
            <p:nvPr/>
          </p:nvSpPr>
          <p:spPr>
            <a:xfrm rot="5400000">
              <a:off x="824432" y="6011547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IN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BED1F7A9-6D4B-6583-A540-C61464640517}"/>
                </a:ext>
              </a:extLst>
            </p:cNvPr>
            <p:cNvSpPr/>
            <p:nvPr/>
          </p:nvSpPr>
          <p:spPr>
            <a:xfrm rot="10800000">
              <a:off x="313844" y="5489699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IN"/>
            </a:p>
          </p:txBody>
        </p:sp>
      </p:grp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FD2D032-4BDF-904C-4128-8AC3A456DDE2}"/>
              </a:ext>
            </a:extLst>
          </p:cNvPr>
          <p:cNvCxnSpPr/>
          <p:nvPr/>
        </p:nvCxnSpPr>
        <p:spPr>
          <a:xfrm flipV="1">
            <a:off x="4889500" y="4384675"/>
            <a:ext cx="4581525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Group 15">
            <a:extLst>
              <a:ext uri="{FF2B5EF4-FFF2-40B4-BE49-F238E27FC236}">
                <a16:creationId xmlns:a16="http://schemas.microsoft.com/office/drawing/2014/main" id="{F7FCCEBE-CF5C-2002-9968-7EA6E810D44D}"/>
              </a:ext>
            </a:extLst>
          </p:cNvPr>
          <p:cNvGrpSpPr/>
          <p:nvPr/>
        </p:nvGrpSpPr>
        <p:grpSpPr>
          <a:xfrm rot="10800000">
            <a:off x="10855702" y="266068"/>
            <a:ext cx="1066895" cy="1078155"/>
            <a:chOff x="313844" y="5489699"/>
            <a:chExt cx="1066895" cy="1078155"/>
          </a:xfrm>
          <a:solidFill>
            <a:schemeClr val="accent2">
              <a:lumMod val="75000"/>
            </a:schemeClr>
          </a:solidFill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F0BEC23-062A-FD79-274A-8A4CCCDFE8C1}"/>
                </a:ext>
              </a:extLst>
            </p:cNvPr>
            <p:cNvSpPr/>
            <p:nvPr/>
          </p:nvSpPr>
          <p:spPr>
            <a:xfrm rot="5400000">
              <a:off x="824432" y="6011547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IN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AAE9A012-124A-AB39-5001-C490129B421D}"/>
                </a:ext>
              </a:extLst>
            </p:cNvPr>
            <p:cNvSpPr/>
            <p:nvPr/>
          </p:nvSpPr>
          <p:spPr>
            <a:xfrm rot="10800000">
              <a:off x="313844" y="5489699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IN"/>
            </a:p>
          </p:txBody>
        </p:sp>
      </p:grpSp>
      <p:pic>
        <p:nvPicPr>
          <p:cNvPr id="2056" name="object 5">
            <a:extLst>
              <a:ext uri="{FF2B5EF4-FFF2-40B4-BE49-F238E27FC236}">
                <a16:creationId xmlns:a16="http://schemas.microsoft.com/office/drawing/2014/main" id="{3E2B4B40-4943-37DE-2983-E6D43431E0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1275" y="1787525"/>
            <a:ext cx="2374900" cy="3656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4105DE2F-FA5D-ECAD-E530-C3EA137ADC55}"/>
              </a:ext>
            </a:extLst>
          </p:cNvPr>
          <p:cNvSpPr/>
          <p:nvPr/>
        </p:nvSpPr>
        <p:spPr>
          <a:xfrm>
            <a:off x="6096000" y="1730266"/>
            <a:ext cx="218122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3600" b="1" u="sng" dirty="0">
                <a:solidFill>
                  <a:srgbClr val="FF0000"/>
                </a:solidFill>
              </a:rPr>
              <a:t>Unit 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1B971A3-32DB-BD1A-6B28-A37F3C620372}"/>
              </a:ext>
            </a:extLst>
          </p:cNvPr>
          <p:cNvSpPr/>
          <p:nvPr/>
        </p:nvSpPr>
        <p:spPr>
          <a:xfrm>
            <a:off x="4731026" y="3429000"/>
            <a:ext cx="614969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accent1">
                    <a:lumMod val="75000"/>
                  </a:schemeClr>
                </a:solidFill>
              </a:rPr>
              <a:t>Text Classification</a:t>
            </a:r>
            <a:endParaRPr lang="en-IN" sz="32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C2AC26A-E62F-8101-6EC5-6B9CB1FE6B7D}"/>
              </a:ext>
            </a:extLst>
          </p:cNvPr>
          <p:cNvSpPr/>
          <p:nvPr/>
        </p:nvSpPr>
        <p:spPr>
          <a:xfrm>
            <a:off x="2567536" y="503881"/>
            <a:ext cx="749721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b="1" dirty="0" err="1">
                <a:solidFill>
                  <a:schemeClr val="accent2">
                    <a:lumMod val="75000"/>
                  </a:schemeClr>
                </a:solidFill>
              </a:rPr>
              <a:t>GenerativeAI</a:t>
            </a:r>
            <a:r>
              <a:rPr lang="en-US" sz="4000" b="1" dirty="0">
                <a:solidFill>
                  <a:schemeClr val="accent2">
                    <a:lumMod val="75000"/>
                  </a:schemeClr>
                </a:solidFill>
              </a:rPr>
              <a:t> and Its Applications</a:t>
            </a:r>
          </a:p>
        </p:txBody>
      </p:sp>
      <p:sp>
        <p:nvSpPr>
          <p:cNvPr id="135" name="Google Shape;135;p21">
            <a:extLst>
              <a:ext uri="{FF2B5EF4-FFF2-40B4-BE49-F238E27FC236}">
                <a16:creationId xmlns:a16="http://schemas.microsoft.com/office/drawing/2014/main" id="{67F86042-2C35-03EC-2220-3972DA3DDCCA}"/>
              </a:ext>
            </a:extLst>
          </p:cNvPr>
          <p:cNvSpPr/>
          <p:nvPr/>
        </p:nvSpPr>
        <p:spPr>
          <a:xfrm>
            <a:off x="6316143" y="2640500"/>
            <a:ext cx="2612000" cy="8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>
              <a:buClr>
                <a:srgbClr val="000000"/>
              </a:buClr>
              <a:buSzPts val="3600"/>
            </a:pPr>
            <a:endParaRPr sz="1867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buClr>
                <a:srgbClr val="000000"/>
              </a:buClr>
              <a:buSzPts val="3600"/>
            </a:pPr>
            <a:r>
              <a:rPr lang="en-GB" sz="2667" b="1" dirty="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(UE23CS342BA4)</a:t>
            </a:r>
            <a:endParaRPr sz="2667" b="1" dirty="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6FFB12-BB8B-98CA-1B65-2690A18569F1}"/>
              </a:ext>
            </a:extLst>
          </p:cNvPr>
          <p:cNvSpPr txBox="1"/>
          <p:nvPr/>
        </p:nvSpPr>
        <p:spPr>
          <a:xfrm>
            <a:off x="6422139" y="3894868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chemeClr val="accent1">
                    <a:lumMod val="75000"/>
                  </a:schemeClr>
                </a:solidFill>
              </a:rPr>
              <a:t>Naïve Bayes and Its Application</a:t>
            </a:r>
            <a:endParaRPr lang="en-IN" sz="1800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7148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-8308" y="1209922"/>
            <a:ext cx="8300052" cy="0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39182" y="637847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1"/>
                </a:solidFill>
              </a:rPr>
              <a:t>Acknowledgement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GenerativeAI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and Its Applications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7203435-562F-6B36-6764-2B23A3388569}"/>
              </a:ext>
            </a:extLst>
          </p:cNvPr>
          <p:cNvSpPr txBox="1"/>
          <p:nvPr/>
        </p:nvSpPr>
        <p:spPr>
          <a:xfrm>
            <a:off x="618877" y="2214438"/>
            <a:ext cx="958088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dirty="0"/>
              <a:t>The slides are prepared from  various resources from the Universities from abroad and India. Also, some material is taken from reliable resources from internet throughout this course.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162AAB39-893C-D3AB-EF7A-F1898677FE1E}"/>
              </a:ext>
            </a:extLst>
          </p:cNvPr>
          <p:cNvSpPr/>
          <p:nvPr/>
        </p:nvSpPr>
        <p:spPr>
          <a:xfrm>
            <a:off x="10408068" y="252240"/>
            <a:ext cx="839610" cy="155461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325BC88E-8529-566C-DD47-10EA1283F89B}"/>
              </a:ext>
            </a:extLst>
          </p:cNvPr>
          <p:cNvGrpSpPr/>
          <p:nvPr/>
        </p:nvGrpSpPr>
        <p:grpSpPr>
          <a:xfrm>
            <a:off x="313844" y="5489699"/>
            <a:ext cx="1066895" cy="1078155"/>
            <a:chOff x="313844" y="5489699"/>
            <a:chExt cx="1066895" cy="1078155"/>
          </a:xfrm>
          <a:solidFill>
            <a:schemeClr val="accent2">
              <a:lumMod val="75000"/>
            </a:schemeClr>
          </a:solidFill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4FAE969A-041F-9E63-CCBA-F068589456BF}"/>
                </a:ext>
              </a:extLst>
            </p:cNvPr>
            <p:cNvSpPr/>
            <p:nvPr/>
          </p:nvSpPr>
          <p:spPr>
            <a:xfrm rot="5400000">
              <a:off x="824432" y="6011547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IN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A04D17D7-B73A-6E5A-9C9E-6055164AF060}"/>
                </a:ext>
              </a:extLst>
            </p:cNvPr>
            <p:cNvSpPr/>
            <p:nvPr/>
          </p:nvSpPr>
          <p:spPr>
            <a:xfrm rot="10800000">
              <a:off x="313844" y="5489699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IN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FC79037C-064D-83D3-0BAD-9BE99C41F9BC}"/>
              </a:ext>
            </a:extLst>
          </p:cNvPr>
          <p:cNvGrpSpPr/>
          <p:nvPr/>
        </p:nvGrpSpPr>
        <p:grpSpPr>
          <a:xfrm rot="10800000">
            <a:off x="10855702" y="266068"/>
            <a:ext cx="1066895" cy="1078155"/>
            <a:chOff x="313844" y="5489699"/>
            <a:chExt cx="1066895" cy="1078155"/>
          </a:xfrm>
          <a:solidFill>
            <a:schemeClr val="accent2">
              <a:lumMod val="75000"/>
            </a:schemeClr>
          </a:solidFill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C645943-7909-C1C3-AADF-0DDAA620DCA8}"/>
                </a:ext>
              </a:extLst>
            </p:cNvPr>
            <p:cNvSpPr/>
            <p:nvPr/>
          </p:nvSpPr>
          <p:spPr>
            <a:xfrm rot="5400000">
              <a:off x="824432" y="6011547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IN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3EA011CA-F398-B9FD-8353-E700C5921325}"/>
                </a:ext>
              </a:extLst>
            </p:cNvPr>
            <p:cNvSpPr/>
            <p:nvPr/>
          </p:nvSpPr>
          <p:spPr>
            <a:xfrm rot="10800000">
              <a:off x="313844" y="5489699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IN"/>
            </a:p>
          </p:txBody>
        </p:sp>
      </p:grpSp>
      <p:pic>
        <p:nvPicPr>
          <p:cNvPr id="2056" name="object 5">
            <a:extLst>
              <a:ext uri="{FF2B5EF4-FFF2-40B4-BE49-F238E27FC236}">
                <a16:creationId xmlns:a16="http://schemas.microsoft.com/office/drawing/2014/main" id="{E6025830-B364-7880-174B-4213FABF43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1275" y="1787525"/>
            <a:ext cx="2374900" cy="3656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749C34B-B598-8068-0843-09793B6DA77E}"/>
              </a:ext>
            </a:extLst>
          </p:cNvPr>
          <p:cNvSpPr/>
          <p:nvPr/>
        </p:nvSpPr>
        <p:spPr>
          <a:xfrm>
            <a:off x="5524877" y="3429000"/>
            <a:ext cx="533082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accent1">
                    <a:lumMod val="75000"/>
                  </a:schemeClr>
                </a:solidFill>
              </a:rPr>
              <a:t>Text Classification</a:t>
            </a:r>
            <a:endParaRPr lang="en-IN" sz="32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1CB9A75-18F7-83F3-2C9D-1DA95C70579E}"/>
              </a:ext>
            </a:extLst>
          </p:cNvPr>
          <p:cNvSpPr/>
          <p:nvPr/>
        </p:nvSpPr>
        <p:spPr>
          <a:xfrm>
            <a:off x="3978893" y="2721114"/>
            <a:ext cx="749721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b="1" dirty="0" err="1">
                <a:solidFill>
                  <a:schemeClr val="accent2">
                    <a:lumMod val="75000"/>
                  </a:schemeClr>
                </a:solidFill>
              </a:rPr>
              <a:t>GenerativeAI</a:t>
            </a:r>
            <a:r>
              <a:rPr lang="en-US" sz="4000" b="1" dirty="0">
                <a:solidFill>
                  <a:schemeClr val="accent2">
                    <a:lumMod val="75000"/>
                  </a:schemeClr>
                </a:solidFill>
              </a:rPr>
              <a:t> and Its Applications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0FB5EB7-92C9-1405-1AF2-C783F91AF431}"/>
              </a:ext>
            </a:extLst>
          </p:cNvPr>
          <p:cNvSpPr/>
          <p:nvPr/>
        </p:nvSpPr>
        <p:spPr>
          <a:xfrm>
            <a:off x="6293330" y="3879337"/>
            <a:ext cx="6355390" cy="4770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500" b="1" dirty="0">
                <a:solidFill>
                  <a:schemeClr val="accent1">
                    <a:lumMod val="75000"/>
                  </a:schemeClr>
                </a:solidFill>
              </a:rPr>
              <a:t>Naïve Bayes and Its Application</a:t>
            </a:r>
            <a:endParaRPr lang="en-IN" sz="2500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-8308" y="1209922"/>
            <a:ext cx="8300052" cy="0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6"/>
          <p:cNvSpPr/>
          <p:nvPr/>
        </p:nvSpPr>
        <p:spPr>
          <a:xfrm>
            <a:off x="392835" y="713493"/>
            <a:ext cx="7999758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IN" sz="2400" b="1" dirty="0">
                <a:solidFill>
                  <a:schemeClr val="accent1"/>
                </a:solidFill>
              </a:rPr>
              <a:t>Naive Bayes Classifier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409575" y="1384935"/>
            <a:ext cx="973455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Highly practical Bayesian Learning method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Comparable performance with </a:t>
            </a:r>
            <a:r>
              <a:rPr lang="en-US" sz="2000" dirty="0">
                <a:solidFill>
                  <a:srgbClr val="C52BBE"/>
                </a:solidFill>
              </a:rPr>
              <a:t>neural network and decision tree learning</a:t>
            </a:r>
            <a:r>
              <a:rPr lang="en-US" sz="20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Naive Bayes classifier applies to learning task where each instance x is classified by the </a:t>
            </a:r>
            <a:r>
              <a:rPr lang="en-US" sz="2000" b="1" dirty="0"/>
              <a:t>conjunction of attribute value </a:t>
            </a:r>
            <a:r>
              <a:rPr lang="en-US" sz="2000" dirty="0"/>
              <a:t>and where the target function f(x) can take any value from finite set V.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A set of training examples of the target function is provided and a new instance is presented  in tuple of attribute values (a1,a2,a3,a4,........an)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The learner/classifier is asked to predict the target value or the classification of the new instance.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highlight>
                  <a:srgbClr val="FFFF00"/>
                </a:highlight>
              </a:rPr>
              <a:t>In this section, we will look at the Bayesian approach to classify a new instance </a:t>
            </a:r>
            <a:r>
              <a:rPr lang="en-US" sz="2000" dirty="0" err="1">
                <a:highlight>
                  <a:srgbClr val="FFFF00"/>
                </a:highlight>
              </a:rPr>
              <a:t>Xnew</a:t>
            </a:r>
            <a:r>
              <a:rPr lang="en-US" sz="2000" dirty="0">
                <a:highlight>
                  <a:srgbClr val="FFFF00"/>
                </a:highlight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722476-975A-462F-C7C5-F791120982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2312" y="127979"/>
            <a:ext cx="981307" cy="162199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CD440F0-CBF5-E8D6-D687-CB42380AD86D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GenerativeAI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and Its Applications</a:t>
            </a:r>
          </a:p>
        </p:txBody>
      </p:sp>
    </p:spTree>
    <p:extLst>
      <p:ext uri="{BB962C8B-B14F-4D97-AF65-F5344CB8AC3E}">
        <p14:creationId xmlns:p14="http://schemas.microsoft.com/office/powerpoint/2010/main" val="27594960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-8308" y="1209922"/>
            <a:ext cx="8300052" cy="0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6"/>
          <p:cNvSpPr/>
          <p:nvPr/>
        </p:nvSpPr>
        <p:spPr>
          <a:xfrm>
            <a:off x="392835" y="713493"/>
            <a:ext cx="7999758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IN" sz="2400" b="1" dirty="0">
                <a:solidFill>
                  <a:schemeClr val="accent1"/>
                </a:solidFill>
              </a:rPr>
              <a:t>Naive Bayes Classifier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409575" y="1384935"/>
            <a:ext cx="973455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The </a:t>
            </a:r>
            <a:r>
              <a:rPr lang="en-US" sz="2000" dirty="0">
                <a:solidFill>
                  <a:srgbClr val="FF0000"/>
                </a:solidFill>
              </a:rPr>
              <a:t>Bayesian approach is to classify the new instance is to assign the class label that is the most probable value</a:t>
            </a:r>
            <a:r>
              <a:rPr lang="en-US" sz="2000" dirty="0"/>
              <a:t>, </a:t>
            </a:r>
            <a:r>
              <a:rPr lang="en-US" sz="2000" dirty="0">
                <a:solidFill>
                  <a:srgbClr val="B42FA9"/>
                </a:solidFill>
              </a:rPr>
              <a:t>V</a:t>
            </a:r>
            <a:r>
              <a:rPr lang="en-US" sz="2000" baseline="-25000" dirty="0">
                <a:solidFill>
                  <a:srgbClr val="B42FA9"/>
                </a:solidFill>
              </a:rPr>
              <a:t>MAP</a:t>
            </a:r>
            <a:r>
              <a:rPr lang="en-US" sz="2000" dirty="0">
                <a:solidFill>
                  <a:srgbClr val="B42FA9"/>
                </a:solidFill>
              </a:rPr>
              <a:t> , given attribute values (a1.....an) that describe the instance is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pic>
        <p:nvPicPr>
          <p:cNvPr id="4" name="Content Placeholder 3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 l="11521" t="20902" r="27423" b="67746"/>
          <a:stretch>
            <a:fillRect/>
          </a:stretch>
        </p:blipFill>
        <p:spPr>
          <a:xfrm>
            <a:off x="2019098" y="3056255"/>
            <a:ext cx="6373495" cy="745490"/>
          </a:xfr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2722476-975A-462F-C7C5-F791120982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2312" y="127979"/>
            <a:ext cx="981307" cy="162199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559175AD-2135-E625-9D76-5656B29B48E3}"/>
                  </a:ext>
                </a:extLst>
              </p14:cNvPr>
              <p14:cNvContentPartPr/>
              <p14:nvPr/>
            </p14:nvContentPartPr>
            <p14:xfrm>
              <a:off x="6151680" y="1729080"/>
              <a:ext cx="659880" cy="27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559175AD-2135-E625-9D76-5656B29B48E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142320" y="1719720"/>
                <a:ext cx="678600" cy="46080"/>
              </a:xfrm>
              <a:prstGeom prst="rect">
                <a:avLst/>
              </a:prstGeom>
            </p:spPr>
          </p:pic>
        </mc:Fallback>
      </mc:AlternateContent>
      <p:sp>
        <p:nvSpPr>
          <p:cNvPr id="10" name="Rectangle 9">
            <a:extLst>
              <a:ext uri="{FF2B5EF4-FFF2-40B4-BE49-F238E27FC236}">
                <a16:creationId xmlns:a16="http://schemas.microsoft.com/office/drawing/2014/main" id="{2A5362BC-6234-7C45-9483-66B851D6DF2B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GenerativeAI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and Its Applications</a:t>
            </a:r>
          </a:p>
        </p:txBody>
      </p:sp>
    </p:spTree>
    <p:extLst>
      <p:ext uri="{BB962C8B-B14F-4D97-AF65-F5344CB8AC3E}">
        <p14:creationId xmlns:p14="http://schemas.microsoft.com/office/powerpoint/2010/main" val="27176791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-8308" y="1209922"/>
            <a:ext cx="8300052" cy="0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6"/>
          <p:cNvSpPr/>
          <p:nvPr/>
        </p:nvSpPr>
        <p:spPr>
          <a:xfrm>
            <a:off x="392835" y="713493"/>
            <a:ext cx="7999758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IN" sz="2400" b="1" dirty="0">
                <a:solidFill>
                  <a:schemeClr val="accent1"/>
                </a:solidFill>
              </a:rPr>
              <a:t>Naive Bayes Classifier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-8255" y="2131060"/>
            <a:ext cx="650938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Apply </a:t>
            </a:r>
            <a:r>
              <a:rPr lang="en-US" dirty="0" err="1"/>
              <a:t>Baye’s</a:t>
            </a:r>
            <a:r>
              <a:rPr lang="en-US" dirty="0"/>
              <a:t> theorem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using this </a:t>
            </a:r>
          </a:p>
        </p:txBody>
      </p:sp>
      <p:pic>
        <p:nvPicPr>
          <p:cNvPr id="4" name="Content Placeholder 3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 l="11521" t="20902" r="27423" b="67746"/>
          <a:stretch>
            <a:fillRect/>
          </a:stretch>
        </p:blipFill>
        <p:spPr>
          <a:xfrm>
            <a:off x="127635" y="1385570"/>
            <a:ext cx="6373495" cy="745490"/>
          </a:xfrm>
          <a:noFill/>
        </p:spPr>
      </p:pic>
      <p:pic>
        <p:nvPicPr>
          <p:cNvPr id="117" name="Google Shape;117;p20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6281420" y="1395961"/>
            <a:ext cx="4158615" cy="1938655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/>
          <p:cNvPicPr>
            <a:picLocks noGrp="1" noChangeAspect="1" noChangeArrowheads="1"/>
          </p:cNvPicPr>
          <p:nvPr/>
        </p:nvPicPr>
        <p:blipFill>
          <a:blip r:embed="rId2"/>
          <a:srcRect l="10967" t="30987" r="15969" b="54953"/>
          <a:stretch>
            <a:fillRect/>
          </a:stretch>
        </p:blipFill>
        <p:spPr>
          <a:xfrm>
            <a:off x="263525" y="2776220"/>
            <a:ext cx="6017895" cy="923290"/>
          </a:xfrm>
          <a:prstGeom prst="rect">
            <a:avLst/>
          </a:prstGeom>
          <a:noFill/>
        </p:spPr>
      </p:pic>
      <p:pic>
        <p:nvPicPr>
          <p:cNvPr id="11" name="Picture 10"/>
          <p:cNvPicPr>
            <a:picLocks noGrp="1" noChangeAspect="1" noChangeArrowheads="1"/>
          </p:cNvPicPr>
          <p:nvPr/>
        </p:nvPicPr>
        <p:blipFill>
          <a:blip r:embed="rId2"/>
          <a:srcRect l="20149" t="44206" r="16408" b="44539"/>
          <a:stretch>
            <a:fillRect/>
          </a:stretch>
        </p:blipFill>
        <p:spPr>
          <a:xfrm>
            <a:off x="1056005" y="3876675"/>
            <a:ext cx="5225415" cy="739140"/>
          </a:xfrm>
          <a:prstGeom prst="rect">
            <a:avLst/>
          </a:prstGeom>
          <a:noFill/>
        </p:spPr>
      </p:pic>
      <p:sp>
        <p:nvSpPr>
          <p:cNvPr id="13" name="Text Box 12"/>
          <p:cNvSpPr txBox="1"/>
          <p:nvPr/>
        </p:nvSpPr>
        <p:spPr>
          <a:xfrm>
            <a:off x="929685" y="5334725"/>
            <a:ext cx="321203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It is easy to estimate P(</a:t>
            </a:r>
            <a:r>
              <a:rPr lang="en-US" sz="2000" dirty="0" err="1"/>
              <a:t>V</a:t>
            </a:r>
            <a:r>
              <a:rPr lang="en-US" sz="2000" baseline="-25000" dirty="0" err="1"/>
              <a:t>j</a:t>
            </a:r>
            <a:r>
              <a:rPr lang="en-US" sz="2000" dirty="0"/>
              <a:t>):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6432DDB-77AF-571B-489E-4F7261970C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82312" y="127979"/>
            <a:ext cx="981307" cy="162199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6770D06-4462-EE99-683F-B5D2058C53A7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GenerativeAI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and Its Applications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-8308" y="1209922"/>
            <a:ext cx="8300052" cy="0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6"/>
          <p:cNvSpPr/>
          <p:nvPr/>
        </p:nvSpPr>
        <p:spPr>
          <a:xfrm>
            <a:off x="392835" y="713493"/>
            <a:ext cx="7999758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IN" sz="2400" b="1" dirty="0">
                <a:solidFill>
                  <a:schemeClr val="accent1"/>
                </a:solidFill>
              </a:rPr>
              <a:t>Naive Bayes Classifier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228917" y="2141459"/>
            <a:ext cx="9386571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Naive Bayes  Classifier is based on simplifying </a:t>
            </a:r>
            <a:r>
              <a:rPr lang="en-US" sz="2000" b="1" dirty="0">
                <a:solidFill>
                  <a:srgbClr val="FF0000"/>
                </a:solidFill>
              </a:rPr>
              <a:t>assumption that the attribute values (i.e. a1, a2, a3, …, an)are conditionally independent</a:t>
            </a:r>
            <a:r>
              <a:rPr lang="en-US" sz="2000" dirty="0"/>
              <a:t> given the target value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err="1"/>
              <a:t>i.e</a:t>
            </a:r>
            <a:r>
              <a:rPr lang="en-US" sz="2000" dirty="0"/>
              <a:t> the assumption is that given the target value of the instance, the probability of observing the conjunction a1,a2,a3,.....an is just the product of the probabilities for the individual attributes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Using this in our V</a:t>
            </a:r>
            <a:r>
              <a:rPr lang="en-US" sz="2000" baseline="-25000" dirty="0"/>
              <a:t>MAP </a:t>
            </a:r>
            <a:r>
              <a:rPr lang="en-US" sz="2000" dirty="0"/>
              <a:t>equation 1, we get</a:t>
            </a:r>
          </a:p>
        </p:txBody>
      </p:sp>
      <p:pic>
        <p:nvPicPr>
          <p:cNvPr id="32772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 l="16065" t="67459" r="26804" b="20615"/>
          <a:stretch>
            <a:fillRect/>
          </a:stretch>
        </p:blipFill>
        <p:spPr>
          <a:xfrm>
            <a:off x="2520130" y="4118763"/>
            <a:ext cx="5370195" cy="704850"/>
          </a:xfrm>
          <a:noFill/>
        </p:spPr>
      </p:pic>
      <p:pic>
        <p:nvPicPr>
          <p:cNvPr id="14" name="Picture 3"/>
          <p:cNvPicPr>
            <a:picLocks noGrp="1" noChangeAspect="1" noChangeArrowheads="1"/>
          </p:cNvPicPr>
          <p:nvPr/>
        </p:nvPicPr>
        <p:blipFill>
          <a:blip r:embed="rId2"/>
          <a:srcRect l="46418" t="86202"/>
          <a:stretch>
            <a:fillRect/>
          </a:stretch>
        </p:blipFill>
        <p:spPr>
          <a:xfrm>
            <a:off x="2459805" y="5610960"/>
            <a:ext cx="5430520" cy="879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D84DFD7-669A-AE45-AB31-1FFA77DEC8DA}"/>
              </a:ext>
            </a:extLst>
          </p:cNvPr>
          <p:cNvPicPr>
            <a:picLocks noGrp="1" noChangeAspect="1" noChangeArrowheads="1"/>
          </p:cNvPicPr>
          <p:nvPr/>
        </p:nvPicPr>
        <p:blipFill>
          <a:blip r:embed="rId2"/>
          <a:srcRect l="20149" t="44206" r="16408" b="44539"/>
          <a:stretch>
            <a:fillRect/>
          </a:stretch>
        </p:blipFill>
        <p:spPr>
          <a:xfrm>
            <a:off x="1241742" y="1402319"/>
            <a:ext cx="5225415" cy="739140"/>
          </a:xfrm>
          <a:prstGeom prst="rect">
            <a:avLst/>
          </a:prstGeom>
          <a:noFill/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D827019-4C40-B30C-06ED-73DE37B203DF}"/>
              </a:ext>
            </a:extLst>
          </p:cNvPr>
          <p:cNvSpPr txBox="1"/>
          <p:nvPr/>
        </p:nvSpPr>
        <p:spPr>
          <a:xfrm>
            <a:off x="803909" y="1472890"/>
            <a:ext cx="61010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V</a:t>
            </a:r>
            <a:r>
              <a:rPr lang="en-US" sz="1800" baseline="-25000" dirty="0"/>
              <a:t>MAP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2E72845-39F4-0757-D0C5-02F09F4B6203}"/>
              </a:ext>
            </a:extLst>
          </p:cNvPr>
          <p:cNvSpPr txBox="1"/>
          <p:nvPr/>
        </p:nvSpPr>
        <p:spPr>
          <a:xfrm>
            <a:off x="1587500" y="5848262"/>
            <a:ext cx="610108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dirty="0"/>
              <a:t>V</a:t>
            </a:r>
            <a:r>
              <a:rPr lang="en-US" sz="2200" baseline="-25000" dirty="0"/>
              <a:t> MAP</a:t>
            </a:r>
            <a:r>
              <a:rPr lang="en-US" sz="2200" dirty="0"/>
              <a:t> </a:t>
            </a:r>
            <a:r>
              <a:rPr lang="en-US" sz="1800" dirty="0"/>
              <a:t>=</a:t>
            </a: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92D6B2F-6F88-B4ED-1E07-A8F0FCEDCE74}"/>
              </a:ext>
            </a:extLst>
          </p:cNvPr>
          <p:cNvSpPr txBox="1"/>
          <p:nvPr/>
        </p:nvSpPr>
        <p:spPr>
          <a:xfrm>
            <a:off x="6818629" y="1484269"/>
            <a:ext cx="61010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----------------------(1)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CD234C3-1152-AA53-C28E-3A030F37E2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2312" y="127979"/>
            <a:ext cx="981307" cy="162199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A2148EF-031D-1D23-7122-A07E51BE6C75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GenerativeAI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and Its Applications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-8308" y="1209922"/>
            <a:ext cx="8300052" cy="0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6"/>
          <p:cNvSpPr/>
          <p:nvPr/>
        </p:nvSpPr>
        <p:spPr>
          <a:xfrm>
            <a:off x="392835" y="713493"/>
            <a:ext cx="7999758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IN" sz="2400" b="1" dirty="0">
                <a:solidFill>
                  <a:schemeClr val="accent1"/>
                </a:solidFill>
              </a:rPr>
              <a:t>Naive Bayes Classifier</a:t>
            </a:r>
          </a:p>
        </p:txBody>
      </p:sp>
      <p:pic>
        <p:nvPicPr>
          <p:cNvPr id="14" name="Picture 3"/>
          <p:cNvPicPr>
            <a:picLocks noGrp="1" noChangeAspect="1" noChangeArrowheads="1"/>
          </p:cNvPicPr>
          <p:nvPr/>
        </p:nvPicPr>
        <p:blipFill>
          <a:blip r:embed="rId2"/>
          <a:srcRect l="46418" t="86202"/>
          <a:stretch>
            <a:fillRect/>
          </a:stretch>
        </p:blipFill>
        <p:spPr>
          <a:xfrm>
            <a:off x="363220" y="1209675"/>
            <a:ext cx="5430520" cy="879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 Box 4"/>
          <p:cNvSpPr txBox="1"/>
          <p:nvPr/>
        </p:nvSpPr>
        <p:spPr>
          <a:xfrm>
            <a:off x="583883" y="2412365"/>
            <a:ext cx="9374505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Lets note few things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Number of distinct P(</a:t>
            </a:r>
            <a:r>
              <a:rPr lang="en-US" sz="2400" dirty="0" err="1"/>
              <a:t>a</a:t>
            </a:r>
            <a:r>
              <a:rPr lang="en-US" sz="2400" baseline="-25000" dirty="0" err="1"/>
              <a:t>i</a:t>
            </a:r>
            <a:r>
              <a:rPr lang="en-US" sz="2400" dirty="0" err="1"/>
              <a:t>|V</a:t>
            </a:r>
            <a:r>
              <a:rPr lang="en-US" sz="2400" baseline="-25000" dirty="0" err="1"/>
              <a:t>j</a:t>
            </a:r>
            <a:r>
              <a:rPr lang="en-US" sz="2400" dirty="0"/>
              <a:t>) terms that must be estimated from the training </a:t>
            </a:r>
            <a:r>
              <a:rPr lang="en-US" sz="2400" dirty="0" err="1"/>
              <a:t>set:'D</a:t>
            </a:r>
            <a:r>
              <a:rPr lang="en-US" sz="2400" dirty="0"/>
              <a:t>' is equal to the number of distinct attribute value times the number of distinct  target values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Based on the frequencies over the training set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C52BBE"/>
                </a:solidFill>
              </a:rPr>
              <a:t>whenever NB assumption of conditional independence is satisfied, this NB classification=MAP classification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8FAE3EF-E1DB-9CF6-E9A8-C3AE0BE1EA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2312" y="127979"/>
            <a:ext cx="981307" cy="162199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9EE1AEE-DA38-DE82-99D3-1EB9032A1DFE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GenerativeAI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and Its Applications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-8308" y="1209922"/>
            <a:ext cx="8300052" cy="0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6"/>
          <p:cNvSpPr/>
          <p:nvPr/>
        </p:nvSpPr>
        <p:spPr>
          <a:xfrm>
            <a:off x="392835" y="713493"/>
            <a:ext cx="7999758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IN" sz="2400" b="1" dirty="0">
                <a:solidFill>
                  <a:schemeClr val="accent1"/>
                </a:solidFill>
              </a:rPr>
              <a:t>Naïve Bayes Classifier- </a:t>
            </a:r>
            <a:r>
              <a:rPr lang="en-US" altLang="en-IN" sz="2400" b="1" dirty="0">
                <a:solidFill>
                  <a:schemeClr val="accent1"/>
                </a:solidFill>
                <a:highlight>
                  <a:srgbClr val="FFFF00"/>
                </a:highlight>
              </a:rPr>
              <a:t>Zero Frequency Problem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4BCD81C-DB44-9F6F-2717-6C15FAC155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2312" y="127979"/>
            <a:ext cx="981307" cy="162199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DAEC411-46F7-985B-2D74-4B1AE6E64B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655" y="1961197"/>
            <a:ext cx="8629650" cy="244792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40A8404-FB88-0656-FAE1-008E7A067068}"/>
              </a:ext>
            </a:extLst>
          </p:cNvPr>
          <p:cNvSpPr txBox="1"/>
          <p:nvPr/>
        </p:nvSpPr>
        <p:spPr>
          <a:xfrm>
            <a:off x="5110480" y="4039790"/>
            <a:ext cx="61026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IN" sz="1800" b="1" dirty="0">
                <a:solidFill>
                  <a:schemeClr val="accent2">
                    <a:lumMod val="75000"/>
                  </a:schemeClr>
                </a:solidFill>
                <a:highlight>
                  <a:srgbClr val="FFFF00"/>
                </a:highlight>
              </a:rPr>
              <a:t>Laplace Estimation</a:t>
            </a:r>
            <a:endParaRPr lang="en-IN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9527938-C141-9E2D-7AFD-6F737066E90A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GenerativeAI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and Its Applications</a:t>
            </a:r>
          </a:p>
        </p:txBody>
      </p:sp>
    </p:spTree>
    <p:extLst>
      <p:ext uri="{BB962C8B-B14F-4D97-AF65-F5344CB8AC3E}">
        <p14:creationId xmlns:p14="http://schemas.microsoft.com/office/powerpoint/2010/main" val="31139377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-8308" y="1209922"/>
            <a:ext cx="8300052" cy="0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6"/>
          <p:cNvSpPr/>
          <p:nvPr/>
        </p:nvSpPr>
        <p:spPr>
          <a:xfrm>
            <a:off x="392835" y="713493"/>
            <a:ext cx="7999758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IN" sz="2400" b="1" dirty="0">
                <a:solidFill>
                  <a:schemeClr val="accent1"/>
                </a:solidFill>
              </a:rPr>
              <a:t>Naïve Bayes Classifier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4BCD81C-DB44-9F6F-2717-6C15FAC155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2312" y="127979"/>
            <a:ext cx="981307" cy="162199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FD9D70A-A6C2-0669-995E-083C51F82F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102" y="1635121"/>
            <a:ext cx="9667875" cy="42291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B661BBF-CDE0-847F-08C6-8DE51AD091DD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GenerativeAI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and Its Applications</a:t>
            </a:r>
          </a:p>
        </p:txBody>
      </p:sp>
    </p:spTree>
    <p:extLst>
      <p:ext uri="{BB962C8B-B14F-4D97-AF65-F5344CB8AC3E}">
        <p14:creationId xmlns:p14="http://schemas.microsoft.com/office/powerpoint/2010/main" val="29655152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-8308" y="1209922"/>
            <a:ext cx="8300052" cy="0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6"/>
          <p:cNvSpPr/>
          <p:nvPr/>
        </p:nvSpPr>
        <p:spPr>
          <a:xfrm>
            <a:off x="392835" y="713493"/>
            <a:ext cx="7999758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IN" sz="2400" b="1" dirty="0">
                <a:solidFill>
                  <a:schemeClr val="accent1"/>
                </a:solidFill>
              </a:rPr>
              <a:t>Special Case( M-estimate of Conditional Probability)</a:t>
            </a:r>
          </a:p>
        </p:txBody>
      </p:sp>
      <p:pic>
        <p:nvPicPr>
          <p:cNvPr id="3686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 l="11952" r="10383" b="88105"/>
          <a:stretch>
            <a:fillRect/>
          </a:stretch>
        </p:blipFill>
        <p:spPr>
          <a:xfrm>
            <a:off x="67945" y="1323975"/>
            <a:ext cx="6828155" cy="704524"/>
          </a:xfrm>
          <a:noFill/>
        </p:spPr>
      </p:pic>
      <p:pic>
        <p:nvPicPr>
          <p:cNvPr id="12" name="Picture 2"/>
          <p:cNvPicPr>
            <a:picLocks noGrp="1" noChangeAspect="1" noChangeArrowheads="1"/>
          </p:cNvPicPr>
          <p:nvPr/>
        </p:nvPicPr>
        <p:blipFill>
          <a:blip r:embed="rId2"/>
          <a:srcRect l="32207" t="12330" r="10383" b="73019"/>
          <a:stretch>
            <a:fillRect/>
          </a:stretch>
        </p:blipFill>
        <p:spPr>
          <a:xfrm>
            <a:off x="824230" y="2247900"/>
            <a:ext cx="5595620" cy="962025"/>
          </a:xfrm>
          <a:prstGeom prst="rect">
            <a:avLst/>
          </a:prstGeom>
          <a:noFill/>
        </p:spPr>
      </p:pic>
      <p:pic>
        <p:nvPicPr>
          <p:cNvPr id="22" name="Picture 2"/>
          <p:cNvPicPr>
            <a:picLocks noGrp="1" noChangeAspect="1" noChangeArrowheads="1"/>
          </p:cNvPicPr>
          <p:nvPr/>
        </p:nvPicPr>
        <p:blipFill>
          <a:blip r:embed="rId2"/>
          <a:srcRect l="7391" t="29254" r="7914" b="64074"/>
          <a:stretch>
            <a:fillRect/>
          </a:stretch>
        </p:blipFill>
        <p:spPr>
          <a:xfrm>
            <a:off x="265430" y="3209925"/>
            <a:ext cx="7230745" cy="383786"/>
          </a:xfrm>
          <a:prstGeom prst="rect">
            <a:avLst/>
          </a:prstGeom>
          <a:noFill/>
        </p:spPr>
      </p:pic>
      <p:pic>
        <p:nvPicPr>
          <p:cNvPr id="24" name="Picture 2"/>
          <p:cNvPicPr>
            <a:picLocks noGrp="1" noChangeAspect="1" noChangeArrowheads="1"/>
          </p:cNvPicPr>
          <p:nvPr/>
        </p:nvPicPr>
        <p:blipFill>
          <a:blip r:embed="rId2"/>
          <a:srcRect l="32806" t="35588" r="31231" b="52229"/>
          <a:stretch>
            <a:fillRect/>
          </a:stretch>
        </p:blipFill>
        <p:spPr>
          <a:xfrm>
            <a:off x="2214880" y="3648075"/>
            <a:ext cx="3505200" cy="800100"/>
          </a:xfrm>
          <a:prstGeom prst="rect">
            <a:avLst/>
          </a:prstGeom>
          <a:noFill/>
        </p:spPr>
      </p:pic>
      <p:pic>
        <p:nvPicPr>
          <p:cNvPr id="26" name="Picture 2"/>
          <p:cNvPicPr>
            <a:picLocks noGrp="1" noChangeAspect="1" noChangeArrowheads="1"/>
          </p:cNvPicPr>
          <p:nvPr/>
        </p:nvPicPr>
        <p:blipFill>
          <a:blip r:embed="rId2"/>
          <a:srcRect l="6277" t="46611" r="10468" b="-2159"/>
          <a:stretch>
            <a:fillRect/>
          </a:stretch>
        </p:blipFill>
        <p:spPr>
          <a:xfrm>
            <a:off x="405764" y="4448174"/>
            <a:ext cx="7090411" cy="2300365"/>
          </a:xfrm>
          <a:prstGeom prst="rect">
            <a:avLst/>
          </a:prstGeom>
          <a:noFill/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FF30D5C-D45B-4F46-AF79-500CA188E7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2312" y="127979"/>
            <a:ext cx="981307" cy="162199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D6ECB5E-9879-D33B-5B4C-94450F25B877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GenerativeAI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and Its Applications</a:t>
            </a:r>
          </a:p>
        </p:txBody>
      </p:sp>
    </p:spTree>
    <p:extLst>
      <p:ext uri="{BB962C8B-B14F-4D97-AF65-F5344CB8AC3E}">
        <p14:creationId xmlns:p14="http://schemas.microsoft.com/office/powerpoint/2010/main" val="9079391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-8308" y="1209922"/>
            <a:ext cx="8300052" cy="0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6"/>
          <p:cNvSpPr/>
          <p:nvPr/>
        </p:nvSpPr>
        <p:spPr>
          <a:xfrm>
            <a:off x="392835" y="713493"/>
            <a:ext cx="7999758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IN" sz="2400" b="1" dirty="0">
                <a:solidFill>
                  <a:schemeClr val="accent1"/>
                </a:solidFill>
              </a:rPr>
              <a:t>Special Case( M-estimate of Conditional Probability)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FF30D5C-D45B-4F46-AF79-500CA188E7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2312" y="127979"/>
            <a:ext cx="981307" cy="162199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9435E50-4772-6D40-94C6-26CF520F6C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418" y="1173868"/>
            <a:ext cx="7877175" cy="475297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41FFF65-A53A-1B9D-A8AA-2783EE5CC4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80046" y="5684132"/>
            <a:ext cx="7870349" cy="1071348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C4899C2-6050-98CA-F214-5B29C50C870A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GenerativeAI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and Its Applications</a:t>
            </a:r>
          </a:p>
        </p:txBody>
      </p:sp>
    </p:spTree>
    <p:extLst>
      <p:ext uri="{BB962C8B-B14F-4D97-AF65-F5344CB8AC3E}">
        <p14:creationId xmlns:p14="http://schemas.microsoft.com/office/powerpoint/2010/main" val="2291867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737693-D1B8-4BF8-527C-0DA6100ADD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02B35C6-1C3C-CB54-B219-71B7E6A03E32}"/>
              </a:ext>
            </a:extLst>
          </p:cNvPr>
          <p:cNvCxnSpPr/>
          <p:nvPr/>
        </p:nvCxnSpPr>
        <p:spPr>
          <a:xfrm>
            <a:off x="-8308" y="1209922"/>
            <a:ext cx="8300052" cy="0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6">
            <a:extLst>
              <a:ext uri="{FF2B5EF4-FFF2-40B4-BE49-F238E27FC236}">
                <a16:creationId xmlns:a16="http://schemas.microsoft.com/office/drawing/2014/main" id="{008D125E-2C5E-E5A3-B1EE-556696EB2672}"/>
              </a:ext>
            </a:extLst>
          </p:cNvPr>
          <p:cNvSpPr/>
          <p:nvPr/>
        </p:nvSpPr>
        <p:spPr>
          <a:xfrm>
            <a:off x="3863861" y="3073921"/>
            <a:ext cx="7999758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IN" sz="2400" b="1">
                <a:solidFill>
                  <a:schemeClr val="accent1"/>
                </a:solidFill>
              </a:rPr>
              <a:t>Example 1-Text </a:t>
            </a:r>
            <a:r>
              <a:rPr lang="en-US" altLang="en-IN" sz="2400" b="1" dirty="0">
                <a:solidFill>
                  <a:schemeClr val="accent1"/>
                </a:solidFill>
              </a:rPr>
              <a:t>Classification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36818E6-74DB-CD0C-CEF0-B1906AD03D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2312" y="127979"/>
            <a:ext cx="981307" cy="162199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969A0F1F-D34D-BF65-73F4-3F5A78D70C88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GenerativeAI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and Its Applications</a:t>
            </a:r>
          </a:p>
        </p:txBody>
      </p:sp>
    </p:spTree>
    <p:extLst>
      <p:ext uri="{BB962C8B-B14F-4D97-AF65-F5344CB8AC3E}">
        <p14:creationId xmlns:p14="http://schemas.microsoft.com/office/powerpoint/2010/main" val="41128556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-8308" y="1209922"/>
            <a:ext cx="8300052" cy="0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6"/>
          <p:cNvSpPr/>
          <p:nvPr/>
        </p:nvSpPr>
        <p:spPr>
          <a:xfrm>
            <a:off x="392835" y="713493"/>
            <a:ext cx="7999758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IN" sz="2400" b="1" dirty="0">
                <a:solidFill>
                  <a:schemeClr val="accent1"/>
                </a:solidFill>
              </a:rPr>
              <a:t>Example (Text Classification)</a:t>
            </a:r>
          </a:p>
        </p:txBody>
      </p:sp>
      <p:graphicFrame>
        <p:nvGraphicFramePr>
          <p:cNvPr id="4" name="Table 3"/>
          <p:cNvGraphicFramePr/>
          <p:nvPr/>
        </p:nvGraphicFramePr>
        <p:xfrm>
          <a:off x="8147050" y="3399402"/>
          <a:ext cx="358267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71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05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sentence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class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A great game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sports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The election is over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Not sports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very clean match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sports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a clean but forgettable game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sports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sym typeface="+mn-ea"/>
                        </a:rPr>
                        <a:t>it was a close election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not sports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Box 4"/>
          <p:cNvSpPr txBox="1"/>
          <p:nvPr/>
        </p:nvSpPr>
        <p:spPr>
          <a:xfrm>
            <a:off x="462280" y="1428750"/>
            <a:ext cx="7684770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/>
              <a:t>consider the given data set AND </a:t>
            </a:r>
            <a:r>
              <a:rPr lang="en-US" sz="2000" dirty="0">
                <a:solidFill>
                  <a:srgbClr val="B42FA9"/>
                </a:solidFill>
              </a:rPr>
              <a:t>the task is to classify the sentence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B42FA9"/>
                </a:solidFill>
              </a:rPr>
              <a:t>“</a:t>
            </a:r>
            <a:r>
              <a:rPr lang="en-US" sz="2000" b="1" dirty="0">
                <a:solidFill>
                  <a:srgbClr val="C00000"/>
                </a:solidFill>
              </a:rPr>
              <a:t>A very close game</a:t>
            </a:r>
            <a:r>
              <a:rPr lang="en-US" sz="2000" dirty="0">
                <a:solidFill>
                  <a:srgbClr val="C00000"/>
                </a:solidFill>
              </a:rPr>
              <a:t>” as </a:t>
            </a:r>
            <a:r>
              <a:rPr lang="en-US" sz="2000" b="1" u="sng" dirty="0">
                <a:solidFill>
                  <a:srgbClr val="C00000"/>
                </a:solidFill>
              </a:rPr>
              <a:t>sports or not sports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000" b="1" u="sng" dirty="0">
              <a:solidFill>
                <a:srgbClr val="C00000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/>
              <a:t>In this data set we do not have numbers but we have only text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/>
              <a:t>We need to convert all this text into numbers that we can use for calculation.  HOW?????</a:t>
            </a:r>
          </a:p>
          <a:p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/>
              <a:t>One solution is to use frequency of words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/>
              <a:t>Ignore word order and sentence construction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/>
              <a:t>Treat every document as a set of words it contains.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/>
              <a:t>Now the feature used in this case is the counts of words </a:t>
            </a:r>
            <a:r>
              <a:rPr lang="en-US" sz="2000" dirty="0" err="1"/>
              <a:t>i.e</a:t>
            </a:r>
            <a:r>
              <a:rPr lang="en-US" sz="2000" dirty="0"/>
              <a:t>(words frequency)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/>
              <a:t>It’s a simplistic approach, but works surprisingly well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AC969F3-A4C1-65EF-1F5E-43CAB9605F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2312" y="127979"/>
            <a:ext cx="981307" cy="162199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1BA5392-5DE3-F042-A33D-DA05960C713C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GenerativeAI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and Its Applications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-8308" y="1209922"/>
            <a:ext cx="8300052" cy="0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6"/>
          <p:cNvSpPr/>
          <p:nvPr/>
        </p:nvSpPr>
        <p:spPr>
          <a:xfrm>
            <a:off x="392835" y="713493"/>
            <a:ext cx="7999758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IN" sz="2400" b="1" dirty="0">
                <a:solidFill>
                  <a:schemeClr val="accent1"/>
                </a:solidFill>
              </a:rPr>
              <a:t>Example- (Text Classification)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C1241BC-3D1F-55B4-13FE-A0C7D131E2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883" y="1868853"/>
            <a:ext cx="9429750" cy="375285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D7D2855-C43A-CAAA-9CFF-7839CCFF10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2312" y="127979"/>
            <a:ext cx="981307" cy="162199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BD1FFDA-1E81-B48B-C04E-123CEF66C45E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GenerativeAI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and Its Applications</a:t>
            </a:r>
          </a:p>
        </p:txBody>
      </p:sp>
    </p:spTree>
    <p:extLst>
      <p:ext uri="{BB962C8B-B14F-4D97-AF65-F5344CB8AC3E}">
        <p14:creationId xmlns:p14="http://schemas.microsoft.com/office/powerpoint/2010/main" val="22494133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-8308" y="1209922"/>
            <a:ext cx="8300052" cy="0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6"/>
          <p:cNvSpPr/>
          <p:nvPr/>
        </p:nvSpPr>
        <p:spPr>
          <a:xfrm>
            <a:off x="392835" y="713493"/>
            <a:ext cx="7999758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IN" sz="2400" b="1" dirty="0">
                <a:solidFill>
                  <a:schemeClr val="accent1"/>
                </a:solidFill>
              </a:rPr>
              <a:t>Example-Text Classification</a:t>
            </a:r>
          </a:p>
        </p:txBody>
      </p:sp>
      <p:graphicFrame>
        <p:nvGraphicFramePr>
          <p:cNvPr id="4" name="Table 3"/>
          <p:cNvGraphicFramePr/>
          <p:nvPr/>
        </p:nvGraphicFramePr>
        <p:xfrm>
          <a:off x="8291744" y="3919230"/>
          <a:ext cx="358267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71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05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sentence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class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A great game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sports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The election is over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Not sports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very clean match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sports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a clean but forgettable game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sports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sym typeface="+mn-ea"/>
                        </a:rPr>
                        <a:t>it was a close election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not sports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3" name="Content Placeholder 2">
            <a:hlinkClick r:id="" action="ppaction://ole?verb=0"/>
          </p:cNvPr>
          <p:cNvGraphicFramePr>
            <a:graphicFrameLocks noGrp="1" noChangeAspect="1"/>
          </p:cNvGraphicFramePr>
          <p:nvPr>
            <p:ph idx="1"/>
          </p:nvPr>
        </p:nvGraphicFramePr>
        <p:xfrm>
          <a:off x="-8255" y="2905125"/>
          <a:ext cx="638937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914400" imgH="215900" progId="Equation.KSEE3">
                  <p:embed/>
                </p:oleObj>
              </mc:Choice>
              <mc:Fallback>
                <p:oleObj r:id="rId2" imgW="914400" imgH="215900" progId="Equation.KSEE3">
                  <p:embed/>
                  <p:pic>
                    <p:nvPicPr>
                      <p:cNvPr id="3" name="Content Placeholder 2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-8255" y="2905125"/>
                        <a:ext cx="6389370" cy="558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4"/>
          <p:cNvSpPr txBox="1"/>
          <p:nvPr/>
        </p:nvSpPr>
        <p:spPr>
          <a:xfrm>
            <a:off x="462280" y="1428750"/>
            <a:ext cx="7350760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/>
              <a:t>Now, we need to transform the probability we want to calculate into something </a:t>
            </a:r>
            <a:r>
              <a:rPr lang="en-US" sz="2000" dirty="0">
                <a:highlight>
                  <a:srgbClr val="FFFF00"/>
                </a:highlight>
              </a:rPr>
              <a:t>that can be calculated using word frequencies.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/>
              <a:t>Bayes Theorem for example: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/>
              <a:t>since in our classier ,we are just trying to find out which category has bigger probability we can discard the divisor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/>
              <a:t>This is same for both the categories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/>
              <a:t>we can compare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/>
              <a:t>	P(A very close game/sports) x P(sports)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/>
              <a:t>		with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/>
              <a:t>	P(A very close game/not sports) x P(not sports)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D5F27B1-A38E-74F7-10A5-1B0DA76960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82312" y="127979"/>
            <a:ext cx="981307" cy="162199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30678A5-11FF-F620-6260-CE9256FBCCDD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GenerativeAI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and Its Applications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E50C7F8-D777-8E1E-734E-FD966D625171}"/>
              </a:ext>
            </a:extLst>
          </p:cNvPr>
          <p:cNvGraphicFramePr/>
          <p:nvPr/>
        </p:nvGraphicFramePr>
        <p:xfrm>
          <a:off x="0" y="0"/>
          <a:ext cx="358267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71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05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sentence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class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A great game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sports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The election is over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Not sports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very clean match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sports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a clean but forgettable game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sports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sym typeface="+mn-ea"/>
                        </a:rPr>
                        <a:t>it was a close election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not sports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638852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-8308" y="1209922"/>
            <a:ext cx="8300052" cy="0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6"/>
          <p:cNvSpPr/>
          <p:nvPr/>
        </p:nvSpPr>
        <p:spPr>
          <a:xfrm>
            <a:off x="392835" y="713493"/>
            <a:ext cx="7999758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IN" sz="2400" b="1" dirty="0">
                <a:solidFill>
                  <a:schemeClr val="accent1"/>
                </a:solidFill>
              </a:rPr>
              <a:t>Example  -Text Classification</a:t>
            </a:r>
          </a:p>
        </p:txBody>
      </p:sp>
      <p:graphicFrame>
        <p:nvGraphicFramePr>
          <p:cNvPr id="4" name="Table 3"/>
          <p:cNvGraphicFramePr/>
          <p:nvPr/>
        </p:nvGraphicFramePr>
        <p:xfrm>
          <a:off x="6743700" y="1209675"/>
          <a:ext cx="358267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71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05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sentence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class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A great game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sports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The election is over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Not sports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very clean match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sports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a clean but forgettable game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sports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sym typeface="+mn-ea"/>
                        </a:rPr>
                        <a:t>it was a close election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not sports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Box 4"/>
          <p:cNvSpPr txBox="1"/>
          <p:nvPr/>
        </p:nvSpPr>
        <p:spPr>
          <a:xfrm>
            <a:off x="462280" y="1428750"/>
            <a:ext cx="628142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/>
              <a:t>The probabilities can be calculated:</a:t>
            </a:r>
          </a:p>
          <a:p>
            <a:pPr marL="800100" lvl="1" indent="-342900">
              <a:buFont typeface="Arial" panose="020B0604020202020204" pitchFamily="34" charset="0"/>
              <a:buAutoNum type="arabicPeriod"/>
            </a:pPr>
            <a:r>
              <a:rPr lang="en-US" sz="2000" dirty="0"/>
              <a:t>count how many times the sentence</a:t>
            </a:r>
          </a:p>
          <a:p>
            <a:pPr lvl="2" indent="0">
              <a:buFont typeface="Arial" panose="020B0604020202020204" pitchFamily="34" charset="0"/>
              <a:buNone/>
            </a:pPr>
            <a:r>
              <a:rPr lang="en-US" sz="2000" dirty="0"/>
              <a:t>'A very close game' appears in sports category</a:t>
            </a:r>
          </a:p>
          <a:p>
            <a:pPr marL="800100" lvl="1" indent="-342900">
              <a:buFont typeface="Arial" panose="020B0604020202020204" pitchFamily="34" charset="0"/>
              <a:buAutoNum type="arabicPeriod"/>
            </a:pPr>
            <a:r>
              <a:rPr lang="en-US" sz="2000" dirty="0"/>
              <a:t>Divide by the total</a:t>
            </a:r>
          </a:p>
          <a:p>
            <a:pPr marL="800100" lvl="1" indent="-342900">
              <a:buFont typeface="Arial" panose="020B0604020202020204" pitchFamily="34" charset="0"/>
              <a:buAutoNum type="arabicPeriod"/>
            </a:pPr>
            <a:r>
              <a:rPr lang="en-US" sz="2000" dirty="0"/>
              <a:t>obtain P(a very close </a:t>
            </a:r>
            <a:r>
              <a:rPr lang="en-US" sz="2000" dirty="0" err="1"/>
              <a:t>game|sports</a:t>
            </a:r>
            <a:r>
              <a:rPr lang="en-US" sz="2000" dirty="0"/>
              <a:t>)</a:t>
            </a:r>
          </a:p>
          <a:p>
            <a:pPr marL="800100" lvl="1" indent="-342900">
              <a:buFont typeface="Arial" panose="020B0604020202020204" pitchFamily="34" charset="0"/>
              <a:buAutoNum type="arabicPeriod"/>
            </a:pPr>
            <a:endParaRPr lang="en-US" sz="2000" dirty="0"/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US" sz="2000" b="1" u="sng" dirty="0">
                <a:highlight>
                  <a:srgbClr val="FF0000"/>
                </a:highlight>
              </a:rPr>
              <a:t>PROBLEM:</a:t>
            </a:r>
            <a:r>
              <a:rPr lang="en-US" sz="2000" b="1" dirty="0">
                <a:highlight>
                  <a:srgbClr val="FF0000"/>
                </a:highlight>
              </a:rPr>
              <a:t> </a:t>
            </a:r>
            <a:r>
              <a:rPr lang="en-US" sz="2000" dirty="0">
                <a:highlight>
                  <a:srgbClr val="FF0000"/>
                </a:highlight>
              </a:rPr>
              <a:t>we do not have the 'sentence' in the training set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lvl="0" indent="0">
              <a:buFont typeface="Arial" panose="020B0604020202020204" pitchFamily="34" charset="0"/>
              <a:buNone/>
            </a:pPr>
            <a:r>
              <a:rPr lang="en-US" sz="2000" dirty="0"/>
              <a:t> =&gt;</a:t>
            </a:r>
            <a:r>
              <a:rPr lang="en-US" sz="2000" b="1" dirty="0">
                <a:highlight>
                  <a:srgbClr val="FFFF00"/>
                </a:highlight>
              </a:rPr>
              <a:t>probability is zero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US" sz="2000" dirty="0"/>
              <a:t>unless every sentence appears in the training set, what we want to classify, the model won’t classify</a:t>
            </a:r>
          </a:p>
        </p:txBody>
      </p:sp>
      <p:cxnSp>
        <p:nvCxnSpPr>
          <p:cNvPr id="11" name="Straight Arrow Connector 10"/>
          <p:cNvCxnSpPr/>
          <p:nvPr/>
        </p:nvCxnSpPr>
        <p:spPr>
          <a:xfrm flipH="1" flipV="1">
            <a:off x="3848735" y="3092976"/>
            <a:ext cx="857250" cy="228600"/>
          </a:xfrm>
          <a:prstGeom prst="straightConnector1">
            <a:avLst/>
          </a:prstGeom>
          <a:ln>
            <a:prstDash val="sysDash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16EE4F46-3C7F-E72B-D1A3-CB2A03FD05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2312" y="127979"/>
            <a:ext cx="981307" cy="162199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E49337FB-E523-E916-8196-A8FDC80C53E8}"/>
                  </a:ext>
                </a:extLst>
              </p14:cNvPr>
              <p14:cNvContentPartPr/>
              <p14:nvPr/>
            </p14:nvContentPartPr>
            <p14:xfrm>
              <a:off x="5775480" y="4887720"/>
              <a:ext cx="2880" cy="3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E49337FB-E523-E916-8196-A8FDC80C53E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766120" y="4878360"/>
                <a:ext cx="21600" cy="19080"/>
              </a:xfrm>
              <a:prstGeom prst="rect">
                <a:avLst/>
              </a:prstGeom>
            </p:spPr>
          </p:pic>
        </mc:Fallback>
      </mc:AlternateContent>
      <p:sp>
        <p:nvSpPr>
          <p:cNvPr id="10" name="Rectangle 9">
            <a:extLst>
              <a:ext uri="{FF2B5EF4-FFF2-40B4-BE49-F238E27FC236}">
                <a16:creationId xmlns:a16="http://schemas.microsoft.com/office/drawing/2014/main" id="{A97B247E-9629-F852-64C1-E5D423E730AC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GenerativeAI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and Its Applications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-8308" y="1209922"/>
            <a:ext cx="8300052" cy="0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6"/>
          <p:cNvSpPr/>
          <p:nvPr/>
        </p:nvSpPr>
        <p:spPr>
          <a:xfrm>
            <a:off x="392835" y="713493"/>
            <a:ext cx="7999758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IN" sz="2400" b="1" dirty="0">
                <a:solidFill>
                  <a:schemeClr val="accent1"/>
                </a:solidFill>
              </a:rPr>
              <a:t>Example  -Text Classification</a:t>
            </a:r>
          </a:p>
        </p:txBody>
      </p:sp>
      <p:graphicFrame>
        <p:nvGraphicFramePr>
          <p:cNvPr id="4" name="Table 3"/>
          <p:cNvGraphicFramePr/>
          <p:nvPr/>
        </p:nvGraphicFramePr>
        <p:xfrm>
          <a:off x="8392593" y="4037330"/>
          <a:ext cx="358267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71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05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sentence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class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A great game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sports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The election is over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Not sports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very clean match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sports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a clean but forgettable game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sports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sym typeface="+mn-ea"/>
                        </a:rPr>
                        <a:t>it was a close election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not sports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Box 4"/>
          <p:cNvSpPr txBox="1"/>
          <p:nvPr/>
        </p:nvSpPr>
        <p:spPr>
          <a:xfrm>
            <a:off x="0" y="1209922"/>
            <a:ext cx="8222299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200" dirty="0"/>
              <a:t>we assume that </a:t>
            </a:r>
            <a:r>
              <a:rPr lang="en-US" sz="2200" b="1" dirty="0">
                <a:solidFill>
                  <a:srgbClr val="C00000"/>
                </a:solidFill>
              </a:rPr>
              <a:t>every word in a sentence is independent </a:t>
            </a:r>
            <a:r>
              <a:rPr lang="en-US" sz="2200" dirty="0"/>
              <a:t>of the other ones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200" dirty="0"/>
              <a:t>no longer we will look for entire sentences, but for only words(individual)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2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200" dirty="0" err="1"/>
              <a:t>i,e</a:t>
            </a:r>
            <a:r>
              <a:rPr lang="en-US" sz="2200" dirty="0"/>
              <a:t> for a sentence “</a:t>
            </a:r>
            <a:r>
              <a:rPr lang="en-US" sz="2200" b="1" dirty="0"/>
              <a:t>This was a funny party</a:t>
            </a:r>
            <a:r>
              <a:rPr lang="en-US" sz="2200" dirty="0"/>
              <a:t>” is same as “</a:t>
            </a:r>
            <a:r>
              <a:rPr lang="en-US" sz="2200" b="1" dirty="0"/>
              <a:t>funny is party was this</a:t>
            </a:r>
            <a:r>
              <a:rPr lang="en-US" sz="2200" dirty="0"/>
              <a:t>” is same as “</a:t>
            </a:r>
            <a:r>
              <a:rPr lang="en-US" sz="2200" b="1" dirty="0"/>
              <a:t>party funny this was a</a:t>
            </a:r>
            <a:r>
              <a:rPr lang="en-US" sz="2200" dirty="0"/>
              <a:t>”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2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200" b="1" dirty="0">
                <a:solidFill>
                  <a:srgbClr val="FF0000"/>
                </a:solidFill>
              </a:rPr>
              <a:t>we can write this as:</a:t>
            </a:r>
          </a:p>
          <a:p>
            <a:r>
              <a:rPr lang="en-US" sz="2200" b="1" dirty="0">
                <a:solidFill>
                  <a:srgbClr val="FF0000"/>
                </a:solidFill>
              </a:rPr>
              <a:t>	P(a very close game)=P(a)</a:t>
            </a:r>
            <a:r>
              <a:rPr lang="en-US" sz="2200" b="1" dirty="0" err="1">
                <a:solidFill>
                  <a:srgbClr val="FF0000"/>
                </a:solidFill>
              </a:rPr>
              <a:t>xP</a:t>
            </a:r>
            <a:r>
              <a:rPr lang="en-US" sz="2200" b="1" dirty="0">
                <a:solidFill>
                  <a:srgbClr val="FF0000"/>
                </a:solidFill>
              </a:rPr>
              <a:t>(very)</a:t>
            </a:r>
            <a:r>
              <a:rPr lang="en-US" sz="2200" b="1" dirty="0" err="1">
                <a:solidFill>
                  <a:srgbClr val="FF0000"/>
                </a:solidFill>
              </a:rPr>
              <a:t>xP</a:t>
            </a:r>
            <a:r>
              <a:rPr lang="en-US" sz="2200" b="1" dirty="0">
                <a:solidFill>
                  <a:srgbClr val="FF0000"/>
                </a:solidFill>
              </a:rPr>
              <a:t>(close)</a:t>
            </a:r>
            <a:r>
              <a:rPr lang="en-US" sz="2200" b="1" dirty="0" err="1">
                <a:solidFill>
                  <a:srgbClr val="FF0000"/>
                </a:solidFill>
              </a:rPr>
              <a:t>xP</a:t>
            </a:r>
            <a:r>
              <a:rPr lang="en-US" sz="2200" b="1" dirty="0">
                <a:solidFill>
                  <a:srgbClr val="FF0000"/>
                </a:solidFill>
              </a:rPr>
              <a:t>(game)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200" dirty="0"/>
              <a:t>This enables to make the model work well, Now lets apply,</a:t>
            </a:r>
          </a:p>
          <a:p>
            <a:r>
              <a:rPr lang="en-US" sz="2200" dirty="0">
                <a:solidFill>
                  <a:srgbClr val="FF0000"/>
                </a:solidFill>
              </a:rPr>
              <a:t>P(a very close </a:t>
            </a:r>
            <a:r>
              <a:rPr lang="en-US" sz="2200" dirty="0" err="1">
                <a:solidFill>
                  <a:srgbClr val="FF0000"/>
                </a:solidFill>
              </a:rPr>
              <a:t>game|sports</a:t>
            </a:r>
            <a:r>
              <a:rPr lang="en-US" sz="2200" dirty="0">
                <a:solidFill>
                  <a:srgbClr val="FF0000"/>
                </a:solidFill>
              </a:rPr>
              <a:t>)= P(</a:t>
            </a:r>
            <a:r>
              <a:rPr lang="en-US" sz="2200" dirty="0" err="1">
                <a:solidFill>
                  <a:srgbClr val="FF0000"/>
                </a:solidFill>
              </a:rPr>
              <a:t>a|sports</a:t>
            </a:r>
            <a:r>
              <a:rPr lang="en-US" sz="2200" dirty="0">
                <a:solidFill>
                  <a:srgbClr val="FF0000"/>
                </a:solidFill>
              </a:rPr>
              <a:t>)</a:t>
            </a:r>
            <a:r>
              <a:rPr lang="en-US" sz="2200" dirty="0" err="1">
                <a:solidFill>
                  <a:srgbClr val="FF0000"/>
                </a:solidFill>
              </a:rPr>
              <a:t>xP</a:t>
            </a:r>
            <a:r>
              <a:rPr lang="en-US" sz="2200" dirty="0">
                <a:solidFill>
                  <a:srgbClr val="FF0000"/>
                </a:solidFill>
              </a:rPr>
              <a:t>(</a:t>
            </a:r>
            <a:r>
              <a:rPr lang="en-US" sz="2200" dirty="0" err="1">
                <a:solidFill>
                  <a:srgbClr val="FF0000"/>
                </a:solidFill>
              </a:rPr>
              <a:t>very|sports</a:t>
            </a:r>
            <a:r>
              <a:rPr lang="en-US" sz="2200" dirty="0">
                <a:solidFill>
                  <a:srgbClr val="FF0000"/>
                </a:solidFill>
              </a:rPr>
              <a:t>)</a:t>
            </a:r>
            <a:r>
              <a:rPr lang="en-US" sz="2200" dirty="0" err="1">
                <a:solidFill>
                  <a:srgbClr val="FF0000"/>
                </a:solidFill>
              </a:rPr>
              <a:t>xP</a:t>
            </a:r>
            <a:r>
              <a:rPr lang="en-US" sz="2200" dirty="0">
                <a:solidFill>
                  <a:srgbClr val="FF0000"/>
                </a:solidFill>
              </a:rPr>
              <a:t>(</a:t>
            </a:r>
            <a:r>
              <a:rPr lang="en-US" sz="2200" dirty="0" err="1">
                <a:solidFill>
                  <a:srgbClr val="FF0000"/>
                </a:solidFill>
              </a:rPr>
              <a:t>close|sports</a:t>
            </a:r>
            <a:r>
              <a:rPr lang="en-US" sz="2200" dirty="0">
                <a:solidFill>
                  <a:srgbClr val="FF0000"/>
                </a:solidFill>
              </a:rPr>
              <a:t>)</a:t>
            </a:r>
            <a:r>
              <a:rPr lang="en-US" sz="2200" dirty="0" err="1">
                <a:solidFill>
                  <a:srgbClr val="FF0000"/>
                </a:solidFill>
              </a:rPr>
              <a:t>xP</a:t>
            </a:r>
            <a:r>
              <a:rPr lang="en-US" sz="2200" dirty="0">
                <a:solidFill>
                  <a:srgbClr val="FF0000"/>
                </a:solidFill>
              </a:rPr>
              <a:t>(</a:t>
            </a:r>
            <a:r>
              <a:rPr lang="en-US" sz="2200" dirty="0" err="1">
                <a:solidFill>
                  <a:srgbClr val="FF0000"/>
                </a:solidFill>
              </a:rPr>
              <a:t>game|sports</a:t>
            </a:r>
            <a:r>
              <a:rPr lang="en-US" sz="2200" dirty="0">
                <a:solidFill>
                  <a:srgbClr val="FF0000"/>
                </a:solidFill>
              </a:rPr>
              <a:t>) </a:t>
            </a:r>
          </a:p>
          <a:p>
            <a:pPr indent="0">
              <a:buFont typeface="Arial" panose="020B0604020202020204" pitchFamily="34" charset="0"/>
              <a:buNone/>
            </a:pPr>
            <a:endParaRPr lang="en-US" sz="2200" dirty="0">
              <a:solidFill>
                <a:srgbClr val="FF0000"/>
              </a:solidFill>
            </a:endParaRPr>
          </a:p>
          <a:p>
            <a:pPr indent="0">
              <a:buFont typeface="Arial" panose="020B0604020202020204" pitchFamily="34" charset="0"/>
              <a:buNone/>
            </a:pPr>
            <a:r>
              <a:rPr lang="en-US" sz="2200" dirty="0"/>
              <a:t>all these individual words actually show up several times in our training </a:t>
            </a:r>
            <a:r>
              <a:rPr lang="en-US" sz="2200" dirty="0" err="1"/>
              <a:t>set,we</a:t>
            </a:r>
            <a:r>
              <a:rPr lang="en-US" sz="2200" dirty="0"/>
              <a:t> can do our calculations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65A6D6C-92CD-1845-7F83-52D6BE8F13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2312" y="127979"/>
            <a:ext cx="981307" cy="162199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FB2C885-4608-F4AF-6F8F-A4AAA1071947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GenerativeAI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and Its Applications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-8308" y="1209922"/>
            <a:ext cx="8300052" cy="0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6"/>
          <p:cNvSpPr/>
          <p:nvPr/>
        </p:nvSpPr>
        <p:spPr>
          <a:xfrm>
            <a:off x="392835" y="713493"/>
            <a:ext cx="7999758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IN" sz="2400" b="1" dirty="0">
                <a:solidFill>
                  <a:schemeClr val="accent1"/>
                </a:solidFill>
              </a:rPr>
              <a:t>Example-Text Classification</a:t>
            </a:r>
          </a:p>
        </p:txBody>
      </p:sp>
      <p:graphicFrame>
        <p:nvGraphicFramePr>
          <p:cNvPr id="4" name="Table 3"/>
          <p:cNvGraphicFramePr/>
          <p:nvPr/>
        </p:nvGraphicFramePr>
        <p:xfrm>
          <a:off x="8392593" y="3590925"/>
          <a:ext cx="358267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71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05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sentence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class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A great game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sports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The election is over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Not sports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very clean match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sports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a clean but forgettable game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sports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sym typeface="+mn-ea"/>
                        </a:rPr>
                        <a:t>it was a close election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not sports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Box 4"/>
          <p:cNvSpPr txBox="1"/>
          <p:nvPr/>
        </p:nvSpPr>
        <p:spPr>
          <a:xfrm>
            <a:off x="462279" y="1428750"/>
            <a:ext cx="7357745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>
              <a:buFont typeface="Arial" panose="020B0604020202020204" pitchFamily="34" charset="0"/>
              <a:buNone/>
            </a:pPr>
            <a:r>
              <a:rPr lang="en-US" b="1" dirty="0"/>
              <a:t>CALCULATING PROBABILITIES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The final step is just to calculate every probability and see which one turns to be larger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u="sng" dirty="0"/>
              <a:t>First: </a:t>
            </a:r>
            <a:r>
              <a:rPr lang="en-US" dirty="0"/>
              <a:t>calculate a priori probability for each </a:t>
            </a:r>
            <a:r>
              <a:rPr lang="en-US" dirty="0" err="1"/>
              <a:t>category,i.e</a:t>
            </a:r>
            <a:r>
              <a:rPr lang="en-US" dirty="0"/>
              <a:t> for the sentence given in the training set</a:t>
            </a:r>
          </a:p>
          <a:p>
            <a:r>
              <a:rPr lang="en-US" b="1" dirty="0"/>
              <a:t>	P(sports)=3/5=0.6</a:t>
            </a:r>
          </a:p>
          <a:p>
            <a:r>
              <a:rPr lang="en-US" b="1" dirty="0"/>
              <a:t>	</a:t>
            </a:r>
            <a:r>
              <a:rPr lang="en-US" b="1" dirty="0">
                <a:sym typeface="+mn-ea"/>
              </a:rPr>
              <a:t>P(not sports)=2/5=0.4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u="sng" dirty="0"/>
              <a:t>calculate P(game/sports)</a:t>
            </a:r>
            <a:r>
              <a:rPr lang="en-US" dirty="0"/>
              <a:t> : counting number of times the word game appears in the sports sample, divided by the total no of words in sports</a:t>
            </a:r>
          </a:p>
          <a:p>
            <a:r>
              <a:rPr lang="en-US" dirty="0"/>
              <a:t>	</a:t>
            </a:r>
            <a:r>
              <a:rPr lang="en-US" dirty="0" err="1"/>
              <a:t>i.e</a:t>
            </a:r>
            <a:r>
              <a:rPr lang="en-US" dirty="0"/>
              <a:t>  it appears twice for 11 words.   		</a:t>
            </a:r>
            <a:r>
              <a:rPr lang="en-US" b="1" dirty="0"/>
              <a:t>P(game/sports)=2/11=0.18181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A problem again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the word close does not appear in any sports ,and would lead us 0 when multiplied with other probability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966A546-458A-B35E-5868-14336A0A5A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2312" y="127979"/>
            <a:ext cx="981307" cy="162199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422AA61-121C-67E2-CB18-A65ABF97439A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GenerativeAI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and Its Applications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-8308" y="1209922"/>
            <a:ext cx="8300052" cy="0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6"/>
          <p:cNvSpPr/>
          <p:nvPr/>
        </p:nvSpPr>
        <p:spPr>
          <a:xfrm>
            <a:off x="392835" y="713493"/>
            <a:ext cx="7999758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IN" sz="2400" b="1" dirty="0">
                <a:solidFill>
                  <a:schemeClr val="accent1"/>
                </a:solidFill>
              </a:rPr>
              <a:t>Example -Text Classification</a:t>
            </a:r>
          </a:p>
        </p:txBody>
      </p:sp>
      <p:graphicFrame>
        <p:nvGraphicFramePr>
          <p:cNvPr id="4" name="Table 3"/>
          <p:cNvGraphicFramePr/>
          <p:nvPr/>
        </p:nvGraphicFramePr>
        <p:xfrm>
          <a:off x="8392593" y="3590925"/>
          <a:ext cx="358267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71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05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sentence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class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A great game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sports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The election is over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Not sports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very clean match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sports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a clean but forgettable game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sports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sym typeface="+mn-ea"/>
                        </a:rPr>
                        <a:t>it was a close election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not sports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Box 4"/>
          <p:cNvSpPr txBox="1"/>
          <p:nvPr/>
        </p:nvSpPr>
        <p:spPr>
          <a:xfrm>
            <a:off x="462279" y="1428750"/>
            <a:ext cx="7357745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>
              <a:buFont typeface="Arial" panose="020B0604020202020204" pitchFamily="34" charset="0"/>
              <a:buNone/>
            </a:pPr>
            <a:r>
              <a:rPr lang="en-US" b="1" dirty="0"/>
              <a:t>CALCULATING PROBABILITIES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The final step is just to calculate every probability and see which one turns to be larger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u="sng" dirty="0"/>
              <a:t>First: </a:t>
            </a:r>
            <a:r>
              <a:rPr lang="en-US" dirty="0"/>
              <a:t>calculate a priori probability for each </a:t>
            </a:r>
            <a:r>
              <a:rPr lang="en-US" dirty="0" err="1"/>
              <a:t>category,i.e</a:t>
            </a:r>
            <a:r>
              <a:rPr lang="en-US" dirty="0"/>
              <a:t> for the sentence given in the training set</a:t>
            </a:r>
          </a:p>
          <a:p>
            <a:r>
              <a:rPr lang="en-US" b="1" dirty="0"/>
              <a:t>	P(sports)=</a:t>
            </a:r>
          </a:p>
          <a:p>
            <a:r>
              <a:rPr lang="en-US" b="1" dirty="0"/>
              <a:t>	</a:t>
            </a:r>
            <a:r>
              <a:rPr lang="en-US" b="1" dirty="0">
                <a:sym typeface="+mn-ea"/>
              </a:rPr>
              <a:t>P(not sports)=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u="sng" dirty="0"/>
              <a:t>calculate P(game/sports)</a:t>
            </a:r>
            <a:r>
              <a:rPr lang="en-US" dirty="0"/>
              <a:t> : counting number of times the word game appears in the sports sample, divided by the total no of words in sports</a:t>
            </a:r>
          </a:p>
          <a:p>
            <a:r>
              <a:rPr lang="en-US" dirty="0"/>
              <a:t>	</a:t>
            </a:r>
            <a:r>
              <a:rPr lang="en-US" dirty="0" err="1"/>
              <a:t>i.e</a:t>
            </a:r>
            <a:r>
              <a:rPr lang="en-US" dirty="0"/>
              <a:t>  it appears twice for 11 words.   </a:t>
            </a:r>
          </a:p>
          <a:p>
            <a:r>
              <a:rPr lang="en-US" dirty="0"/>
              <a:t>		</a:t>
            </a:r>
            <a:r>
              <a:rPr lang="en-US" b="1" dirty="0"/>
              <a:t>P(game/sports)=</a:t>
            </a:r>
          </a:p>
          <a:p>
            <a:r>
              <a:rPr lang="en-US" b="1" dirty="0"/>
              <a:t>P(close/sports)=            , P(a/sports)=                , P(very/sports)=</a:t>
            </a:r>
          </a:p>
          <a:p>
            <a:endParaRPr lang="en-US" dirty="0"/>
          </a:p>
          <a:p>
            <a:r>
              <a:rPr lang="en-US" b="1" dirty="0"/>
              <a:t>P(game/not sports)=</a:t>
            </a:r>
          </a:p>
          <a:p>
            <a:r>
              <a:rPr lang="en-US" b="1" dirty="0"/>
              <a:t>P(close/ not sports)=            , P(a/ not sports)=           , P(very/ not sports)=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highlight>
                  <a:srgbClr val="FF0000"/>
                </a:highlight>
              </a:rPr>
              <a:t>A problem again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the word close does not appear in any sports ,and would lead us 0 when multiplied with other probability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AF169C9-CDDC-8961-6965-31D03BB9A1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2312" y="127979"/>
            <a:ext cx="981307" cy="162199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D1E0D76-898F-F85D-8907-2331DED0D84F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GenerativeAI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and Its Applications</a:t>
            </a:r>
          </a:p>
        </p:txBody>
      </p:sp>
    </p:spTree>
    <p:extLst>
      <p:ext uri="{BB962C8B-B14F-4D97-AF65-F5344CB8AC3E}">
        <p14:creationId xmlns:p14="http://schemas.microsoft.com/office/powerpoint/2010/main" val="9606803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-8308" y="1209922"/>
            <a:ext cx="8300052" cy="0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6"/>
          <p:cNvSpPr/>
          <p:nvPr/>
        </p:nvSpPr>
        <p:spPr>
          <a:xfrm>
            <a:off x="392835" y="713493"/>
            <a:ext cx="7999758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IN" sz="2400" b="1" dirty="0">
                <a:solidFill>
                  <a:schemeClr val="accent1"/>
                </a:solidFill>
              </a:rPr>
              <a:t>Example -Text Classification</a:t>
            </a:r>
          </a:p>
        </p:txBody>
      </p:sp>
      <p:graphicFrame>
        <p:nvGraphicFramePr>
          <p:cNvPr id="4" name="Table 3"/>
          <p:cNvGraphicFramePr/>
          <p:nvPr/>
        </p:nvGraphicFramePr>
        <p:xfrm>
          <a:off x="6743700" y="1209675"/>
          <a:ext cx="358267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71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05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sentence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class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A great game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sports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The election is over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Not sports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very clean match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sports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a clean but forgettable game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sports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sym typeface="+mn-ea"/>
                        </a:rPr>
                        <a:t>it was a close election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not sports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Box 4"/>
          <p:cNvSpPr txBox="1"/>
          <p:nvPr/>
        </p:nvSpPr>
        <p:spPr>
          <a:xfrm>
            <a:off x="462280" y="1428750"/>
            <a:ext cx="628142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>
              <a:buFont typeface="Arial" panose="020B0604020202020204" pitchFamily="34" charset="0"/>
              <a:buNone/>
            </a:pPr>
            <a:r>
              <a:rPr lang="en-US" dirty="0"/>
              <a:t>To resolve this we do something called </a:t>
            </a:r>
            <a:r>
              <a:rPr lang="en-US" b="1" dirty="0">
                <a:solidFill>
                  <a:srgbClr val="C00000"/>
                </a:solidFill>
                <a:highlight>
                  <a:srgbClr val="FFFF00"/>
                </a:highlight>
              </a:rPr>
              <a:t>Laplace smoothing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Add 1 to every count so its never zero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To balance it again, add no of possible words to divisor,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in our case the </a:t>
            </a:r>
            <a:r>
              <a:rPr lang="en-US" b="1" dirty="0"/>
              <a:t>possible words </a:t>
            </a:r>
            <a:r>
              <a:rPr lang="en-US" dirty="0"/>
              <a:t>are:</a:t>
            </a:r>
          </a:p>
          <a:p>
            <a:r>
              <a:rPr lang="en-US" dirty="0"/>
              <a:t>	{a, great, game, the election, is, over,.......}= </a:t>
            </a:r>
            <a:r>
              <a:rPr lang="en-US" dirty="0">
                <a:highlight>
                  <a:srgbClr val="FFFF00"/>
                </a:highlight>
              </a:rPr>
              <a:t>15</a:t>
            </a:r>
          </a:p>
          <a:p>
            <a:r>
              <a:rPr lang="en-US" b="1" dirty="0"/>
              <a:t>Applying smoothing we get:-</a:t>
            </a:r>
          </a:p>
        </p:txBody>
      </p:sp>
      <p:graphicFrame>
        <p:nvGraphicFramePr>
          <p:cNvPr id="3" name="Table 2"/>
          <p:cNvGraphicFramePr/>
          <p:nvPr/>
        </p:nvGraphicFramePr>
        <p:xfrm>
          <a:off x="393065" y="3458845"/>
          <a:ext cx="61341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5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28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9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WORD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P(word/sports)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P(word/Not sports)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very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close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game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A5498357-7BCE-AB9C-D007-4497C8B438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2312" y="127979"/>
            <a:ext cx="981307" cy="162199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3EF1A69-3F76-A1DE-65B0-D2B5A91125D1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GenerativeAI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and Its Applications</a:t>
            </a:r>
          </a:p>
        </p:txBody>
      </p:sp>
    </p:spTree>
    <p:extLst>
      <p:ext uri="{BB962C8B-B14F-4D97-AF65-F5344CB8AC3E}">
        <p14:creationId xmlns:p14="http://schemas.microsoft.com/office/powerpoint/2010/main" val="27262729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-8308" y="1209922"/>
            <a:ext cx="8300052" cy="0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6"/>
          <p:cNvSpPr/>
          <p:nvPr/>
        </p:nvSpPr>
        <p:spPr>
          <a:xfrm>
            <a:off x="392835" y="713493"/>
            <a:ext cx="7999758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IN" sz="2400" b="1" dirty="0">
                <a:solidFill>
                  <a:schemeClr val="accent1"/>
                </a:solidFill>
              </a:rPr>
              <a:t>Example-Text Classification</a:t>
            </a:r>
          </a:p>
        </p:txBody>
      </p:sp>
      <p:graphicFrame>
        <p:nvGraphicFramePr>
          <p:cNvPr id="4" name="Table 3"/>
          <p:cNvGraphicFramePr/>
          <p:nvPr/>
        </p:nvGraphicFramePr>
        <p:xfrm>
          <a:off x="6743700" y="1209675"/>
          <a:ext cx="358267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71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05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sentence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class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A great game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sports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The election is over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Not sports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very clean match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sports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a clean but forgettable game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sports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sym typeface="+mn-ea"/>
                        </a:rPr>
                        <a:t>it was a close election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not sports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Box 4"/>
          <p:cNvSpPr txBox="1"/>
          <p:nvPr/>
        </p:nvSpPr>
        <p:spPr>
          <a:xfrm>
            <a:off x="462280" y="1428750"/>
            <a:ext cx="628142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>
              <a:buFont typeface="Arial" panose="020B0604020202020204" pitchFamily="34" charset="0"/>
              <a:buNone/>
            </a:pPr>
            <a:r>
              <a:rPr lang="en-US" dirty="0"/>
              <a:t>To resolve this we do something called </a:t>
            </a:r>
            <a:r>
              <a:rPr lang="en-US" b="1" dirty="0">
                <a:solidFill>
                  <a:srgbClr val="C00000"/>
                </a:solidFill>
              </a:rPr>
              <a:t>Laplace smoothing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Add 1 to every count so its never zero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To balance it again, add no of possible words to divisor,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in our case the </a:t>
            </a:r>
            <a:r>
              <a:rPr lang="en-US" b="1" dirty="0"/>
              <a:t>possible words </a:t>
            </a:r>
            <a:r>
              <a:rPr lang="en-US" dirty="0"/>
              <a:t>are:</a:t>
            </a:r>
          </a:p>
          <a:p>
            <a:r>
              <a:rPr lang="en-US" dirty="0"/>
              <a:t>	{a, great, game, the election, is, over,.......election}= </a:t>
            </a:r>
            <a:r>
              <a:rPr lang="en-US" dirty="0">
                <a:highlight>
                  <a:srgbClr val="FFFF00"/>
                </a:highlight>
              </a:rPr>
              <a:t>15</a:t>
            </a:r>
          </a:p>
          <a:p>
            <a:r>
              <a:rPr lang="en-US" b="1" dirty="0"/>
              <a:t>Applying smoothing we get:-</a:t>
            </a:r>
          </a:p>
        </p:txBody>
      </p:sp>
      <p:graphicFrame>
        <p:nvGraphicFramePr>
          <p:cNvPr id="3" name="Table 2"/>
          <p:cNvGraphicFramePr/>
          <p:nvPr/>
        </p:nvGraphicFramePr>
        <p:xfrm>
          <a:off x="393065" y="3458845"/>
          <a:ext cx="61341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5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28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9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WORD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P(word/sports)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P(word/Not sports)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(2+1)/(15+11)=3/26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(1+1)/(9+15)=2/24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very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(1+1)/(15+11)=2/26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sym typeface="+mn-ea"/>
                        </a:rPr>
                        <a:t>(0+1)/(9+15)=1/24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close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(0+1)/(15+11)=1/26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sym typeface="+mn-ea"/>
                        </a:rPr>
                        <a:t>(1+1)/(9+15)=2/24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game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(2+1)/(15+11)=3/26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sym typeface="+mn-ea"/>
                        </a:rPr>
                        <a:t>(0+1)/(9+15)=1/24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110EA61F-6009-208D-DBCA-D646652A15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2312" y="127979"/>
            <a:ext cx="981307" cy="162199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3A697CE-21CE-1454-76BE-330188B5EDA8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GenerativeAI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and Its Applications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-8308" y="1209922"/>
            <a:ext cx="8300052" cy="0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6"/>
          <p:cNvSpPr/>
          <p:nvPr/>
        </p:nvSpPr>
        <p:spPr>
          <a:xfrm>
            <a:off x="392835" y="713493"/>
            <a:ext cx="7999758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IN" sz="2400" b="1" dirty="0">
                <a:solidFill>
                  <a:schemeClr val="accent1"/>
                </a:solidFill>
              </a:rPr>
              <a:t>Example -Text Classification</a:t>
            </a:r>
          </a:p>
        </p:txBody>
      </p:sp>
      <p:graphicFrame>
        <p:nvGraphicFramePr>
          <p:cNvPr id="4" name="Table 3"/>
          <p:cNvGraphicFramePr/>
          <p:nvPr/>
        </p:nvGraphicFramePr>
        <p:xfrm>
          <a:off x="6743700" y="1209675"/>
          <a:ext cx="358267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71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05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sentence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class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A great game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sports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The election is over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Not sports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very clean match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sports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a clean but forgettable game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sports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sym typeface="+mn-ea"/>
                        </a:rPr>
                        <a:t>it was a close election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not sports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Box 4"/>
          <p:cNvSpPr txBox="1"/>
          <p:nvPr/>
        </p:nvSpPr>
        <p:spPr>
          <a:xfrm>
            <a:off x="202565" y="4686300"/>
            <a:ext cx="879411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>
              <a:buFont typeface="Arial" panose="020B0604020202020204" pitchFamily="34" charset="0"/>
              <a:buNone/>
            </a:pPr>
            <a:r>
              <a:rPr lang="en-US" i="1" dirty="0"/>
              <a:t>Now find if it belongs to sports or not sports class using naïve bayes:-</a:t>
            </a:r>
          </a:p>
          <a:p>
            <a:pPr indent="0">
              <a:buFont typeface="Arial" panose="020B0604020202020204" pitchFamily="34" charset="0"/>
              <a:buNone/>
            </a:pPr>
            <a:endParaRPr lang="en-US" dirty="0"/>
          </a:p>
          <a:p>
            <a:pPr indent="0">
              <a:buFont typeface="Arial" panose="020B0604020202020204" pitchFamily="34" charset="0"/>
              <a:buNone/>
            </a:pPr>
            <a:r>
              <a:rPr lang="en-US" dirty="0"/>
              <a:t>P(a/sports)</a:t>
            </a:r>
            <a:r>
              <a:rPr lang="en-US" dirty="0" err="1"/>
              <a:t>xP</a:t>
            </a:r>
            <a:r>
              <a:rPr lang="en-US" dirty="0"/>
              <a:t>(very/sports)</a:t>
            </a:r>
            <a:r>
              <a:rPr lang="en-US" dirty="0" err="1"/>
              <a:t>xP</a:t>
            </a:r>
            <a:r>
              <a:rPr lang="en-US" dirty="0"/>
              <a:t>(close/sports)</a:t>
            </a:r>
            <a:r>
              <a:rPr lang="en-US" dirty="0" err="1"/>
              <a:t>xP</a:t>
            </a:r>
            <a:r>
              <a:rPr lang="en-US" dirty="0"/>
              <a:t>(game/sports) P(Sports) = </a:t>
            </a:r>
          </a:p>
          <a:p>
            <a:pPr indent="0">
              <a:buFont typeface="Arial" panose="020B0604020202020204" pitchFamily="34" charset="0"/>
              <a:buNone/>
            </a:pPr>
            <a:endParaRPr lang="en-US" dirty="0"/>
          </a:p>
          <a:p>
            <a:pPr indent="0">
              <a:buFont typeface="Arial" panose="020B0604020202020204" pitchFamily="34" charset="0"/>
              <a:buNone/>
            </a:pPr>
            <a:r>
              <a:rPr lang="en-US" dirty="0">
                <a:sym typeface="+mn-ea"/>
              </a:rPr>
              <a:t>P(a/not sports)</a:t>
            </a:r>
            <a:r>
              <a:rPr lang="en-US" dirty="0" err="1">
                <a:sym typeface="+mn-ea"/>
              </a:rPr>
              <a:t>xP</a:t>
            </a:r>
            <a:r>
              <a:rPr lang="en-US" dirty="0">
                <a:sym typeface="+mn-ea"/>
              </a:rPr>
              <a:t>(very/not sports)</a:t>
            </a:r>
            <a:r>
              <a:rPr lang="en-US" dirty="0" err="1">
                <a:sym typeface="+mn-ea"/>
              </a:rPr>
              <a:t>xP</a:t>
            </a:r>
            <a:r>
              <a:rPr lang="en-US" dirty="0">
                <a:sym typeface="+mn-ea"/>
              </a:rPr>
              <a:t>(close/not sports)</a:t>
            </a:r>
            <a:r>
              <a:rPr lang="en-US" dirty="0" err="1">
                <a:sym typeface="+mn-ea"/>
              </a:rPr>
              <a:t>xP</a:t>
            </a:r>
            <a:r>
              <a:rPr lang="en-US" dirty="0">
                <a:sym typeface="+mn-ea"/>
              </a:rPr>
              <a:t>(game/not sports) P(Not Sports)  = </a:t>
            </a:r>
          </a:p>
          <a:p>
            <a:pPr indent="0">
              <a:buFont typeface="Arial" panose="020B0604020202020204" pitchFamily="34" charset="0"/>
              <a:buNone/>
            </a:pPr>
            <a:endParaRPr lang="en-US" dirty="0">
              <a:sym typeface="+mn-ea"/>
            </a:endParaRPr>
          </a:p>
          <a:p>
            <a:pPr indent="0">
              <a:buFont typeface="Arial" panose="020B0604020202020204" pitchFamily="34" charset="0"/>
              <a:buNone/>
            </a:pPr>
            <a:r>
              <a:rPr lang="en-US" dirty="0"/>
              <a:t>By this, we successfully classify it as </a:t>
            </a:r>
            <a:r>
              <a:rPr lang="en-US" b="1" dirty="0"/>
              <a:t>“                                   category”</a:t>
            </a:r>
          </a:p>
        </p:txBody>
      </p:sp>
      <p:graphicFrame>
        <p:nvGraphicFramePr>
          <p:cNvPr id="3" name="Table 2"/>
          <p:cNvGraphicFramePr/>
          <p:nvPr/>
        </p:nvGraphicFramePr>
        <p:xfrm>
          <a:off x="202565" y="1285875"/>
          <a:ext cx="615315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5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14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52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WORD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P(word/sports)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P(word/Not sports)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(2+1)/(15+11)=3/26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(1+1)/(9+15)=2/24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very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(1+1)/(15+11)=2/26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sym typeface="+mn-ea"/>
                        </a:rPr>
                        <a:t>(0+1)/(9+15)=1/24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close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(0+1)/(15+11)=1/26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sym typeface="+mn-ea"/>
                        </a:rPr>
                        <a:t>(1+1)/(9+15)=2/24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game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(2+1)/(15+11)=3/26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sym typeface="+mn-ea"/>
                        </a:rPr>
                        <a:t>(0+1)/(9+15)=1/24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5281A8BF-FDBB-EDDD-C145-051AA006D4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2312" y="127979"/>
            <a:ext cx="981307" cy="162199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1E9F438-0785-2FA4-24A0-4BD029AEFACA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GenerativeAI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and Its Applications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503AC4-DF90-9002-8491-6B04E8127F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04177E2-15FD-150B-CF69-011EB12AE2A1}"/>
              </a:ext>
            </a:extLst>
          </p:cNvPr>
          <p:cNvCxnSpPr/>
          <p:nvPr/>
        </p:nvCxnSpPr>
        <p:spPr>
          <a:xfrm>
            <a:off x="-8308" y="1209922"/>
            <a:ext cx="8300052" cy="0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6">
            <a:extLst>
              <a:ext uri="{FF2B5EF4-FFF2-40B4-BE49-F238E27FC236}">
                <a16:creationId xmlns:a16="http://schemas.microsoft.com/office/drawing/2014/main" id="{8BF8DBEF-FFAB-4DDF-52F0-62C120B9296F}"/>
              </a:ext>
            </a:extLst>
          </p:cNvPr>
          <p:cNvSpPr/>
          <p:nvPr/>
        </p:nvSpPr>
        <p:spPr>
          <a:xfrm>
            <a:off x="3863861" y="3073921"/>
            <a:ext cx="7999758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IN" sz="2400" b="1" dirty="0">
                <a:solidFill>
                  <a:schemeClr val="accent1"/>
                </a:solidFill>
              </a:rPr>
              <a:t>Example 2-Text Classification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C10B6BD-3C1C-C8DB-913B-BEBBB7F0AA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2312" y="127979"/>
            <a:ext cx="981307" cy="162199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9792093-452E-63BF-890B-FA084FA58AAB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GenerativeAI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and Its Applications</a:t>
            </a:r>
          </a:p>
        </p:txBody>
      </p:sp>
    </p:spTree>
    <p:extLst>
      <p:ext uri="{BB962C8B-B14F-4D97-AF65-F5344CB8AC3E}">
        <p14:creationId xmlns:p14="http://schemas.microsoft.com/office/powerpoint/2010/main" val="232420981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-8308" y="1209922"/>
            <a:ext cx="8300052" cy="0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6"/>
          <p:cNvSpPr/>
          <p:nvPr/>
        </p:nvSpPr>
        <p:spPr>
          <a:xfrm>
            <a:off x="392835" y="713493"/>
            <a:ext cx="7999758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IN" sz="2400" b="1" dirty="0">
                <a:solidFill>
                  <a:schemeClr val="accent1"/>
                </a:solidFill>
              </a:rPr>
              <a:t>Example-Text Classification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7DC7A0E-B757-D020-C075-88C1545BD0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835" y="1493202"/>
            <a:ext cx="8944205" cy="446055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BFB3F7B-9312-B64B-D71F-A0BFCD2435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2312" y="127979"/>
            <a:ext cx="981307" cy="162199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D30E447-FD4A-E507-0A66-AA7E320D17E4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GenerativeAI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and Its Applications</a:t>
            </a:r>
          </a:p>
        </p:txBody>
      </p:sp>
    </p:spTree>
    <p:extLst>
      <p:ext uri="{BB962C8B-B14F-4D97-AF65-F5344CB8AC3E}">
        <p14:creationId xmlns:p14="http://schemas.microsoft.com/office/powerpoint/2010/main" val="382350232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-8308" y="1209922"/>
            <a:ext cx="8300052" cy="0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6"/>
          <p:cNvSpPr/>
          <p:nvPr/>
        </p:nvSpPr>
        <p:spPr>
          <a:xfrm>
            <a:off x="392835" y="713493"/>
            <a:ext cx="7999758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IN" sz="2400" b="1" dirty="0">
                <a:solidFill>
                  <a:schemeClr val="accent1"/>
                </a:solidFill>
              </a:rPr>
              <a:t>Example-Text Classification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885B75A-EAB6-FDA0-12E2-D603481E72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835" y="1635120"/>
            <a:ext cx="10011898" cy="401294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7BA41F5-C3B8-D548-BDB6-F458169731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2312" y="127979"/>
            <a:ext cx="981307" cy="162199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1F205E86-651C-18C6-A08F-71C6D233490E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GenerativeAI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and Its Applications</a:t>
            </a:r>
          </a:p>
        </p:txBody>
      </p:sp>
    </p:spTree>
    <p:extLst>
      <p:ext uri="{BB962C8B-B14F-4D97-AF65-F5344CB8AC3E}">
        <p14:creationId xmlns:p14="http://schemas.microsoft.com/office/powerpoint/2010/main" val="120583177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-8308" y="1209922"/>
            <a:ext cx="8300052" cy="0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6"/>
          <p:cNvSpPr/>
          <p:nvPr/>
        </p:nvSpPr>
        <p:spPr>
          <a:xfrm>
            <a:off x="392835" y="713493"/>
            <a:ext cx="7999758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IN" sz="2400" b="1" dirty="0">
                <a:solidFill>
                  <a:schemeClr val="accent1"/>
                </a:solidFill>
              </a:rPr>
              <a:t>Example-Text Classification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F2C4C8E-8411-7968-BF53-5572825CAE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44" y="1509395"/>
            <a:ext cx="10582275" cy="42862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088DA87-935C-FD4B-DEA5-7F04EDCD5F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2312" y="127979"/>
            <a:ext cx="981307" cy="162199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25AD9A6-69D9-6332-25B1-786B0CDF8E74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GenerativeAI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and Its Applications</a:t>
            </a:r>
          </a:p>
        </p:txBody>
      </p:sp>
    </p:spTree>
    <p:extLst>
      <p:ext uri="{BB962C8B-B14F-4D97-AF65-F5344CB8AC3E}">
        <p14:creationId xmlns:p14="http://schemas.microsoft.com/office/powerpoint/2010/main" val="224725434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-8308" y="1209922"/>
            <a:ext cx="8300052" cy="0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6"/>
          <p:cNvSpPr/>
          <p:nvPr/>
        </p:nvSpPr>
        <p:spPr>
          <a:xfrm>
            <a:off x="392835" y="713493"/>
            <a:ext cx="7999758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IN" sz="2400" b="1" dirty="0">
                <a:solidFill>
                  <a:schemeClr val="accent1"/>
                </a:solidFill>
              </a:rPr>
              <a:t>Example-Text Classification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7C1A36A-67FC-A976-AD23-A1A25C38D9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444" y="1705940"/>
            <a:ext cx="10506075" cy="45624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34CD1C4-58C2-1D1D-D316-49B0154983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2312" y="127979"/>
            <a:ext cx="981307" cy="162199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C8A24D0-5A82-18F3-AC0F-D28344FBF78F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GenerativeAI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and Its Applications</a:t>
            </a:r>
          </a:p>
        </p:txBody>
      </p:sp>
    </p:spTree>
    <p:extLst>
      <p:ext uri="{BB962C8B-B14F-4D97-AF65-F5344CB8AC3E}">
        <p14:creationId xmlns:p14="http://schemas.microsoft.com/office/powerpoint/2010/main" val="237530206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-8308" y="1209922"/>
            <a:ext cx="8300052" cy="0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6"/>
          <p:cNvSpPr/>
          <p:nvPr/>
        </p:nvSpPr>
        <p:spPr>
          <a:xfrm>
            <a:off x="392835" y="713493"/>
            <a:ext cx="7999758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IN" sz="2400" b="1" dirty="0">
                <a:solidFill>
                  <a:schemeClr val="accent1"/>
                </a:solidFill>
              </a:rPr>
              <a:t>Example-Text Classification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6EA5EB4-88C9-92C3-7A8A-D4E3689D9F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" y="1705940"/>
            <a:ext cx="5715000" cy="42862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7953A49-8794-AECC-C0B4-BDD018A223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6489" y="1705940"/>
            <a:ext cx="4800600" cy="433387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F67F355-5975-9B77-323F-492418D994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82312" y="127979"/>
            <a:ext cx="981307" cy="162199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99B8F9BE-FB21-0E77-7834-0903B5DF7AA3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GenerativeAI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and Its Applications</a:t>
            </a:r>
          </a:p>
        </p:txBody>
      </p:sp>
    </p:spTree>
    <p:extLst>
      <p:ext uri="{BB962C8B-B14F-4D97-AF65-F5344CB8AC3E}">
        <p14:creationId xmlns:p14="http://schemas.microsoft.com/office/powerpoint/2010/main" val="387557563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-8308" y="1209922"/>
            <a:ext cx="8300052" cy="0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6"/>
          <p:cNvSpPr/>
          <p:nvPr/>
        </p:nvSpPr>
        <p:spPr>
          <a:xfrm>
            <a:off x="392835" y="713493"/>
            <a:ext cx="7999758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IN" sz="2400" b="1" dirty="0">
                <a:solidFill>
                  <a:schemeClr val="accent1"/>
                </a:solidFill>
              </a:rPr>
              <a:t>Example-Text Classification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8D74657-29CB-1D97-952C-FF622937C2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242" y="1516062"/>
            <a:ext cx="5476875" cy="43338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E131922-6982-2964-9F17-1E196D50DB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6719" y="1516062"/>
            <a:ext cx="4210050" cy="501015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3C2DA34-FE30-1E21-38D5-394ECB8901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82312" y="127979"/>
            <a:ext cx="981307" cy="162199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70290C6-3440-0BD8-FCB6-063BBE552543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GenerativeAI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and Its Applications</a:t>
            </a:r>
          </a:p>
        </p:txBody>
      </p:sp>
    </p:spTree>
    <p:extLst>
      <p:ext uri="{BB962C8B-B14F-4D97-AF65-F5344CB8AC3E}">
        <p14:creationId xmlns:p14="http://schemas.microsoft.com/office/powerpoint/2010/main" val="164468083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-8308" y="1209922"/>
            <a:ext cx="8300052" cy="0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6"/>
          <p:cNvSpPr/>
          <p:nvPr/>
        </p:nvSpPr>
        <p:spPr>
          <a:xfrm>
            <a:off x="392835" y="713493"/>
            <a:ext cx="7999758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IN" sz="2400" b="1" dirty="0">
                <a:solidFill>
                  <a:schemeClr val="accent1"/>
                </a:solidFill>
              </a:rPr>
              <a:t>Example-Text Classification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337415C-C5B5-E3DB-958E-7C67BD0936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815" y="1558607"/>
            <a:ext cx="5581650" cy="43910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8F8E973-FFAD-F216-D2B2-781590AC4F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7253" y="1868853"/>
            <a:ext cx="4572000" cy="421005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789FF24-696E-3000-6726-039B6B051D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82312" y="127979"/>
            <a:ext cx="981307" cy="162199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1947DC8-15D6-0071-2C49-422A8E599498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GenerativeAI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and Its Applications</a:t>
            </a:r>
          </a:p>
        </p:txBody>
      </p:sp>
    </p:spTree>
    <p:extLst>
      <p:ext uri="{BB962C8B-B14F-4D97-AF65-F5344CB8AC3E}">
        <p14:creationId xmlns:p14="http://schemas.microsoft.com/office/powerpoint/2010/main" val="278846852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-8308" y="1209922"/>
            <a:ext cx="8300052" cy="0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6"/>
          <p:cNvSpPr/>
          <p:nvPr/>
        </p:nvSpPr>
        <p:spPr>
          <a:xfrm>
            <a:off x="392835" y="713493"/>
            <a:ext cx="7999758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IN" sz="2400" b="1" dirty="0">
                <a:solidFill>
                  <a:schemeClr val="accent1"/>
                </a:solidFill>
              </a:rPr>
              <a:t>Example-Text Classification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4056A94-8ED9-BBA5-F03B-1E139A5F9C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063" y="1635121"/>
            <a:ext cx="10376218" cy="466791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8DB38AF-4254-C802-9E5D-60267F5FA7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2312" y="127979"/>
            <a:ext cx="981307" cy="162199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8AC60C2-AFE9-E728-5CA2-57066853AC3E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GenerativeAI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and Its Applications</a:t>
            </a:r>
          </a:p>
        </p:txBody>
      </p:sp>
    </p:spTree>
    <p:extLst>
      <p:ext uri="{BB962C8B-B14F-4D97-AF65-F5344CB8AC3E}">
        <p14:creationId xmlns:p14="http://schemas.microsoft.com/office/powerpoint/2010/main" val="149156385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-8308" y="1209922"/>
            <a:ext cx="8300052" cy="0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6"/>
          <p:cNvSpPr/>
          <p:nvPr/>
        </p:nvSpPr>
        <p:spPr>
          <a:xfrm>
            <a:off x="392835" y="713493"/>
            <a:ext cx="7999758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IN" sz="2400" b="1" dirty="0">
                <a:solidFill>
                  <a:schemeClr val="accent1"/>
                </a:solidFill>
              </a:rPr>
              <a:t>Example-Text Classification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75AC90B-73BB-8C28-11F2-1E910CFC6C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0" y="2076767"/>
            <a:ext cx="9906000" cy="34766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8642942-1204-752B-2D8C-F7A10F4A6D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2312" y="127979"/>
            <a:ext cx="981307" cy="162199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1050B58-DB37-4529-7557-4774D072DA2A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GenerativeAI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and Its Applications</a:t>
            </a:r>
          </a:p>
        </p:txBody>
      </p:sp>
    </p:spTree>
    <p:extLst>
      <p:ext uri="{BB962C8B-B14F-4D97-AF65-F5344CB8AC3E}">
        <p14:creationId xmlns:p14="http://schemas.microsoft.com/office/powerpoint/2010/main" val="217863070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DB811A-2FC1-0C77-BD31-2E6C082F4E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86DF6489-D7A3-40AC-112A-543C900C9F3F}"/>
              </a:ext>
            </a:extLst>
          </p:cNvPr>
          <p:cNvGrpSpPr/>
          <p:nvPr/>
        </p:nvGrpSpPr>
        <p:grpSpPr>
          <a:xfrm>
            <a:off x="313844" y="5489699"/>
            <a:ext cx="1066895" cy="1078155"/>
            <a:chOff x="313844" y="5489699"/>
            <a:chExt cx="1066895" cy="1078155"/>
          </a:xfrm>
          <a:solidFill>
            <a:schemeClr val="accent2">
              <a:lumMod val="75000"/>
            </a:schemeClr>
          </a:solidFill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E6D25856-DCFF-7A6A-4374-83D050D31E24}"/>
                </a:ext>
              </a:extLst>
            </p:cNvPr>
            <p:cNvSpPr/>
            <p:nvPr/>
          </p:nvSpPr>
          <p:spPr>
            <a:xfrm rot="5400000">
              <a:off x="824432" y="6011547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IN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CA71B449-2826-7977-8466-4D1865C32AAE}"/>
                </a:ext>
              </a:extLst>
            </p:cNvPr>
            <p:cNvSpPr/>
            <p:nvPr/>
          </p:nvSpPr>
          <p:spPr>
            <a:xfrm rot="10800000">
              <a:off x="313844" y="5489699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IN"/>
            </a:p>
          </p:txBody>
        </p:sp>
      </p:grp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9CDF589-379E-0A5A-E263-6500CA2727EE}"/>
              </a:ext>
            </a:extLst>
          </p:cNvPr>
          <p:cNvCxnSpPr/>
          <p:nvPr/>
        </p:nvCxnSpPr>
        <p:spPr>
          <a:xfrm flipV="1">
            <a:off x="4889500" y="4384675"/>
            <a:ext cx="4581525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Group 15">
            <a:extLst>
              <a:ext uri="{FF2B5EF4-FFF2-40B4-BE49-F238E27FC236}">
                <a16:creationId xmlns:a16="http://schemas.microsoft.com/office/drawing/2014/main" id="{22A50068-80A7-0452-01BA-6FF1BFF4A0D8}"/>
              </a:ext>
            </a:extLst>
          </p:cNvPr>
          <p:cNvGrpSpPr/>
          <p:nvPr/>
        </p:nvGrpSpPr>
        <p:grpSpPr>
          <a:xfrm rot="10800000">
            <a:off x="10855702" y="266068"/>
            <a:ext cx="1066895" cy="1078155"/>
            <a:chOff x="313844" y="5489699"/>
            <a:chExt cx="1066895" cy="1078155"/>
          </a:xfrm>
          <a:solidFill>
            <a:schemeClr val="accent2">
              <a:lumMod val="75000"/>
            </a:schemeClr>
          </a:solidFill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0B4D576D-9B28-A545-1BD0-2B01A87345AC}"/>
                </a:ext>
              </a:extLst>
            </p:cNvPr>
            <p:cNvSpPr/>
            <p:nvPr/>
          </p:nvSpPr>
          <p:spPr>
            <a:xfrm rot="5400000">
              <a:off x="824432" y="6011547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IN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4D6175C2-36E1-01FD-5B60-D8FD3FB0A51F}"/>
                </a:ext>
              </a:extLst>
            </p:cNvPr>
            <p:cNvSpPr/>
            <p:nvPr/>
          </p:nvSpPr>
          <p:spPr>
            <a:xfrm rot="10800000">
              <a:off x="313844" y="5489699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IN"/>
            </a:p>
          </p:txBody>
        </p:sp>
      </p:grpSp>
      <p:pic>
        <p:nvPicPr>
          <p:cNvPr id="2056" name="object 5">
            <a:extLst>
              <a:ext uri="{FF2B5EF4-FFF2-40B4-BE49-F238E27FC236}">
                <a16:creationId xmlns:a16="http://schemas.microsoft.com/office/drawing/2014/main" id="{83248446-CE7F-0835-D6E8-CAE0E10E0F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1275" y="1787525"/>
            <a:ext cx="2374900" cy="3656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79F8ED8-595B-56B2-E722-3B6812D733E9}"/>
              </a:ext>
            </a:extLst>
          </p:cNvPr>
          <p:cNvSpPr/>
          <p:nvPr/>
        </p:nvSpPr>
        <p:spPr>
          <a:xfrm>
            <a:off x="4731026" y="3615531"/>
            <a:ext cx="614969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accent1">
                    <a:lumMod val="75000"/>
                  </a:schemeClr>
                </a:solidFill>
              </a:rPr>
              <a:t>          Thank You</a:t>
            </a:r>
            <a:endParaRPr lang="en-IN" sz="3200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65120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18208</TotalTime>
  <Words>2009</Words>
  <Application>Microsoft Office PowerPoint</Application>
  <PresentationFormat>Widescreen</PresentationFormat>
  <Paragraphs>346</Paragraphs>
  <Slides>35</Slides>
  <Notes>0</Notes>
  <HiddenSlides>2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1" baseType="lpstr">
      <vt:lpstr>Arial</vt:lpstr>
      <vt:lpstr>Calibri</vt:lpstr>
      <vt:lpstr>Calibri Light</vt:lpstr>
      <vt:lpstr>Wingdings</vt:lpstr>
      <vt:lpstr>Office Theme</vt:lpstr>
      <vt:lpstr>Equation.KSEE3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MHR</dc:creator>
  <cp:lastModifiedBy>Dr Pooja Agarwal</cp:lastModifiedBy>
  <cp:revision>324</cp:revision>
  <dcterms:created xsi:type="dcterms:W3CDTF">2020-06-03T14:19:11Z</dcterms:created>
  <dcterms:modified xsi:type="dcterms:W3CDTF">2026-01-14T02:09:22Z</dcterms:modified>
</cp:coreProperties>
</file>