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606" r:id="rId2"/>
    <p:sldId id="264" r:id="rId3"/>
    <p:sldId id="471" r:id="rId4"/>
    <p:sldId id="309" r:id="rId5"/>
    <p:sldId id="268" r:id="rId6"/>
    <p:sldId id="269" r:id="rId7"/>
    <p:sldId id="694" r:id="rId8"/>
    <p:sldId id="693" r:id="rId9"/>
    <p:sldId id="272" r:id="rId10"/>
    <p:sldId id="599" r:id="rId11"/>
    <p:sldId id="271" r:id="rId12"/>
    <p:sldId id="687" r:id="rId13"/>
    <p:sldId id="602" r:id="rId14"/>
    <p:sldId id="603" r:id="rId15"/>
    <p:sldId id="688" r:id="rId16"/>
    <p:sldId id="689" r:id="rId17"/>
    <p:sldId id="690" r:id="rId18"/>
    <p:sldId id="691" r:id="rId19"/>
    <p:sldId id="273" r:id="rId20"/>
    <p:sldId id="351" r:id="rId21"/>
    <p:sldId id="6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sit" initials="p" lastIdx="16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9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32.9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96 216,'-5'-8'240,"5"3"-9,-1 3-11,-2-3-15,3 5-7,3-5-27,-3 5-15,-4-4-11,4 4-10,0-6-9,0 6-7,0 0-9,0-4-3,0 4-11,0 0-12,1-4-9,-1 4-6,8-2-7,-8 2-7,5-4-7,-4 3-13,3-2-13,0 1-26,1 0-29,0-1-40,4 0-23,-4-1-42,6-2-44,1 0-53,-4-1-126,1 2-391,4 0 173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0:49.6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3 180,'0'0'236,"0"0"-41,0 0-46,-3-3-68,3 3-50,0 0-51,0 0-36,0 0-77,0 0-144,0 0 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9.64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11685 0 132,'0'0'236,"0"0"-25,0 0-36,0 0-68,0 0-84,0 0-171,0 0-159,0 0 70</inkml:trace>
  <inkml:trace contextRef="#ctx0" brushRef="#br0" timeOffset="805">11271 563 99,'0'0'286,"0"0"-21,0 0-30,-5 1-31,5-1-58,0 0-78,0 0-113,0 0-165,0 0-227,0 0 100</inkml:trace>
  <inkml:trace contextRef="#ctx0" brushRef="#br0" timeOffset="27117">7568 930 273,'7'-1'330,"-7"1"-31,0 0-30,2-6-49,-2 6-56,0 0-68,0-2-99,0 2-89,0 0-168,0 0-280,10-4 124</inkml:trace>
  <inkml:trace contextRef="#ctx0" brushRef="#br0" timeOffset="31881">11796 1327 195,'3'4'302,"-3"-4"-5,0 0-17,0 0-21,0 0-27,0 0-30,0 0-52,0 0-57,0 0-96,0 0-136,0 0-173,0 0-337,0 0 149</inkml:trace>
  <inkml:trace contextRef="#ctx0" brushRef="#br0" timeOffset="83060">0 224 142,'1'6'315,"2"-3"-35,-3-3-40,0 0-61,0 4-81,0-4-110,0 0-195,0 0-225,0 0 99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0-11-06T05:51:50.8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8280 8 26,'0'0'18,"0"0"-26,0 0-7,-13-8 3</inkml:trace>
  <inkml:trace contextRef="#ctx0" brushRef="#br0" timeOffset="68532">14 9520 81,'0'0'211,"0"0"-38,-9-1-37,9 1-50,-5-3-51,5 3-101,0 0-44,0 0-118,0 0 52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D3830-85D1-4120-A46B-CD9B950C3BB9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3F3AB-41E1-4FEB-829F-210A55F37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3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cience.stackexchange.com/questions/118260/chatgpts-architecture-decoder-only-or-encoder-decoder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8949e6b4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8949e6b4_2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F65F-1E02-3E46-25BB-114D9AD3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11CBB-A7D6-4F33-B644-D1BCFC21A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1D93CE-A6C7-6AF8-3970-03F2F4777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Extracts features from an input sequence.</a:t>
            </a:r>
          </a:p>
          <a:p>
            <a:r>
              <a:rPr lang="en-US" dirty="0"/>
              <a:t>Decoder: Uses the features to produce an output sequence (e.g., translation)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3054F-D023-63A8-3B05-2BDF65318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57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Extracts features from an input sequence.</a:t>
            </a:r>
          </a:p>
          <a:p>
            <a:r>
              <a:rPr lang="en-US" dirty="0"/>
              <a:t>Decoder: Uses the features to produce an output sequence (e.g., translation)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39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92C6E-C9F1-E699-6E94-202D98520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AFDCEC-9755-64A2-2F23-242DC2A59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A8A2B-7D6A-2A55-9CE7-F01D33DE4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Extracts features from an input sequence.</a:t>
            </a:r>
          </a:p>
          <a:p>
            <a:r>
              <a:rPr lang="en-US" dirty="0"/>
              <a:t>Decoder: Uses the features to produce an output sequence (e.g., translation)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69006-A82D-A2A3-919B-8552BB3DE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09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B8C92-7BEA-7054-B63E-C4E10D79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AC0E7-EE9A-8355-418C-C4D5D5F84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669C8-4B78-63B8-59D0-6CEFCC211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Extracts features from an input sequence.</a:t>
            </a:r>
          </a:p>
          <a:p>
            <a:r>
              <a:rPr lang="en-US" dirty="0"/>
              <a:t>Decoder: Uses the features to produce an output sequence (e.g., translation)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43F2B-EBA2-5D89-C2F2-E48210484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29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B5E09-9DED-85A1-05CC-8BA6E929E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2FFFE-649E-0673-E781-4CBDCBA7C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563AD-FAFB-B2EE-5F4B-25E37ECD5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Extracts features from an input sequence.</a:t>
            </a:r>
          </a:p>
          <a:p>
            <a:r>
              <a:rPr lang="en-US" dirty="0"/>
              <a:t>Decoder: Uses the features to produce an output sequence (e.g., translation)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9B555-C1C9-0BC8-573C-101328D18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75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0284-06CC-18FC-77A0-6C6F6742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F1539-3238-7D2E-3E7B-664D1FADC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578AE-A1B3-40D7-807A-092A8AB29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Extracts features from an input sequence.</a:t>
            </a:r>
          </a:p>
          <a:p>
            <a:r>
              <a:rPr lang="en-US" dirty="0"/>
              <a:t>Decoder: Uses the features to produce an output sequence (e.g., translation)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86F5C-120F-D280-923C-7A413916A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90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C772-F261-37D5-0FD3-4515ADDB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B8E6D-3FAD-981E-0D16-CF0A68B72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73149-31DC-9D80-80C7-7B678A9C2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Encoder: Extracts features from an input sequence.</a:t>
            </a:r>
          </a:p>
          <a:p>
            <a:r>
              <a:rPr lang="en-US" dirty="0"/>
              <a:t>Decoder: Uses the features to produce an output sequence (e.g., translation)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595CE-B9D4-F1FA-3338-00CEFA534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4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hlinkClick r:id="rId3"/>
              </a:rPr>
              <a:t>nlp</a:t>
            </a:r>
            <a:r>
              <a:rPr lang="en-US" dirty="0">
                <a:hlinkClick r:id="rId3"/>
              </a:rPr>
              <a:t> - ChatGPT's Architecture - Decoder Only? Or Encoder-Decoder? - Data Science Stack Exchange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B1EAF2-EE45-3B4B-95D7-D7F27FD5D9C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36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25D5B-60F4-47F1-97DF-38107AB8C824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B269-3C36-483D-9396-A3070A3EEBFC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9002D-9AE5-44B1-9B10-FB085242BC49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23B4-6842-4C37-A800-C33970BE139B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D90C-7828-4672-BF49-1995FC6B6F2E}" type="datetime1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48D36-75F5-45C8-B989-D8905602C277}" type="datetime1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3B91-B51D-491E-9A46-4F6FE91CE402}" type="datetime1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345-3E21-4EBB-8437-B3131759110C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C83C-29EA-4B4B-B64D-AFECCD6272DB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5DD2-246D-4D36-82D4-8AE838B18C1F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17C7-A10A-4DB0-A56B-2C771F1D3D41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12F57-2351-7148-802E-EF9900F33523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975B9-5BB4-9D47-ADCD-45C7DCC3991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E2C94B76-3040-94D0-5288-A9E7F8DE094D}"/>
              </a:ext>
            </a:extLst>
          </p:cNvPr>
          <p:cNvSpPr/>
          <p:nvPr userDrawn="1"/>
        </p:nvSpPr>
        <p:spPr>
          <a:xfrm>
            <a:off x="11278227" y="0"/>
            <a:ext cx="746706" cy="12125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206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20137-03FE-479B-A65D-815EC44829E7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005.14165" TargetMode="External"/><Relationship Id="rId13" Type="http://schemas.openxmlformats.org/officeDocument/2006/relationships/image" Target="../media/image10.png"/><Relationship Id="rId3" Type="http://schemas.openxmlformats.org/officeDocument/2006/relationships/hyperlink" Target="https://archive.org/details/introductiontomo00salt" TargetMode="External"/><Relationship Id="rId7" Type="http://schemas.openxmlformats.org/officeDocument/2006/relationships/hyperlink" Target="https://arxiv.org/abs/1810.04805v2" TargetMode="External"/><Relationship Id="rId12" Type="http://schemas.openxmlformats.org/officeDocument/2006/relationships/image" Target="../media/image9.png"/><Relationship Id="rId2" Type="http://schemas.openxmlformats.org/officeDocument/2006/relationships/hyperlink" Target="https://www.tandfonline.com/doi/abs/10.1080/00437956.1954.11659520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roceedings.neurips.cc/paper_files/paper/2017/file/3f5ee243547dee91fbd053c1c4a845aa-Paper.pdf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arxiv.org/abs/1301.3781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hyperlink" Target="https://web.archive.org/web/20120501152722/http:/jmlr.csail.mit.edu/papers/v3/blei03a.html" TargetMode="External"/><Relationship Id="rId9" Type="http://schemas.openxmlformats.org/officeDocument/2006/relationships/hyperlink" Target="https://arxiv.org/abs/2203.02155" TargetMode="External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.xml"/><Relationship Id="rId18" Type="http://schemas.openxmlformats.org/officeDocument/2006/relationships/hyperlink" Target="https://en.wikipedia.org/wiki/Long_short-term_memory" TargetMode="External"/><Relationship Id="rId21" Type="http://schemas.openxmlformats.org/officeDocument/2006/relationships/hyperlink" Target="https://en.wikipedia.org/wiki/GPT-2" TargetMode="Externa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1.xml"/><Relationship Id="rId16" Type="http://schemas.openxmlformats.org/officeDocument/2006/relationships/image" Target="NULL"/><Relationship Id="rId20" Type="http://schemas.openxmlformats.org/officeDocument/2006/relationships/hyperlink" Target="https://en.wikipedia.org/wiki/GPT-1" TargetMode="Externa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.xml"/><Relationship Id="rId15" Type="http://schemas.openxmlformats.org/officeDocument/2006/relationships/customXml" Target="../ink/ink4.xml"/><Relationship Id="rId10" Type="http://schemas.openxmlformats.org/officeDocument/2006/relationships/image" Target="NULL"/><Relationship Id="rId19" Type="http://schemas.openxmlformats.org/officeDocument/2006/relationships/hyperlink" Target="https://en.wikipedia.org/wiki/Attention_Is_All_You_Need" TargetMode="External"/><Relationship Id="rId14" Type="http://schemas.openxmlformats.org/officeDocument/2006/relationships/image" Target="NULL"/><Relationship Id="rId22" Type="http://schemas.openxmlformats.org/officeDocument/2006/relationships/hyperlink" Target="https://en.wikipedia.org/wiki/GPT-3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hyperlink" Target="https://www.manning.com/books/build-a-large-language-model-from-scratch" TargetMode="Externa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5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6.xml"/><Relationship Id="rId15" Type="http://schemas.openxmlformats.org/officeDocument/2006/relationships/customXml" Target="../ink/ink8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.xml"/><Relationship Id="rId18" Type="http://schemas.openxmlformats.org/officeDocument/2006/relationships/hyperlink" Target="https://www.manning.com/books/build-a-large-language-model-from-scratch" TargetMode="External"/><Relationship Id="rId12" Type="http://schemas.openxmlformats.org/officeDocument/2006/relationships/image" Target="NULL"/><Relationship Id="rId17" Type="http://schemas.openxmlformats.org/officeDocument/2006/relationships/image" Target="../media/image2.png"/><Relationship Id="rId2" Type="http://schemas.openxmlformats.org/officeDocument/2006/relationships/customXml" Target="../ink/ink9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0.xml"/><Relationship Id="rId15" Type="http://schemas.openxmlformats.org/officeDocument/2006/relationships/customXml" Target="../ink/ink12.xml"/><Relationship Id="rId10" Type="http://schemas.openxmlformats.org/officeDocument/2006/relationships/image" Target="NULL"/><Relationship Id="rId1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84D8-88AA-506C-A995-4816CF4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3">
            <a:extLst>
              <a:ext uri="{FF2B5EF4-FFF2-40B4-BE49-F238E27FC236}">
                <a16:creationId xmlns:a16="http://schemas.microsoft.com/office/drawing/2014/main" id="{93EDC3FF-C190-C8EA-7DEC-7D397F52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384675"/>
            <a:ext cx="749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Dr. Pooja Agarwal</a:t>
            </a:r>
          </a:p>
        </p:txBody>
      </p:sp>
      <p:sp>
        <p:nvSpPr>
          <p:cNvPr id="2052" name="Rectangle 14">
            <a:extLst>
              <a:ext uri="{FF2B5EF4-FFF2-40B4-BE49-F238E27FC236}">
                <a16:creationId xmlns:a16="http://schemas.microsoft.com/office/drawing/2014/main" id="{E126F1CE-3265-D2D3-A8ED-FB29F4A9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846638"/>
            <a:ext cx="7496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Dept. of CSE, PES University, Bangalore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A5893B-36D7-B39F-6574-0BEF4B614DA0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57EE55-932E-282C-F262-08B6A35DE8A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D1F7A9-6D4B-6583-A540-C61464640517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D2D032-4BDF-904C-4128-8AC3A456DDE2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FCCEBE-CF5C-2002-9968-7EA6E810D44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0BEC23-062A-FD79-274A-8A4CCCDFE8C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E9A012-124A-AB39-5001-C490129B421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3E2B4B40-4943-37DE-2983-E6D43431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05DE2F-FA5D-ECAD-E530-C3EA137ADC55}"/>
              </a:ext>
            </a:extLst>
          </p:cNvPr>
          <p:cNvSpPr/>
          <p:nvPr/>
        </p:nvSpPr>
        <p:spPr>
          <a:xfrm>
            <a:off x="6096000" y="1730266"/>
            <a:ext cx="2181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</a:rPr>
              <a:t>Unit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971A3-32DB-BD1A-6B28-A37F3C620372}"/>
              </a:ext>
            </a:extLst>
          </p:cNvPr>
          <p:cNvSpPr/>
          <p:nvPr/>
        </p:nvSpPr>
        <p:spPr>
          <a:xfrm>
            <a:off x="4815476" y="3568918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LLM basics and Evolution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AC26A-E62F-8101-6EC5-6B9CB1FE6B7D}"/>
              </a:ext>
            </a:extLst>
          </p:cNvPr>
          <p:cNvSpPr/>
          <p:nvPr/>
        </p:nvSpPr>
        <p:spPr>
          <a:xfrm>
            <a:off x="2567536" y="503881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67F86042-2C35-03EC-2220-3972DA3DDCCA}"/>
              </a:ext>
            </a:extLst>
          </p:cNvPr>
          <p:cNvSpPr/>
          <p:nvPr/>
        </p:nvSpPr>
        <p:spPr>
          <a:xfrm>
            <a:off x="6316143" y="2640500"/>
            <a:ext cx="26120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3600"/>
            </a:pPr>
            <a:r>
              <a:rPr lang="en-GB" sz="2667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(UE23CS342BA4)</a:t>
            </a:r>
            <a:endParaRPr sz="2667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1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693900" y="1887267"/>
            <a:ext cx="7792000" cy="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3733" b="1" dirty="0">
                <a:latin typeface="Calibri"/>
                <a:ea typeface="Calibri"/>
                <a:cs typeface="Calibri"/>
                <a:sym typeface="Calibri"/>
              </a:rPr>
              <a:t>Generative AI and its Applications</a:t>
            </a:r>
            <a:endParaRPr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693900" y="2349167"/>
            <a:ext cx="26120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1"/>
          <p:cNvCxnSpPr/>
          <p:nvPr/>
        </p:nvCxnSpPr>
        <p:spPr>
          <a:xfrm rot="10800000" flipH="1">
            <a:off x="71481" y="2555167"/>
            <a:ext cx="8214800" cy="6120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21"/>
          <p:cNvSpPr txBox="1"/>
          <p:nvPr/>
        </p:nvSpPr>
        <p:spPr>
          <a:xfrm>
            <a:off x="693900" y="3247067"/>
            <a:ext cx="9207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GB" sz="3200" b="1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LLM basics and Evolution</a:t>
            </a:r>
            <a:endParaRPr sz="240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F34F2EA2-3C32-6FD6-2A02-BBEAC83D40E8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Acknowledgement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03435-562F-6B36-6764-2B23A3388569}"/>
              </a:ext>
            </a:extLst>
          </p:cNvPr>
          <p:cNvSpPr txBox="1"/>
          <p:nvPr/>
        </p:nvSpPr>
        <p:spPr>
          <a:xfrm>
            <a:off x="618877" y="2214438"/>
            <a:ext cx="9580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/>
              <a:t>The slides are prepared from  various resources from the Universities from abroad and India. Also, some material is taken from reliable resources from internet throughout this course.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2AAB39-893C-D3AB-EF7A-F1898677FE1E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C962B1-35E9-AC4C-9153-62F4C996FF54}"/>
              </a:ext>
            </a:extLst>
          </p:cNvPr>
          <p:cNvSpPr txBox="1"/>
          <p:nvPr/>
        </p:nvSpPr>
        <p:spPr>
          <a:xfrm>
            <a:off x="872358" y="638627"/>
            <a:ext cx="111514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200" dirty="0"/>
          </a:p>
          <a:p>
            <a:pPr algn="just"/>
            <a:endParaRPr lang="en-US" sz="2200" dirty="0"/>
          </a:p>
          <a:p>
            <a:pPr algn="just"/>
            <a:endParaRPr lang="en-US" sz="22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DEF98-31BD-1743-A1B8-09C52BF906C5}"/>
              </a:ext>
            </a:extLst>
          </p:cNvPr>
          <p:cNvSpPr txBox="1"/>
          <p:nvPr/>
        </p:nvSpPr>
        <p:spPr>
          <a:xfrm>
            <a:off x="393111" y="1363569"/>
            <a:ext cx="109622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sz="2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 Language Models (LLMs) are composed of several key building blocks that enable them to efficiently process and understand natural language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8B9EBE-5E48-F542-8680-0266FFC42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009" y="2186071"/>
            <a:ext cx="7415982" cy="48055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C286C1-B06C-D6BB-2054-BF84C5A16FAF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Key Building Blocks of LLMs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AABF83-518D-69CC-D377-0169B00327AD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0A08161-5155-2B73-69D6-81D17C5E1A2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07962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B47-CBB7-BA4F-9497-7AED164F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9521" y="2885076"/>
            <a:ext cx="11004698" cy="760962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0070C0"/>
                </a:solidFill>
              </a:rPr>
            </a:br>
            <a:br>
              <a:rPr lang="en-US" dirty="0">
                <a:solidFill>
                  <a:srgbClr val="0070C0"/>
                </a:solidFill>
              </a:rPr>
            </a:b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DC3328-0B62-F940-B282-CCC0E6D6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552" y="1615527"/>
            <a:ext cx="5527248" cy="49324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3A3434-CF08-3D8C-9DB6-B1218AC73EC9}"/>
              </a:ext>
            </a:extLst>
          </p:cNvPr>
          <p:cNvSpPr/>
          <p:nvPr/>
        </p:nvSpPr>
        <p:spPr>
          <a:xfrm>
            <a:off x="697028" y="691688"/>
            <a:ext cx="73324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Foundations of ML(</a:t>
            </a:r>
            <a:r>
              <a:rPr lang="en-US" sz="2400" b="1" dirty="0">
                <a:solidFill>
                  <a:srgbClr val="FF0000"/>
                </a:solidFill>
              </a:rPr>
              <a:t>Artificial Intelligence Paradigm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  <a:br>
              <a:rPr lang="en-US" sz="2400" b="1" dirty="0">
                <a:solidFill>
                  <a:srgbClr val="0070C0"/>
                </a:solidFill>
              </a:rPr>
            </a:br>
            <a:endParaRPr lang="en-IN" sz="2400" b="1" dirty="0">
              <a:solidFill>
                <a:schemeClr val="accent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7730F0-01E6-7E69-F9DE-F59985483200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9E1F0E5-A4BB-DFBE-A596-EEDE9E74C38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69622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D797A6-3DD9-F77B-F598-8AEF57577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2" y="2200049"/>
            <a:ext cx="11288700" cy="34294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BF42FA-E48B-004C-8641-0FC2F7E87CB2}"/>
              </a:ext>
            </a:extLst>
          </p:cNvPr>
          <p:cNvSpPr txBox="1"/>
          <p:nvPr/>
        </p:nvSpPr>
        <p:spPr>
          <a:xfrm>
            <a:off x="699502" y="1340318"/>
            <a:ext cx="1016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Artificial Intelligence (AI)</a:t>
            </a:r>
            <a:r>
              <a:rPr lang="en-US" dirty="0"/>
              <a:t> is the umbrella field whose goal is to build machines that exhibit intelligent behavior.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067C5-A2BE-1745-49E7-377096817FA8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Brief History of NLP (</a:t>
            </a:r>
            <a:r>
              <a:rPr lang="en-IN" sz="2400" dirty="0"/>
              <a:t>WHEN and WHAT)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8111C9-F995-7E4E-3945-100CEC0A4D12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3EC99DA-D9DC-5C00-1AE9-4A70F699E64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3422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6D9E-7529-6BAC-52FA-1DF5A4C8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0BF4B5-6E53-52E9-12A0-1A53AD0423CF}"/>
              </a:ext>
            </a:extLst>
          </p:cNvPr>
          <p:cNvSpPr/>
          <p:nvPr/>
        </p:nvSpPr>
        <p:spPr>
          <a:xfrm>
            <a:off x="746479" y="1181572"/>
            <a:ext cx="1100469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i="1" dirty="0"/>
              <a:t>Human tech-era analogy inspired by </a:t>
            </a:r>
            <a:r>
              <a:rPr lang="en-IN" sz="2400" i="1" dirty="0" err="1"/>
              <a:t>Rongyao</a:t>
            </a:r>
            <a:r>
              <a:rPr lang="en-IN" sz="2400" i="1" dirty="0"/>
              <a:t> Huang:</a:t>
            </a:r>
            <a:endParaRPr lang="en-IN" sz="24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400" b="1" dirty="0"/>
              <a:t>Prehistory</a:t>
            </a:r>
            <a:r>
              <a:rPr lang="en-IN" sz="2400" dirty="0"/>
              <a:t>: NN-free NLP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Bag of words (</a:t>
            </a:r>
            <a:r>
              <a:rPr lang="en-IN" u="sng" dirty="0">
                <a:hlinkClick r:id="rId2"/>
              </a:rPr>
              <a:t>Harris, 1954</a:t>
            </a:r>
            <a:r>
              <a:rPr lang="en-IN" dirty="0"/>
              <a:t>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TF-IDF (</a:t>
            </a:r>
            <a:r>
              <a:rPr lang="en-IN" u="sng" dirty="0">
                <a:hlinkClick r:id="rId3"/>
              </a:rPr>
              <a:t>Salton, 1983</a:t>
            </a:r>
            <a:r>
              <a:rPr lang="en-IN" dirty="0"/>
              <a:t>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Topic models, e.g., LDA (</a:t>
            </a:r>
            <a:r>
              <a:rPr lang="en-IN" u="sng" dirty="0">
                <a:hlinkClick r:id="rId4"/>
              </a:rPr>
              <a:t>Blei, Ng &amp; Jordan, 2003</a:t>
            </a:r>
            <a:r>
              <a:rPr lang="en-IN" dirty="0"/>
              <a:t>) </a:t>
            </a:r>
            <a:r>
              <a:rPr lang="en-US" b="1" dirty="0"/>
              <a:t>Latent Dirichlet Allocation:</a:t>
            </a:r>
            <a:r>
              <a:rPr lang="en-US" dirty="0"/>
              <a:t> A generative statistical model used in natural language processing and topic modeling to classify text into topics.</a:t>
            </a:r>
            <a:endParaRPr lang="en-IN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400" b="1" dirty="0"/>
              <a:t>Bronze Age</a:t>
            </a:r>
            <a:r>
              <a:rPr lang="en-IN" sz="2400" dirty="0"/>
              <a:t>: language embeddings &amp; deep learning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word2vec (</a:t>
            </a:r>
            <a:r>
              <a:rPr lang="en-IN" u="sng" dirty="0">
                <a:hlinkClick r:id="rId5"/>
              </a:rPr>
              <a:t>Mikolov et al., 2013</a:t>
            </a:r>
            <a:r>
              <a:rPr lang="en-IN" dirty="0"/>
              <a:t>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DNNs (e.g., RNNs, LSTMs, GRUs) map embedding → outcome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400" b="1" dirty="0"/>
              <a:t>Iron Age</a:t>
            </a:r>
            <a:r>
              <a:rPr lang="en-IN" sz="2400" dirty="0"/>
              <a:t>: LLMs with attention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Transformer (</a:t>
            </a:r>
            <a:r>
              <a:rPr lang="en-IN" u="sng" dirty="0">
                <a:hlinkClick r:id="rId6"/>
              </a:rPr>
              <a:t>Vaswani et al., 2017</a:t>
            </a:r>
            <a:r>
              <a:rPr lang="en-IN" dirty="0"/>
              <a:t>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BERT (</a:t>
            </a:r>
            <a:r>
              <a:rPr lang="en-IN" u="sng" dirty="0">
                <a:hlinkClick r:id="rId7"/>
              </a:rPr>
              <a:t>Devlin et al., 2018</a:t>
            </a:r>
            <a:r>
              <a:rPr lang="en-IN" dirty="0"/>
              <a:t>), T5 (</a:t>
            </a:r>
            <a:r>
              <a:rPr lang="en-IN" u="sng" dirty="0">
                <a:hlinkClick r:id="rId7"/>
              </a:rPr>
              <a:t>Raffel et al., 2020</a:t>
            </a:r>
            <a:r>
              <a:rPr lang="en-IN" dirty="0"/>
              <a:t>), GPT-3 (</a:t>
            </a:r>
            <a:r>
              <a:rPr lang="en-IN" u="sng" dirty="0">
                <a:hlinkClick r:id="rId8"/>
              </a:rPr>
              <a:t>Brown et al., 2020</a:t>
            </a:r>
            <a:r>
              <a:rPr lang="en-IN" dirty="0"/>
              <a:t>)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IN" sz="2400" b="1" dirty="0"/>
              <a:t>Industrial Revolution</a:t>
            </a:r>
            <a:r>
              <a:rPr lang="en-IN" sz="2400" dirty="0"/>
              <a:t>: RLHF</a:t>
            </a:r>
            <a:endParaRPr lang="en-IN" sz="2400" b="1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InstructGPT</a:t>
            </a:r>
            <a:r>
              <a:rPr lang="en-IN" dirty="0"/>
              <a:t> (</a:t>
            </a:r>
            <a:r>
              <a:rPr lang="en-IN" u="sng" dirty="0">
                <a:hlinkClick r:id="rId9"/>
              </a:rPr>
              <a:t>Ouyang et al., Mar 2022</a:t>
            </a:r>
            <a:r>
              <a:rPr lang="en-IN" dirty="0"/>
              <a:t>), </a:t>
            </a:r>
            <a:r>
              <a:rPr lang="en-IN" dirty="0" err="1"/>
              <a:t>ChatGPT</a:t>
            </a:r>
            <a:r>
              <a:rPr lang="en-IN" dirty="0"/>
              <a:t> (</a:t>
            </a:r>
            <a:r>
              <a:rPr lang="en-IN" dirty="0" err="1"/>
              <a:t>OpenAI</a:t>
            </a:r>
            <a:r>
              <a:rPr lang="en-IN" dirty="0"/>
              <a:t>, Nov 2022)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GPT-4 (</a:t>
            </a:r>
            <a:r>
              <a:rPr lang="en-IN" dirty="0" err="1"/>
              <a:t>OpenAI</a:t>
            </a:r>
            <a:r>
              <a:rPr lang="en-IN" dirty="0"/>
              <a:t>, Mar 2023), Anthropic, Cohere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67A240-7CEC-93CE-D54E-E99C0939EC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6428" y="1572233"/>
            <a:ext cx="1600423" cy="3810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A6E877-EBE3-EAE5-6EFF-A03768F542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9402" y="1762759"/>
            <a:ext cx="3056043" cy="655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BEACA6-C7D0-B42E-0B85-1FE569289E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9930" y="3100308"/>
            <a:ext cx="2954978" cy="5399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C132F4-203B-99D6-58F1-6BD2462BE2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9930" y="3689893"/>
            <a:ext cx="2525702" cy="6013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FE1FB2-3CC8-7720-1F9D-DF24090DDE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22781" y="4756450"/>
            <a:ext cx="2285295" cy="9199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49B434-3E66-076A-C724-ACE87F9757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2781" y="5748234"/>
            <a:ext cx="2641757" cy="897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F8621C-CEA5-CC53-0290-561568A52E65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Brief History of NLP (</a:t>
            </a:r>
            <a:r>
              <a:rPr lang="en-IN" sz="2400" dirty="0"/>
              <a:t>WHY and HOW)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ABAFED-85E4-FF74-188F-977489C25EB9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D7B5088-831A-3C03-A430-6326A0B87BC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27074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7819-1087-47F2-6412-8C7584238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B8C138-C77C-AF6F-B1FA-E7EE67E0187B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Large Language Models (LLMs)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A55D4AF-DAE3-F072-097B-EB650CDD1579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841300-0178-F1AF-3C8F-52CE9DACB82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9DF0B-2E1C-964A-54B2-A60DC2FDC036}"/>
              </a:ext>
            </a:extLst>
          </p:cNvPr>
          <p:cNvSpPr txBox="1"/>
          <p:nvPr/>
        </p:nvSpPr>
        <p:spPr>
          <a:xfrm>
            <a:off x="1259840" y="1946543"/>
            <a:ext cx="982472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750"/>
              </a:spcAft>
              <a:buNone/>
            </a:pPr>
            <a:r>
              <a:rPr lang="en-US" sz="2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</a:t>
            </a:r>
            <a:r>
              <a:rPr lang="en-US" sz="2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</a:t>
            </a:r>
            <a:r>
              <a:rPr lang="en-US" sz="2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on vast amount of textual data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understand human-like language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rtl="0" fontAlgn="base">
              <a:spcAft>
                <a:spcPts val="750"/>
              </a:spcAft>
              <a:buNone/>
            </a:pPr>
            <a:endParaRPr lang="en-US" sz="2200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Aft>
                <a:spcPts val="750"/>
              </a:spcAft>
              <a:buNone/>
            </a:pPr>
            <a:r>
              <a:rPr lang="en-US" sz="2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can perform a wide range of natural language processing tasks from text generation to sentiment analysis and summarization.</a:t>
            </a:r>
          </a:p>
        </p:txBody>
      </p:sp>
    </p:spTree>
    <p:extLst>
      <p:ext uri="{BB962C8B-B14F-4D97-AF65-F5344CB8AC3E}">
        <p14:creationId xmlns:p14="http://schemas.microsoft.com/office/powerpoint/2010/main" val="256628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237A16-DCF6-B843-B481-4FBC20CF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01" y="1333526"/>
            <a:ext cx="5690924" cy="51911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C2027D-737F-6441-8AF4-93F8D6481D24}"/>
              </a:ext>
            </a:extLst>
          </p:cNvPr>
          <p:cNvSpPr txBox="1"/>
          <p:nvPr/>
        </p:nvSpPr>
        <p:spPr>
          <a:xfrm>
            <a:off x="6526924" y="892981"/>
            <a:ext cx="5591503" cy="599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Rule-Based Language Models (1950-1960s)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Statistical Language Processing (1990s- early 2000s)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N-gram Models (1990s- early 2000s)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Neural Networks and the Rise of LLMs (The Late 2000s - onward)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Sequence-to-Sequence Models (2014 - onward)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BERT and Pre-trained Models (2018 - onward)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GPT Series (2019 - onward): Scaling up and Generative Power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GPT-3: The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Megamodel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(2020 - onward)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GPT-4 (2023): Multimodal Large Language Model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6B4B2-B4DA-8A43-96D9-540D8DE4EF6E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Evolution of LLMs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6206F1-F79B-ED93-1D7C-F9EA3FC2135B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3E2530B-8246-65DD-D64B-B12493A25F3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56207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6B04F-D342-A524-1806-8294F308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C5975FD-516B-1592-4C5F-13CE6F0D2363}"/>
              </a:ext>
            </a:extLst>
          </p:cNvPr>
          <p:cNvSpPr/>
          <p:nvPr/>
        </p:nvSpPr>
        <p:spPr>
          <a:xfrm>
            <a:off x="633929" y="730686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LLM Basic and Evolution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62F6C6-A46E-33AC-EE85-96643D89DCC0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8D995860-4E8A-8BA5-A354-11A0375662F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7230E918-47B3-5282-CEE7-3F5BCA9015D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298945FD-7084-8EF8-DACC-38489B0C3FC1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2034CDFB-0108-93E9-6F0B-E01C7DE6F20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E163E140-FB3B-D9A2-B217-38EDD614D024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069668" y="-64491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2B3841-5291-1273-6E1B-6B0446275DA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68" name="Google Shape;168;p24"/>
          <p:cNvSpPr txBox="1"/>
          <p:nvPr/>
        </p:nvSpPr>
        <p:spPr>
          <a:xfrm>
            <a:off x="46400" y="1148433"/>
            <a:ext cx="12145600" cy="5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timeline which led to LLMs as we see them today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Clr>
                <a:schemeClr val="dk1"/>
              </a:buClr>
              <a:buSzPts val="1100"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1997: Introduction of Long Short-Term Memory (LSTM) networks (</a:t>
            </a:r>
            <a:r>
              <a:rPr lang="en-GB" sz="20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/>
              </a:rPr>
              <a:t>Learn More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2010: Stanford's </a:t>
            </a:r>
            <a:r>
              <a:rPr lang="en-GB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CoreNLP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suite for sentiment analysis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2017: Transformer architecture introduction (Popular paper - </a:t>
            </a:r>
            <a:r>
              <a:rPr lang="en-GB" sz="20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9"/>
              </a:rPr>
              <a:t>Attention Is All You Need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2018: GPT-1 (117M parameters) (</a:t>
            </a:r>
            <a:r>
              <a:rPr lang="en-GB" sz="20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/>
              </a:rPr>
              <a:t>Learn More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2019: GPT-2 (1.5B parameters) (</a:t>
            </a:r>
            <a:r>
              <a:rPr lang="en-GB" sz="20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1"/>
              </a:rPr>
              <a:t>Learn More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2020: GPT-3 (175B parameters) (</a:t>
            </a:r>
            <a:r>
              <a:rPr lang="en-GB" sz="20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2"/>
              </a:rPr>
              <a:t>Learn More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2022: ChatGPT released to general public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2023 - Early 2024: GPT-4o introduction (Multimodal </a:t>
            </a:r>
            <a:r>
              <a:rPr lang="en-GB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era started)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1100"/>
            </a:pP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 2024: GPT o1 and o3 announced and open source </a:t>
            </a:r>
            <a:r>
              <a:rPr lang="en-GB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</a:t>
            </a:r>
            <a:r>
              <a:rPr lang="en-GB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competing with SOTA models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800"/>
              </a:spcBef>
            </a:pPr>
            <a:endParaRPr sz="20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735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A1B774-4F7F-E30E-17FB-BFA62F4B4724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Introduction to LLMs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6FE08B-0D88-A040-E9A9-14941FF754DA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BF5C73E-5188-CA12-AA2C-2ECDCDB89C4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0C690D-76CC-EDF3-9329-C4473289F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571" y="1473278"/>
            <a:ext cx="8154538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33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D474-B914-C00C-C2C8-B2E030B8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87B700-0C2A-5127-CDCF-497AE4A4A9D9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Transformers in LLM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8FEBC2-A6C4-265B-E3FF-B15FCAFD2A6A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8C3E43A-1703-FBB3-8A0D-D3D3AB7795B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F184D-BCD0-EC4C-52BF-EC8B7BA33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70" y="1786686"/>
            <a:ext cx="8097380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6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3089-4D2E-1684-DAF8-73740108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A129103-3C88-FBFE-A541-79DF63A8E6DF}"/>
              </a:ext>
            </a:extLst>
          </p:cNvPr>
          <p:cNvSpPr/>
          <p:nvPr/>
        </p:nvSpPr>
        <p:spPr>
          <a:xfrm>
            <a:off x="633929" y="730686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Two Stage Process of Building an LLM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0BB71B-9C9A-2C66-AE3D-8D1288E58959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2DC988C0-2D95-59E6-31C3-7C7DF5D21D76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733C85EF-56FD-7A30-BBF8-F0501B6C62DB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78B48F43-A9A5-C53A-1975-F2F9B3EC9E6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CF390AB6-F397-7ACD-3BED-4D5446AE6D3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8EDC87D3-0A2A-5CAE-ADE1-3D631627D46B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069668" y="-64491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204782-B6C1-5EED-C986-CC4A36B258C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97" name="Google Shape;197;p27"/>
          <p:cNvSpPr txBox="1"/>
          <p:nvPr/>
        </p:nvSpPr>
        <p:spPr>
          <a:xfrm>
            <a:off x="46400" y="1148433"/>
            <a:ext cx="12145600" cy="5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</a:pPr>
            <a:r>
              <a:rPr lang="en-GB" sz="1467" dirty="0">
                <a:solidFill>
                  <a:schemeClr val="dk1"/>
                </a:solidFill>
              </a:rPr>
              <a:t>The process of creating an LLM involves two main stages: </a:t>
            </a:r>
            <a:r>
              <a:rPr lang="en-GB" sz="1467" b="1" dirty="0">
                <a:solidFill>
                  <a:schemeClr val="dk1"/>
                </a:solidFill>
              </a:rPr>
              <a:t>pretraining</a:t>
            </a:r>
            <a:r>
              <a:rPr lang="en-GB" sz="1467" dirty="0">
                <a:solidFill>
                  <a:schemeClr val="dk1"/>
                </a:solidFill>
              </a:rPr>
              <a:t> and </a:t>
            </a:r>
            <a:r>
              <a:rPr lang="en-GB" sz="1467" b="1" dirty="0">
                <a:solidFill>
                  <a:schemeClr val="dk1"/>
                </a:solidFill>
              </a:rPr>
              <a:t>finetuning</a:t>
            </a:r>
            <a:r>
              <a:rPr lang="en-GB" sz="1467" dirty="0">
                <a:solidFill>
                  <a:schemeClr val="dk1"/>
                </a:solidFill>
              </a:rPr>
              <a:t>.</a:t>
            </a:r>
            <a:endParaRPr sz="1467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</a:pPr>
            <a:r>
              <a:rPr lang="en-GB" sz="1467" b="1" dirty="0">
                <a:solidFill>
                  <a:schemeClr val="dk1"/>
                </a:solidFill>
              </a:rPr>
              <a:t>1. Pretraining</a:t>
            </a:r>
            <a:endParaRPr sz="1467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●"/>
            </a:pPr>
            <a:r>
              <a:rPr lang="en-GB" sz="1467" b="1" dirty="0">
                <a:solidFill>
                  <a:schemeClr val="dk1"/>
                </a:solidFill>
              </a:rPr>
              <a:t>Definition:</a:t>
            </a:r>
            <a:endParaRPr sz="1467" b="1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Pretraining is the initial phase where the model is trained on a large, diverse corpus of text data (referred to as "raw text").</a:t>
            </a:r>
            <a:endParaRPr sz="1467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The goal is to develop a broad understanding of language by predicting the next word in a sequence (next-word prediction).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b="1" dirty="0">
                <a:solidFill>
                  <a:schemeClr val="dk1"/>
                </a:solidFill>
              </a:rPr>
              <a:t>Dataset:</a:t>
            </a:r>
            <a:endParaRPr sz="1467" b="1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The dataset used for pretraining is typically massive and diverse, containing billions of tokens from books, articles, websites, and other text sources.</a:t>
            </a:r>
            <a:endParaRPr sz="1467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Filtering may be applied to remove irrelevant or low-quality data (e.g., formatting characters, unknown languages).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b="1" dirty="0">
                <a:solidFill>
                  <a:schemeClr val="dk1"/>
                </a:solidFill>
              </a:rPr>
              <a:t>Output:</a:t>
            </a:r>
            <a:endParaRPr sz="1467" b="1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The result of pretraining is a </a:t>
            </a:r>
            <a:r>
              <a:rPr lang="en-GB" sz="1467" b="1" dirty="0">
                <a:solidFill>
                  <a:schemeClr val="dk1"/>
                </a:solidFill>
              </a:rPr>
              <a:t>base model</a:t>
            </a:r>
            <a:r>
              <a:rPr lang="en-GB" sz="1467" dirty="0">
                <a:solidFill>
                  <a:schemeClr val="dk1"/>
                </a:solidFill>
              </a:rPr>
              <a:t> or </a:t>
            </a:r>
            <a:r>
              <a:rPr lang="en-GB" sz="1467" b="1" dirty="0">
                <a:solidFill>
                  <a:schemeClr val="dk1"/>
                </a:solidFill>
              </a:rPr>
              <a:t>foundation model</a:t>
            </a:r>
            <a:r>
              <a:rPr lang="en-GB" sz="1467" dirty="0">
                <a:solidFill>
                  <a:schemeClr val="dk1"/>
                </a:solidFill>
              </a:rPr>
              <a:t> that has a general understanding of language.</a:t>
            </a:r>
            <a:endParaRPr sz="1467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Example: GPT-3, which can perform text completion and has limited few-shot learning capabilities.</a:t>
            </a:r>
            <a:endParaRPr sz="1467" dirty="0">
              <a:solidFill>
                <a:schemeClr val="dk1"/>
              </a:solidFill>
            </a:endParaRPr>
          </a:p>
          <a:p>
            <a:pPr>
              <a:spcBef>
                <a:spcPts val="1600"/>
              </a:spcBef>
            </a:pP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201" name="Google Shape;201;p27"/>
          <p:cNvSpPr txBox="1"/>
          <p:nvPr/>
        </p:nvSpPr>
        <p:spPr>
          <a:xfrm>
            <a:off x="56033" y="6163233"/>
            <a:ext cx="36888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1067">
                <a:solidFill>
                  <a:schemeClr val="dk2"/>
                </a:solidFill>
              </a:rPr>
              <a:t>References:</a:t>
            </a:r>
            <a:endParaRPr sz="1067">
              <a:solidFill>
                <a:schemeClr val="dk2"/>
              </a:solidFill>
            </a:endParaRPr>
          </a:p>
          <a:p>
            <a:r>
              <a:rPr lang="en-GB" sz="1067" u="sng">
                <a:solidFill>
                  <a:schemeClr val="hlink"/>
                </a:solidFill>
                <a:hlinkClick r:id="rId18"/>
              </a:rPr>
              <a:t>Book: Build a Large Language Model (From Scratch) </a:t>
            </a:r>
            <a:endParaRPr sz="1067">
              <a:solidFill>
                <a:schemeClr val="dk2"/>
              </a:solidFill>
            </a:endParaRPr>
          </a:p>
          <a:p>
            <a:endParaRPr sz="1067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049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4C2D-906D-EABC-1435-2499815E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5DE5866-659D-0EEF-77E0-CDEE7ACB5CE2}"/>
              </a:ext>
            </a:extLst>
          </p:cNvPr>
          <p:cNvSpPr/>
          <p:nvPr/>
        </p:nvSpPr>
        <p:spPr>
          <a:xfrm>
            <a:off x="633929" y="730686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Two Stage Process of Building an LLM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CFE1D8-CE8E-C321-EE8E-0DAF51CA156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8370" name="Ink 2">
                <a:extLst>
                  <a:ext uri="{FF2B5EF4-FFF2-40B4-BE49-F238E27FC236}">
                    <a16:creationId xmlns:a16="http://schemas.microsoft.com/office/drawing/2014/main" id="{2EBF0B0F-0A56-41CA-1D85-34DC4486A043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06738" y="781050"/>
              <a:ext cx="36512" cy="34925"/>
            </p14:xfrm>
          </p:contentPart>
        </mc:Choice>
        <mc:Fallback xmlns="">
          <p:pic>
            <p:nvPicPr>
              <p:cNvPr id="583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99869" y="777810"/>
                <a:ext cx="46634" cy="41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371" name="Ink 3">
                <a:extLst>
                  <a:ext uri="{FF2B5EF4-FFF2-40B4-BE49-F238E27FC236}">
                    <a16:creationId xmlns:a16="http://schemas.microsoft.com/office/drawing/2014/main" id="{57011DD0-42FD-1845-C293-9B4C15AA604F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00800" y="369888"/>
              <a:ext cx="1588" cy="1587"/>
            </p14:xfrm>
          </p:contentPart>
        </mc:Choice>
        <mc:Fallback xmlns="">
          <p:pic>
            <p:nvPicPr>
              <p:cNvPr id="5837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6433" y="365524"/>
                <a:ext cx="9925" cy="99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372" name="Ink 4">
                <a:extLst>
                  <a:ext uri="{FF2B5EF4-FFF2-40B4-BE49-F238E27FC236}">
                    <a16:creationId xmlns:a16="http://schemas.microsoft.com/office/drawing/2014/main" id="{E5DB41F6-16F2-7BA6-1BE2-FC1945B890A2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21125" y="1093788"/>
              <a:ext cx="4248150" cy="479425"/>
            </p14:xfrm>
          </p:contentPart>
        </mc:Choice>
        <mc:Fallback xmlns="">
          <p:pic>
            <p:nvPicPr>
              <p:cNvPr id="5837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17885" y="1089829"/>
                <a:ext cx="4257150" cy="48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8373" name="Ink 5">
                <a:extLst>
                  <a:ext uri="{FF2B5EF4-FFF2-40B4-BE49-F238E27FC236}">
                    <a16:creationId xmlns:a16="http://schemas.microsoft.com/office/drawing/2014/main" id="{20129D45-B345-23DF-58DB-94CA289800E0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97388" y="487363"/>
              <a:ext cx="2981325" cy="3427412"/>
            </p14:xfrm>
          </p:contentPart>
        </mc:Choice>
        <mc:Fallback xmlns="">
          <p:pic>
            <p:nvPicPr>
              <p:cNvPr id="5837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3788" y="484843"/>
                <a:ext cx="2987445" cy="343317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object 5">
            <a:extLst>
              <a:ext uri="{FF2B5EF4-FFF2-40B4-BE49-F238E27FC236}">
                <a16:creationId xmlns:a16="http://schemas.microsoft.com/office/drawing/2014/main" id="{3473DEF8-1561-0B64-203F-8F1A9655740B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069668" y="-64491"/>
            <a:ext cx="870585" cy="13784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B39724-F8B3-9270-17FB-00E43DE681D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06" name="Google Shape;206;p28"/>
          <p:cNvSpPr txBox="1"/>
          <p:nvPr/>
        </p:nvSpPr>
        <p:spPr>
          <a:xfrm>
            <a:off x="46400" y="1148433"/>
            <a:ext cx="12145600" cy="5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467" dirty="0">
                <a:solidFill>
                  <a:schemeClr val="dk1"/>
                </a:solidFill>
              </a:rPr>
              <a:t>The process of creating an LLM involves two main stages: </a:t>
            </a:r>
            <a:r>
              <a:rPr lang="en-GB" sz="1467" b="1" dirty="0">
                <a:solidFill>
                  <a:schemeClr val="dk1"/>
                </a:solidFill>
              </a:rPr>
              <a:t>pretraining</a:t>
            </a:r>
            <a:r>
              <a:rPr lang="en-GB" sz="1467" dirty="0">
                <a:solidFill>
                  <a:schemeClr val="dk1"/>
                </a:solidFill>
              </a:rPr>
              <a:t> and </a:t>
            </a:r>
            <a:r>
              <a:rPr lang="en-GB" sz="1467" b="1" dirty="0">
                <a:solidFill>
                  <a:schemeClr val="dk1"/>
                </a:solidFill>
              </a:rPr>
              <a:t>finetuning</a:t>
            </a:r>
            <a:r>
              <a:rPr lang="en-GB" sz="1467" dirty="0">
                <a:solidFill>
                  <a:schemeClr val="dk1"/>
                </a:solidFill>
              </a:rPr>
              <a:t>.</a:t>
            </a:r>
            <a:endParaRPr sz="1467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1467" b="1" dirty="0">
                <a:solidFill>
                  <a:schemeClr val="dk1"/>
                </a:solidFill>
              </a:rPr>
              <a:t>2. Finetuning</a:t>
            </a:r>
            <a:endParaRPr sz="1467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●"/>
            </a:pPr>
            <a:r>
              <a:rPr lang="en-GB" sz="1467" b="1" dirty="0">
                <a:solidFill>
                  <a:schemeClr val="dk1"/>
                </a:solidFill>
              </a:rPr>
              <a:t>Definition:</a:t>
            </a:r>
            <a:endParaRPr sz="1467" b="1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Finetuning is the process of refining the pretrained model on a smaller, </a:t>
            </a:r>
            <a:r>
              <a:rPr lang="en-GB" sz="1467" dirty="0" err="1">
                <a:solidFill>
                  <a:schemeClr val="dk1"/>
                </a:solidFill>
              </a:rPr>
              <a:t>labeled</a:t>
            </a:r>
            <a:r>
              <a:rPr lang="en-GB" sz="1467" dirty="0">
                <a:solidFill>
                  <a:schemeClr val="dk1"/>
                </a:solidFill>
              </a:rPr>
              <a:t> dataset that is specific to a particular task or domain.</a:t>
            </a:r>
            <a:endParaRPr sz="1467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This step adapts the general-purpose model to perform well on specific tasks.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b="1" dirty="0">
                <a:solidFill>
                  <a:schemeClr val="dk1"/>
                </a:solidFill>
              </a:rPr>
              <a:t>Types of Finetuning:</a:t>
            </a:r>
            <a:endParaRPr sz="1467" b="1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b="1" dirty="0">
                <a:solidFill>
                  <a:schemeClr val="dk1"/>
                </a:solidFill>
              </a:rPr>
              <a:t>Instruction-Finetuning:</a:t>
            </a:r>
            <a:endParaRPr sz="1467" b="1" dirty="0">
              <a:solidFill>
                <a:schemeClr val="dk1"/>
              </a:solidFill>
            </a:endParaRPr>
          </a:p>
          <a:p>
            <a:pPr marL="1828754" lvl="2" indent="-397923">
              <a:lnSpc>
                <a:spcPct val="115000"/>
              </a:lnSpc>
              <a:buClr>
                <a:schemeClr val="dk1"/>
              </a:buClr>
              <a:buSzPts val="1100"/>
              <a:buChar char="■"/>
            </a:pPr>
            <a:r>
              <a:rPr lang="en-GB" sz="1467" dirty="0">
                <a:solidFill>
                  <a:schemeClr val="dk1"/>
                </a:solidFill>
              </a:rPr>
              <a:t>The </a:t>
            </a:r>
            <a:r>
              <a:rPr lang="en-GB" sz="1467" dirty="0" err="1">
                <a:solidFill>
                  <a:schemeClr val="dk1"/>
                </a:solidFill>
              </a:rPr>
              <a:t>labeled</a:t>
            </a:r>
            <a:r>
              <a:rPr lang="en-GB" sz="1467" dirty="0">
                <a:solidFill>
                  <a:schemeClr val="dk1"/>
                </a:solidFill>
              </a:rPr>
              <a:t> dataset consists of instruction-answer pairs.</a:t>
            </a:r>
            <a:endParaRPr sz="1467" dirty="0">
              <a:solidFill>
                <a:schemeClr val="dk1"/>
              </a:solidFill>
            </a:endParaRPr>
          </a:p>
          <a:p>
            <a:pPr marL="1828754" lvl="2" indent="-397923">
              <a:lnSpc>
                <a:spcPct val="115000"/>
              </a:lnSpc>
              <a:buClr>
                <a:schemeClr val="dk1"/>
              </a:buClr>
              <a:buSzPts val="1100"/>
              <a:buChar char="■"/>
            </a:pPr>
            <a:r>
              <a:rPr lang="en-GB" sz="1467" dirty="0">
                <a:solidFill>
                  <a:schemeClr val="dk1"/>
                </a:solidFill>
              </a:rPr>
              <a:t>Example: Training the model to translate text by providing queries and their corresponding translations.</a:t>
            </a:r>
            <a:endParaRPr sz="1467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b="1" dirty="0">
                <a:solidFill>
                  <a:schemeClr val="dk1"/>
                </a:solidFill>
              </a:rPr>
              <a:t>Classification Finetuning:</a:t>
            </a:r>
            <a:endParaRPr sz="1467" b="1" dirty="0">
              <a:solidFill>
                <a:schemeClr val="dk1"/>
              </a:solidFill>
            </a:endParaRPr>
          </a:p>
          <a:p>
            <a:pPr marL="1828754" lvl="2" indent="-397923">
              <a:lnSpc>
                <a:spcPct val="115000"/>
              </a:lnSpc>
              <a:buClr>
                <a:schemeClr val="dk1"/>
              </a:buClr>
              <a:buSzPts val="1100"/>
              <a:buChar char="■"/>
            </a:pPr>
            <a:r>
              <a:rPr lang="en-GB" sz="1467" dirty="0">
                <a:solidFill>
                  <a:schemeClr val="dk1"/>
                </a:solidFill>
              </a:rPr>
              <a:t>The </a:t>
            </a:r>
            <a:r>
              <a:rPr lang="en-GB" sz="1467" dirty="0" err="1">
                <a:solidFill>
                  <a:schemeClr val="dk1"/>
                </a:solidFill>
              </a:rPr>
              <a:t>labeled</a:t>
            </a:r>
            <a:r>
              <a:rPr lang="en-GB" sz="1467" dirty="0">
                <a:solidFill>
                  <a:schemeClr val="dk1"/>
                </a:solidFill>
              </a:rPr>
              <a:t> dataset consists of text and associated class labels.</a:t>
            </a:r>
            <a:endParaRPr sz="1467" dirty="0">
              <a:solidFill>
                <a:schemeClr val="dk1"/>
              </a:solidFill>
            </a:endParaRPr>
          </a:p>
          <a:p>
            <a:pPr marL="1828754" lvl="2" indent="-397923">
              <a:lnSpc>
                <a:spcPct val="115000"/>
              </a:lnSpc>
              <a:buClr>
                <a:schemeClr val="dk1"/>
              </a:buClr>
              <a:buSzPts val="1100"/>
              <a:buChar char="■"/>
            </a:pPr>
            <a:r>
              <a:rPr lang="en-GB" sz="1467" dirty="0">
                <a:solidFill>
                  <a:schemeClr val="dk1"/>
                </a:solidFill>
              </a:rPr>
              <a:t>Example: Training the model to classify emails as spam or non-spam.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b="1" dirty="0">
                <a:solidFill>
                  <a:schemeClr val="dk1"/>
                </a:solidFill>
              </a:rPr>
              <a:t>Output:</a:t>
            </a:r>
            <a:endParaRPr sz="1467" b="1" dirty="0">
              <a:solidFill>
                <a:schemeClr val="dk1"/>
              </a:solidFill>
            </a:endParaRPr>
          </a:p>
          <a:p>
            <a:pPr marL="1219170" lvl="1" indent="-397923">
              <a:lnSpc>
                <a:spcPct val="115000"/>
              </a:lnSpc>
              <a:buClr>
                <a:schemeClr val="dk1"/>
              </a:buClr>
              <a:buSzPts val="1100"/>
              <a:buChar char="○"/>
            </a:pPr>
            <a:r>
              <a:rPr lang="en-GB" sz="1467" dirty="0">
                <a:solidFill>
                  <a:schemeClr val="dk1"/>
                </a:solidFill>
              </a:rPr>
              <a:t>A specialized LLM that is optimized for a specific task or domain.</a:t>
            </a:r>
            <a:endParaRPr sz="1467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endParaRPr sz="1467" b="1" dirty="0">
              <a:solidFill>
                <a:schemeClr val="dk1"/>
              </a:solidFill>
            </a:endParaRPr>
          </a:p>
          <a:p>
            <a:pPr>
              <a:spcBef>
                <a:spcPts val="1600"/>
              </a:spcBef>
            </a:pP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56033" y="6163233"/>
            <a:ext cx="36888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1067">
                <a:solidFill>
                  <a:schemeClr val="dk2"/>
                </a:solidFill>
              </a:rPr>
              <a:t>References:</a:t>
            </a:r>
            <a:endParaRPr sz="1067">
              <a:solidFill>
                <a:schemeClr val="dk2"/>
              </a:solidFill>
            </a:endParaRPr>
          </a:p>
          <a:p>
            <a:r>
              <a:rPr lang="en-GB" sz="1067" u="sng">
                <a:solidFill>
                  <a:schemeClr val="hlink"/>
                </a:solidFill>
                <a:hlinkClick r:id="rId18"/>
              </a:rPr>
              <a:t>Book: Build a Large Language Model (From Scratch) </a:t>
            </a:r>
            <a:endParaRPr sz="1067">
              <a:solidFill>
                <a:schemeClr val="dk2"/>
              </a:solidFill>
            </a:endParaRPr>
          </a:p>
          <a:p>
            <a:endParaRPr sz="1067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609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9972-D07B-E710-10F7-360F814D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5ED1C4-7F07-E903-8C50-81A0EB2F0893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Prompting Techniques in LLM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19F73D5-F806-3330-5682-C1DCFA09229E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E8E64E9-8568-0A4C-D653-EC27230DD66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F1E04-D4F8-6BCC-FE43-39AD1EE76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774" y="1786686"/>
            <a:ext cx="8145012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32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D283-C984-3748-4C34-6799D4DA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130A05-661B-6075-20F7-1F1FDEF478E2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Applications of LLMs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0D14F6-61FA-6326-2E45-37C700D928A4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2250CD4-7991-8285-EC6A-5382119D153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B9306-E264-31E1-8B77-116516197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162" y="1728741"/>
            <a:ext cx="8125959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2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D6A42-D3D9-704C-67E8-FB90D41B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CBB55A-06F5-A6AE-BD2C-CEF2A03D7C46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Challenges of LLMs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551AD9-F752-FEBF-DA13-47E7ABCF517F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A189E9B-3967-3CA0-B376-CCF0222776A9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39079-0D0C-0359-1B45-7A11DBFC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300" y="1728741"/>
            <a:ext cx="8125959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92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48ADB-DAD0-6111-AC1E-21E78E55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7E44EB-EB49-530C-AAA2-83913123E2F0}"/>
              </a:ext>
            </a:extLst>
          </p:cNvPr>
          <p:cNvSpPr/>
          <p:nvPr/>
        </p:nvSpPr>
        <p:spPr>
          <a:xfrm>
            <a:off x="633929" y="730686"/>
            <a:ext cx="8680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Transformers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AC147-897B-599E-DDB0-DFC2E053788A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20F623B-D43D-2C59-063A-16AB161EBFF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E9D94-07DB-DCD1-1E84-200BD13AD4E7}"/>
              </a:ext>
            </a:extLst>
          </p:cNvPr>
          <p:cNvSpPr txBox="1"/>
          <p:nvPr/>
        </p:nvSpPr>
        <p:spPr>
          <a:xfrm>
            <a:off x="794972" y="1969566"/>
            <a:ext cx="979174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0" dirty="0">
                <a:solidFill>
                  <a:srgbClr val="273239"/>
                </a:solidFill>
                <a:effectLst/>
                <a:latin typeface="Nunito" pitchFamily="2" charset="0"/>
              </a:rPr>
              <a:t>Transformers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 are the foundational architecture behind most modern large language models that rely on attention mechanisms to process the entire sequence of the data simultaneously.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68969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63572C0-759C-B740-BFF5-D0844F43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96" y="1303282"/>
            <a:ext cx="9501066" cy="4258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984037-FBF9-4247-BDC6-589B287401F7}"/>
              </a:ext>
            </a:extLst>
          </p:cNvPr>
          <p:cNvSpPr txBox="1"/>
          <p:nvPr/>
        </p:nvSpPr>
        <p:spPr>
          <a:xfrm>
            <a:off x="1156796" y="5761377"/>
            <a:ext cx="9825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Kocoń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Jan, Igor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Cichecki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Oliwier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Kaszyca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Mateusz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Kochanek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Dominika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Szydło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Joanna Baran,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Julita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Bielaniewicz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et al. "ChatGPT: Jack of all trades, master of none." </a:t>
            </a:r>
            <a:r>
              <a:rPr lang="en-I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Information Fusion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(2023): 101861.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59802-4EA9-7665-ECF0-74443E35B47C}"/>
              </a:ext>
            </a:extLst>
          </p:cNvPr>
          <p:cNvSpPr/>
          <p:nvPr/>
        </p:nvSpPr>
        <p:spPr>
          <a:xfrm>
            <a:off x="697028" y="691688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Evolution of Transformers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6B0AA3-56C4-E548-0F2F-578FFB8AB4BC}"/>
              </a:ext>
            </a:extLst>
          </p:cNvPr>
          <p:cNvCxnSpPr>
            <a:cxnSpLocks/>
          </p:cNvCxnSpPr>
          <p:nvPr/>
        </p:nvCxnSpPr>
        <p:spPr>
          <a:xfrm>
            <a:off x="150147" y="125029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9BD519D-239F-CE83-AF00-1A6CE635252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572163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DCDAAE-E9F2-8B53-EB7E-751E8DBD0570}"/>
              </a:ext>
            </a:extLst>
          </p:cNvPr>
          <p:cNvGraphicFramePr>
            <a:graphicFrameLocks noGrp="1"/>
          </p:cNvGraphicFramePr>
          <p:nvPr/>
        </p:nvGraphicFramePr>
        <p:xfrm>
          <a:off x="77118" y="991517"/>
          <a:ext cx="11105003" cy="57550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0107">
                  <a:extLst>
                    <a:ext uri="{9D8B030D-6E8A-4147-A177-3AD203B41FA5}">
                      <a16:colId xmlns:a16="http://schemas.microsoft.com/office/drawing/2014/main" val="3912304039"/>
                    </a:ext>
                  </a:extLst>
                </a:gridCol>
                <a:gridCol w="940107">
                  <a:extLst>
                    <a:ext uri="{9D8B030D-6E8A-4147-A177-3AD203B41FA5}">
                      <a16:colId xmlns:a16="http://schemas.microsoft.com/office/drawing/2014/main" val="333583385"/>
                    </a:ext>
                  </a:extLst>
                </a:gridCol>
                <a:gridCol w="1664771">
                  <a:extLst>
                    <a:ext uri="{9D8B030D-6E8A-4147-A177-3AD203B41FA5}">
                      <a16:colId xmlns:a16="http://schemas.microsoft.com/office/drawing/2014/main" val="1265789287"/>
                    </a:ext>
                  </a:extLst>
                </a:gridCol>
                <a:gridCol w="1508086">
                  <a:extLst>
                    <a:ext uri="{9D8B030D-6E8A-4147-A177-3AD203B41FA5}">
                      <a16:colId xmlns:a16="http://schemas.microsoft.com/office/drawing/2014/main" val="3523142998"/>
                    </a:ext>
                  </a:extLst>
                </a:gridCol>
                <a:gridCol w="1703941">
                  <a:extLst>
                    <a:ext uri="{9D8B030D-6E8A-4147-A177-3AD203B41FA5}">
                      <a16:colId xmlns:a16="http://schemas.microsoft.com/office/drawing/2014/main" val="488191453"/>
                    </a:ext>
                  </a:extLst>
                </a:gridCol>
                <a:gridCol w="1762698">
                  <a:extLst>
                    <a:ext uri="{9D8B030D-6E8A-4147-A177-3AD203B41FA5}">
                      <a16:colId xmlns:a16="http://schemas.microsoft.com/office/drawing/2014/main" val="791914149"/>
                    </a:ext>
                  </a:extLst>
                </a:gridCol>
                <a:gridCol w="2585293">
                  <a:extLst>
                    <a:ext uri="{9D8B030D-6E8A-4147-A177-3AD203B41FA5}">
                      <a16:colId xmlns:a16="http://schemas.microsoft.com/office/drawing/2014/main" val="3011725078"/>
                    </a:ext>
                  </a:extLst>
                </a:gridCol>
              </a:tblGrid>
              <a:tr h="64043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 err="1">
                          <a:effectLst/>
                        </a:rPr>
                        <a:t>S.No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Version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Model Architecture</a:t>
                      </a: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Parameters</a:t>
                      </a: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Training Data</a:t>
                      </a: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Capabilities</a:t>
                      </a: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FF"/>
                          </a:solidFill>
                          <a:effectLst/>
                        </a:rPr>
                        <a:t>Key Innovations</a:t>
                      </a: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90428110"/>
                  </a:ext>
                </a:extLst>
              </a:tr>
              <a:tr h="108211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GPT-1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12-layer transformer decoder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117 million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 err="1">
                          <a:effectLst/>
                        </a:rPr>
                        <a:t>BooksCorpus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Demonstrated fine-tuning on specific tasks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Established unsupervised pre-training followed by supervised fine-tuning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96812"/>
                  </a:ext>
                </a:extLst>
              </a:tr>
              <a:tr h="88556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GPT-2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Up to 48-layer transformer decoder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1.5 billion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 err="1">
                          <a:effectLst/>
                        </a:rPr>
                        <a:t>WebText</a:t>
                      </a:r>
                      <a:r>
                        <a:rPr lang="en-IN" sz="1600" u="none" strike="noStrike" dirty="0">
                          <a:effectLst/>
                        </a:rPr>
                        <a:t> (8 million documents)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Strong zero-shot performance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Showed scaling effect with increased model size and data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054529"/>
                  </a:ext>
                </a:extLst>
              </a:tr>
              <a:tr h="9496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GPT-3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96-layer transformer decoder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175 billion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Mixture (Common Crawl, </a:t>
                      </a:r>
                      <a:r>
                        <a:rPr lang="en-US" sz="1600" u="none" strike="noStrike" dirty="0" err="1">
                          <a:effectLst/>
                        </a:rPr>
                        <a:t>WebText</a:t>
                      </a:r>
                      <a:r>
                        <a:rPr lang="en-US" sz="1600" u="none" strike="noStrike" dirty="0">
                          <a:effectLst/>
                        </a:rPr>
                        <a:t>, Books, Wikipedia)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Impressive few-shot and zero-shot learning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Introduced in-context learning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866970"/>
                  </a:ext>
                </a:extLst>
              </a:tr>
              <a:tr h="9054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GPT-3.5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Similar to GPT-3 with optimizations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~175 billion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Updated and expanded datasets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</a:rPr>
                        <a:t>Improved performance and reliability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Enhanced alignment with user intentions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679055"/>
                  </a:ext>
                </a:extLst>
              </a:tr>
              <a:tr h="12919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>
                          <a:effectLst/>
                        </a:rPr>
                        <a:t>GPT-4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More sophisticated and larger-scale architecture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Hundreds of billions to trillions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Vastly expanded and more diverse datasets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Superior performance across a broad range of tasks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Enhanced alignment techniques, increased robustness, better handling of complex queries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2027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F75FFFB-4433-AA73-4B31-F63A4530A02B}"/>
              </a:ext>
            </a:extLst>
          </p:cNvPr>
          <p:cNvSpPr/>
          <p:nvPr/>
        </p:nvSpPr>
        <p:spPr>
          <a:xfrm>
            <a:off x="707188" y="432910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Different Versions of GPT</a:t>
            </a:r>
            <a:endParaRPr lang="en-IN" sz="2400" b="1" dirty="0">
              <a:solidFill>
                <a:schemeClr val="accent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273351-3BD2-1165-53FB-F50F1876AC87}"/>
              </a:ext>
            </a:extLst>
          </p:cNvPr>
          <p:cNvCxnSpPr>
            <a:cxnSpLocks/>
          </p:cNvCxnSpPr>
          <p:nvPr/>
        </p:nvCxnSpPr>
        <p:spPr>
          <a:xfrm>
            <a:off x="160307" y="991517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1CE1F06-D71C-8BD6-3181-2D28F4B3C9B8}"/>
              </a:ext>
            </a:extLst>
          </p:cNvPr>
          <p:cNvSpPr/>
          <p:nvPr/>
        </p:nvSpPr>
        <p:spPr>
          <a:xfrm>
            <a:off x="403271" y="-653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35804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811A-2FC1-0C77-BD31-2E6C082F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DF6489-D7A3-40AC-112A-543C900C9F3F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D25856-DCFF-7A6A-4374-83D050D31E2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71B449-2826-7977-8466-4D1865C32AA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CDF589-379E-0A5A-E263-6500CA2727EE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A50068-80A7-0452-01BA-6FF1BFF4A0D8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4D576D-9B28-A545-1BD0-2B01A87345A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175C2-36E1-01FD-5B60-D8FD3FB0A51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83248446-CE7F-0835-D6E8-CAE0E10E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F8ED8-595B-56B2-E722-3B6812D733E9}"/>
              </a:ext>
            </a:extLst>
          </p:cNvPr>
          <p:cNvSpPr/>
          <p:nvPr/>
        </p:nvSpPr>
        <p:spPr>
          <a:xfrm>
            <a:off x="4731026" y="3615531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         Thank You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1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19178</TotalTime>
  <Words>1416</Words>
  <Application>Microsoft Office PowerPoint</Application>
  <PresentationFormat>Widescreen</PresentationFormat>
  <Paragraphs>187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 Narrow</vt:lpstr>
      <vt:lpstr>Arial</vt:lpstr>
      <vt:lpstr>Calibri</vt:lpstr>
      <vt:lpstr>Calibri Light</vt:lpstr>
      <vt:lpstr>Nunito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MHR</dc:creator>
  <cp:lastModifiedBy>Dr Pooja Agarwal</cp:lastModifiedBy>
  <cp:revision>336</cp:revision>
  <dcterms:created xsi:type="dcterms:W3CDTF">2020-06-03T14:19:11Z</dcterms:created>
  <dcterms:modified xsi:type="dcterms:W3CDTF">2026-01-09T05:17:18Z</dcterms:modified>
</cp:coreProperties>
</file>