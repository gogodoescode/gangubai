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2.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922" r:id="rId4"/>
    <p:sldId id="362" r:id="rId5"/>
    <p:sldId id="363" r:id="rId6"/>
    <p:sldId id="364" r:id="rId7"/>
    <p:sldId id="365" r:id="rId8"/>
    <p:sldId id="366" r:id="rId9"/>
    <p:sldId id="971" r:id="rId10"/>
    <p:sldId id="367" r:id="rId11"/>
    <p:sldId id="368" r:id="rId12"/>
    <p:sldId id="369" r:id="rId13"/>
    <p:sldId id="370" r:id="rId14"/>
    <p:sldId id="371" r:id="rId15"/>
    <p:sldId id="972" r:id="rId16"/>
    <p:sldId id="973" r:id="rId17"/>
    <p:sldId id="982" r:id="rId18"/>
    <p:sldId id="975" r:id="rId19"/>
    <p:sldId id="974" r:id="rId20"/>
    <p:sldId id="976" r:id="rId21"/>
    <p:sldId id="977" r:id="rId22"/>
    <p:sldId id="978" r:id="rId23"/>
    <p:sldId id="979" r:id="rId24"/>
    <p:sldId id="980" r:id="rId25"/>
    <p:sldId id="981"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13" autoAdjust="0"/>
    <p:restoredTop sz="94660"/>
  </p:normalViewPr>
  <p:slideViewPr>
    <p:cSldViewPr snapToGrid="0">
      <p:cViewPr varScale="1">
        <p:scale>
          <a:sx n="78" d="100"/>
          <a:sy n="78" d="100"/>
        </p:scale>
        <p:origin x="968"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5-01-29T04:34:16.110"/>
    </inkml:context>
    <inkml:brush xml:id="br0">
      <inkml:brushProperty name="width" value="0.05292" units="cm"/>
      <inkml:brushProperty name="height" value="0.05292" units="cm"/>
      <inkml:brushProperty name="color" value="#FF0000"/>
    </inkml:brush>
  </inkml:definitions>
  <inkml:trace contextRef="#ctx0" brushRef="#br0">18136 7080 75 0,'0'0'0'0,"0"0"0"0,-4-3 0 0,4 3 8 16,-4-7 1-16,4 7-9 0,-5-4 0 0,5 4 19 0,-4-6 1 16,4 6-20-16,-5-4 0 0,5 4 37 0,-7-6 1 15,7 6-38-15,-13-5 0 0,13 5 12 0,-12-10 1 16,12 10-13-16,-16-11 0 0,16 11 22 0,-14-11 1 16,14 11-23-16,-18-9 0 0,4 5 25 0,-1 0 2 15,-1 1-27-15,4 2 0 0,-1 1 24 0,2 1 1 16,-2-1-25-16,-2 0 0 0,-3 3 22 0,-2-2 2 15,-2 2-24-15,0-3 0 0,-2 1 21 0,-4 1 0 0,4 1-21 16,-1 1 0-16,3 0 20 0,1 2 1 0,3-2-21 16,-2 1 0-16,2 0 16 0,1-1 2 0,2 1-18 15,1-3 0-15,1-2 15 0,5 0 1 0,-1 0-16 16,1 1 0-16,2-1 17 0,2-1 0 0,0-1-17 16,1 2 0-16,2 0 15 0,-1 2 1 0,1-2-16 15,0 0 0-15,1 0 13 0,0 0 2 0,0 0-15 16,0 0 0-16,0 0 12 0,0 0 1 0,1 0-13 15,0 0 0-15,2 0 11 0,1 1 0 0,8 0-11 0,7 2 0 16,10 0 12-16,5-2 2 0,1 1-14 0,3 2 0 16,2 2 11-16,2-1 1 0,0 1-12 0,1-5 0 15,1 1 9-15,-1 0 1 0,4 3-10 0,-2-4 0 0,7 0 9 16,0-1 2-16,-1 2-11 0,2 1 0 0,1-1 6 16,-3 1 2-16,1-2-8 0,-2-1 0 0,2 0 6 15,0 2 0-15,-3-1-6 0,-2-1 0 0,-1-1 5 16,0-1 1-16,0 2-6 0,-4 0 0 0,-1 0 3 15,-2 0 1-15,-4-1-4 0,-3 0 0 0,-5-1 5 0,-4 2-1 16,-2 2-4-16,0-2 0 0,0 0 10 0,0 0 2 16,-3 0-12-16,-4-2 0 0,-5 2 15 0,-1-2 1 15,-1 2-16-15,-1 2 0 0,-5-2 20 0,-1 0 1 16,0 0-21-16,0 0 0 0,0 0 17 0,0 0 1 16,0 0-18-16,0 0 0 0,0 0 16 0,0 0 0 15,0 0-16-15,0 0 0 0,0 0 13 0,0 0 2 16,0 0-15-16,0 0 0 0,0 0 12 0,0 0 1 0,0 0-13 15,0 0 0-15,0 0 11 0,0 0 0 0,0 0-11 16,0 0 0-16,0 0 10 0,-1-2 1 0,1 0-11 16,-3 1 0-16,2-1 13 0,-1 1-1 0,1 0-12 15,1 1 0-15,0-3 14 0,0 1-1 0,1 1-13 16,1 0 0-16,-1-1 11 0,2 2 0 0,0 0-11 16,1 0 0-16,-1 0 9 0,2 2 0 0,2-1-9 15,0 2 0-15,-7-3-902 0</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5-01-29T04:48:12.776"/>
    </inkml:context>
    <inkml:brush xml:id="br0">
      <inkml:brushProperty name="width" value="0.05292" units="cm"/>
      <inkml:brushProperty name="height" value="0.05292" units="cm"/>
      <inkml:brushProperty name="color" value="#FF0000"/>
    </inkml:brush>
  </inkml:definitions>
  <inkml:trace contextRef="#ctx0" brushRef="#br0">15123 3381 288 0,'0'0'0'0,"0"0"0"16,-4-4 0-16,4 4 2 0,-10-5 0 0,10 5-2 15,-10-1 0-15,10 1 4 0,-5 0-1 0,5 0-3 16,-6 0 0-16,6 0 9 0,-5 0 1 0,5 0-10 15,-7 0 0-15,7 0 6 0,-16 0-1 0,16 0-5 16,-15-4 0-16,15 4 7 0,-14-6 1 0,14 6-8 0,-14 0 0 16,14 0 12-16,-10 0 1 0,10 0-13 0,-8-3 0 15,8 3 10-15,-6-5 1 0,6 5-11 0,-3 0 0 16,3 0 12-16,-2 0 1 0,2 0-13 0,-3 0 0 16,3 0 18-16,0 0 0 0,0 0-18 0,25 0 0 0,0-2 20 15,4-2 1-15,9 1-21 0,4 2 0 0,4 1 20 16,7 1 2-16,6-1-22 0,-2-1 0 0,5-2 18 15,2 0 1-15,5 1-19 0,-2 0 0 0,0 2 20 16,5-3 0-16,0 1-20 0,-4-2 0 0,1-1 19 16,-1 0 1-16,-4 1-20 0,-1-1 0 0,-1 1 19 15,-5 3 1-15,-4-5-20 0,-3 2 0 0,-6 0 17 16,-2 0 3-16,-6 2-20 0,-2-2 0 0,-6 0 20 0,-2 4 1 16,-6-2-21-16,-2 0 0 0,-4 0 20 0,-2 2 0 15,-5 0-20-15,-2 0 0 0,-3 0 31 0,-2 0-1 16,-7 0-30-16,-4 2 0 0,-8 0 33 0,-4 0 0 15,-7 1-33-15,-11 2 0 0,-12 2 32 0,-10 3 0 0,63-10-781 16</inkml:trace>
  <inkml:trace contextRef="#ctx0" brushRef="#br0" timeOffset="1232.58">6575 3912 12 0,'0'0'0'0,"0"0"0"0,-4 0 0 16,4 0 0-16,-2 0 0 0,2 0 0 0,-1 0 0 16,1 0 1-16,-4 0 0 0,4 0-1 0,-3 0 0 15,3 0 1-15,-3 0 0 0,3 0-1 0,0 0 0 16,0 0 1-16,0 0 1 0,0 0-2 0,0 0 0 15,0 0 1-15,0 0 0 0,0 0-1 0,2 2 0 0,-2-2 2 16,4 4 0-16,-4-4-2 0,21 4 0 0,1 2 3 16,5-2-1-16,3-1-2 0,0-1 0 0,1 3 2 15,2-4 0-15,2-1-2 0,1 1 0 0,3 2 4 16,1 1 0-16,3-4-4 0,2 0 0 0,4 0 12 16,2 0 1-16,0 0-13 0,0 0 0 0,1 0 20 0,-3-4 0 15,0-1-20-15,-2 0 0 0,-2 3 22 0,-2-4 0 16,-1 2-22-16,-5-2 0 0,-5 2 24 0,-3 1 0 15,-5-1-24-15,0 4 0 0,-5-3 25 0,1 2 1 16,-6 1-26-16,1 0 0 0,-5-3 31 0,0 2 1 0,-2 1-32 16,-2 0 0-16,-2 0 32 0,-4 0 2 0,0 0-34 15,0 0 0-15,0 0 28 0,0 0 1 0,0 0-29 16,0 0 0-16,0 0 22 0,0 0 2 0,-4 1-24 16,-10 2 0-16,-6-2 24 0,-5 4-1 0,-3 3-23 15,-1-1 0-15,-1 3 21 0,-3-1 1 0,-1 3-22 16,-5-1 0-16,39-11-430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228949e6b4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28949e6b4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228949e6b4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228949e6b4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228949e6b4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228949e6b4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288fe26c03_1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3288fe26c03_1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431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3288fe26c03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3288fe26c03_1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5562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3288fe26c03_1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3288fe26c03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778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3288fe26c03_1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3" name="Google Shape;1183;g3288fe26c03_1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9532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3288fe26c03_1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3288fe26c03_1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9912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a:extLst>
            <a:ext uri="{FF2B5EF4-FFF2-40B4-BE49-F238E27FC236}">
              <a16:creationId xmlns:a16="http://schemas.microsoft.com/office/drawing/2014/main" id="{CF72BA89-6C4F-E4D6-70A7-2BCA93DD432E}"/>
            </a:ext>
          </a:extLst>
        </p:cNvPr>
        <p:cNvGrpSpPr/>
        <p:nvPr/>
      </p:nvGrpSpPr>
      <p:grpSpPr>
        <a:xfrm>
          <a:off x="0" y="0"/>
          <a:ext cx="0" cy="0"/>
          <a:chOff x="0" y="0"/>
          <a:chExt cx="0" cy="0"/>
        </a:xfrm>
      </p:grpSpPr>
      <p:sp>
        <p:nvSpPr>
          <p:cNvPr id="1191" name="Google Shape;1191;g3288fe26c03_1_159:notes">
            <a:extLst>
              <a:ext uri="{FF2B5EF4-FFF2-40B4-BE49-F238E27FC236}">
                <a16:creationId xmlns:a16="http://schemas.microsoft.com/office/drawing/2014/main" id="{6B533F7E-6BF5-9081-164C-5FBE6192B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3288fe26c03_1_159:notes">
            <a:extLst>
              <a:ext uri="{FF2B5EF4-FFF2-40B4-BE49-F238E27FC236}">
                <a16:creationId xmlns:a16="http://schemas.microsoft.com/office/drawing/2014/main" id="{880BF8BD-CBAA-CF1B-5781-579764EE23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1755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g3288fe26c03_1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1" name="Google Shape;1201;g3288fe26c03_1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585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3288fe26c03_1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3288fe26c03_1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690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g3288fe26c03_1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5" name="Google Shape;1225;g3288fe26c03_1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3060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3288fe26c03_1_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3288fe26c03_1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1580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3288fe26c03_1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0938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4FF75402-51DB-D49B-C11B-6EA378CD0D39}"/>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15E30DE8-7AF2-B29C-0D33-5A8629A3B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39506D59-D92B-7E72-9F33-72167841A5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1897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7FA8B44D-AEA4-7CD8-E4B5-B046B2AC6D97}"/>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210550FF-13EC-6F81-EE65-DBCA8652A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A01E43F5-FCE4-3BB4-CA27-280EE15CD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639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D68F3B0A-06F6-6150-D548-2C160891E999}"/>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7F66B8E6-33CC-44DC-F425-A5E5AA62D2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8D8EDF27-2E00-44CF-A24E-D9737A06EE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7078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F26A4CF0-8BE7-EF7A-1022-6E542C1C7CCE}"/>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0145B379-A275-A8D3-ADEF-6B4915095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A4283401-B66A-DAB3-7DC2-B121FD71FB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1168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B0BAB032-FFC2-C375-3950-CBF9BAB4D5B7}"/>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44273031-BF83-CE62-908D-574421CD3B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436DE4B3-4555-90EA-7FB0-BA5F03E438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2788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AD2E2A58-3845-DF84-9358-893532626C2A}"/>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4B69080C-8029-8B35-A660-0FB0F3F49D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DACDC978-E469-8099-0E2F-FAA3F7D17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8400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A9D8D17A-2DFA-3416-EA61-BCB7C451BEDB}"/>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6CFA8001-C611-A19D-EB07-86E1E3933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DA66F61F-F971-D75C-477D-EEEAE8ED9D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5378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B5575FE5-721D-4F15-890E-B525F627661F}"/>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1D479B96-BDDC-7E99-5CA2-B4FC531C01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0A24E226-E323-FC15-94D9-C4FA4152A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8620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6CE737F0-2B7A-B002-69C1-81BD5CFAB5D6}"/>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CF22EC8B-EE0D-9437-C5D7-BB8F6C08E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1C23BA15-2AE1-B607-C985-87A6F87AD3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5247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a:extLst>
            <a:ext uri="{FF2B5EF4-FFF2-40B4-BE49-F238E27FC236}">
              <a16:creationId xmlns:a16="http://schemas.microsoft.com/office/drawing/2014/main" id="{F37EAFDC-2ABF-4AC1-B687-76E2F2A222FD}"/>
            </a:ext>
          </a:extLst>
        </p:cNvPr>
        <p:cNvGrpSpPr/>
        <p:nvPr/>
      </p:nvGrpSpPr>
      <p:grpSpPr>
        <a:xfrm>
          <a:off x="0" y="0"/>
          <a:ext cx="0" cy="0"/>
          <a:chOff x="0" y="0"/>
          <a:chExt cx="0" cy="0"/>
        </a:xfrm>
      </p:grpSpPr>
      <p:sp>
        <p:nvSpPr>
          <p:cNvPr id="1244" name="Google Shape;1244;g3288fe26c03_1_485:notes">
            <a:extLst>
              <a:ext uri="{FF2B5EF4-FFF2-40B4-BE49-F238E27FC236}">
                <a16:creationId xmlns:a16="http://schemas.microsoft.com/office/drawing/2014/main" id="{79A6F97C-7B05-70A9-52E9-A11F168914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3288fe26c03_1_485:notes">
            <a:extLst>
              <a:ext uri="{FF2B5EF4-FFF2-40B4-BE49-F238E27FC236}">
                <a16:creationId xmlns:a16="http://schemas.microsoft.com/office/drawing/2014/main" id="{02868E70-3123-0089-2623-805F84BB11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3131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82B2CEF-BD9A-1FB8-212B-3A28B023A736}"/>
            </a:ext>
          </a:extLst>
        </p:cNvPr>
        <p:cNvGrpSpPr/>
        <p:nvPr/>
      </p:nvGrpSpPr>
      <p:grpSpPr>
        <a:xfrm>
          <a:off x="0" y="0"/>
          <a:ext cx="0" cy="0"/>
          <a:chOff x="0" y="0"/>
          <a:chExt cx="0" cy="0"/>
        </a:xfrm>
      </p:grpSpPr>
      <p:sp>
        <p:nvSpPr>
          <p:cNvPr id="51" name="Google Shape;51;g3228949e6b4_2_17:notes">
            <a:extLst>
              <a:ext uri="{FF2B5EF4-FFF2-40B4-BE49-F238E27FC236}">
                <a16:creationId xmlns:a16="http://schemas.microsoft.com/office/drawing/2014/main" id="{9108A00B-CFF0-B5B8-7BEB-2342AF74D5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28949e6b4_2_17:notes">
            <a:extLst>
              <a:ext uri="{FF2B5EF4-FFF2-40B4-BE49-F238E27FC236}">
                <a16:creationId xmlns:a16="http://schemas.microsoft.com/office/drawing/2014/main" id="{254A3C84-4C82-C4EF-EF3D-B08DA24FEF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554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1907.11692"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customXml" Target="../ink/ink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907.11692"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1907.11692"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1907.11692"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1907.11692"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1910.13461"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1910.13461"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abs/1910.13461"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1910.13461"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1910.13461"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customXml" Target="../ink/ink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p:nvPr/>
        </p:nvSpPr>
        <p:spPr>
          <a:xfrm>
            <a:off x="2989062" y="1363677"/>
            <a:ext cx="5590500" cy="72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3000" b="1" dirty="0">
                <a:solidFill>
                  <a:srgbClr val="C55A11"/>
                </a:solidFill>
                <a:latin typeface="Calibri"/>
                <a:ea typeface="Calibri"/>
                <a:cs typeface="Calibri"/>
                <a:sym typeface="Calibri"/>
              </a:rPr>
              <a:t>Generative AI and its Applications </a:t>
            </a:r>
            <a:endParaRPr sz="3000" b="0" i="0" u="none" strike="noStrike" cap="none" dirty="0">
              <a:solidFill>
                <a:srgbClr val="000000"/>
              </a:solidFill>
              <a:latin typeface="Arial"/>
              <a:ea typeface="Arial"/>
              <a:cs typeface="Arial"/>
              <a:sym typeface="Arial"/>
            </a:endParaRPr>
          </a:p>
        </p:txBody>
      </p:sp>
      <p:sp>
        <p:nvSpPr>
          <p:cNvPr id="56" name="Google Shape;56;p13"/>
          <p:cNvSpPr/>
          <p:nvPr/>
        </p:nvSpPr>
        <p:spPr>
          <a:xfrm>
            <a:off x="2989061" y="2032727"/>
            <a:ext cx="6154951"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400" b="1" dirty="0" err="1">
                <a:solidFill>
                  <a:srgbClr val="2F5496"/>
                </a:solidFill>
                <a:latin typeface="Calibri"/>
                <a:ea typeface="Calibri"/>
                <a:cs typeface="Calibri"/>
                <a:sym typeface="Calibri"/>
              </a:rPr>
              <a:t>ROBERTa</a:t>
            </a:r>
            <a:r>
              <a:rPr lang="en-GB" sz="2400" b="1" dirty="0">
                <a:solidFill>
                  <a:srgbClr val="2F5496"/>
                </a:solidFill>
                <a:latin typeface="Calibri"/>
                <a:ea typeface="Calibri"/>
                <a:cs typeface="Calibri"/>
                <a:sym typeface="Calibri"/>
              </a:rPr>
              <a:t>, BART</a:t>
            </a:r>
            <a:endParaRPr sz="2400" b="0" i="0" u="none" strike="noStrike" cap="none" dirty="0">
              <a:solidFill>
                <a:srgbClr val="000000"/>
              </a:solidFill>
              <a:latin typeface="Arial"/>
              <a:ea typeface="Arial"/>
              <a:cs typeface="Arial"/>
              <a:sym typeface="Arial"/>
            </a:endParaRPr>
          </a:p>
        </p:txBody>
      </p:sp>
      <p:sp>
        <p:nvSpPr>
          <p:cNvPr id="57" name="Google Shape;57;p13"/>
          <p:cNvSpPr/>
          <p:nvPr/>
        </p:nvSpPr>
        <p:spPr>
          <a:xfrm>
            <a:off x="2989062" y="3015824"/>
            <a:ext cx="5590500"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1">
                <a:latin typeface="Calibri"/>
                <a:ea typeface="Calibri"/>
                <a:cs typeface="Calibri"/>
                <a:sym typeface="Calibri"/>
              </a:rPr>
              <a:t>Dr. Pooja Agarwal</a:t>
            </a:r>
            <a:endParaRPr sz="2400" b="1" i="0" u="none" strike="noStrike" cap="none">
              <a:solidFill>
                <a:srgbClr val="000000"/>
              </a:solidFill>
              <a:latin typeface="Calibri"/>
              <a:ea typeface="Calibri"/>
              <a:cs typeface="Calibri"/>
              <a:sym typeface="Calibri"/>
            </a:endParaRPr>
          </a:p>
        </p:txBody>
      </p:sp>
      <p:sp>
        <p:nvSpPr>
          <p:cNvPr id="58" name="Google Shape;58;p13"/>
          <p:cNvSpPr/>
          <p:nvPr/>
        </p:nvSpPr>
        <p:spPr>
          <a:xfrm>
            <a:off x="2989062" y="3468103"/>
            <a:ext cx="5590500" cy="970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Calibri"/>
                <a:ea typeface="Calibri"/>
                <a:cs typeface="Calibri"/>
                <a:sym typeface="Calibri"/>
              </a:rPr>
              <a:t>Department of Computer Science and Engineering</a:t>
            </a:r>
            <a:endParaRPr sz="2400" b="0" i="0" u="none" strike="noStrike" cap="none">
              <a:solidFill>
                <a:srgbClr val="000000"/>
              </a:solidFill>
              <a:latin typeface="Calibri"/>
              <a:ea typeface="Calibri"/>
              <a:cs typeface="Calibri"/>
              <a:sym typeface="Calibri"/>
            </a:endParaRPr>
          </a:p>
        </p:txBody>
      </p:sp>
      <p:cxnSp>
        <p:nvCxnSpPr>
          <p:cNvPr id="59" name="Google Shape;59;p13"/>
          <p:cNvCxnSpPr/>
          <p:nvPr/>
        </p:nvCxnSpPr>
        <p:spPr>
          <a:xfrm>
            <a:off x="2989061" y="2794009"/>
            <a:ext cx="3416100" cy="0"/>
          </a:xfrm>
          <a:prstGeom prst="straightConnector1">
            <a:avLst/>
          </a:prstGeom>
          <a:noFill/>
          <a:ln w="38100" cap="flat" cmpd="sng">
            <a:solidFill>
              <a:srgbClr val="C55A11"/>
            </a:solidFill>
            <a:prstDash val="solid"/>
            <a:miter lim="800000"/>
            <a:headEnd type="none" w="sm" len="sm"/>
            <a:tailEnd type="none" w="sm" len="sm"/>
          </a:ln>
        </p:spPr>
      </p:cxnSp>
      <p:pic>
        <p:nvPicPr>
          <p:cNvPr id="2" name="object 6">
            <a:extLst>
              <a:ext uri="{FF2B5EF4-FFF2-40B4-BE49-F238E27FC236}">
                <a16:creationId xmlns:a16="http://schemas.microsoft.com/office/drawing/2014/main" id="{A6497DD2-3107-61B6-C794-CD0962D4BBC5}"/>
              </a:ext>
            </a:extLst>
          </p:cNvPr>
          <p:cNvPicPr/>
          <p:nvPr/>
        </p:nvPicPr>
        <p:blipFill>
          <a:blip r:embed="rId3" cstate="print"/>
          <a:stretch>
            <a:fillRect/>
          </a:stretch>
        </p:blipFill>
        <p:spPr>
          <a:xfrm>
            <a:off x="616883" y="772992"/>
            <a:ext cx="1942934" cy="3597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65" name="Google Shape;65;p14"/>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UE23CS342BA4</a:t>
            </a:r>
            <a:r>
              <a:rPr lang="en-GB" sz="2000" b="1" i="0" u="none" strike="noStrike" cap="none">
                <a:solidFill>
                  <a:srgbClr val="2F5496"/>
                </a:solidFill>
                <a:latin typeface="Calibri"/>
                <a:ea typeface="Calibri"/>
                <a:cs typeface="Calibri"/>
                <a:sym typeface="Calibri"/>
              </a:rPr>
              <a:t>)</a:t>
            </a:r>
            <a:endParaRPr sz="2000" b="1" i="0" u="none" strike="noStrike" cap="none" dirty="0">
              <a:solidFill>
                <a:srgbClr val="2F5496"/>
              </a:solidFill>
              <a:latin typeface="Calibri"/>
              <a:ea typeface="Calibri"/>
              <a:cs typeface="Calibri"/>
              <a:sym typeface="Calibri"/>
            </a:endParaRPr>
          </a:p>
        </p:txBody>
      </p:sp>
      <p:grpSp>
        <p:nvGrpSpPr>
          <p:cNvPr id="68" name="Google Shape;68;p14"/>
          <p:cNvGrpSpPr/>
          <p:nvPr/>
        </p:nvGrpSpPr>
        <p:grpSpPr>
          <a:xfrm>
            <a:off x="298326" y="4213338"/>
            <a:ext cx="831571" cy="722759"/>
            <a:chOff x="313939" y="5489794"/>
            <a:chExt cx="1066800" cy="1077941"/>
          </a:xfrm>
        </p:grpSpPr>
        <p:sp>
          <p:nvSpPr>
            <p:cNvPr id="69" name="Google Shape;69;p14"/>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70" name="Google Shape;70;p14"/>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71" name="Google Shape;71;p14"/>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73" name="Google Shape;73;p14"/>
          <p:cNvSpPr txBox="1"/>
          <p:nvPr/>
        </p:nvSpPr>
        <p:spPr>
          <a:xfrm>
            <a:off x="520425" y="2608167"/>
            <a:ext cx="6905700" cy="207746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dirty="0">
                <a:latin typeface="Calibri"/>
                <a:ea typeface="Calibri"/>
                <a:cs typeface="Calibri"/>
                <a:sym typeface="Calibri"/>
              </a:rPr>
              <a:t>We have covered:</a:t>
            </a:r>
          </a:p>
          <a:p>
            <a:pPr marL="0" lvl="0" indent="0" algn="l" rtl="0">
              <a:spcBef>
                <a:spcPts val="0"/>
              </a:spcBef>
              <a:spcAft>
                <a:spcPts val="0"/>
              </a:spcAft>
              <a:buNone/>
            </a:pPr>
            <a:r>
              <a:rPr lang="en-GB" dirty="0">
                <a:solidFill>
                  <a:srgbClr val="FF0000"/>
                </a:solidFill>
                <a:latin typeface="Calibri"/>
                <a:ea typeface="Calibri"/>
                <a:cs typeface="Calibri"/>
                <a:sym typeface="Calibri"/>
              </a:rPr>
              <a:t>LLM Basics and evolution</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NLP: Word Embeddings</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POS and NER</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Text Classification</a:t>
            </a:r>
          </a:p>
          <a:p>
            <a:pPr marL="0" lvl="0" indent="0" algn="l" rtl="0">
              <a:spcBef>
                <a:spcPts val="0"/>
              </a:spcBef>
              <a:spcAft>
                <a:spcPts val="0"/>
              </a:spcAft>
              <a:buNone/>
            </a:pPr>
            <a:r>
              <a:rPr lang="en-GB" b="1" dirty="0">
                <a:solidFill>
                  <a:schemeClr val="tx1"/>
                </a:solidFill>
                <a:latin typeface="Calibri"/>
                <a:ea typeface="Calibri"/>
                <a:cs typeface="Calibri"/>
                <a:sym typeface="Calibri"/>
              </a:rPr>
              <a:t>We will now cover:-</a:t>
            </a:r>
            <a:endParaRPr b="1" dirty="0">
              <a:solidFill>
                <a:schemeClr val="tx1"/>
              </a:solidFill>
              <a:latin typeface="Calibri"/>
              <a:ea typeface="Calibri"/>
              <a:cs typeface="Calibri"/>
              <a:sym typeface="Calibri"/>
            </a:endParaRPr>
          </a:p>
          <a:p>
            <a:r>
              <a:rPr lang="en-GB" dirty="0" err="1">
                <a:solidFill>
                  <a:srgbClr val="FF0000"/>
                </a:solidFill>
                <a:latin typeface="Calibri"/>
                <a:ea typeface="Calibri"/>
                <a:cs typeface="Calibri"/>
                <a:sym typeface="Calibri"/>
              </a:rPr>
              <a:t>ELMo</a:t>
            </a:r>
            <a:r>
              <a:rPr lang="en-GB" dirty="0">
                <a:solidFill>
                  <a:srgbClr val="FF0000"/>
                </a:solidFill>
                <a:latin typeface="Calibri"/>
                <a:ea typeface="Calibri"/>
                <a:cs typeface="Calibri"/>
                <a:sym typeface="Calibri"/>
              </a:rPr>
              <a:t>, Transformer Anatomy,</a:t>
            </a:r>
          </a:p>
          <a:p>
            <a:r>
              <a:rPr lang="en-GB" dirty="0">
                <a:latin typeface="Calibri"/>
                <a:ea typeface="Calibri"/>
                <a:cs typeface="Calibri"/>
                <a:sym typeface="Calibri"/>
              </a:rPr>
              <a:t> BERT,GPT, </a:t>
            </a:r>
            <a:r>
              <a:rPr lang="en-GB" dirty="0" err="1">
                <a:latin typeface="Calibri"/>
                <a:ea typeface="Calibri"/>
                <a:cs typeface="Calibri"/>
                <a:sym typeface="Calibri"/>
              </a:rPr>
              <a:t>ROBERTa</a:t>
            </a:r>
            <a:r>
              <a:rPr lang="en-GB" dirty="0">
                <a:latin typeface="Calibri"/>
                <a:ea typeface="Calibri"/>
                <a:cs typeface="Calibri"/>
                <a:sym typeface="Calibri"/>
              </a:rPr>
              <a:t>, BART architectures</a:t>
            </a:r>
            <a:endParaRPr lang="en-GB" sz="1500" dirty="0">
              <a:solidFill>
                <a:schemeClr val="dk2"/>
              </a:solidFill>
            </a:endParaRPr>
          </a:p>
          <a:p>
            <a:pPr marL="0" lvl="0" indent="0" algn="l" rtl="0">
              <a:spcBef>
                <a:spcPts val="0"/>
              </a:spcBef>
              <a:spcAft>
                <a:spcPts val="0"/>
              </a:spcAft>
              <a:buNone/>
            </a:pPr>
            <a:endParaRPr sz="1100" dirty="0"/>
          </a:p>
        </p:txBody>
      </p:sp>
      <p:sp>
        <p:nvSpPr>
          <p:cNvPr id="2" name="object 6">
            <a:extLst>
              <a:ext uri="{FF2B5EF4-FFF2-40B4-BE49-F238E27FC236}">
                <a16:creationId xmlns:a16="http://schemas.microsoft.com/office/drawing/2014/main" id="{B9AF0C58-A7C8-A056-3ADD-BB0E1C92779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65" name="Google Shape;65;p14"/>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grpSp>
        <p:nvGrpSpPr>
          <p:cNvPr id="68" name="Google Shape;68;p14"/>
          <p:cNvGrpSpPr/>
          <p:nvPr/>
        </p:nvGrpSpPr>
        <p:grpSpPr>
          <a:xfrm>
            <a:off x="298326" y="4213338"/>
            <a:ext cx="831571" cy="722759"/>
            <a:chOff x="313939" y="5489794"/>
            <a:chExt cx="1066800" cy="1077941"/>
          </a:xfrm>
        </p:grpSpPr>
        <p:sp>
          <p:nvSpPr>
            <p:cNvPr id="69" name="Google Shape;69;p14"/>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70" name="Google Shape;70;p14"/>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71" name="Google Shape;71;p14"/>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B9AF0C58-A7C8-A056-3ADD-BB0E1C92779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Rectangle 2">
            <a:extLst>
              <a:ext uri="{FF2B5EF4-FFF2-40B4-BE49-F238E27FC236}">
                <a16:creationId xmlns:a16="http://schemas.microsoft.com/office/drawing/2014/main" id="{FDE57218-257C-E7C0-66B3-0AE3F7F080E9}"/>
              </a:ext>
            </a:extLst>
          </p:cNvPr>
          <p:cNvSpPr>
            <a:spLocks noChangeArrowheads="1"/>
          </p:cNvSpPr>
          <p:nvPr/>
        </p:nvSpPr>
        <p:spPr bwMode="auto">
          <a:xfrm>
            <a:off x="194959" y="2541898"/>
            <a:ext cx="816441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Transformers (2017):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Introduced the fundamental architecture for LLMs.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ELMo</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Leveraged context-sensitive embeddings using bi-directional LSTMs.</a:t>
            </a:r>
          </a:p>
          <a:p>
            <a:pPr eaLnBrk="0" fontAlgn="base" hangingPunct="0">
              <a:spcBef>
                <a:spcPct val="0"/>
              </a:spcBef>
              <a:spcAft>
                <a:spcPct val="0"/>
              </a:spcAft>
              <a:buClr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on transformer architecture for text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Utilized transformers bidirectionally for better context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(2019):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BERT with optimized training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BART (2019):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Combined encoder-decoder frameworks from BERT and GPT.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119"/>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1154" name="Google Shape;1154;p119"/>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sp>
        <p:nvSpPr>
          <p:cNvPr id="1155" name="Google Shape;1155;p119"/>
          <p:cNvSpPr/>
          <p:nvPr/>
        </p:nvSpPr>
        <p:spPr>
          <a:xfrm>
            <a:off x="520425" y="4213096"/>
            <a:ext cx="5844000" cy="423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1800" b="1" i="0" u="none" strike="noStrike" cap="none">
                <a:solidFill>
                  <a:srgbClr val="000000"/>
                </a:solidFill>
                <a:latin typeface="Calibri"/>
                <a:ea typeface="Calibri"/>
                <a:cs typeface="Calibri"/>
                <a:sym typeface="Calibri"/>
              </a:rPr>
              <a:t>Dr. </a:t>
            </a:r>
            <a:r>
              <a:rPr lang="en-GB" sz="1800" b="1">
                <a:latin typeface="Calibri"/>
                <a:ea typeface="Calibri"/>
                <a:cs typeface="Calibri"/>
                <a:sym typeface="Calibri"/>
              </a:rPr>
              <a:t>Pooja Agarwal</a:t>
            </a:r>
            <a:endParaRPr sz="1800" b="1" i="0" u="none" strike="noStrike" cap="none">
              <a:solidFill>
                <a:srgbClr val="000000"/>
              </a:solidFill>
              <a:latin typeface="Calibri"/>
              <a:ea typeface="Calibri"/>
              <a:cs typeface="Calibri"/>
              <a:sym typeface="Calibri"/>
            </a:endParaRPr>
          </a:p>
        </p:txBody>
      </p:sp>
      <p:sp>
        <p:nvSpPr>
          <p:cNvPr id="1156" name="Google Shape;1156;p119"/>
          <p:cNvSpPr/>
          <p:nvPr/>
        </p:nvSpPr>
        <p:spPr>
          <a:xfrm>
            <a:off x="520437" y="4479694"/>
            <a:ext cx="5844000" cy="26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a:solidFill>
                  <a:srgbClr val="000000"/>
                </a:solidFill>
                <a:latin typeface="Calibri"/>
                <a:ea typeface="Calibri"/>
                <a:cs typeface="Calibri"/>
                <a:sym typeface="Calibri"/>
              </a:rPr>
              <a:t>Department of Computer Science and Engineering</a:t>
            </a:r>
            <a:endParaRPr b="0" i="0" u="none" strike="noStrike" cap="none">
              <a:solidFill>
                <a:srgbClr val="000000"/>
              </a:solidFill>
              <a:latin typeface="Calibri"/>
              <a:ea typeface="Calibri"/>
              <a:cs typeface="Calibri"/>
              <a:sym typeface="Calibri"/>
            </a:endParaRPr>
          </a:p>
        </p:txBody>
      </p:sp>
      <p:grpSp>
        <p:nvGrpSpPr>
          <p:cNvPr id="1157" name="Google Shape;1157;p119"/>
          <p:cNvGrpSpPr/>
          <p:nvPr/>
        </p:nvGrpSpPr>
        <p:grpSpPr>
          <a:xfrm>
            <a:off x="298326" y="4213338"/>
            <a:ext cx="831571" cy="722759"/>
            <a:chOff x="313939" y="5489794"/>
            <a:chExt cx="1066800" cy="1077941"/>
          </a:xfrm>
        </p:grpSpPr>
        <p:sp>
          <p:nvSpPr>
            <p:cNvPr id="1158" name="Google Shape;1158;p119"/>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1159" name="Google Shape;1159;p119"/>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1160" name="Google Shape;1160;p119"/>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1162" name="Google Shape;1162;p119"/>
          <p:cNvSpPr txBox="1"/>
          <p:nvPr/>
        </p:nvSpPr>
        <p:spPr>
          <a:xfrm>
            <a:off x="520425" y="2435300"/>
            <a:ext cx="6905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2400" b="1">
                <a:solidFill>
                  <a:srgbClr val="C55A11"/>
                </a:solidFill>
                <a:latin typeface="Calibri"/>
                <a:ea typeface="Calibri"/>
                <a:cs typeface="Calibri"/>
                <a:sym typeface="Calibri"/>
              </a:rPr>
              <a:t>RoBERTa</a:t>
            </a:r>
            <a:endParaRPr/>
          </a:p>
        </p:txBody>
      </p:sp>
      <p:sp>
        <p:nvSpPr>
          <p:cNvPr id="2" name="object 6">
            <a:extLst>
              <a:ext uri="{FF2B5EF4-FFF2-40B4-BE49-F238E27FC236}">
                <a16:creationId xmlns:a16="http://schemas.microsoft.com/office/drawing/2014/main" id="{C7FF6424-8DFB-75E8-F413-205A08E129A2}"/>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57765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120"/>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RoBERTa</a:t>
            </a:r>
            <a:endParaRPr sz="1800">
              <a:solidFill>
                <a:schemeClr val="dk2"/>
              </a:solidFill>
            </a:endParaRPr>
          </a:p>
        </p:txBody>
      </p:sp>
      <p:cxnSp>
        <p:nvCxnSpPr>
          <p:cNvPr id="1168" name="Google Shape;1168;p120"/>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169" name="Google Shape;1169;p120"/>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500" b="1" dirty="0" err="1">
                <a:solidFill>
                  <a:schemeClr val="dk1"/>
                </a:solidFill>
              </a:rPr>
              <a:t>RoBERTa</a:t>
            </a:r>
            <a:r>
              <a:rPr lang="en-GB" sz="1500" b="1" dirty="0">
                <a:solidFill>
                  <a:schemeClr val="dk1"/>
                </a:solidFill>
              </a:rPr>
              <a:t>: A More Robust BERT</a:t>
            </a:r>
          </a:p>
          <a:p>
            <a:pPr>
              <a:lnSpc>
                <a:spcPct val="115000"/>
              </a:lnSpc>
              <a:spcBef>
                <a:spcPts val="1200"/>
              </a:spcBef>
              <a:buClr>
                <a:schemeClr val="dk1"/>
              </a:buClr>
              <a:buSzPts val="1100"/>
            </a:pPr>
            <a:r>
              <a:rPr lang="en-IN" sz="2000" i="1" kern="100" dirty="0">
                <a:effectLst/>
                <a:latin typeface="Bodoni MT" panose="02070603080606020203" pitchFamily="18" charset="0"/>
                <a:ea typeface="Calibri" panose="020F0502020204030204" pitchFamily="34" charset="0"/>
                <a:cs typeface="Times New Roman" panose="02020603050405020304" pitchFamily="18" charset="0"/>
              </a:rPr>
              <a:t>An optimized version of BERT for better performance.</a:t>
            </a:r>
          </a:p>
          <a:p>
            <a:pPr marL="0" lvl="0" indent="0" algn="l" rtl="0">
              <a:lnSpc>
                <a:spcPct val="115000"/>
              </a:lnSpc>
              <a:spcBef>
                <a:spcPts val="1200"/>
              </a:spcBef>
              <a:spcAft>
                <a:spcPts val="0"/>
              </a:spcAft>
              <a:buNone/>
            </a:pPr>
            <a:r>
              <a:rPr lang="en-GB" sz="1500" dirty="0">
                <a:solidFill>
                  <a:schemeClr val="dk1"/>
                </a:solidFill>
              </a:rPr>
              <a:t>When BERT was first introduced, it revolutionized the field of natural language processing. However, researchers at Facebook AI discovered that BERT's potential wasn't fully realized in its original implementation. Their work, published in the paper "</a:t>
            </a:r>
            <a:r>
              <a:rPr lang="en-GB" sz="1500" dirty="0" err="1">
                <a:solidFill>
                  <a:schemeClr val="dk1"/>
                </a:solidFill>
              </a:rPr>
              <a:t>RoBERTa</a:t>
            </a:r>
            <a:r>
              <a:rPr lang="en-GB" sz="1500" dirty="0">
                <a:solidFill>
                  <a:schemeClr val="dk1"/>
                </a:solidFill>
              </a:rPr>
              <a:t>: A Robustly Optimized BERT Pretraining Approach," shows how relatively simple modifications to BERT's training process can lead to significantly better performance.</a:t>
            </a:r>
            <a:endParaRPr sz="15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500" dirty="0" err="1">
                <a:solidFill>
                  <a:schemeClr val="dk1"/>
                </a:solidFill>
              </a:rPr>
              <a:t>RoBERTa</a:t>
            </a:r>
            <a:r>
              <a:rPr lang="en-GB" sz="1500" dirty="0">
                <a:solidFill>
                  <a:schemeClr val="dk1"/>
                </a:solidFill>
              </a:rPr>
              <a:t> (Robustly Optimized BERT Approach) emerged from a careful replication study of BERT's pretraining process. The researchers found that BERT was significantly undertrained, and with some key modifications, they could substantially improve its performance.</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1171" name="Google Shape;1171;p120"/>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solidFill>
                  <a:schemeClr val="dk2"/>
                </a:solidFill>
              </a:rPr>
              <a:t>References:</a:t>
            </a:r>
            <a:endParaRPr sz="700">
              <a:solidFill>
                <a:schemeClr val="dk2"/>
              </a:solidFill>
            </a:endParaRPr>
          </a:p>
          <a:p>
            <a:pPr marL="0" lvl="0" indent="0" algn="l" rtl="0">
              <a:spcBef>
                <a:spcPts val="0"/>
              </a:spcBef>
              <a:spcAft>
                <a:spcPts val="0"/>
              </a:spcAft>
              <a:buNone/>
            </a:pPr>
            <a:r>
              <a:rPr lang="en-GB" sz="700">
                <a:solidFill>
                  <a:schemeClr val="dk2"/>
                </a:solidFill>
              </a:rPr>
              <a:t>Paper: </a:t>
            </a:r>
            <a:r>
              <a:rPr lang="en-GB" sz="700" b="1" u="sng">
                <a:solidFill>
                  <a:schemeClr val="hlink"/>
                </a:solidFill>
                <a:highlight>
                  <a:srgbClr val="FFFFFF"/>
                </a:highlight>
                <a:hlinkClick r:id="rId3"/>
              </a:rPr>
              <a:t>RoBERTa: A Robustly Optimized BERT Pretraining Approach</a:t>
            </a:r>
            <a:endParaRPr sz="700" b="1">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700">
              <a:solidFill>
                <a:schemeClr val="dk1"/>
              </a:solidFill>
            </a:endParaRPr>
          </a:p>
          <a:p>
            <a:pPr marL="0" lvl="0" indent="0" algn="l" rtl="0">
              <a:spcBef>
                <a:spcPts val="0"/>
              </a:spcBef>
              <a:spcAft>
                <a:spcPts val="0"/>
              </a:spcAft>
              <a:buNone/>
            </a:pPr>
            <a:endParaRPr sz="700">
              <a:solidFill>
                <a:schemeClr val="dk2"/>
              </a:solidFill>
            </a:endParaRPr>
          </a:p>
          <a:p>
            <a:pPr marL="0" lvl="0" indent="0" algn="l" rtl="0">
              <a:spcBef>
                <a:spcPts val="0"/>
              </a:spcBef>
              <a:spcAft>
                <a:spcPts val="0"/>
              </a:spcAft>
              <a:buNone/>
            </a:pPr>
            <a:endParaRPr sz="700">
              <a:solidFill>
                <a:schemeClr val="dk2"/>
              </a:solidFill>
            </a:endParaRPr>
          </a:p>
        </p:txBody>
      </p:sp>
      <p:sp>
        <p:nvSpPr>
          <p:cNvPr id="2" name="object 6">
            <a:extLst>
              <a:ext uri="{FF2B5EF4-FFF2-40B4-BE49-F238E27FC236}">
                <a16:creationId xmlns:a16="http://schemas.microsoft.com/office/drawing/2014/main" id="{4C057CCF-DE4F-DA77-E198-DBE71A7F1B9B}"/>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D975233-128E-C3CD-415B-F2D760A5C3A5}"/>
                  </a:ext>
                </a:extLst>
              </p14:cNvPr>
              <p14:cNvContentPartPr/>
              <p14:nvPr/>
            </p14:nvContentPartPr>
            <p14:xfrm>
              <a:off x="6313320" y="2517120"/>
              <a:ext cx="608400" cy="40320"/>
            </p14:xfrm>
          </p:contentPart>
        </mc:Choice>
        <mc:Fallback xmlns="">
          <p:pic>
            <p:nvPicPr>
              <p:cNvPr id="3" name="Ink 2">
                <a:extLst>
                  <a:ext uri="{FF2B5EF4-FFF2-40B4-BE49-F238E27FC236}">
                    <a16:creationId xmlns:a16="http://schemas.microsoft.com/office/drawing/2014/main" id="{1D975233-128E-C3CD-415B-F2D760A5C3A5}"/>
                  </a:ext>
                </a:extLst>
              </p:cNvPr>
              <p:cNvPicPr/>
              <p:nvPr/>
            </p:nvPicPr>
            <p:blipFill>
              <a:blip r:embed="rId6"/>
              <a:stretch>
                <a:fillRect/>
              </a:stretch>
            </p:blipFill>
            <p:spPr>
              <a:xfrm>
                <a:off x="6303960" y="2507760"/>
                <a:ext cx="627120" cy="59040"/>
              </a:xfrm>
              <a:prstGeom prst="rect">
                <a:avLst/>
              </a:prstGeom>
            </p:spPr>
          </p:pic>
        </mc:Fallback>
      </mc:AlternateContent>
    </p:spTree>
    <p:extLst>
      <p:ext uri="{BB962C8B-B14F-4D97-AF65-F5344CB8AC3E}">
        <p14:creationId xmlns:p14="http://schemas.microsoft.com/office/powerpoint/2010/main" val="412524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21"/>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RoBERTa</a:t>
            </a:r>
            <a:endParaRPr sz="1800">
              <a:solidFill>
                <a:schemeClr val="dk2"/>
              </a:solidFill>
            </a:endParaRPr>
          </a:p>
        </p:txBody>
      </p:sp>
      <p:cxnSp>
        <p:nvCxnSpPr>
          <p:cNvPr id="1177" name="Google Shape;1177;p121"/>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178" name="Google Shape;1178;p121"/>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What Makes </a:t>
            </a:r>
            <a:r>
              <a:rPr lang="en-GB" sz="1500" b="1" dirty="0" err="1">
                <a:solidFill>
                  <a:schemeClr val="dk1"/>
                </a:solidFill>
              </a:rPr>
              <a:t>RoBERTa</a:t>
            </a:r>
            <a:r>
              <a:rPr lang="en-GB" sz="1500" b="1" dirty="0">
                <a:solidFill>
                  <a:schemeClr val="dk1"/>
                </a:solidFill>
              </a:rPr>
              <a:t> Different?</a:t>
            </a:r>
            <a:endParaRPr sz="1500" b="1"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First, they changed how long they trained the model. While the original BERT was trained for a fixed number of steps, </a:t>
            </a:r>
            <a:r>
              <a:rPr lang="en-GB" sz="1500" dirty="0" err="1">
                <a:solidFill>
                  <a:schemeClr val="dk1"/>
                </a:solidFill>
              </a:rPr>
              <a:t>RoBERTa</a:t>
            </a:r>
            <a:r>
              <a:rPr lang="en-GB" sz="1500" dirty="0">
                <a:solidFill>
                  <a:schemeClr val="dk1"/>
                </a:solidFill>
              </a:rPr>
              <a:t> was trained for much longer, allowing it to better learn from the training data. They also used larger batches during training, which helped stabilize the learning process.</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Second, they removed what's called the "Next Sentence Prediction" (NSP) objective. Originally, BERT was trained to predict whether two text segments appeared next to each other in the original text. The researchers found this task wasn't necessary and might even be harmful to the model's performance.</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Third, they introduced dynamic masking. In the original BERT, the masking pattern (which words get hidden from the model) was static - created once during data preprocessing. </a:t>
            </a:r>
            <a:r>
              <a:rPr lang="en-GB" sz="1500" dirty="0" err="1">
                <a:solidFill>
                  <a:schemeClr val="dk1"/>
                </a:solidFill>
              </a:rPr>
              <a:t>RoBERTa</a:t>
            </a:r>
            <a:r>
              <a:rPr lang="en-GB" sz="1500" dirty="0">
                <a:solidFill>
                  <a:schemeClr val="dk1"/>
                </a:solidFill>
              </a:rPr>
              <a:t> uses dynamic masking, where the masking pattern is generated every time the model sees a sequence. This prevents the model from memorizing specific patterns and forces it to learn more robust features.</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1180" name="Google Shape;1180;p121"/>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solidFill>
                  <a:schemeClr val="dk2"/>
                </a:solidFill>
              </a:rPr>
              <a:t>References:</a:t>
            </a:r>
            <a:endParaRPr sz="700">
              <a:solidFill>
                <a:schemeClr val="dk2"/>
              </a:solidFill>
            </a:endParaRPr>
          </a:p>
          <a:p>
            <a:pPr marL="0" lvl="0" indent="0" algn="l" rtl="0">
              <a:spcBef>
                <a:spcPts val="0"/>
              </a:spcBef>
              <a:spcAft>
                <a:spcPts val="0"/>
              </a:spcAft>
              <a:buNone/>
            </a:pPr>
            <a:r>
              <a:rPr lang="en-GB" sz="700">
                <a:solidFill>
                  <a:schemeClr val="dk2"/>
                </a:solidFill>
              </a:rPr>
              <a:t>Paper: </a:t>
            </a:r>
            <a:r>
              <a:rPr lang="en-GB" sz="700" b="1" u="sng">
                <a:solidFill>
                  <a:schemeClr val="hlink"/>
                </a:solidFill>
                <a:highlight>
                  <a:srgbClr val="FFFFFF"/>
                </a:highlight>
                <a:hlinkClick r:id="rId3"/>
              </a:rPr>
              <a:t>RoBERTa: A Robustly Optimized BERT Pretraining Approach</a:t>
            </a:r>
            <a:endParaRPr sz="700" b="1">
              <a:solidFill>
                <a:schemeClr val="dk1"/>
              </a:solidFill>
              <a:highlight>
                <a:srgbClr val="FFFFFF"/>
              </a:highlight>
            </a:endParaRPr>
          </a:p>
          <a:p>
            <a:pPr marL="0" lvl="0" indent="0" algn="l" rtl="0">
              <a:lnSpc>
                <a:spcPct val="115000"/>
              </a:lnSpc>
              <a:spcBef>
                <a:spcPts val="0"/>
              </a:spcBef>
              <a:spcAft>
                <a:spcPts val="0"/>
              </a:spcAft>
              <a:buNone/>
            </a:pPr>
            <a:endParaRPr sz="700">
              <a:solidFill>
                <a:schemeClr val="dk1"/>
              </a:solidFill>
            </a:endParaRPr>
          </a:p>
          <a:p>
            <a:pPr marL="0" lvl="0" indent="0" algn="l" rtl="0">
              <a:spcBef>
                <a:spcPts val="0"/>
              </a:spcBef>
              <a:spcAft>
                <a:spcPts val="0"/>
              </a:spcAft>
              <a:buNone/>
            </a:pPr>
            <a:endParaRPr sz="700">
              <a:solidFill>
                <a:schemeClr val="dk2"/>
              </a:solidFill>
            </a:endParaRPr>
          </a:p>
          <a:p>
            <a:pPr marL="0" lvl="0" indent="0" algn="l" rtl="0">
              <a:spcBef>
                <a:spcPts val="0"/>
              </a:spcBef>
              <a:spcAft>
                <a:spcPts val="0"/>
              </a:spcAft>
              <a:buNone/>
            </a:pPr>
            <a:endParaRPr sz="700">
              <a:solidFill>
                <a:schemeClr val="dk2"/>
              </a:solidFill>
            </a:endParaRPr>
          </a:p>
        </p:txBody>
      </p:sp>
      <p:sp>
        <p:nvSpPr>
          <p:cNvPr id="2" name="object 6">
            <a:extLst>
              <a:ext uri="{FF2B5EF4-FFF2-40B4-BE49-F238E27FC236}">
                <a16:creationId xmlns:a16="http://schemas.microsoft.com/office/drawing/2014/main" id="{3D7335AA-E189-ABC1-C0EE-FFF2D8F3E6DF}"/>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63580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122"/>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RoBERTa</a:t>
            </a:r>
            <a:endParaRPr sz="1800">
              <a:solidFill>
                <a:schemeClr val="dk2"/>
              </a:solidFill>
            </a:endParaRPr>
          </a:p>
        </p:txBody>
      </p:sp>
      <p:cxnSp>
        <p:nvCxnSpPr>
          <p:cNvPr id="1186" name="Google Shape;1186;p122"/>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187" name="Google Shape;1187;p122"/>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a:lnSpc>
                <a:spcPct val="115000"/>
              </a:lnSpc>
              <a:spcBef>
                <a:spcPts val="1200"/>
              </a:spcBef>
            </a:pPr>
            <a:r>
              <a:rPr lang="en-IN" sz="1400" b="1" dirty="0" err="1">
                <a:solidFill>
                  <a:schemeClr val="dk1"/>
                </a:solidFill>
              </a:rPr>
              <a:t>RoBERTa</a:t>
            </a:r>
            <a:r>
              <a:rPr lang="en-IN" sz="1400" b="1" dirty="0">
                <a:solidFill>
                  <a:schemeClr val="dk1"/>
                </a:solidFill>
              </a:rPr>
              <a:t> is Trained on a larger dataset</a:t>
            </a:r>
            <a:r>
              <a:rPr lang="en-IN" sz="1400" dirty="0">
                <a:solidFill>
                  <a:schemeClr val="dk1"/>
                </a:solidFill>
              </a:rPr>
              <a:t>, including the original BERT datasets plus additional data from Common Crawl News, </a:t>
            </a:r>
            <a:r>
              <a:rPr lang="en-IN" sz="1400" dirty="0" err="1">
                <a:solidFill>
                  <a:schemeClr val="dk1"/>
                </a:solidFill>
              </a:rPr>
              <a:t>OpenWebText</a:t>
            </a:r>
            <a:r>
              <a:rPr lang="en-IN" sz="1400" dirty="0">
                <a:solidFill>
                  <a:schemeClr val="dk1"/>
                </a:solidFill>
              </a:rPr>
              <a:t>, and Stories.</a:t>
            </a:r>
          </a:p>
          <a:p>
            <a:pPr marL="0" lvl="0" indent="0" algn="l" rtl="0">
              <a:lnSpc>
                <a:spcPct val="115000"/>
              </a:lnSpc>
              <a:spcBef>
                <a:spcPts val="1200"/>
              </a:spcBef>
              <a:spcAft>
                <a:spcPts val="0"/>
              </a:spcAft>
              <a:buNone/>
            </a:pPr>
            <a:r>
              <a:rPr lang="en-GB" b="1" dirty="0">
                <a:solidFill>
                  <a:schemeClr val="dk1"/>
                </a:solidFill>
              </a:rPr>
              <a:t>The Data Advantage</a:t>
            </a:r>
            <a:br>
              <a:rPr lang="en-GB" b="1" dirty="0">
                <a:solidFill>
                  <a:schemeClr val="dk1"/>
                </a:solidFill>
              </a:rPr>
            </a:br>
            <a:r>
              <a:rPr lang="en-GB" dirty="0" err="1">
                <a:solidFill>
                  <a:schemeClr val="dk1"/>
                </a:solidFill>
              </a:rPr>
              <a:t>RoBERTa</a:t>
            </a:r>
            <a:r>
              <a:rPr lang="en-GB" dirty="0">
                <a:solidFill>
                  <a:schemeClr val="dk1"/>
                </a:solidFill>
              </a:rPr>
              <a:t> wasn't just trained differently - it was trained on more data. The researchers used multiple datasets </a:t>
            </a:r>
            <a:r>
              <a:rPr lang="en-GB" dirty="0" err="1">
                <a:solidFill>
                  <a:schemeClr val="dk1"/>
                </a:solidFill>
              </a:rPr>
              <a:t>totaling</a:t>
            </a:r>
            <a:r>
              <a:rPr lang="en-GB" dirty="0">
                <a:solidFill>
                  <a:schemeClr val="dk1"/>
                </a:solidFill>
              </a:rPr>
              <a:t> 160GB of text, including:</a:t>
            </a:r>
            <a:endParaRPr dirty="0">
              <a:solidFill>
                <a:schemeClr val="dk1"/>
              </a:solidFill>
            </a:endParaRPr>
          </a:p>
          <a:p>
            <a:pPr marL="457200" lvl="0" indent="-292100" algn="l" rtl="0">
              <a:lnSpc>
                <a:spcPct val="115000"/>
              </a:lnSpc>
              <a:spcBef>
                <a:spcPts val="1200"/>
              </a:spcBef>
              <a:spcAft>
                <a:spcPts val="0"/>
              </a:spcAft>
              <a:buClr>
                <a:schemeClr val="dk1"/>
              </a:buClr>
              <a:buSzPts val="1000"/>
              <a:buChar char="●"/>
            </a:pPr>
            <a:r>
              <a:rPr lang="en-GB" dirty="0">
                <a:solidFill>
                  <a:schemeClr val="dk1"/>
                </a:solidFill>
              </a:rPr>
              <a:t>BOOKCORPUS and Wikipedia (16GB)</a:t>
            </a:r>
            <a:endParaRPr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GB" dirty="0">
                <a:solidFill>
                  <a:schemeClr val="dk1"/>
                </a:solidFill>
              </a:rPr>
              <a:t>CC-NEWS (76GB)</a:t>
            </a:r>
            <a:endParaRPr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GB" dirty="0">
                <a:solidFill>
                  <a:schemeClr val="dk1"/>
                </a:solidFill>
              </a:rPr>
              <a:t>OPENWEBTEXT (38GB)</a:t>
            </a:r>
            <a:endParaRPr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GB" dirty="0">
                <a:solidFill>
                  <a:schemeClr val="dk1"/>
                </a:solidFill>
              </a:rPr>
              <a:t>STORIES (31GB)</a:t>
            </a:r>
            <a:endParaRPr dirty="0">
              <a:solidFill>
                <a:schemeClr val="dk1"/>
              </a:solidFill>
            </a:endParaRPr>
          </a:p>
          <a:p>
            <a:pPr marL="0" lvl="0" indent="0" algn="l" rtl="0">
              <a:lnSpc>
                <a:spcPct val="115000"/>
              </a:lnSpc>
              <a:spcBef>
                <a:spcPts val="1200"/>
              </a:spcBef>
              <a:spcAft>
                <a:spcPts val="0"/>
              </a:spcAft>
              <a:buNone/>
            </a:pPr>
            <a:endParaRPr b="1"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457200" lvl="0" indent="0" algn="l" rtl="0">
              <a:lnSpc>
                <a:spcPct val="115000"/>
              </a:lnSpc>
              <a:spcBef>
                <a:spcPts val="1200"/>
              </a:spcBef>
              <a:spcAft>
                <a:spcPts val="0"/>
              </a:spcAft>
              <a:buNone/>
            </a:pPr>
            <a:endParaRPr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1200"/>
              </a:spcAft>
              <a:buNone/>
            </a:pPr>
            <a:endParaRPr dirty="0">
              <a:solidFill>
                <a:schemeClr val="dk1"/>
              </a:solidFill>
            </a:endParaRPr>
          </a:p>
        </p:txBody>
      </p:sp>
      <p:sp>
        <p:nvSpPr>
          <p:cNvPr id="1189" name="Google Shape;1189;p122"/>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solidFill>
                  <a:schemeClr val="dk2"/>
                </a:solidFill>
              </a:rPr>
              <a:t>References:</a:t>
            </a:r>
            <a:endParaRPr sz="700">
              <a:solidFill>
                <a:schemeClr val="dk2"/>
              </a:solidFill>
            </a:endParaRPr>
          </a:p>
          <a:p>
            <a:pPr marL="0" lvl="0" indent="0" algn="l" rtl="0">
              <a:spcBef>
                <a:spcPts val="0"/>
              </a:spcBef>
              <a:spcAft>
                <a:spcPts val="0"/>
              </a:spcAft>
              <a:buNone/>
            </a:pPr>
            <a:r>
              <a:rPr lang="en-GB" sz="700">
                <a:solidFill>
                  <a:schemeClr val="dk2"/>
                </a:solidFill>
              </a:rPr>
              <a:t>Paper: </a:t>
            </a:r>
            <a:r>
              <a:rPr lang="en-GB" sz="700" b="1" u="sng">
                <a:solidFill>
                  <a:schemeClr val="hlink"/>
                </a:solidFill>
                <a:highlight>
                  <a:srgbClr val="FFFFFF"/>
                </a:highlight>
                <a:hlinkClick r:id="rId3"/>
              </a:rPr>
              <a:t>RoBERTa: A Robustly Optimized BERT Pretraining Approach</a:t>
            </a:r>
            <a:endParaRPr sz="700" b="1">
              <a:solidFill>
                <a:schemeClr val="dk1"/>
              </a:solidFill>
              <a:highlight>
                <a:srgbClr val="FFFFFF"/>
              </a:highlight>
            </a:endParaRPr>
          </a:p>
          <a:p>
            <a:pPr marL="0" lvl="0" indent="0" algn="l" rtl="0">
              <a:lnSpc>
                <a:spcPct val="115000"/>
              </a:lnSpc>
              <a:spcBef>
                <a:spcPts val="0"/>
              </a:spcBef>
              <a:spcAft>
                <a:spcPts val="0"/>
              </a:spcAft>
              <a:buNone/>
            </a:pPr>
            <a:endParaRPr sz="700">
              <a:solidFill>
                <a:schemeClr val="dk1"/>
              </a:solidFill>
            </a:endParaRPr>
          </a:p>
          <a:p>
            <a:pPr marL="0" lvl="0" indent="0" algn="l" rtl="0">
              <a:spcBef>
                <a:spcPts val="0"/>
              </a:spcBef>
              <a:spcAft>
                <a:spcPts val="0"/>
              </a:spcAft>
              <a:buNone/>
            </a:pPr>
            <a:endParaRPr sz="700">
              <a:solidFill>
                <a:schemeClr val="dk2"/>
              </a:solidFill>
            </a:endParaRPr>
          </a:p>
          <a:p>
            <a:pPr marL="0" lvl="0" indent="0" algn="l" rtl="0">
              <a:spcBef>
                <a:spcPts val="0"/>
              </a:spcBef>
              <a:spcAft>
                <a:spcPts val="0"/>
              </a:spcAft>
              <a:buNone/>
            </a:pPr>
            <a:endParaRPr sz="700">
              <a:solidFill>
                <a:schemeClr val="dk2"/>
              </a:solidFill>
            </a:endParaRPr>
          </a:p>
        </p:txBody>
      </p:sp>
      <p:sp>
        <p:nvSpPr>
          <p:cNvPr id="2" name="object 6">
            <a:extLst>
              <a:ext uri="{FF2B5EF4-FFF2-40B4-BE49-F238E27FC236}">
                <a16:creationId xmlns:a16="http://schemas.microsoft.com/office/drawing/2014/main" id="{A6FD6584-010B-7FBB-B473-CFF46D343DEC}"/>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39737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123"/>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RoBERTa</a:t>
            </a:r>
            <a:endParaRPr sz="1800">
              <a:solidFill>
                <a:schemeClr val="dk2"/>
              </a:solidFill>
            </a:endParaRPr>
          </a:p>
        </p:txBody>
      </p:sp>
      <p:cxnSp>
        <p:nvCxnSpPr>
          <p:cNvPr id="1195" name="Google Shape;1195;p123"/>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196" name="Google Shape;1196;p123"/>
          <p:cNvSpPr txBox="1"/>
          <p:nvPr/>
        </p:nvSpPr>
        <p:spPr>
          <a:xfrm>
            <a:off x="100346" y="1145272"/>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GB" sz="1500" dirty="0">
                <a:solidFill>
                  <a:schemeClr val="dk1"/>
                </a:solidFill>
              </a:rPr>
              <a:t>What's particularly interesting is that </a:t>
            </a:r>
            <a:r>
              <a:rPr lang="en-GB" sz="1500" dirty="0" err="1">
                <a:solidFill>
                  <a:schemeClr val="dk1"/>
                </a:solidFill>
              </a:rPr>
              <a:t>RoBERTa</a:t>
            </a:r>
            <a:r>
              <a:rPr lang="en-GB" sz="1500" dirty="0">
                <a:solidFill>
                  <a:schemeClr val="dk1"/>
                </a:solidFill>
              </a:rPr>
              <a:t> achieved these results without any major architectural changes to BERT. This suggests that sometimes, the key to better performance isn't inventing new model architectures, but rather optimizing the training process of existing ones.</a:t>
            </a:r>
          </a:p>
          <a:p>
            <a:pPr marL="342900" lvl="0" indent="-342900">
              <a:lnSpc>
                <a:spcPct val="107000"/>
              </a:lnSpc>
              <a:spcAft>
                <a:spcPts val="800"/>
              </a:spcAft>
              <a:buFont typeface="+mj-lt"/>
              <a:buAutoNum type="arabicPeriod"/>
              <a:tabLst>
                <a:tab pos="4572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Text Classification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Task</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Classifying text into predefined categories.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Sentiment analysis, spam detection.</a:t>
            </a:r>
          </a:p>
          <a:p>
            <a:pPr marL="0" lvl="0" indent="0" algn="l" rtl="0">
              <a:lnSpc>
                <a:spcPct val="115000"/>
              </a:lnSpc>
              <a:spcBef>
                <a:spcPts val="1200"/>
              </a:spcBef>
              <a:spcAft>
                <a:spcPts val="1200"/>
              </a:spcAft>
              <a:buNone/>
            </a:pPr>
            <a:endParaRPr sz="1500" dirty="0">
              <a:solidFill>
                <a:schemeClr val="dk1"/>
              </a:solidFill>
            </a:endParaRPr>
          </a:p>
        </p:txBody>
      </p:sp>
      <p:sp>
        <p:nvSpPr>
          <p:cNvPr id="1198" name="Google Shape;1198;p123"/>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solidFill>
                  <a:schemeClr val="dk2"/>
                </a:solidFill>
              </a:rPr>
              <a:t>References:</a:t>
            </a:r>
            <a:endParaRPr sz="700">
              <a:solidFill>
                <a:schemeClr val="dk2"/>
              </a:solidFill>
            </a:endParaRPr>
          </a:p>
          <a:p>
            <a:pPr marL="0" lvl="0" indent="0" algn="l" rtl="0">
              <a:spcBef>
                <a:spcPts val="0"/>
              </a:spcBef>
              <a:spcAft>
                <a:spcPts val="0"/>
              </a:spcAft>
              <a:buNone/>
            </a:pPr>
            <a:r>
              <a:rPr lang="en-GB" sz="700">
                <a:solidFill>
                  <a:schemeClr val="dk2"/>
                </a:solidFill>
              </a:rPr>
              <a:t>Paper: </a:t>
            </a:r>
            <a:r>
              <a:rPr lang="en-GB" sz="700" b="1" u="sng">
                <a:solidFill>
                  <a:schemeClr val="hlink"/>
                </a:solidFill>
                <a:highlight>
                  <a:srgbClr val="FFFFFF"/>
                </a:highlight>
                <a:hlinkClick r:id="rId3"/>
              </a:rPr>
              <a:t>RoBERTa: A Robustly Optimized BERT Pretraining Approach</a:t>
            </a:r>
            <a:endParaRPr sz="700" b="1">
              <a:solidFill>
                <a:schemeClr val="dk1"/>
              </a:solidFill>
              <a:highlight>
                <a:srgbClr val="FFFFFF"/>
              </a:highlight>
            </a:endParaRPr>
          </a:p>
          <a:p>
            <a:pPr marL="0" lvl="0" indent="0" algn="l" rtl="0">
              <a:lnSpc>
                <a:spcPct val="115000"/>
              </a:lnSpc>
              <a:spcBef>
                <a:spcPts val="0"/>
              </a:spcBef>
              <a:spcAft>
                <a:spcPts val="0"/>
              </a:spcAft>
              <a:buNone/>
            </a:pPr>
            <a:endParaRPr sz="700">
              <a:solidFill>
                <a:schemeClr val="dk1"/>
              </a:solidFill>
            </a:endParaRPr>
          </a:p>
          <a:p>
            <a:pPr marL="0" lvl="0" indent="0" algn="l" rtl="0">
              <a:spcBef>
                <a:spcPts val="0"/>
              </a:spcBef>
              <a:spcAft>
                <a:spcPts val="0"/>
              </a:spcAft>
              <a:buNone/>
            </a:pPr>
            <a:endParaRPr sz="700">
              <a:solidFill>
                <a:schemeClr val="dk2"/>
              </a:solidFill>
            </a:endParaRPr>
          </a:p>
          <a:p>
            <a:pPr marL="0" lvl="0" indent="0" algn="l" rtl="0">
              <a:spcBef>
                <a:spcPts val="0"/>
              </a:spcBef>
              <a:spcAft>
                <a:spcPts val="0"/>
              </a:spcAft>
              <a:buNone/>
            </a:pPr>
            <a:endParaRPr sz="700">
              <a:solidFill>
                <a:schemeClr val="dk2"/>
              </a:solidFill>
            </a:endParaRPr>
          </a:p>
        </p:txBody>
      </p:sp>
      <p:sp>
        <p:nvSpPr>
          <p:cNvPr id="2" name="object 6">
            <a:extLst>
              <a:ext uri="{FF2B5EF4-FFF2-40B4-BE49-F238E27FC236}">
                <a16:creationId xmlns:a16="http://schemas.microsoft.com/office/drawing/2014/main" id="{97E63B5D-1115-E691-A91C-A34FF89B32E4}"/>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24659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3">
          <a:extLst>
            <a:ext uri="{FF2B5EF4-FFF2-40B4-BE49-F238E27FC236}">
              <a16:creationId xmlns:a16="http://schemas.microsoft.com/office/drawing/2014/main" id="{31410D20-F206-63CB-289F-1A0F11748518}"/>
            </a:ext>
          </a:extLst>
        </p:cNvPr>
        <p:cNvGrpSpPr/>
        <p:nvPr/>
      </p:nvGrpSpPr>
      <p:grpSpPr>
        <a:xfrm>
          <a:off x="0" y="0"/>
          <a:ext cx="0" cy="0"/>
          <a:chOff x="0" y="0"/>
          <a:chExt cx="0" cy="0"/>
        </a:xfrm>
      </p:grpSpPr>
      <p:sp>
        <p:nvSpPr>
          <p:cNvPr id="1194" name="Google Shape;1194;p123">
            <a:extLst>
              <a:ext uri="{FF2B5EF4-FFF2-40B4-BE49-F238E27FC236}">
                <a16:creationId xmlns:a16="http://schemas.microsoft.com/office/drawing/2014/main" id="{FE80F4C8-E7C9-8A43-EE46-7598D566D684}"/>
              </a:ext>
            </a:extLst>
          </p:cNvPr>
          <p:cNvSpPr txBox="1"/>
          <p:nvPr/>
        </p:nvSpPr>
        <p:spPr>
          <a:xfrm>
            <a:off x="-8" y="2198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err="1">
                <a:solidFill>
                  <a:srgbClr val="C55A11"/>
                </a:solidFill>
                <a:latin typeface="Calibri"/>
                <a:ea typeface="Calibri"/>
                <a:cs typeface="Calibri"/>
                <a:sym typeface="Calibri"/>
              </a:rPr>
              <a:t>RoBERTa</a:t>
            </a:r>
            <a:endParaRPr sz="1800" dirty="0">
              <a:solidFill>
                <a:schemeClr val="dk2"/>
              </a:solidFill>
            </a:endParaRPr>
          </a:p>
        </p:txBody>
      </p:sp>
      <p:cxnSp>
        <p:nvCxnSpPr>
          <p:cNvPr id="1195" name="Google Shape;1195;p123">
            <a:extLst>
              <a:ext uri="{FF2B5EF4-FFF2-40B4-BE49-F238E27FC236}">
                <a16:creationId xmlns:a16="http://schemas.microsoft.com/office/drawing/2014/main" id="{3C94DD23-E151-D450-672E-527B3E5DE744}"/>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198" name="Google Shape;1198;p123">
            <a:extLst>
              <a:ext uri="{FF2B5EF4-FFF2-40B4-BE49-F238E27FC236}">
                <a16:creationId xmlns:a16="http://schemas.microsoft.com/office/drawing/2014/main" id="{FBA04BC5-2D58-DD3F-3AD9-CB6D165673C8}"/>
              </a:ext>
            </a:extLst>
          </p:cNvPr>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solidFill>
                  <a:schemeClr val="dk2"/>
                </a:solidFill>
              </a:rPr>
              <a:t>References:</a:t>
            </a:r>
            <a:endParaRPr sz="700">
              <a:solidFill>
                <a:schemeClr val="dk2"/>
              </a:solidFill>
            </a:endParaRPr>
          </a:p>
          <a:p>
            <a:pPr marL="0" lvl="0" indent="0" algn="l" rtl="0">
              <a:spcBef>
                <a:spcPts val="0"/>
              </a:spcBef>
              <a:spcAft>
                <a:spcPts val="0"/>
              </a:spcAft>
              <a:buNone/>
            </a:pPr>
            <a:r>
              <a:rPr lang="en-GB" sz="700">
                <a:solidFill>
                  <a:schemeClr val="dk2"/>
                </a:solidFill>
              </a:rPr>
              <a:t>Paper: </a:t>
            </a:r>
            <a:r>
              <a:rPr lang="en-GB" sz="700" b="1" u="sng">
                <a:solidFill>
                  <a:schemeClr val="hlink"/>
                </a:solidFill>
                <a:highlight>
                  <a:srgbClr val="FFFFFF"/>
                </a:highlight>
                <a:hlinkClick r:id="rId3"/>
              </a:rPr>
              <a:t>RoBERTa: A Robustly Optimized BERT Pretraining Approach</a:t>
            </a:r>
            <a:endParaRPr sz="700" b="1">
              <a:solidFill>
                <a:schemeClr val="dk1"/>
              </a:solidFill>
              <a:highlight>
                <a:srgbClr val="FFFFFF"/>
              </a:highlight>
            </a:endParaRPr>
          </a:p>
          <a:p>
            <a:pPr marL="0" lvl="0" indent="0" algn="l" rtl="0">
              <a:lnSpc>
                <a:spcPct val="115000"/>
              </a:lnSpc>
              <a:spcBef>
                <a:spcPts val="0"/>
              </a:spcBef>
              <a:spcAft>
                <a:spcPts val="0"/>
              </a:spcAft>
              <a:buNone/>
            </a:pPr>
            <a:endParaRPr sz="700">
              <a:solidFill>
                <a:schemeClr val="dk1"/>
              </a:solidFill>
            </a:endParaRPr>
          </a:p>
          <a:p>
            <a:pPr marL="0" lvl="0" indent="0" algn="l" rtl="0">
              <a:spcBef>
                <a:spcPts val="0"/>
              </a:spcBef>
              <a:spcAft>
                <a:spcPts val="0"/>
              </a:spcAft>
              <a:buNone/>
            </a:pPr>
            <a:endParaRPr sz="700">
              <a:solidFill>
                <a:schemeClr val="dk2"/>
              </a:solidFill>
            </a:endParaRPr>
          </a:p>
          <a:p>
            <a:pPr marL="0" lvl="0" indent="0" algn="l" rtl="0">
              <a:spcBef>
                <a:spcPts val="0"/>
              </a:spcBef>
              <a:spcAft>
                <a:spcPts val="0"/>
              </a:spcAft>
              <a:buNone/>
            </a:pPr>
            <a:endParaRPr sz="700">
              <a:solidFill>
                <a:schemeClr val="dk2"/>
              </a:solidFill>
            </a:endParaRPr>
          </a:p>
        </p:txBody>
      </p:sp>
      <p:sp>
        <p:nvSpPr>
          <p:cNvPr id="2" name="object 6">
            <a:extLst>
              <a:ext uri="{FF2B5EF4-FFF2-40B4-BE49-F238E27FC236}">
                <a16:creationId xmlns:a16="http://schemas.microsoft.com/office/drawing/2014/main" id="{94BC1DB5-7E0F-FF69-BD34-A76A4FCF352F}"/>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9CA2103D-53FD-E963-AFFE-0CA9CF2FA353}"/>
              </a:ext>
            </a:extLst>
          </p:cNvPr>
          <p:cNvSpPr txBox="1"/>
          <p:nvPr/>
        </p:nvSpPr>
        <p:spPr>
          <a:xfrm>
            <a:off x="100346" y="645251"/>
            <a:ext cx="8943307" cy="4370748"/>
          </a:xfrm>
          <a:prstGeom prst="rect">
            <a:avLst/>
          </a:prstGeom>
          <a:noFill/>
        </p:spPr>
        <p:txBody>
          <a:bodyPr wrap="square">
            <a:spAutoFit/>
          </a:bodyPr>
          <a:lstStyle/>
          <a:p>
            <a:pPr marL="342900" lvl="0" indent="-342900">
              <a:lnSpc>
                <a:spcPct val="107000"/>
              </a:lnSpc>
              <a:spcAft>
                <a:spcPts val="800"/>
              </a:spcAft>
              <a:buFont typeface="+mj-lt"/>
              <a:buAutoNum type="arabicPeriod"/>
              <a:tabLst>
                <a:tab pos="4572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Question Answering</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Task</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Extracting answers from a given context based on a question.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Answering questions from a passage of text.</a:t>
            </a:r>
          </a:p>
          <a:p>
            <a:pPr marL="342900" lvl="0" indent="-342900">
              <a:lnSpc>
                <a:spcPct val="107000"/>
              </a:lnSpc>
              <a:spcAft>
                <a:spcPts val="800"/>
              </a:spcAft>
              <a:buFont typeface="+mj-lt"/>
              <a:buAutoNum type="arabicPeriod"/>
              <a:tabLst>
                <a:tab pos="4572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Named Entity Recognition (NER)</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Task</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Identifying and classifying entities in text.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Recognizing names of people, organizations, and locations.</a:t>
            </a:r>
          </a:p>
          <a:p>
            <a:pPr marL="342900" lvl="0" indent="-342900">
              <a:lnSpc>
                <a:spcPct val="107000"/>
              </a:lnSpc>
              <a:spcAft>
                <a:spcPts val="800"/>
              </a:spcAft>
              <a:buFont typeface="+mj-lt"/>
              <a:buAutoNum type="arabicPeriod"/>
              <a:tabLst>
                <a:tab pos="4572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Natural Language Inference (NLI)</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Task</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Determining the relationship between two sentences.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Identifying if one sentence entails, contradicts, or is neutral to another.</a:t>
            </a:r>
          </a:p>
          <a:p>
            <a:pPr marL="342900" lvl="0" indent="-342900">
              <a:lnSpc>
                <a:spcPct val="107000"/>
              </a:lnSpc>
              <a:spcAft>
                <a:spcPts val="800"/>
              </a:spcAft>
              <a:buFont typeface="+mj-lt"/>
              <a:buAutoNum type="arabicPeriod"/>
              <a:tabLst>
                <a:tab pos="4572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Semantic Textual Similarity (STS)</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Task</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Measuring the similarity between two pieces of text.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Comparing sentences to determine their similarity.</a:t>
            </a:r>
          </a:p>
        </p:txBody>
      </p:sp>
    </p:spTree>
    <p:extLst>
      <p:ext uri="{BB962C8B-B14F-4D97-AF65-F5344CB8AC3E}">
        <p14:creationId xmlns:p14="http://schemas.microsoft.com/office/powerpoint/2010/main" val="378972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124"/>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1204" name="Google Shape;1204;p124"/>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sp>
        <p:nvSpPr>
          <p:cNvPr id="1205" name="Google Shape;1205;p124"/>
          <p:cNvSpPr/>
          <p:nvPr/>
        </p:nvSpPr>
        <p:spPr>
          <a:xfrm>
            <a:off x="520425" y="4213096"/>
            <a:ext cx="5844000" cy="423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1800" b="1" i="0" u="none" strike="noStrike" cap="none">
                <a:solidFill>
                  <a:srgbClr val="000000"/>
                </a:solidFill>
                <a:latin typeface="Calibri"/>
                <a:ea typeface="Calibri"/>
                <a:cs typeface="Calibri"/>
                <a:sym typeface="Calibri"/>
              </a:rPr>
              <a:t>Dr. </a:t>
            </a:r>
            <a:r>
              <a:rPr lang="en-GB" sz="1800" b="1">
                <a:latin typeface="Calibri"/>
                <a:ea typeface="Calibri"/>
                <a:cs typeface="Calibri"/>
                <a:sym typeface="Calibri"/>
              </a:rPr>
              <a:t>Pooja Agarwal</a:t>
            </a:r>
            <a:endParaRPr sz="1800" b="1" i="0" u="none" strike="noStrike" cap="none">
              <a:solidFill>
                <a:srgbClr val="000000"/>
              </a:solidFill>
              <a:latin typeface="Calibri"/>
              <a:ea typeface="Calibri"/>
              <a:cs typeface="Calibri"/>
              <a:sym typeface="Calibri"/>
            </a:endParaRPr>
          </a:p>
        </p:txBody>
      </p:sp>
      <p:sp>
        <p:nvSpPr>
          <p:cNvPr id="1206" name="Google Shape;1206;p124"/>
          <p:cNvSpPr/>
          <p:nvPr/>
        </p:nvSpPr>
        <p:spPr>
          <a:xfrm>
            <a:off x="520437" y="4479694"/>
            <a:ext cx="5844000" cy="26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a:solidFill>
                  <a:srgbClr val="000000"/>
                </a:solidFill>
                <a:latin typeface="Calibri"/>
                <a:ea typeface="Calibri"/>
                <a:cs typeface="Calibri"/>
                <a:sym typeface="Calibri"/>
              </a:rPr>
              <a:t>Department of Computer Science and Engineering</a:t>
            </a:r>
            <a:endParaRPr b="0" i="0" u="none" strike="noStrike" cap="none">
              <a:solidFill>
                <a:srgbClr val="000000"/>
              </a:solidFill>
              <a:latin typeface="Calibri"/>
              <a:ea typeface="Calibri"/>
              <a:cs typeface="Calibri"/>
              <a:sym typeface="Calibri"/>
            </a:endParaRPr>
          </a:p>
        </p:txBody>
      </p:sp>
      <p:grpSp>
        <p:nvGrpSpPr>
          <p:cNvPr id="1207" name="Google Shape;1207;p124"/>
          <p:cNvGrpSpPr/>
          <p:nvPr/>
        </p:nvGrpSpPr>
        <p:grpSpPr>
          <a:xfrm>
            <a:off x="298326" y="4213338"/>
            <a:ext cx="831571" cy="722759"/>
            <a:chOff x="313939" y="5489794"/>
            <a:chExt cx="1066800" cy="1077941"/>
          </a:xfrm>
        </p:grpSpPr>
        <p:sp>
          <p:nvSpPr>
            <p:cNvPr id="1208" name="Google Shape;1208;p124"/>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1209" name="Google Shape;1209;p124"/>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1210" name="Google Shape;1210;p124"/>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1212" name="Google Shape;1212;p124"/>
          <p:cNvSpPr txBox="1"/>
          <p:nvPr/>
        </p:nvSpPr>
        <p:spPr>
          <a:xfrm>
            <a:off x="520425" y="2435300"/>
            <a:ext cx="6905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2400" b="1">
                <a:solidFill>
                  <a:srgbClr val="C55A11"/>
                </a:solidFill>
                <a:latin typeface="Calibri"/>
                <a:ea typeface="Calibri"/>
                <a:cs typeface="Calibri"/>
                <a:sym typeface="Calibri"/>
              </a:rPr>
              <a:t>BART</a:t>
            </a:r>
            <a:endParaRPr/>
          </a:p>
        </p:txBody>
      </p:sp>
      <p:sp>
        <p:nvSpPr>
          <p:cNvPr id="2" name="object 6">
            <a:extLst>
              <a:ext uri="{FF2B5EF4-FFF2-40B4-BE49-F238E27FC236}">
                <a16:creationId xmlns:a16="http://schemas.microsoft.com/office/drawing/2014/main" id="{E0A6E6F2-268E-BB31-D512-9A32B4D55A56}"/>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D467631C-479F-8057-86BC-52BA34EB0B16}"/>
              </a:ext>
            </a:extLst>
          </p:cNvPr>
          <p:cNvSpPr txBox="1"/>
          <p:nvPr/>
        </p:nvSpPr>
        <p:spPr>
          <a:xfrm>
            <a:off x="2365898" y="2624769"/>
            <a:ext cx="6405239" cy="790794"/>
          </a:xfrm>
          <a:prstGeom prst="rect">
            <a:avLst/>
          </a:prstGeom>
          <a:noFill/>
        </p:spPr>
        <p:txBody>
          <a:bodyPr wrap="square">
            <a:spAutoFit/>
          </a:bodyPr>
          <a:lstStyle/>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b="1" i="1" kern="100" dirty="0">
                <a:effectLst/>
                <a:latin typeface="Calibri" panose="020F0502020204030204" pitchFamily="34" charset="0"/>
                <a:ea typeface="Calibri" panose="020F0502020204030204" pitchFamily="34" charset="0"/>
                <a:cs typeface="Times New Roman" panose="02020603050405020304" pitchFamily="18" charset="0"/>
              </a:rPr>
              <a:t>Combines the strengths of BERT and GPT. Used for text generation, summarization, translation, and other sequence-to-sequence tasks.</a:t>
            </a:r>
          </a:p>
        </p:txBody>
      </p:sp>
    </p:spTree>
    <p:extLst>
      <p:ext uri="{BB962C8B-B14F-4D97-AF65-F5344CB8AC3E}">
        <p14:creationId xmlns:p14="http://schemas.microsoft.com/office/powerpoint/2010/main" val="376172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p125"/>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BART</a:t>
            </a:r>
            <a:endParaRPr sz="1800">
              <a:solidFill>
                <a:schemeClr val="dk2"/>
              </a:solidFill>
            </a:endParaRPr>
          </a:p>
        </p:txBody>
      </p:sp>
      <p:cxnSp>
        <p:nvCxnSpPr>
          <p:cNvPr id="1218" name="Google Shape;1218;p125"/>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219" name="Google Shape;1219;p125"/>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latin typeface="Roboto"/>
                <a:ea typeface="Roboto"/>
                <a:cs typeface="Roboto"/>
                <a:sym typeface="Roboto"/>
              </a:rPr>
              <a:t>B</a:t>
            </a:r>
            <a:r>
              <a:rPr lang="en-GB" sz="1500" dirty="0">
                <a:solidFill>
                  <a:schemeClr val="dk1"/>
                </a:solidFill>
                <a:latin typeface="Roboto"/>
                <a:ea typeface="Roboto"/>
                <a:cs typeface="Roboto"/>
                <a:sym typeface="Roboto"/>
              </a:rPr>
              <a:t>idirectional and</a:t>
            </a:r>
            <a:r>
              <a:rPr lang="en-GB" sz="1500" b="1" dirty="0">
                <a:solidFill>
                  <a:schemeClr val="dk1"/>
                </a:solidFill>
                <a:latin typeface="Roboto"/>
                <a:ea typeface="Roboto"/>
                <a:cs typeface="Roboto"/>
                <a:sym typeface="Roboto"/>
              </a:rPr>
              <a:t> A</a:t>
            </a:r>
            <a:r>
              <a:rPr lang="en-GB" sz="1500" dirty="0">
                <a:solidFill>
                  <a:schemeClr val="dk1"/>
                </a:solidFill>
                <a:latin typeface="Roboto"/>
                <a:ea typeface="Roboto"/>
                <a:cs typeface="Roboto"/>
                <a:sym typeface="Roboto"/>
              </a:rPr>
              <a:t>uto</a:t>
            </a:r>
            <a:r>
              <a:rPr lang="en-GB" sz="1500" b="1" dirty="0">
                <a:solidFill>
                  <a:schemeClr val="dk1"/>
                </a:solidFill>
                <a:latin typeface="Roboto"/>
                <a:ea typeface="Roboto"/>
                <a:cs typeface="Roboto"/>
                <a:sym typeface="Roboto"/>
              </a:rPr>
              <a:t>-R</a:t>
            </a:r>
            <a:r>
              <a:rPr lang="en-GB" sz="1500" dirty="0">
                <a:solidFill>
                  <a:schemeClr val="dk1"/>
                </a:solidFill>
                <a:latin typeface="Roboto"/>
                <a:ea typeface="Roboto"/>
                <a:cs typeface="Roboto"/>
                <a:sym typeface="Roboto"/>
              </a:rPr>
              <a:t>egressive</a:t>
            </a:r>
            <a:r>
              <a:rPr lang="en-GB" sz="1500" b="1" dirty="0">
                <a:solidFill>
                  <a:schemeClr val="dk1"/>
                </a:solidFill>
                <a:latin typeface="Roboto"/>
                <a:ea typeface="Roboto"/>
                <a:cs typeface="Roboto"/>
                <a:sym typeface="Roboto"/>
              </a:rPr>
              <a:t> T</a:t>
            </a:r>
            <a:r>
              <a:rPr lang="en-GB" sz="1500" dirty="0">
                <a:solidFill>
                  <a:schemeClr val="dk1"/>
                </a:solidFill>
                <a:latin typeface="Roboto"/>
                <a:ea typeface="Roboto"/>
                <a:cs typeface="Roboto"/>
                <a:sym typeface="Roboto"/>
              </a:rPr>
              <a:t>ransformers</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r>
              <a:rPr lang="en-GB" sz="1500" dirty="0">
                <a:solidFill>
                  <a:schemeClr val="dk1"/>
                </a:solidFill>
                <a:latin typeface="Roboto"/>
                <a:ea typeface="Roboto"/>
                <a:cs typeface="Roboto"/>
                <a:sym typeface="Roboto"/>
              </a:rPr>
              <a:t>BART represents a significant advancement in pre-trained language models, </a:t>
            </a:r>
            <a:r>
              <a:rPr lang="en-GB" sz="1500" b="1" dirty="0">
                <a:solidFill>
                  <a:schemeClr val="dk1"/>
                </a:solidFill>
                <a:latin typeface="Roboto"/>
                <a:ea typeface="Roboto"/>
                <a:cs typeface="Roboto"/>
                <a:sym typeface="Roboto"/>
              </a:rPr>
              <a:t>combining the best aspects of BERT and GPT </a:t>
            </a:r>
            <a:r>
              <a:rPr lang="en-GB" sz="1500" dirty="0">
                <a:solidFill>
                  <a:schemeClr val="dk1"/>
                </a:solidFill>
                <a:latin typeface="Roboto"/>
                <a:ea typeface="Roboto"/>
                <a:cs typeface="Roboto"/>
                <a:sym typeface="Roboto"/>
              </a:rPr>
              <a:t>into a versatile sequence-to-sequence architecture</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r>
              <a:rPr lang="en-GB" sz="1500" dirty="0">
                <a:solidFill>
                  <a:schemeClr val="dk1"/>
                </a:solidFill>
                <a:latin typeface="Roboto"/>
                <a:ea typeface="Roboto"/>
                <a:cs typeface="Roboto"/>
                <a:sym typeface="Roboto"/>
              </a:rPr>
              <a:t>Bart uses a standard seq2seq/machine translation architecture with a bidirectional encoder (like BERT) and a left-to-right decoder (like GPT).</a:t>
            </a:r>
            <a:endParaRPr sz="1550" dirty="0">
              <a:solidFill>
                <a:srgbClr val="B3BCC9"/>
              </a:solidFill>
              <a:highlight>
                <a:srgbClr val="0B0F19"/>
              </a:highlight>
            </a:endParaRPr>
          </a:p>
          <a:p>
            <a:pPr marL="0" lvl="0" indent="0" algn="l" rtl="0">
              <a:lnSpc>
                <a:spcPct val="115000"/>
              </a:lnSpc>
              <a:spcBef>
                <a:spcPts val="1200"/>
              </a:spcBef>
              <a:spcAft>
                <a:spcPts val="1200"/>
              </a:spcAft>
              <a:buNone/>
            </a:pPr>
            <a:endParaRPr sz="1200" dirty="0">
              <a:solidFill>
                <a:schemeClr val="dk1"/>
              </a:solidFill>
              <a:latin typeface="Roboto"/>
              <a:ea typeface="Roboto"/>
              <a:cs typeface="Roboto"/>
              <a:sym typeface="Roboto"/>
            </a:endParaRPr>
          </a:p>
        </p:txBody>
      </p:sp>
      <p:sp>
        <p:nvSpPr>
          <p:cNvPr id="1221" name="Google Shape;1221;p125"/>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a:solidFill>
                  <a:schemeClr val="dk2"/>
                </a:solidFill>
              </a:rPr>
              <a:t>Paper: </a:t>
            </a:r>
            <a:r>
              <a:rPr lang="en-GB" sz="800" b="1" u="sng">
                <a:solidFill>
                  <a:schemeClr val="hlink"/>
                </a:solidFill>
                <a:highlight>
                  <a:srgbClr val="FFFFFF"/>
                </a:highlight>
                <a:hlinkClick r:id="rId3"/>
              </a:rPr>
              <a:t>BART Paper</a:t>
            </a:r>
            <a:endParaRPr sz="800" b="1">
              <a:solidFill>
                <a:schemeClr val="dk1"/>
              </a:solidFill>
              <a:highlight>
                <a:srgbClr val="FFFFFF"/>
              </a:highlight>
            </a:endParaRPr>
          </a:p>
          <a:p>
            <a:pPr marL="0" lvl="0" indent="0" algn="l" rtl="0">
              <a:spcBef>
                <a:spcPts val="0"/>
              </a:spcBef>
              <a:spcAft>
                <a:spcPts val="0"/>
              </a:spcAft>
              <a:buNone/>
            </a:pPr>
            <a:endParaRPr sz="800" b="1">
              <a:solidFill>
                <a:schemeClr val="dk2"/>
              </a:solidFill>
              <a:highlight>
                <a:srgbClr val="FFFFFF"/>
              </a:highlight>
            </a:endParaRPr>
          </a:p>
          <a:p>
            <a:pPr marL="0" lvl="0" indent="0" algn="l" rtl="0">
              <a:lnSpc>
                <a:spcPct val="115000"/>
              </a:lnSpc>
              <a:spcBef>
                <a:spcPts val="0"/>
              </a:spcBef>
              <a:spcAft>
                <a:spcPts val="0"/>
              </a:spcAft>
              <a:buNone/>
            </a:pPr>
            <a:endParaRPr sz="800">
              <a:solidFill>
                <a:schemeClr val="dk1"/>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222" name="Google Shape;1222;p125"/>
          <p:cNvPicPr preferRelativeResize="0"/>
          <p:nvPr/>
        </p:nvPicPr>
        <p:blipFill>
          <a:blip r:embed="rId4">
            <a:alphaModFix/>
          </a:blip>
          <a:stretch>
            <a:fillRect/>
          </a:stretch>
        </p:blipFill>
        <p:spPr>
          <a:xfrm>
            <a:off x="4087331" y="3059425"/>
            <a:ext cx="4212775" cy="1740350"/>
          </a:xfrm>
          <a:prstGeom prst="rect">
            <a:avLst/>
          </a:prstGeom>
          <a:noFill/>
          <a:ln>
            <a:noFill/>
          </a:ln>
        </p:spPr>
      </p:pic>
      <p:sp>
        <p:nvSpPr>
          <p:cNvPr id="2" name="object 6">
            <a:extLst>
              <a:ext uri="{FF2B5EF4-FFF2-40B4-BE49-F238E27FC236}">
                <a16:creationId xmlns:a16="http://schemas.microsoft.com/office/drawing/2014/main" id="{0D7D2638-52CC-070B-87FF-8B47E0FCE8FF}"/>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695261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126"/>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BART</a:t>
            </a:r>
            <a:endParaRPr sz="1800">
              <a:solidFill>
                <a:schemeClr val="dk2"/>
              </a:solidFill>
            </a:endParaRPr>
          </a:p>
        </p:txBody>
      </p:sp>
      <p:cxnSp>
        <p:nvCxnSpPr>
          <p:cNvPr id="1228" name="Google Shape;1228;p126"/>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229" name="Google Shape;1229;p126"/>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latin typeface="Roboto"/>
                <a:ea typeface="Roboto"/>
                <a:cs typeface="Roboto"/>
                <a:sym typeface="Roboto"/>
              </a:rPr>
              <a:t>B</a:t>
            </a:r>
            <a:r>
              <a:rPr lang="en-GB" sz="1500" dirty="0">
                <a:solidFill>
                  <a:schemeClr val="dk1"/>
                </a:solidFill>
                <a:latin typeface="Roboto"/>
                <a:ea typeface="Roboto"/>
                <a:cs typeface="Roboto"/>
                <a:sym typeface="Roboto"/>
              </a:rPr>
              <a:t>idirectional and</a:t>
            </a:r>
            <a:r>
              <a:rPr lang="en-GB" sz="1500" b="1" dirty="0">
                <a:solidFill>
                  <a:schemeClr val="dk1"/>
                </a:solidFill>
                <a:latin typeface="Roboto"/>
                <a:ea typeface="Roboto"/>
                <a:cs typeface="Roboto"/>
                <a:sym typeface="Roboto"/>
              </a:rPr>
              <a:t> A</a:t>
            </a:r>
            <a:r>
              <a:rPr lang="en-GB" sz="1500" dirty="0">
                <a:solidFill>
                  <a:schemeClr val="dk1"/>
                </a:solidFill>
                <a:latin typeface="Roboto"/>
                <a:ea typeface="Roboto"/>
                <a:cs typeface="Roboto"/>
                <a:sym typeface="Roboto"/>
              </a:rPr>
              <a:t>uto</a:t>
            </a:r>
            <a:r>
              <a:rPr lang="en-GB" sz="1500" b="1" dirty="0">
                <a:solidFill>
                  <a:schemeClr val="dk1"/>
                </a:solidFill>
                <a:latin typeface="Roboto"/>
                <a:ea typeface="Roboto"/>
                <a:cs typeface="Roboto"/>
                <a:sym typeface="Roboto"/>
              </a:rPr>
              <a:t>-R</a:t>
            </a:r>
            <a:r>
              <a:rPr lang="en-GB" sz="1500" dirty="0">
                <a:solidFill>
                  <a:schemeClr val="dk1"/>
                </a:solidFill>
                <a:latin typeface="Roboto"/>
                <a:ea typeface="Roboto"/>
                <a:cs typeface="Roboto"/>
                <a:sym typeface="Roboto"/>
              </a:rPr>
              <a:t>egressive</a:t>
            </a:r>
            <a:r>
              <a:rPr lang="en-GB" sz="1500" b="1" dirty="0">
                <a:solidFill>
                  <a:schemeClr val="dk1"/>
                </a:solidFill>
                <a:latin typeface="Roboto"/>
                <a:ea typeface="Roboto"/>
                <a:cs typeface="Roboto"/>
                <a:sym typeface="Roboto"/>
              </a:rPr>
              <a:t> T</a:t>
            </a:r>
            <a:r>
              <a:rPr lang="en-GB" sz="1500" dirty="0">
                <a:solidFill>
                  <a:schemeClr val="dk1"/>
                </a:solidFill>
                <a:latin typeface="Roboto"/>
                <a:ea typeface="Roboto"/>
                <a:cs typeface="Roboto"/>
                <a:sym typeface="Roboto"/>
              </a:rPr>
              <a:t>ransformers</a:t>
            </a:r>
            <a:endParaRPr sz="1500" dirty="0">
              <a:solidFill>
                <a:schemeClr val="dk1"/>
              </a:solidFill>
              <a:latin typeface="Roboto"/>
              <a:ea typeface="Roboto"/>
              <a:cs typeface="Roboto"/>
              <a:sym typeface="Roboto"/>
            </a:endParaRPr>
          </a:p>
          <a:p>
            <a:pPr marL="0" lvl="0" indent="0" algn="l" rtl="0">
              <a:lnSpc>
                <a:spcPct val="115000"/>
              </a:lnSpc>
              <a:spcBef>
                <a:spcPts val="1800"/>
              </a:spcBef>
              <a:spcAft>
                <a:spcPts val="0"/>
              </a:spcAft>
              <a:buClr>
                <a:schemeClr val="dk1"/>
              </a:buClr>
              <a:buSzPts val="1100"/>
              <a:buFont typeface="Arial"/>
              <a:buNone/>
            </a:pPr>
            <a:r>
              <a:rPr lang="en-GB" sz="1500" b="1" dirty="0">
                <a:solidFill>
                  <a:schemeClr val="dk1"/>
                </a:solidFill>
              </a:rPr>
              <a:t>Architecture</a:t>
            </a:r>
            <a:endParaRPr sz="1500" b="1"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GB" sz="1500" dirty="0">
                <a:solidFill>
                  <a:schemeClr val="dk1"/>
                </a:solidFill>
                <a:latin typeface="Roboto"/>
                <a:ea typeface="Roboto"/>
                <a:cs typeface="Roboto"/>
                <a:sym typeface="Roboto"/>
              </a:rPr>
              <a:t>BART employs a standard Transformer-based sequence-to-sequence model with a bidirectional encoder and an auto-regressive decoder. </a:t>
            </a:r>
            <a:r>
              <a:rPr lang="en-GB" sz="1500" b="1" i="1" dirty="0">
                <a:solidFill>
                  <a:schemeClr val="dk1"/>
                </a:solidFill>
                <a:latin typeface="Roboto"/>
                <a:ea typeface="Roboto"/>
                <a:cs typeface="Roboto"/>
                <a:sym typeface="Roboto"/>
              </a:rPr>
              <a:t>The model consists of:</a:t>
            </a:r>
            <a:endParaRPr sz="1500" b="1" i="1" dirty="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GB" sz="1500" b="1" u="sng" dirty="0">
                <a:solidFill>
                  <a:schemeClr val="dk1"/>
                </a:solidFill>
                <a:latin typeface="Roboto"/>
                <a:ea typeface="Roboto"/>
                <a:cs typeface="Roboto"/>
                <a:sym typeface="Roboto"/>
              </a:rPr>
              <a:t>Encoder: </a:t>
            </a:r>
            <a:r>
              <a:rPr lang="en-GB" sz="1500" dirty="0">
                <a:solidFill>
                  <a:schemeClr val="dk1"/>
                </a:solidFill>
                <a:latin typeface="Roboto"/>
                <a:ea typeface="Roboto"/>
                <a:cs typeface="Roboto"/>
                <a:sym typeface="Roboto"/>
              </a:rPr>
              <a:t>A bidirectional encoder similar to BERT that processes corrupted input text.</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r>
              <a:rPr lang="en-GB" sz="1500" b="1" u="sng" dirty="0">
                <a:solidFill>
                  <a:schemeClr val="dk1"/>
                </a:solidFill>
                <a:latin typeface="Roboto"/>
                <a:ea typeface="Roboto"/>
                <a:cs typeface="Roboto"/>
                <a:sym typeface="Roboto"/>
              </a:rPr>
              <a:t>Decoder: </a:t>
            </a:r>
            <a:r>
              <a:rPr lang="en-GB" sz="1500" dirty="0">
                <a:solidFill>
                  <a:schemeClr val="dk1"/>
                </a:solidFill>
                <a:latin typeface="Roboto"/>
                <a:ea typeface="Roboto"/>
                <a:cs typeface="Roboto"/>
                <a:sym typeface="Roboto"/>
              </a:rPr>
              <a:t>A left-to-right autoregressive decoder that generates output text, similar to GPT</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1200"/>
              </a:spcAft>
              <a:buNone/>
            </a:pPr>
            <a:endParaRPr sz="1200" dirty="0">
              <a:solidFill>
                <a:schemeClr val="dk1"/>
              </a:solidFill>
              <a:latin typeface="Roboto"/>
              <a:ea typeface="Roboto"/>
              <a:cs typeface="Roboto"/>
              <a:sym typeface="Roboto"/>
            </a:endParaRPr>
          </a:p>
        </p:txBody>
      </p:sp>
      <p:sp>
        <p:nvSpPr>
          <p:cNvPr id="1231" name="Google Shape;1231;p126"/>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a:solidFill>
                  <a:schemeClr val="dk2"/>
                </a:solidFill>
              </a:rPr>
              <a:t>Paper: </a:t>
            </a:r>
            <a:r>
              <a:rPr lang="en-GB" sz="800" b="1" u="sng">
                <a:solidFill>
                  <a:schemeClr val="hlink"/>
                </a:solidFill>
                <a:highlight>
                  <a:srgbClr val="FFFFFF"/>
                </a:highlight>
                <a:hlinkClick r:id="rId3"/>
              </a:rPr>
              <a:t>BART Paper</a:t>
            </a:r>
            <a:endParaRPr sz="800" b="1">
              <a:solidFill>
                <a:schemeClr val="dk1"/>
              </a:solidFill>
              <a:highlight>
                <a:srgbClr val="FFFFFF"/>
              </a:highlight>
            </a:endParaRPr>
          </a:p>
          <a:p>
            <a:pPr marL="0" lvl="0" indent="0" algn="l" rtl="0">
              <a:spcBef>
                <a:spcPts val="0"/>
              </a:spcBef>
              <a:spcAft>
                <a:spcPts val="0"/>
              </a:spcAft>
              <a:buNone/>
            </a:pPr>
            <a:endParaRPr sz="800" b="1">
              <a:solidFill>
                <a:schemeClr val="dk2"/>
              </a:solidFill>
              <a:highlight>
                <a:srgbClr val="FFFFFF"/>
              </a:highlight>
            </a:endParaRPr>
          </a:p>
          <a:p>
            <a:pPr marL="0" lvl="0" indent="0" algn="l" rtl="0">
              <a:lnSpc>
                <a:spcPct val="115000"/>
              </a:lnSpc>
              <a:spcBef>
                <a:spcPts val="0"/>
              </a:spcBef>
              <a:spcAft>
                <a:spcPts val="0"/>
              </a:spcAft>
              <a:buNone/>
            </a:pPr>
            <a:endParaRPr sz="800">
              <a:solidFill>
                <a:schemeClr val="dk1"/>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232" name="Google Shape;1232;p126"/>
          <p:cNvPicPr preferRelativeResize="0"/>
          <p:nvPr/>
        </p:nvPicPr>
        <p:blipFill>
          <a:blip r:embed="rId4">
            <a:alphaModFix/>
          </a:blip>
          <a:stretch>
            <a:fillRect/>
          </a:stretch>
        </p:blipFill>
        <p:spPr>
          <a:xfrm>
            <a:off x="4276781" y="3227825"/>
            <a:ext cx="4212775" cy="1740350"/>
          </a:xfrm>
          <a:prstGeom prst="rect">
            <a:avLst/>
          </a:prstGeom>
          <a:noFill/>
          <a:ln>
            <a:noFill/>
          </a:ln>
        </p:spPr>
      </p:pic>
      <p:sp>
        <p:nvSpPr>
          <p:cNvPr id="2" name="object 6">
            <a:extLst>
              <a:ext uri="{FF2B5EF4-FFF2-40B4-BE49-F238E27FC236}">
                <a16:creationId xmlns:a16="http://schemas.microsoft.com/office/drawing/2014/main" id="{EDC0846B-3E75-920E-BD50-6EBD6B19F550}"/>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25391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127"/>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BART</a:t>
            </a:r>
            <a:endParaRPr sz="1800">
              <a:solidFill>
                <a:schemeClr val="dk2"/>
              </a:solidFill>
            </a:endParaRPr>
          </a:p>
        </p:txBody>
      </p:sp>
      <p:cxnSp>
        <p:nvCxnSpPr>
          <p:cNvPr id="1238" name="Google Shape;1238;p127"/>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239" name="Google Shape;1239;p127"/>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latin typeface="Roboto"/>
                <a:ea typeface="Roboto"/>
                <a:cs typeface="Roboto"/>
                <a:sym typeface="Roboto"/>
              </a:rPr>
              <a:t>B</a:t>
            </a:r>
            <a:r>
              <a:rPr lang="en-GB" sz="1500" dirty="0">
                <a:solidFill>
                  <a:schemeClr val="dk1"/>
                </a:solidFill>
                <a:latin typeface="Roboto"/>
                <a:ea typeface="Roboto"/>
                <a:cs typeface="Roboto"/>
                <a:sym typeface="Roboto"/>
              </a:rPr>
              <a:t>idirectional and</a:t>
            </a:r>
            <a:r>
              <a:rPr lang="en-GB" sz="1500" b="1" dirty="0">
                <a:solidFill>
                  <a:schemeClr val="dk1"/>
                </a:solidFill>
                <a:latin typeface="Roboto"/>
                <a:ea typeface="Roboto"/>
                <a:cs typeface="Roboto"/>
                <a:sym typeface="Roboto"/>
              </a:rPr>
              <a:t> A</a:t>
            </a:r>
            <a:r>
              <a:rPr lang="en-GB" sz="1500" dirty="0">
                <a:solidFill>
                  <a:schemeClr val="dk1"/>
                </a:solidFill>
                <a:latin typeface="Roboto"/>
                <a:ea typeface="Roboto"/>
                <a:cs typeface="Roboto"/>
                <a:sym typeface="Roboto"/>
              </a:rPr>
              <a:t>uto</a:t>
            </a:r>
            <a:r>
              <a:rPr lang="en-GB" sz="1500" b="1" dirty="0">
                <a:solidFill>
                  <a:schemeClr val="dk1"/>
                </a:solidFill>
                <a:latin typeface="Roboto"/>
                <a:ea typeface="Roboto"/>
                <a:cs typeface="Roboto"/>
                <a:sym typeface="Roboto"/>
              </a:rPr>
              <a:t>-R</a:t>
            </a:r>
            <a:r>
              <a:rPr lang="en-GB" sz="1500" dirty="0">
                <a:solidFill>
                  <a:schemeClr val="dk1"/>
                </a:solidFill>
                <a:latin typeface="Roboto"/>
                <a:ea typeface="Roboto"/>
                <a:cs typeface="Roboto"/>
                <a:sym typeface="Roboto"/>
              </a:rPr>
              <a:t>egressive</a:t>
            </a:r>
            <a:r>
              <a:rPr lang="en-GB" sz="1500" b="1" dirty="0">
                <a:solidFill>
                  <a:schemeClr val="dk1"/>
                </a:solidFill>
                <a:latin typeface="Roboto"/>
                <a:ea typeface="Roboto"/>
                <a:cs typeface="Roboto"/>
                <a:sym typeface="Roboto"/>
              </a:rPr>
              <a:t> T</a:t>
            </a:r>
            <a:r>
              <a:rPr lang="en-GB" sz="1500" dirty="0">
                <a:solidFill>
                  <a:schemeClr val="dk1"/>
                </a:solidFill>
                <a:latin typeface="Roboto"/>
                <a:ea typeface="Roboto"/>
                <a:cs typeface="Roboto"/>
                <a:sym typeface="Roboto"/>
              </a:rPr>
              <a:t>ransformers</a:t>
            </a:r>
            <a:endParaRPr sz="1500" dirty="0">
              <a:solidFill>
                <a:schemeClr val="dk1"/>
              </a:solidFill>
              <a:latin typeface="Roboto"/>
              <a:ea typeface="Roboto"/>
              <a:cs typeface="Roboto"/>
              <a:sym typeface="Roboto"/>
            </a:endParaRPr>
          </a:p>
          <a:p>
            <a:pPr marL="0" lvl="0" indent="0" algn="l" rtl="0">
              <a:lnSpc>
                <a:spcPct val="115000"/>
              </a:lnSpc>
              <a:spcBef>
                <a:spcPts val="1800"/>
              </a:spcBef>
              <a:spcAft>
                <a:spcPts val="0"/>
              </a:spcAft>
              <a:buClr>
                <a:schemeClr val="dk1"/>
              </a:buClr>
              <a:buSzPts val="1100"/>
              <a:buFont typeface="Arial"/>
              <a:buNone/>
            </a:pPr>
            <a:r>
              <a:rPr lang="en-GB" sz="1500" b="1" i="1" u="sng" dirty="0">
                <a:solidFill>
                  <a:schemeClr val="dk1"/>
                </a:solidFill>
              </a:rPr>
              <a:t>Pre-training Approach</a:t>
            </a:r>
            <a:endParaRPr sz="1500" b="1" i="1" u="sng"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GB" sz="1500" dirty="0">
                <a:solidFill>
                  <a:schemeClr val="dk1"/>
                </a:solidFill>
                <a:latin typeface="Roboto"/>
                <a:ea typeface="Roboto"/>
                <a:cs typeface="Roboto"/>
                <a:sym typeface="Roboto"/>
              </a:rPr>
              <a:t>BART's pre-training process involves two key steps:</a:t>
            </a:r>
            <a:endParaRPr sz="1500" dirty="0">
              <a:solidFill>
                <a:schemeClr val="dk1"/>
              </a:solidFill>
              <a:latin typeface="Roboto"/>
              <a:ea typeface="Roboto"/>
              <a:cs typeface="Roboto"/>
              <a:sym typeface="Roboto"/>
            </a:endParaRPr>
          </a:p>
          <a:p>
            <a:pPr marL="457200" lvl="0" indent="-323850" algn="l" rtl="0">
              <a:lnSpc>
                <a:spcPct val="115000"/>
              </a:lnSpc>
              <a:spcBef>
                <a:spcPts val="600"/>
              </a:spcBef>
              <a:spcAft>
                <a:spcPts val="0"/>
              </a:spcAft>
              <a:buClr>
                <a:schemeClr val="dk1"/>
              </a:buClr>
              <a:buSzPts val="1500"/>
              <a:buAutoNum type="arabicPeriod"/>
            </a:pPr>
            <a:r>
              <a:rPr lang="en-GB" sz="1500" dirty="0">
                <a:solidFill>
                  <a:schemeClr val="dk1"/>
                </a:solidFill>
                <a:latin typeface="Roboto"/>
                <a:ea typeface="Roboto"/>
                <a:cs typeface="Roboto"/>
                <a:sym typeface="Roboto"/>
              </a:rPr>
              <a:t>Text Corruption: Documents are corrupted using various noise functions:</a:t>
            </a: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en-GB" sz="1500" dirty="0">
                <a:solidFill>
                  <a:schemeClr val="dk1"/>
                </a:solidFill>
                <a:latin typeface="Roboto"/>
                <a:ea typeface="Roboto"/>
                <a:cs typeface="Roboto"/>
                <a:sym typeface="Roboto"/>
              </a:rPr>
              <a:t>Token masking: Random tokens replaced with [MASK]</a:t>
            </a: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en-GB" sz="1500" dirty="0">
                <a:solidFill>
                  <a:schemeClr val="dk1"/>
                </a:solidFill>
                <a:latin typeface="Roboto"/>
                <a:ea typeface="Roboto"/>
                <a:cs typeface="Roboto"/>
                <a:sym typeface="Roboto"/>
              </a:rPr>
              <a:t>Token deletion: Random tokens removed</a:t>
            </a: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en-GB" sz="1500" dirty="0">
                <a:solidFill>
                  <a:schemeClr val="dk1"/>
                </a:solidFill>
                <a:latin typeface="Roboto"/>
                <a:ea typeface="Roboto"/>
                <a:cs typeface="Roboto"/>
                <a:sym typeface="Roboto"/>
              </a:rPr>
              <a:t>Text infilling: Text spans replaced with single [MASK] token</a:t>
            </a: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en-GB" sz="1500" dirty="0">
                <a:solidFill>
                  <a:schemeClr val="dk1"/>
                </a:solidFill>
                <a:latin typeface="Roboto"/>
                <a:ea typeface="Roboto"/>
                <a:cs typeface="Roboto"/>
                <a:sym typeface="Roboto"/>
              </a:rPr>
              <a:t>Sentence permutation: Sentences shuffled randomly</a:t>
            </a: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en-GB" sz="1500" dirty="0">
                <a:solidFill>
                  <a:schemeClr val="dk1"/>
                </a:solidFill>
                <a:latin typeface="Roboto"/>
                <a:ea typeface="Roboto"/>
                <a:cs typeface="Roboto"/>
                <a:sym typeface="Roboto"/>
              </a:rPr>
              <a:t>Document rotation: Text rotated around random token</a:t>
            </a:r>
            <a:endParaRPr sz="1500" dirty="0">
              <a:solidFill>
                <a:schemeClr val="dk1"/>
              </a:solidFill>
              <a:latin typeface="Roboto"/>
              <a:ea typeface="Roboto"/>
              <a:cs typeface="Roboto"/>
              <a:sym typeface="Roboto"/>
            </a:endParaRPr>
          </a:p>
          <a:p>
            <a:pPr marL="457200" lvl="0" indent="0" algn="l" rtl="0">
              <a:lnSpc>
                <a:spcPct val="115000"/>
              </a:lnSpc>
              <a:spcBef>
                <a:spcPts val="600"/>
              </a:spcBef>
              <a:spcAft>
                <a:spcPts val="0"/>
              </a:spcAft>
              <a:buNone/>
            </a:pPr>
            <a:endParaRPr sz="1500" dirty="0">
              <a:solidFill>
                <a:schemeClr val="dk1"/>
              </a:solidFill>
              <a:latin typeface="Roboto"/>
              <a:ea typeface="Roboto"/>
              <a:cs typeface="Roboto"/>
              <a:sym typeface="Roboto"/>
            </a:endParaRPr>
          </a:p>
          <a:p>
            <a:pPr marL="457200" lvl="0" indent="-323850" algn="l" rtl="0">
              <a:lnSpc>
                <a:spcPct val="115000"/>
              </a:lnSpc>
              <a:spcBef>
                <a:spcPts val="600"/>
              </a:spcBef>
              <a:spcAft>
                <a:spcPts val="0"/>
              </a:spcAft>
              <a:buClr>
                <a:schemeClr val="dk1"/>
              </a:buClr>
              <a:buSzPts val="1500"/>
              <a:buFont typeface="Roboto"/>
              <a:buAutoNum type="arabicPeriod" startAt="2"/>
            </a:pPr>
            <a:r>
              <a:rPr lang="en-GB" sz="1500" dirty="0">
                <a:solidFill>
                  <a:schemeClr val="dk1"/>
                </a:solidFill>
                <a:latin typeface="Roboto"/>
                <a:ea typeface="Roboto"/>
                <a:cs typeface="Roboto"/>
                <a:sym typeface="Roboto"/>
              </a:rPr>
              <a:t>Reconstruction: The model learns to reconstruct the original text from corrupted input</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b="1" dirty="0">
              <a:solidFill>
                <a:schemeClr val="dk1"/>
              </a:solidFill>
            </a:endParaRPr>
          </a:p>
          <a:p>
            <a:pPr marL="0" lvl="0" indent="0" algn="l" rtl="0">
              <a:lnSpc>
                <a:spcPct val="115000"/>
              </a:lnSpc>
              <a:spcBef>
                <a:spcPts val="1200"/>
              </a:spcBef>
              <a:spcAft>
                <a:spcPts val="1200"/>
              </a:spcAft>
              <a:buNone/>
            </a:pPr>
            <a:endParaRPr sz="1200" dirty="0">
              <a:solidFill>
                <a:schemeClr val="dk1"/>
              </a:solidFill>
              <a:latin typeface="Roboto"/>
              <a:ea typeface="Roboto"/>
              <a:cs typeface="Roboto"/>
              <a:sym typeface="Roboto"/>
            </a:endParaRPr>
          </a:p>
        </p:txBody>
      </p:sp>
      <p:sp>
        <p:nvSpPr>
          <p:cNvPr id="1241" name="Google Shape;1241;p127"/>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a:solidFill>
                  <a:schemeClr val="dk2"/>
                </a:solidFill>
              </a:rPr>
              <a:t>Paper: </a:t>
            </a:r>
            <a:r>
              <a:rPr lang="en-GB" sz="800" b="1" u="sng">
                <a:solidFill>
                  <a:schemeClr val="hlink"/>
                </a:solidFill>
                <a:highlight>
                  <a:srgbClr val="FFFFFF"/>
                </a:highlight>
                <a:hlinkClick r:id="rId3"/>
              </a:rPr>
              <a:t>BART Paper</a:t>
            </a:r>
            <a:endParaRPr sz="800" b="1">
              <a:solidFill>
                <a:schemeClr val="dk1"/>
              </a:solidFill>
              <a:highlight>
                <a:srgbClr val="FFFFFF"/>
              </a:highlight>
            </a:endParaRPr>
          </a:p>
          <a:p>
            <a:pPr marL="0" lvl="0" indent="0" algn="l" rtl="0">
              <a:spcBef>
                <a:spcPts val="0"/>
              </a:spcBef>
              <a:spcAft>
                <a:spcPts val="0"/>
              </a:spcAft>
              <a:buNone/>
            </a:pPr>
            <a:endParaRPr sz="800" b="1">
              <a:solidFill>
                <a:schemeClr val="dk2"/>
              </a:solidFill>
              <a:highlight>
                <a:srgbClr val="FFFFFF"/>
              </a:highlight>
            </a:endParaRPr>
          </a:p>
          <a:p>
            <a:pPr marL="0" lvl="0" indent="0" algn="l" rtl="0">
              <a:lnSpc>
                <a:spcPct val="115000"/>
              </a:lnSpc>
              <a:spcBef>
                <a:spcPts val="0"/>
              </a:spcBef>
              <a:spcAft>
                <a:spcPts val="0"/>
              </a:spcAft>
              <a:buNone/>
            </a:pPr>
            <a:endParaRPr sz="800">
              <a:solidFill>
                <a:schemeClr val="dk1"/>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242" name="Google Shape;1242;p127"/>
          <p:cNvPicPr preferRelativeResize="0"/>
          <p:nvPr/>
        </p:nvPicPr>
        <p:blipFill>
          <a:blip r:embed="rId4">
            <a:alphaModFix/>
          </a:blip>
          <a:stretch>
            <a:fillRect/>
          </a:stretch>
        </p:blipFill>
        <p:spPr>
          <a:xfrm>
            <a:off x="5815029" y="2491183"/>
            <a:ext cx="3228625" cy="1333800"/>
          </a:xfrm>
          <a:prstGeom prst="rect">
            <a:avLst/>
          </a:prstGeom>
          <a:noFill/>
          <a:ln>
            <a:noFill/>
          </a:ln>
        </p:spPr>
      </p:pic>
      <p:sp>
        <p:nvSpPr>
          <p:cNvPr id="2" name="object 6">
            <a:extLst>
              <a:ext uri="{FF2B5EF4-FFF2-40B4-BE49-F238E27FC236}">
                <a16:creationId xmlns:a16="http://schemas.microsoft.com/office/drawing/2014/main" id="{B8F4D019-7AF9-3023-B40A-A59D018E831C}"/>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870125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47" name="Google Shape;1247;p128"/>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BART</a:t>
            </a:r>
            <a:endParaRPr sz="1800">
              <a:solidFill>
                <a:schemeClr val="dk2"/>
              </a:solidFill>
            </a:endParaRPr>
          </a:p>
        </p:txBody>
      </p:sp>
      <p:cxnSp>
        <p:nvCxnSpPr>
          <p:cNvPr id="1248" name="Google Shape;1248;p128"/>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249" name="Google Shape;1249;p128"/>
          <p:cNvSpPr txBox="1"/>
          <p:nvPr/>
        </p:nvSpPr>
        <p:spPr>
          <a:xfrm>
            <a:off x="454934" y="817800"/>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latin typeface="Roboto"/>
                <a:ea typeface="Roboto"/>
                <a:cs typeface="Roboto"/>
                <a:sym typeface="Roboto"/>
              </a:rPr>
              <a:t>B</a:t>
            </a:r>
            <a:r>
              <a:rPr lang="en-GB" sz="1500" dirty="0">
                <a:solidFill>
                  <a:schemeClr val="dk1"/>
                </a:solidFill>
                <a:latin typeface="Roboto"/>
                <a:ea typeface="Roboto"/>
                <a:cs typeface="Roboto"/>
                <a:sym typeface="Roboto"/>
              </a:rPr>
              <a:t>idirectional and</a:t>
            </a:r>
            <a:r>
              <a:rPr lang="en-GB" sz="1500" b="1" dirty="0">
                <a:solidFill>
                  <a:schemeClr val="dk1"/>
                </a:solidFill>
                <a:latin typeface="Roboto"/>
                <a:ea typeface="Roboto"/>
                <a:cs typeface="Roboto"/>
                <a:sym typeface="Roboto"/>
              </a:rPr>
              <a:t> A</a:t>
            </a:r>
            <a:r>
              <a:rPr lang="en-GB" sz="1500" dirty="0">
                <a:solidFill>
                  <a:schemeClr val="dk1"/>
                </a:solidFill>
                <a:latin typeface="Roboto"/>
                <a:ea typeface="Roboto"/>
                <a:cs typeface="Roboto"/>
                <a:sym typeface="Roboto"/>
              </a:rPr>
              <a:t>uto</a:t>
            </a:r>
            <a:r>
              <a:rPr lang="en-GB" sz="1500" b="1" dirty="0">
                <a:solidFill>
                  <a:schemeClr val="dk1"/>
                </a:solidFill>
                <a:latin typeface="Roboto"/>
                <a:ea typeface="Roboto"/>
                <a:cs typeface="Roboto"/>
                <a:sym typeface="Roboto"/>
              </a:rPr>
              <a:t>-R</a:t>
            </a:r>
            <a:r>
              <a:rPr lang="en-GB" sz="1500" dirty="0">
                <a:solidFill>
                  <a:schemeClr val="dk1"/>
                </a:solidFill>
                <a:latin typeface="Roboto"/>
                <a:ea typeface="Roboto"/>
                <a:cs typeface="Roboto"/>
                <a:sym typeface="Roboto"/>
              </a:rPr>
              <a:t>egressive</a:t>
            </a:r>
            <a:r>
              <a:rPr lang="en-GB" sz="1500" b="1" dirty="0">
                <a:solidFill>
                  <a:schemeClr val="dk1"/>
                </a:solidFill>
                <a:latin typeface="Roboto"/>
                <a:ea typeface="Roboto"/>
                <a:cs typeface="Roboto"/>
                <a:sym typeface="Roboto"/>
              </a:rPr>
              <a:t> T</a:t>
            </a:r>
            <a:r>
              <a:rPr lang="en-GB" sz="1500" dirty="0">
                <a:solidFill>
                  <a:schemeClr val="dk1"/>
                </a:solidFill>
                <a:latin typeface="Roboto"/>
                <a:ea typeface="Roboto"/>
                <a:cs typeface="Roboto"/>
                <a:sym typeface="Roboto"/>
              </a:rPr>
              <a:t>ransformers</a:t>
            </a:r>
            <a:endParaRPr sz="1500" dirty="0">
              <a:solidFill>
                <a:schemeClr val="dk1"/>
              </a:solidFill>
              <a:latin typeface="Roboto"/>
              <a:ea typeface="Roboto"/>
              <a:cs typeface="Roboto"/>
              <a:sym typeface="Roboto"/>
            </a:endParaRPr>
          </a:p>
          <a:p>
            <a:pPr marL="0" lvl="0" indent="0" algn="l" rtl="0">
              <a:lnSpc>
                <a:spcPct val="115000"/>
              </a:lnSpc>
              <a:spcBef>
                <a:spcPts val="1800"/>
              </a:spcBef>
              <a:spcAft>
                <a:spcPts val="0"/>
              </a:spcAft>
              <a:buClr>
                <a:schemeClr val="dk1"/>
              </a:buClr>
              <a:buSzPts val="1100"/>
              <a:buFont typeface="Arial"/>
              <a:buNone/>
            </a:pPr>
            <a:r>
              <a:rPr lang="en-GB" sz="1500" b="1" dirty="0">
                <a:solidFill>
                  <a:schemeClr val="dk1"/>
                </a:solidFill>
              </a:rPr>
              <a:t>Fine-tuning Capabilities</a:t>
            </a:r>
            <a:endParaRPr sz="1500" b="1"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GB" dirty="0">
                <a:solidFill>
                  <a:schemeClr val="dk1"/>
                </a:solidFill>
                <a:latin typeface="Roboto"/>
                <a:ea typeface="Roboto"/>
                <a:cs typeface="Roboto"/>
                <a:sym typeface="Roboto"/>
              </a:rPr>
              <a:t>BART demonstrates remarkable versatility in fine-tuning for different tasks:</a:t>
            </a:r>
            <a:endParaRPr dirty="0">
              <a:solidFill>
                <a:schemeClr val="dk1"/>
              </a:solidFill>
              <a:latin typeface="Roboto"/>
              <a:ea typeface="Roboto"/>
              <a:cs typeface="Roboto"/>
              <a:sym typeface="Roboto"/>
            </a:endParaRPr>
          </a:p>
          <a:p>
            <a:pPr marL="342900" lvl="0" indent="-342900">
              <a:lnSpc>
                <a:spcPct val="107000"/>
              </a:lnSpc>
              <a:spcAft>
                <a:spcPts val="800"/>
              </a:spcAft>
              <a:buFont typeface="+mj-lt"/>
              <a:buAutoNum type="arabicPeriod"/>
              <a:tabLst>
                <a:tab pos="457200" algn="l"/>
              </a:tabLst>
            </a:pPr>
            <a:r>
              <a:rPr lang="en-IN" b="1" dirty="0">
                <a:solidFill>
                  <a:schemeClr val="dk1"/>
                </a:solidFill>
                <a:latin typeface="Roboto"/>
                <a:ea typeface="Roboto"/>
                <a:cs typeface="Roboto"/>
              </a:rPr>
              <a:t>Text Summarization: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Generating concise summaries of longer texts.</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Summarizing articles, reports, or books.</a:t>
            </a:r>
          </a:p>
          <a:p>
            <a:pPr marL="342900" lvl="0" indent="-342900">
              <a:lnSpc>
                <a:spcPct val="107000"/>
              </a:lnSpc>
              <a:spcAft>
                <a:spcPts val="800"/>
              </a:spcAft>
              <a:buFont typeface="+mj-lt"/>
              <a:buAutoNum type="arabicPeriod"/>
              <a:tabLst>
                <a:tab pos="457200" algn="l"/>
              </a:tabLst>
            </a:pPr>
            <a:r>
              <a:rPr lang="en-IN" b="1" dirty="0">
                <a:solidFill>
                  <a:schemeClr val="dk1"/>
                </a:solidFill>
                <a:latin typeface="Roboto"/>
                <a:ea typeface="Roboto"/>
                <a:cs typeface="Roboto"/>
              </a:rPr>
              <a:t>Text Generation: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Generating coherent and contextually relevant text.</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Writing essays, stories, or articles.</a:t>
            </a:r>
          </a:p>
          <a:p>
            <a:pPr marL="342900" lvl="0" indent="-342900">
              <a:lnSpc>
                <a:spcPct val="107000"/>
              </a:lnSpc>
              <a:spcAft>
                <a:spcPts val="800"/>
              </a:spcAft>
              <a:buFont typeface="+mj-lt"/>
              <a:buAutoNum type="arabicPeriod"/>
              <a:tabLst>
                <a:tab pos="457200" algn="l"/>
              </a:tabLst>
            </a:pPr>
            <a:r>
              <a:rPr lang="en-IN" b="1" dirty="0">
                <a:solidFill>
                  <a:schemeClr val="dk1"/>
                </a:solidFill>
                <a:latin typeface="Roboto"/>
                <a:ea typeface="Roboto"/>
                <a:cs typeface="Roboto"/>
              </a:rPr>
              <a:t>Question Answering: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Extracting answers from a given context based on a question.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Answering questions from a passage of text.</a:t>
            </a:r>
            <a:endParaRPr dirty="0">
              <a:solidFill>
                <a:schemeClr val="dk1"/>
              </a:solidFill>
              <a:latin typeface="Roboto"/>
              <a:ea typeface="Roboto"/>
              <a:cs typeface="Roboto"/>
              <a:sym typeface="Roboto"/>
            </a:endParaRPr>
          </a:p>
        </p:txBody>
      </p:sp>
      <p:sp>
        <p:nvSpPr>
          <p:cNvPr id="1251" name="Google Shape;1251;p128"/>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a:solidFill>
                  <a:schemeClr val="dk2"/>
                </a:solidFill>
              </a:rPr>
              <a:t>Paper: </a:t>
            </a:r>
            <a:r>
              <a:rPr lang="en-GB" sz="800" b="1" u="sng">
                <a:solidFill>
                  <a:schemeClr val="hlink"/>
                </a:solidFill>
                <a:highlight>
                  <a:srgbClr val="FFFFFF"/>
                </a:highlight>
                <a:hlinkClick r:id="rId3"/>
              </a:rPr>
              <a:t>BART Paper</a:t>
            </a:r>
            <a:endParaRPr sz="800" b="1">
              <a:solidFill>
                <a:schemeClr val="dk1"/>
              </a:solidFill>
              <a:highlight>
                <a:srgbClr val="FFFFFF"/>
              </a:highlight>
            </a:endParaRPr>
          </a:p>
          <a:p>
            <a:pPr marL="0" lvl="0" indent="0" algn="l" rtl="0">
              <a:spcBef>
                <a:spcPts val="0"/>
              </a:spcBef>
              <a:spcAft>
                <a:spcPts val="0"/>
              </a:spcAft>
              <a:buNone/>
            </a:pPr>
            <a:endParaRPr sz="800" b="1">
              <a:solidFill>
                <a:schemeClr val="dk2"/>
              </a:solidFill>
              <a:highlight>
                <a:srgbClr val="FFFFFF"/>
              </a:highlight>
            </a:endParaRPr>
          </a:p>
          <a:p>
            <a:pPr marL="0" lvl="0" indent="0" algn="l" rtl="0">
              <a:lnSpc>
                <a:spcPct val="115000"/>
              </a:lnSpc>
              <a:spcBef>
                <a:spcPts val="0"/>
              </a:spcBef>
              <a:spcAft>
                <a:spcPts val="0"/>
              </a:spcAft>
              <a:buNone/>
            </a:pPr>
            <a:endParaRPr sz="800">
              <a:solidFill>
                <a:schemeClr val="dk1"/>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252" name="Google Shape;1252;p128"/>
          <p:cNvPicPr preferRelativeResize="0"/>
          <p:nvPr/>
        </p:nvPicPr>
        <p:blipFill>
          <a:blip r:embed="rId4">
            <a:alphaModFix/>
          </a:blip>
          <a:stretch>
            <a:fillRect/>
          </a:stretch>
        </p:blipFill>
        <p:spPr>
          <a:xfrm>
            <a:off x="5754000" y="2350775"/>
            <a:ext cx="3228625" cy="1333800"/>
          </a:xfrm>
          <a:prstGeom prst="rect">
            <a:avLst/>
          </a:prstGeom>
          <a:noFill/>
          <a:ln>
            <a:noFill/>
          </a:ln>
        </p:spPr>
      </p:pic>
      <p:sp>
        <p:nvSpPr>
          <p:cNvPr id="2" name="object 6">
            <a:extLst>
              <a:ext uri="{FF2B5EF4-FFF2-40B4-BE49-F238E27FC236}">
                <a16:creationId xmlns:a16="http://schemas.microsoft.com/office/drawing/2014/main" id="{16BFAC40-D56D-59C4-000E-2DC779F51201}"/>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2564426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8820FC2C-2EE7-D532-9F0E-E40DF0855F4F}"/>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DF5DE1E6-8B5C-FFE2-6D08-4725CCB437FB}"/>
              </a:ext>
            </a:extLst>
          </p:cNvPr>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BART</a:t>
            </a:r>
            <a:endParaRPr sz="1800">
              <a:solidFill>
                <a:schemeClr val="dk2"/>
              </a:solidFill>
            </a:endParaRPr>
          </a:p>
        </p:txBody>
      </p:sp>
      <p:cxnSp>
        <p:nvCxnSpPr>
          <p:cNvPr id="1248" name="Google Shape;1248;p128">
            <a:extLst>
              <a:ext uri="{FF2B5EF4-FFF2-40B4-BE49-F238E27FC236}">
                <a16:creationId xmlns:a16="http://schemas.microsoft.com/office/drawing/2014/main" id="{AFEB6C15-6806-86F2-B906-D9DB2CA2E394}"/>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249" name="Google Shape;1249;p128">
            <a:extLst>
              <a:ext uri="{FF2B5EF4-FFF2-40B4-BE49-F238E27FC236}">
                <a16:creationId xmlns:a16="http://schemas.microsoft.com/office/drawing/2014/main" id="{5A2FB0FF-E8B6-88AB-B40E-B1FCDFE208AC}"/>
              </a:ext>
            </a:extLst>
          </p:cNvPr>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4</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b="1" dirty="0">
                <a:solidFill>
                  <a:schemeClr val="dk1"/>
                </a:solidFill>
                <a:latin typeface="Roboto"/>
                <a:ea typeface="Roboto"/>
                <a:cs typeface="Roboto"/>
              </a:rPr>
              <a:t>Machine Translation: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Translating text from one language to another.</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Translating English text to French.</a:t>
            </a:r>
          </a:p>
          <a:p>
            <a:pPr lvl="0">
              <a:lnSpc>
                <a:spcPct val="107000"/>
              </a:lnSpc>
              <a:spcAft>
                <a:spcPts val="800"/>
              </a:spcAft>
              <a:tabLst>
                <a:tab pos="457200" algn="l"/>
              </a:tabLst>
            </a:pPr>
            <a:r>
              <a:rPr lang="en-IN" dirty="0">
                <a:solidFill>
                  <a:schemeClr val="dk1"/>
                </a:solidFill>
                <a:latin typeface="Roboto"/>
                <a:ea typeface="Roboto"/>
                <a:cs typeface="Roboto"/>
              </a:rPr>
              <a:t>5.          </a:t>
            </a:r>
            <a:r>
              <a:rPr lang="en-IN" b="1" dirty="0">
                <a:solidFill>
                  <a:schemeClr val="dk1"/>
                </a:solidFill>
                <a:latin typeface="Roboto"/>
                <a:ea typeface="Roboto"/>
                <a:cs typeface="Roboto"/>
              </a:rPr>
              <a:t>Paraphrasing: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Rewriting text to have the same meaning but different wording.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Paraphrasing sentences or paragraphs.</a:t>
            </a:r>
          </a:p>
          <a:p>
            <a:pPr lvl="0">
              <a:lnSpc>
                <a:spcPct val="107000"/>
              </a:lnSpc>
              <a:spcAft>
                <a:spcPts val="800"/>
              </a:spcAft>
              <a:tabLst>
                <a:tab pos="457200" algn="l"/>
              </a:tabLst>
            </a:pPr>
            <a:r>
              <a:rPr lang="en-IN" dirty="0">
                <a:solidFill>
                  <a:schemeClr val="dk1"/>
                </a:solidFill>
                <a:latin typeface="Roboto"/>
                <a:ea typeface="Roboto"/>
                <a:cs typeface="Roboto"/>
              </a:rPr>
              <a:t>6.           </a:t>
            </a:r>
            <a:r>
              <a:rPr lang="en-IN" b="1" dirty="0">
                <a:solidFill>
                  <a:schemeClr val="dk1"/>
                </a:solidFill>
                <a:latin typeface="Roboto"/>
                <a:ea typeface="Roboto"/>
                <a:cs typeface="Roboto"/>
              </a:rPr>
              <a:t>Dialogue Generation: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Task: Creating conversational agents that can engage in natural dialogues.</a:t>
            </a: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chemeClr val="dk1"/>
                </a:solidFill>
                <a:latin typeface="Roboto"/>
                <a:ea typeface="Roboto"/>
                <a:cs typeface="Roboto"/>
              </a:rPr>
              <a:t>Example: Chatbots for customer service or virtual assistants.</a:t>
            </a:r>
          </a:p>
          <a:p>
            <a:pPr marL="0" lvl="0" indent="0" algn="l" rtl="0">
              <a:lnSpc>
                <a:spcPct val="115000"/>
              </a:lnSpc>
              <a:spcBef>
                <a:spcPts val="600"/>
              </a:spcBef>
              <a:spcAft>
                <a:spcPts val="0"/>
              </a:spcAft>
              <a:buNone/>
            </a:pPr>
            <a:endParaRPr dirty="0">
              <a:solidFill>
                <a:schemeClr val="dk1"/>
              </a:solidFill>
              <a:latin typeface="Roboto"/>
              <a:ea typeface="Roboto"/>
              <a:cs typeface="Roboto"/>
            </a:endParaRPr>
          </a:p>
          <a:p>
            <a:pPr marL="0" lvl="0" indent="0" algn="l" rtl="0">
              <a:lnSpc>
                <a:spcPct val="115000"/>
              </a:lnSpc>
              <a:spcBef>
                <a:spcPts val="1200"/>
              </a:spcBef>
              <a:spcAft>
                <a:spcPts val="0"/>
              </a:spcAft>
              <a:buNone/>
            </a:pPr>
            <a:endParaRPr sz="1500" b="1" dirty="0">
              <a:solidFill>
                <a:schemeClr val="dk1"/>
              </a:solidFill>
            </a:endParaRPr>
          </a:p>
          <a:p>
            <a:pPr marL="0" lvl="0" indent="0" algn="l" rtl="0">
              <a:lnSpc>
                <a:spcPct val="115000"/>
              </a:lnSpc>
              <a:spcBef>
                <a:spcPts val="1200"/>
              </a:spcBef>
              <a:spcAft>
                <a:spcPts val="1200"/>
              </a:spcAft>
              <a:buNone/>
            </a:pPr>
            <a:endParaRPr sz="1200" dirty="0">
              <a:solidFill>
                <a:schemeClr val="dk1"/>
              </a:solidFill>
              <a:latin typeface="Roboto"/>
              <a:ea typeface="Roboto"/>
              <a:cs typeface="Roboto"/>
              <a:sym typeface="Roboto"/>
            </a:endParaRPr>
          </a:p>
        </p:txBody>
      </p:sp>
      <p:sp>
        <p:nvSpPr>
          <p:cNvPr id="1251" name="Google Shape;1251;p128">
            <a:extLst>
              <a:ext uri="{FF2B5EF4-FFF2-40B4-BE49-F238E27FC236}">
                <a16:creationId xmlns:a16="http://schemas.microsoft.com/office/drawing/2014/main" id="{E33EEB57-3484-9F65-4202-E487172F59C0}"/>
              </a:ext>
            </a:extLst>
          </p:cNvPr>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a:solidFill>
                  <a:schemeClr val="dk2"/>
                </a:solidFill>
              </a:rPr>
              <a:t>Paper: </a:t>
            </a:r>
            <a:r>
              <a:rPr lang="en-GB" sz="800" b="1" u="sng">
                <a:solidFill>
                  <a:schemeClr val="hlink"/>
                </a:solidFill>
                <a:highlight>
                  <a:srgbClr val="FFFFFF"/>
                </a:highlight>
                <a:hlinkClick r:id="rId3"/>
              </a:rPr>
              <a:t>BART Paper</a:t>
            </a:r>
            <a:endParaRPr sz="800" b="1">
              <a:solidFill>
                <a:schemeClr val="dk1"/>
              </a:solidFill>
              <a:highlight>
                <a:srgbClr val="FFFFFF"/>
              </a:highlight>
            </a:endParaRPr>
          </a:p>
          <a:p>
            <a:pPr marL="0" lvl="0" indent="0" algn="l" rtl="0">
              <a:spcBef>
                <a:spcPts val="0"/>
              </a:spcBef>
              <a:spcAft>
                <a:spcPts val="0"/>
              </a:spcAft>
              <a:buNone/>
            </a:pPr>
            <a:endParaRPr sz="800" b="1">
              <a:solidFill>
                <a:schemeClr val="dk2"/>
              </a:solidFill>
              <a:highlight>
                <a:srgbClr val="FFFFFF"/>
              </a:highlight>
            </a:endParaRPr>
          </a:p>
          <a:p>
            <a:pPr marL="0" lvl="0" indent="0" algn="l" rtl="0">
              <a:lnSpc>
                <a:spcPct val="115000"/>
              </a:lnSpc>
              <a:spcBef>
                <a:spcPts val="0"/>
              </a:spcBef>
              <a:spcAft>
                <a:spcPts val="0"/>
              </a:spcAft>
              <a:buNone/>
            </a:pPr>
            <a:endParaRPr sz="800">
              <a:solidFill>
                <a:schemeClr val="dk1"/>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252" name="Google Shape;1252;p128">
            <a:extLst>
              <a:ext uri="{FF2B5EF4-FFF2-40B4-BE49-F238E27FC236}">
                <a16:creationId xmlns:a16="http://schemas.microsoft.com/office/drawing/2014/main" id="{5912B3F9-2C9C-5333-7802-F86A4EA38435}"/>
              </a:ext>
            </a:extLst>
          </p:cNvPr>
          <p:cNvPicPr preferRelativeResize="0"/>
          <p:nvPr/>
        </p:nvPicPr>
        <p:blipFill>
          <a:blip r:embed="rId4">
            <a:alphaModFix/>
          </a:blip>
          <a:stretch>
            <a:fillRect/>
          </a:stretch>
        </p:blipFill>
        <p:spPr>
          <a:xfrm>
            <a:off x="5754000" y="2350775"/>
            <a:ext cx="3228625" cy="1333800"/>
          </a:xfrm>
          <a:prstGeom prst="rect">
            <a:avLst/>
          </a:prstGeom>
          <a:noFill/>
          <a:ln>
            <a:noFill/>
          </a:ln>
        </p:spPr>
      </p:pic>
      <p:sp>
        <p:nvSpPr>
          <p:cNvPr id="2" name="object 6">
            <a:extLst>
              <a:ext uri="{FF2B5EF4-FFF2-40B4-BE49-F238E27FC236}">
                <a16:creationId xmlns:a16="http://schemas.microsoft.com/office/drawing/2014/main" id="{F946E587-0555-C2B8-0A25-B51838088822}"/>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443528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90CCC5FE-23E2-0F86-B404-9E41BA6DD525}"/>
            </a:ext>
          </a:extLst>
        </p:cNvPr>
        <p:cNvGrpSpPr/>
        <p:nvPr/>
      </p:nvGrpSpPr>
      <p:grpSpPr>
        <a:xfrm>
          <a:off x="0" y="0"/>
          <a:ext cx="0" cy="0"/>
          <a:chOff x="0" y="0"/>
          <a:chExt cx="0" cy="0"/>
        </a:xfrm>
      </p:grpSpPr>
      <p:cxnSp>
        <p:nvCxnSpPr>
          <p:cNvPr id="1248" name="Google Shape;1248;p128">
            <a:extLst>
              <a:ext uri="{FF2B5EF4-FFF2-40B4-BE49-F238E27FC236}">
                <a16:creationId xmlns:a16="http://schemas.microsoft.com/office/drawing/2014/main" id="{8B535A53-1DCB-44D0-15E5-54CBD2698D91}"/>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F60DAC8B-B594-8A1C-671D-6373CE2812F1}"/>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C71D1F5A-5AC4-9C4F-B745-CD9E12979200}"/>
              </a:ext>
            </a:extLst>
          </p:cNvPr>
          <p:cNvSpPr txBox="1"/>
          <p:nvPr/>
        </p:nvSpPr>
        <p:spPr>
          <a:xfrm>
            <a:off x="1491857" y="2227681"/>
            <a:ext cx="7182034" cy="710131"/>
          </a:xfrm>
          <a:prstGeom prst="rect">
            <a:avLst/>
          </a:prstGeom>
          <a:noFill/>
        </p:spPr>
        <p:txBody>
          <a:bodyPr wrap="square">
            <a:spAutoFit/>
          </a:bodyPr>
          <a:lstStyle/>
          <a:p>
            <a:pPr marL="742950" lvl="1" indent="-285750">
              <a:lnSpc>
                <a:spcPct val="107000"/>
              </a:lnSpc>
              <a:spcAft>
                <a:spcPts val="800"/>
              </a:spcAft>
              <a:buSzPts val="1000"/>
              <a:buFont typeface="Courier New" panose="02070309020205020404" pitchFamily="49" charset="0"/>
              <a:buChar char="o"/>
              <a:tabLst>
                <a:tab pos="914400" algn="l"/>
              </a:tabLst>
            </a:pPr>
            <a:r>
              <a:rPr lang="en-IN" sz="1600" b="1" i="1" kern="100" dirty="0">
                <a:solidFill>
                  <a:srgbClr val="C00000"/>
                </a:solidFill>
                <a:effectLst/>
                <a:latin typeface="Bodoni MT" panose="02070603080606020203" pitchFamily="18" charset="0"/>
                <a:ea typeface="Calibri" panose="020F0502020204030204" pitchFamily="34" charset="0"/>
                <a:cs typeface="Times New Roman" panose="02020603050405020304" pitchFamily="18" charset="0"/>
              </a:rPr>
              <a:t>Questions on BERT, GPT, </a:t>
            </a:r>
            <a:r>
              <a:rPr lang="en-IN" sz="1600" b="1" i="1" kern="100" dirty="0" err="1">
                <a:solidFill>
                  <a:srgbClr val="C00000"/>
                </a:solidFill>
                <a:effectLst/>
                <a:latin typeface="Bodoni MT" panose="02070603080606020203" pitchFamily="18" charset="0"/>
                <a:ea typeface="Calibri" panose="020F0502020204030204" pitchFamily="34" charset="0"/>
                <a:cs typeface="Times New Roman" panose="02020603050405020304" pitchFamily="18" charset="0"/>
              </a:rPr>
              <a:t>ROBERTa</a:t>
            </a:r>
            <a:r>
              <a:rPr lang="en-IN" sz="1600" b="1" i="1" kern="100" dirty="0">
                <a:solidFill>
                  <a:srgbClr val="C00000"/>
                </a:solidFill>
                <a:effectLst/>
                <a:latin typeface="Bodoni MT" panose="02070603080606020203" pitchFamily="18" charset="0"/>
                <a:ea typeface="Calibri" panose="020F0502020204030204" pitchFamily="34" charset="0"/>
                <a:cs typeface="Times New Roman" panose="02020603050405020304" pitchFamily="18" charset="0"/>
              </a:rPr>
              <a:t> and BART</a:t>
            </a:r>
          </a:p>
          <a:p>
            <a:pPr marL="457200" lvl="1">
              <a:lnSpc>
                <a:spcPct val="107000"/>
              </a:lnSpc>
              <a:spcAft>
                <a:spcPts val="800"/>
              </a:spcAft>
              <a:buSzPts val="1000"/>
              <a:tabLst>
                <a:tab pos="914400" algn="l"/>
              </a:tabLst>
            </a:pPr>
            <a:r>
              <a:rPr lang="en-IN" sz="1600" b="1" i="1" kern="100" dirty="0">
                <a:solidFill>
                  <a:srgbClr val="C00000"/>
                </a:solidFill>
                <a:latin typeface="Bodoni MT" panose="02070603080606020203" pitchFamily="18" charset="0"/>
                <a:ea typeface="Calibri" panose="020F0502020204030204" pitchFamily="34" charset="0"/>
                <a:cs typeface="Times New Roman" panose="02020603050405020304" pitchFamily="18" charset="0"/>
              </a:rPr>
              <a:t>		FOR BETTER UNDERSTANDING</a:t>
            </a:r>
            <a:endParaRPr lang="en-IN" sz="1600" i="1" kern="100" dirty="0">
              <a:solidFill>
                <a:srgbClr val="C00000"/>
              </a:solidFill>
              <a:effectLst/>
              <a:latin typeface="Bodoni MT" panose="020706030806060202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0412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06D0DD7C-A6AE-630A-9382-463107EFACC1}"/>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3E514228-0875-94F1-E843-B6A168516C4B}"/>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20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What are the primary use cases for each model (BERT, GPT, </a:t>
            </a:r>
            <a:r>
              <a:rPr lang="en-IN" sz="2000" b="1" kern="10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RoBERTa</a:t>
            </a:r>
            <a:r>
              <a:rPr lang="en-IN" sz="20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BART)</a:t>
            </a:r>
            <a:endParaRPr lang="en-IN" sz="20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B9536935-5C24-41A2-EC81-A85C7ABD5A88}"/>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DCC5FC18-81EE-70C4-35CA-4EB1E9FF603C}"/>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F23F66DA-A3EA-BD6C-03DF-ED033314D316}"/>
              </a:ext>
            </a:extLst>
          </p:cNvPr>
          <p:cNvSpPr txBox="1"/>
          <p:nvPr/>
        </p:nvSpPr>
        <p:spPr>
          <a:xfrm>
            <a:off x="577049" y="1145336"/>
            <a:ext cx="7182034" cy="3023072"/>
          </a:xfrm>
          <a:prstGeom prst="rect">
            <a:avLst/>
          </a:prstGeom>
          <a:noFill/>
        </p:spPr>
        <p:txBody>
          <a:bodyPr wrap="square">
            <a:spAutoFit/>
          </a:bodyPr>
          <a:lstStyle/>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BERT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Primarily used for tasks that require understanding the context of the input text, such as text classification, named entity recognition, question answering, and sentiment analysis.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Best suited for generative tasks, including text completion, creative writing, conversational agents, and language translation.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Similar to BERT, but with improved performance. Used for text classification, sentiment analysis, and other tasks requiring deep contextual understanding.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BART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Combines the strengths of BERT and GPT. Used for text generation, summarization, translation, and other sequence-to-sequence tasks.</a:t>
            </a:r>
          </a:p>
        </p:txBody>
      </p:sp>
    </p:spTree>
    <p:extLst>
      <p:ext uri="{BB962C8B-B14F-4D97-AF65-F5344CB8AC3E}">
        <p14:creationId xmlns:p14="http://schemas.microsoft.com/office/powerpoint/2010/main" val="418882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727B15E0-1723-844F-4119-23083B8382EC}"/>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DB6634F4-8D63-B512-283C-07AD085759E0}"/>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How do the training objectives differ among BERT, GPT, </a:t>
            </a:r>
            <a:r>
              <a:rPr lang="en-IN" sz="1800" b="1" kern="10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RoBERTa</a:t>
            </a: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and BART?</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25B1B4F0-4404-8963-1516-5D494A0F3395}"/>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B1C42C4F-BD42-4535-90BD-18B3CFE17C9D}"/>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2AC096F2-EE71-44B3-1F1B-FE33474AD150}"/>
              </a:ext>
            </a:extLst>
          </p:cNvPr>
          <p:cNvSpPr txBox="1"/>
          <p:nvPr/>
        </p:nvSpPr>
        <p:spPr>
          <a:xfrm>
            <a:off x="559025" y="639982"/>
            <a:ext cx="7182034" cy="4729308"/>
          </a:xfrm>
          <a:prstGeom prst="rect">
            <a:avLst/>
          </a:prstGeom>
          <a:noFill/>
        </p:spPr>
        <p:txBody>
          <a:bodyPr wrap="square">
            <a:spAutoFit/>
          </a:bodyPr>
          <a:lstStyle/>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BERT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using Masked Language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Modeling</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(MLM) and Next Sentence Prediction (NSP). MLM involves masking some tokens and predicting them, while NSP involves predicting the relationship between two sentences.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using an autoregressive language model objective, predicting the next token in a sequence based on the previous tokens.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using MLM but removes the NSP objective, focusing solely on predicting masked tokens.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BART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using </a:t>
            </a:r>
            <a:r>
              <a:rPr lang="en-IN" sz="16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 denoising autoencoder approach</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where the model </a:t>
            </a:r>
            <a:r>
              <a:rPr lang="en-IN" sz="16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learns to reconstruct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original text from </a:t>
            </a:r>
            <a:r>
              <a:rPr lang="en-IN" sz="16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 corrupted version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457200" lvl="1">
              <a:lnSpc>
                <a:spcPct val="107000"/>
              </a:lnSpc>
              <a:spcAft>
                <a:spcPts val="800"/>
              </a:spcAft>
              <a:buSzPts val="1000"/>
              <a:tabLst>
                <a:tab pos="914400" algn="l"/>
              </a:tabLst>
            </a:pPr>
            <a:r>
              <a:rPr lang="en-US" sz="1200" b="1" i="0" dirty="0">
                <a:solidFill>
                  <a:srgbClr val="C00000"/>
                </a:solidFill>
                <a:effectLst/>
                <a:highlight>
                  <a:srgbClr val="FFFF00"/>
                </a:highlight>
                <a:latin typeface="Segoe UI" panose="020B0502040204020203" pitchFamily="34" charset="0"/>
              </a:rPr>
              <a:t>A denoising autoencoder </a:t>
            </a:r>
            <a:r>
              <a:rPr lang="en-US" sz="1200" b="1" i="0" dirty="0">
                <a:solidFill>
                  <a:srgbClr val="C00000"/>
                </a:solidFill>
                <a:effectLst/>
                <a:latin typeface="Segoe UI" panose="020B0502040204020203" pitchFamily="34" charset="0"/>
              </a:rPr>
              <a:t>is a type of neural network used to learn efficient representations of data, typically for the purpose of removing noise from the data.</a:t>
            </a:r>
            <a:endParaRPr lang="en-IN" sz="12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gn="l">
              <a:buFont typeface="+mj-lt"/>
              <a:buAutoNum type="arabicPeriod"/>
            </a:pPr>
            <a:r>
              <a:rPr lang="en-US" sz="1000" b="1" i="0" dirty="0">
                <a:solidFill>
                  <a:srgbClr val="242424"/>
                </a:solidFill>
                <a:effectLst/>
                <a:latin typeface="Segoe UI" panose="020B0502040204020203" pitchFamily="34" charset="0"/>
              </a:rPr>
              <a:t>Corrupting the Input</a:t>
            </a:r>
            <a:r>
              <a:rPr lang="en-US" sz="1000" b="0" i="0" dirty="0">
                <a:solidFill>
                  <a:srgbClr val="242424"/>
                </a:solidFill>
                <a:effectLst/>
                <a:latin typeface="Segoe UI" panose="020B0502040204020203" pitchFamily="34" charset="0"/>
              </a:rPr>
              <a:t>: The original text is intentionally corrupted by adding noise or altering some parts of it. For example, some words might be masked, shuffled, or replaced with random words.</a:t>
            </a:r>
          </a:p>
          <a:p>
            <a:pPr algn="l">
              <a:buFont typeface="+mj-lt"/>
              <a:buAutoNum type="arabicPeriod"/>
            </a:pPr>
            <a:r>
              <a:rPr lang="en-US" sz="1000" b="1" i="0" dirty="0">
                <a:solidFill>
                  <a:srgbClr val="242424"/>
                </a:solidFill>
                <a:effectLst/>
                <a:latin typeface="Segoe UI" panose="020B0502040204020203" pitchFamily="34" charset="0"/>
              </a:rPr>
              <a:t>Learning to Reconstruct</a:t>
            </a:r>
            <a:r>
              <a:rPr lang="en-US" sz="1000" b="0" i="0" dirty="0">
                <a:solidFill>
                  <a:srgbClr val="242424"/>
                </a:solidFill>
                <a:effectLst/>
                <a:latin typeface="Segoe UI" panose="020B0502040204020203" pitchFamily="34" charset="0"/>
              </a:rPr>
              <a:t>: The model is trained to reconstruct the original, uncorrupted text from this noisy version. This means the model learns to predict the original words and their correct positions, even when given a corrupted input.</a:t>
            </a:r>
          </a:p>
          <a:p>
            <a:pPr algn="l">
              <a:buFont typeface="+mj-lt"/>
              <a:buAutoNum type="arabicPeriod"/>
            </a:pPr>
            <a:r>
              <a:rPr lang="en-US" sz="1000" b="1" i="0" dirty="0">
                <a:solidFill>
                  <a:srgbClr val="242424"/>
                </a:solidFill>
                <a:effectLst/>
                <a:latin typeface="Segoe UI" panose="020B0502040204020203" pitchFamily="34" charset="0"/>
              </a:rPr>
              <a:t>Objective</a:t>
            </a:r>
            <a:r>
              <a:rPr lang="en-US" sz="1000" b="0" i="0" dirty="0">
                <a:solidFill>
                  <a:srgbClr val="242424"/>
                </a:solidFill>
                <a:effectLst/>
                <a:latin typeface="Segoe UI" panose="020B0502040204020203" pitchFamily="34" charset="0"/>
              </a:rPr>
              <a:t>: The goal is for the model to learn robust representations of the text that capture the underlying structure and meaning, allowing it to effectively remove the noise and restore the original text.</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306361C-A483-853A-8BF4-736B2ED976B5}"/>
                  </a:ext>
                </a:extLst>
              </p14:cNvPr>
              <p14:cNvContentPartPr/>
              <p14:nvPr/>
            </p14:nvContentPartPr>
            <p14:xfrm>
              <a:off x="2360880" y="1175760"/>
              <a:ext cx="3642120" cy="252720"/>
            </p14:xfrm>
          </p:contentPart>
        </mc:Choice>
        <mc:Fallback xmlns="">
          <p:pic>
            <p:nvPicPr>
              <p:cNvPr id="3" name="Ink 2">
                <a:extLst>
                  <a:ext uri="{FF2B5EF4-FFF2-40B4-BE49-F238E27FC236}">
                    <a16:creationId xmlns:a16="http://schemas.microsoft.com/office/drawing/2014/main" id="{8306361C-A483-853A-8BF4-736B2ED976B5}"/>
                  </a:ext>
                </a:extLst>
              </p:cNvPr>
              <p:cNvPicPr/>
              <p:nvPr/>
            </p:nvPicPr>
            <p:blipFill>
              <a:blip r:embed="rId5"/>
              <a:stretch>
                <a:fillRect/>
              </a:stretch>
            </p:blipFill>
            <p:spPr>
              <a:xfrm>
                <a:off x="2351520" y="1166400"/>
                <a:ext cx="3660840" cy="271440"/>
              </a:xfrm>
              <a:prstGeom prst="rect">
                <a:avLst/>
              </a:prstGeom>
            </p:spPr>
          </p:pic>
        </mc:Fallback>
      </mc:AlternateContent>
    </p:spTree>
    <p:extLst>
      <p:ext uri="{BB962C8B-B14F-4D97-AF65-F5344CB8AC3E}">
        <p14:creationId xmlns:p14="http://schemas.microsoft.com/office/powerpoint/2010/main" val="2234270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23B4D8A9-6998-0B36-A691-B1F0010F34D7}"/>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2B78FC91-D4B1-3302-50E3-5E894E4B31C9}"/>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20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Summary</a:t>
            </a:r>
            <a:endParaRPr lang="en-IN" sz="20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76C788FF-1546-7241-6142-00DA95A130DA}"/>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20D949F3-9BD7-4630-7164-B7366AA858E3}"/>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pic>
        <p:nvPicPr>
          <p:cNvPr id="5" name="Picture 4">
            <a:extLst>
              <a:ext uri="{FF2B5EF4-FFF2-40B4-BE49-F238E27FC236}">
                <a16:creationId xmlns:a16="http://schemas.microsoft.com/office/drawing/2014/main" id="{E79891A8-27A8-845A-A80D-3C50D2410827}"/>
              </a:ext>
            </a:extLst>
          </p:cNvPr>
          <p:cNvPicPr>
            <a:picLocks noChangeAspect="1"/>
          </p:cNvPicPr>
          <p:nvPr/>
        </p:nvPicPr>
        <p:blipFill>
          <a:blip r:embed="rId4"/>
          <a:stretch>
            <a:fillRect/>
          </a:stretch>
        </p:blipFill>
        <p:spPr>
          <a:xfrm>
            <a:off x="0" y="1513188"/>
            <a:ext cx="9144000" cy="2117124"/>
          </a:xfrm>
          <a:prstGeom prst="rect">
            <a:avLst/>
          </a:prstGeom>
        </p:spPr>
      </p:pic>
    </p:spTree>
    <p:extLst>
      <p:ext uri="{BB962C8B-B14F-4D97-AF65-F5344CB8AC3E}">
        <p14:creationId xmlns:p14="http://schemas.microsoft.com/office/powerpoint/2010/main" val="612549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BC65B949-7895-3A81-CD7B-95A0E2B410AB}"/>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EE267C51-EFE9-F714-A16A-D4EF8888C5B0}"/>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What are the architectural differences between these models?</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D5DD3568-A44B-44DC-843E-F9C932EA9EE0}"/>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59BB7CAC-C576-0E0B-2ADB-F611BAEADEFA}"/>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FE27A73D-521D-9BA4-7864-9E9ABA1FE3AC}"/>
              </a:ext>
            </a:extLst>
          </p:cNvPr>
          <p:cNvSpPr txBox="1"/>
          <p:nvPr/>
        </p:nvSpPr>
        <p:spPr>
          <a:xfrm>
            <a:off x="559025" y="639982"/>
            <a:ext cx="7182034" cy="3293081"/>
          </a:xfrm>
          <a:prstGeom prst="rect">
            <a:avLst/>
          </a:prstGeom>
          <a:noFill/>
        </p:spPr>
        <p:txBody>
          <a:bodyPr wrap="square">
            <a:spAutoFit/>
          </a:bodyPr>
          <a:lstStyle/>
          <a:p>
            <a:endParaRPr lang="en-IN" dirty="0">
              <a:effectLst/>
            </a:endParaRPr>
          </a:p>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BERT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Uses a bidirectional transformer encoder, processing the entire input sequence at once to capture context from both directions.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Uses a unidirectional transformer decoder, processing the input sequence in a left-to-right manner for text generation.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Similar to BERT but with modifications in training data, duration, and hyperparameters.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BART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Combines a bidirectional encoder (like BERT) with an autoregressive decoder (like GPT), making it suitable for sequence-to-sequence tasks.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82353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E83FE0B5-2B2D-23AE-09C3-D28E73DED702}"/>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C0A0FE62-2ABB-ED22-8D39-4E2B9E44A8F3}"/>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Training Data Used:-</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D90E5A8A-4F62-3F98-8A4A-C4E7C396E6CC}"/>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8BF27BC4-1B9E-EF2C-5188-DF33B4660D52}"/>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0AECC34A-7343-681C-7152-487B9F4F41CD}"/>
              </a:ext>
            </a:extLst>
          </p:cNvPr>
          <p:cNvSpPr txBox="1"/>
          <p:nvPr/>
        </p:nvSpPr>
        <p:spPr>
          <a:xfrm>
            <a:off x="559025" y="639982"/>
            <a:ext cx="7182034" cy="3245056"/>
          </a:xfrm>
          <a:prstGeom prst="rect">
            <a:avLst/>
          </a:prstGeom>
          <a:noFill/>
        </p:spPr>
        <p:txBody>
          <a:bodyPr wrap="square">
            <a:spAutoFit/>
          </a:bodyPr>
          <a:lstStyle/>
          <a:p>
            <a:endParaRPr lang="en-IN" dirty="0">
              <a:effectLst/>
            </a:endParaRPr>
          </a:p>
          <a:p>
            <a:endParaRPr lang="en-IN" dirty="0">
              <a:effectLst/>
            </a:endParaRPr>
          </a:p>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BERT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on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BooksCorpus</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and English Wikipedia.</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on a diverse dataset including Common Crawl,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WebText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BooksCorpus</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and Wikipedia.</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on a larger dataset, including the original BERT datasets plus additional data from Common Crawl News,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OpenWebText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and Stories.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BART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Trained on a combination of datasets used for both BERT and GPT, focusing on sequence-to-sequence tasks.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6622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8E72C566-F292-743F-E91D-59D7CE066412}"/>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4B49FFF1-46FC-ABA6-316C-F6B5A583EB62}"/>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How do the embeddings generated by BERT differ from those generated by GPT?</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591F337A-5E86-85AA-F580-B9E32C58CD2D}"/>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F56D126A-5CC4-CCF6-8525-3DE44DC1DF7D}"/>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6C73926A-A601-F116-4C19-ED6FDF6DE263}"/>
              </a:ext>
            </a:extLst>
          </p:cNvPr>
          <p:cNvSpPr txBox="1"/>
          <p:nvPr/>
        </p:nvSpPr>
        <p:spPr>
          <a:xfrm>
            <a:off x="559025" y="639982"/>
            <a:ext cx="7182034" cy="2464906"/>
          </a:xfrm>
          <a:prstGeom prst="rect">
            <a:avLst/>
          </a:prstGeom>
          <a:noFill/>
        </p:spPr>
        <p:txBody>
          <a:bodyPr wrap="square">
            <a:spAutoFit/>
          </a:bodyPr>
          <a:lstStyle/>
          <a:p>
            <a:endParaRPr lang="en-IN" dirty="0">
              <a:effectLst/>
            </a:endParaRPr>
          </a:p>
          <a:p>
            <a:endParaRPr lang="en-IN" dirty="0">
              <a:effectLst/>
            </a:endParaRPr>
          </a:p>
          <a:p>
            <a:endParaRPr lang="en-IN" dirty="0">
              <a:effectLst/>
            </a:endParaRPr>
          </a:p>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BERT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Generates embeddings that capture bidirectional context, making them effective for understanding tasks.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Generates embeddings that capture unidirectional context, optimized for text generation.</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7606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9058EDF4-CB59-6EEC-4687-4E95AF06EB87}"/>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51CDC2E2-ABF7-1DC5-A4C4-A4E24F5BFA58}"/>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similarities in the attention mechanisms used by these models</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2DE22E14-0979-594D-DB0D-ABB9D058A3AD}"/>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1F7CEB9A-7B1B-6126-5713-A3DD43E4AD42}"/>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C955A784-A1DE-C589-17D4-CDDDA5B6281B}"/>
              </a:ext>
            </a:extLst>
          </p:cNvPr>
          <p:cNvSpPr txBox="1"/>
          <p:nvPr/>
        </p:nvSpPr>
        <p:spPr>
          <a:xfrm>
            <a:off x="559025" y="639982"/>
            <a:ext cx="7812618" cy="2709331"/>
          </a:xfrm>
          <a:prstGeom prst="rect">
            <a:avLst/>
          </a:prstGeom>
          <a:noFill/>
        </p:spPr>
        <p:txBody>
          <a:bodyPr wrap="square">
            <a:spAutoFit/>
          </a:bodyPr>
          <a:lstStyle/>
          <a:p>
            <a:endParaRPr lang="en-IN" dirty="0">
              <a:effectLst/>
            </a:endParaRPr>
          </a:p>
          <a:p>
            <a:endParaRPr lang="en-IN" dirty="0">
              <a:effectLst/>
            </a:endParaRPr>
          </a:p>
          <a:p>
            <a:endParaRPr lang="en-IN" dirty="0">
              <a:effectLst/>
            </a:endParaRPr>
          </a:p>
          <a:p>
            <a:endParaRPr lang="en-IN" dirty="0">
              <a:effectLst/>
            </a:endParaRPr>
          </a:p>
          <a:p>
            <a:endParaRPr lang="en-IN" dirty="0">
              <a:effectLst/>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All models use the self-attention mechanism to capture relationships between tokens in the input sequence. The main difference lies in how they apply attention (bidirectional for BERT and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unidirectional for GPT, and a combination for BART).</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5475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46">
          <a:extLst>
            <a:ext uri="{FF2B5EF4-FFF2-40B4-BE49-F238E27FC236}">
              <a16:creationId xmlns:a16="http://schemas.microsoft.com/office/drawing/2014/main" id="{5A002D90-11B5-4389-33F8-3D492515D256}"/>
            </a:ext>
          </a:extLst>
        </p:cNvPr>
        <p:cNvGrpSpPr/>
        <p:nvPr/>
      </p:nvGrpSpPr>
      <p:grpSpPr>
        <a:xfrm>
          <a:off x="0" y="0"/>
          <a:ext cx="0" cy="0"/>
          <a:chOff x="0" y="0"/>
          <a:chExt cx="0" cy="0"/>
        </a:xfrm>
      </p:grpSpPr>
      <p:sp>
        <p:nvSpPr>
          <p:cNvPr id="1247" name="Google Shape;1247;p128">
            <a:extLst>
              <a:ext uri="{FF2B5EF4-FFF2-40B4-BE49-F238E27FC236}">
                <a16:creationId xmlns:a16="http://schemas.microsoft.com/office/drawing/2014/main" id="{F9DD78C3-183B-ADFC-519F-1D73B236D9AD}"/>
              </a:ext>
            </a:extLst>
          </p:cNvPr>
          <p:cNvSpPr txBox="1"/>
          <p:nvPr/>
        </p:nvSpPr>
        <p:spPr>
          <a:xfrm>
            <a:off x="0" y="194897"/>
            <a:ext cx="9144000" cy="809100"/>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How do BERT and </a:t>
            </a:r>
            <a:r>
              <a:rPr lang="en-IN" sz="1800" b="1" kern="10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RoBERTa</a:t>
            </a: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handle masked language </a:t>
            </a:r>
            <a:r>
              <a:rPr lang="en-IN" sz="1800" b="1" kern="10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modeling</a:t>
            </a:r>
            <a:r>
              <a:rPr lang="en-IN" sz="1800" b="1"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differently from GPT's autoregressive approach?</a:t>
            </a:r>
            <a:endParaRPr lang="en-IN" sz="18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48" name="Google Shape;1248;p128">
            <a:extLst>
              <a:ext uri="{FF2B5EF4-FFF2-40B4-BE49-F238E27FC236}">
                <a16:creationId xmlns:a16="http://schemas.microsoft.com/office/drawing/2014/main" id="{E2D9D974-5503-1078-5C9C-FDFDD7A13145}"/>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3C8C0449-3254-09F8-5E39-147CE1E8050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TextBox 3">
            <a:extLst>
              <a:ext uri="{FF2B5EF4-FFF2-40B4-BE49-F238E27FC236}">
                <a16:creationId xmlns:a16="http://schemas.microsoft.com/office/drawing/2014/main" id="{268838F4-9AA2-7E19-8B2D-DE5C522BF71F}"/>
              </a:ext>
            </a:extLst>
          </p:cNvPr>
          <p:cNvSpPr txBox="1"/>
          <p:nvPr/>
        </p:nvSpPr>
        <p:spPr>
          <a:xfrm>
            <a:off x="559025" y="639982"/>
            <a:ext cx="7812618" cy="3027367"/>
          </a:xfrm>
          <a:prstGeom prst="rect">
            <a:avLst/>
          </a:prstGeom>
          <a:noFill/>
        </p:spPr>
        <p:txBody>
          <a:bodyPr wrap="square">
            <a:spAutoFit/>
          </a:bodyPr>
          <a:lstStyle/>
          <a:p>
            <a:endParaRPr lang="en-IN" dirty="0">
              <a:effectLst/>
            </a:endParaRPr>
          </a:p>
          <a:p>
            <a:endParaRPr lang="en-IN" dirty="0">
              <a:effectLst/>
            </a:endParaRPr>
          </a:p>
          <a:p>
            <a:endParaRPr lang="en-IN" dirty="0">
              <a:effectLst/>
            </a:endParaRPr>
          </a:p>
          <a:p>
            <a:endParaRPr lang="en-IN" dirty="0">
              <a:effectLst/>
            </a:endParaRPr>
          </a:p>
          <a:p>
            <a:endParaRPr lang="en-IN" dirty="0">
              <a:effectLst/>
            </a:endParaRPr>
          </a:p>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BERT and </a:t>
            </a:r>
            <a:r>
              <a:rPr lang="en-IN" sz="1800" b="1" kern="100" dirty="0" err="1">
                <a:effectLst/>
                <a:latin typeface="Calibri" panose="020F0502020204030204" pitchFamily="34" charset="0"/>
                <a:ea typeface="Calibri" panose="020F0502020204030204" pitchFamily="34" charset="0"/>
                <a:cs typeface="Times New Roman" panose="02020603050405020304" pitchFamily="18" charset="0"/>
              </a:rPr>
              <a:t>RoBERTa</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Use MLM, where some tokens are masked, and the model learns to predict them based on the surrounding context.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GPT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Uses an autoregressive approach, predicting the next token in the sequence based on the previous tokens.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26259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0B2EBBF4-B61F-F990-1A70-6D3D9B9040C5}"/>
            </a:ext>
          </a:extLst>
        </p:cNvPr>
        <p:cNvGrpSpPr/>
        <p:nvPr/>
      </p:nvGrpSpPr>
      <p:grpSpPr>
        <a:xfrm>
          <a:off x="0" y="0"/>
          <a:ext cx="0" cy="0"/>
          <a:chOff x="0" y="0"/>
          <a:chExt cx="0" cy="0"/>
        </a:xfrm>
      </p:grpSpPr>
      <p:sp>
        <p:nvSpPr>
          <p:cNvPr id="55" name="Google Shape;55;p13">
            <a:extLst>
              <a:ext uri="{FF2B5EF4-FFF2-40B4-BE49-F238E27FC236}">
                <a16:creationId xmlns:a16="http://schemas.microsoft.com/office/drawing/2014/main" id="{61CFF66A-74F6-0204-A990-07842D233D67}"/>
              </a:ext>
            </a:extLst>
          </p:cNvPr>
          <p:cNvSpPr/>
          <p:nvPr/>
        </p:nvSpPr>
        <p:spPr>
          <a:xfrm>
            <a:off x="2989062" y="1363677"/>
            <a:ext cx="5590500" cy="72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000" b="0" i="0" u="none" strike="noStrike" cap="none" dirty="0">
              <a:solidFill>
                <a:srgbClr val="000000"/>
              </a:solidFill>
              <a:latin typeface="Arial"/>
              <a:ea typeface="Arial"/>
              <a:cs typeface="Arial"/>
              <a:sym typeface="Arial"/>
            </a:endParaRPr>
          </a:p>
        </p:txBody>
      </p:sp>
      <p:sp>
        <p:nvSpPr>
          <p:cNvPr id="56" name="Google Shape;56;p13">
            <a:extLst>
              <a:ext uri="{FF2B5EF4-FFF2-40B4-BE49-F238E27FC236}">
                <a16:creationId xmlns:a16="http://schemas.microsoft.com/office/drawing/2014/main" id="{868E61A2-A586-F723-3C34-39249A89C0AF}"/>
              </a:ext>
            </a:extLst>
          </p:cNvPr>
          <p:cNvSpPr/>
          <p:nvPr/>
        </p:nvSpPr>
        <p:spPr>
          <a:xfrm>
            <a:off x="3506709" y="2349491"/>
            <a:ext cx="6154951"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400" b="1" dirty="0">
                <a:solidFill>
                  <a:srgbClr val="2F5496"/>
                </a:solidFill>
                <a:latin typeface="Calibri"/>
                <a:ea typeface="Calibri"/>
                <a:cs typeface="Calibri"/>
                <a:sym typeface="Calibri"/>
              </a:rPr>
              <a:t>Thank You!</a:t>
            </a:r>
            <a:endParaRPr sz="2400" b="0" i="0" u="none" strike="noStrike" cap="none" dirty="0">
              <a:solidFill>
                <a:srgbClr val="000000"/>
              </a:solidFill>
              <a:latin typeface="Arial"/>
              <a:ea typeface="Arial"/>
              <a:cs typeface="Arial"/>
              <a:sym typeface="Arial"/>
            </a:endParaRPr>
          </a:p>
        </p:txBody>
      </p:sp>
      <p:cxnSp>
        <p:nvCxnSpPr>
          <p:cNvPr id="59" name="Google Shape;59;p13">
            <a:extLst>
              <a:ext uri="{FF2B5EF4-FFF2-40B4-BE49-F238E27FC236}">
                <a16:creationId xmlns:a16="http://schemas.microsoft.com/office/drawing/2014/main" id="{32D1745B-F0CB-7811-EFFC-467F7A8B2B51}"/>
              </a:ext>
            </a:extLst>
          </p:cNvPr>
          <p:cNvCxnSpPr/>
          <p:nvPr/>
        </p:nvCxnSpPr>
        <p:spPr>
          <a:xfrm>
            <a:off x="2989061" y="2794009"/>
            <a:ext cx="3416100" cy="0"/>
          </a:xfrm>
          <a:prstGeom prst="straightConnector1">
            <a:avLst/>
          </a:prstGeom>
          <a:noFill/>
          <a:ln w="38100" cap="flat" cmpd="sng">
            <a:solidFill>
              <a:srgbClr val="C55A11"/>
            </a:solidFill>
            <a:prstDash val="solid"/>
            <a:miter lim="800000"/>
            <a:headEnd type="none" w="sm" len="sm"/>
            <a:tailEnd type="none" w="sm" len="sm"/>
          </a:ln>
        </p:spPr>
      </p:cxnSp>
      <p:pic>
        <p:nvPicPr>
          <p:cNvPr id="2" name="object 6">
            <a:extLst>
              <a:ext uri="{FF2B5EF4-FFF2-40B4-BE49-F238E27FC236}">
                <a16:creationId xmlns:a16="http://schemas.microsoft.com/office/drawing/2014/main" id="{C4F65F1D-6DBE-68B0-6036-6FBF9CC164C4}"/>
              </a:ext>
            </a:extLst>
          </p:cNvPr>
          <p:cNvPicPr/>
          <p:nvPr/>
        </p:nvPicPr>
        <p:blipFill>
          <a:blip r:embed="rId3" cstate="print"/>
          <a:stretch>
            <a:fillRect/>
          </a:stretch>
        </p:blipFill>
        <p:spPr>
          <a:xfrm>
            <a:off x="616883" y="772992"/>
            <a:ext cx="1942934" cy="3597515"/>
          </a:xfrm>
          <a:prstGeom prst="rect">
            <a:avLst/>
          </a:prstGeom>
        </p:spPr>
      </p:pic>
    </p:spTree>
    <p:extLst>
      <p:ext uri="{BB962C8B-B14F-4D97-AF65-F5344CB8AC3E}">
        <p14:creationId xmlns:p14="http://schemas.microsoft.com/office/powerpoint/2010/main" val="437647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3001</TotalTime>
  <Words>1922</Words>
  <Application>Microsoft Office PowerPoint</Application>
  <PresentationFormat>On-screen Show (16:9)</PresentationFormat>
  <Paragraphs>223</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Bodoni MT</vt:lpstr>
      <vt:lpstr>Calibri</vt:lpstr>
      <vt:lpstr>Courier New</vt:lpstr>
      <vt:lpstr>Roboto</vt:lpstr>
      <vt:lpstr>Segoe UI</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Dr Pooja Agarwal</cp:lastModifiedBy>
  <cp:revision>104</cp:revision>
  <dcterms:modified xsi:type="dcterms:W3CDTF">2026-01-22T00:37:21Z</dcterms:modified>
</cp:coreProperties>
</file>