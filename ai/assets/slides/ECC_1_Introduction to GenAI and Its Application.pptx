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omments/comment1.xml" ContentType="application/vnd.openxmlformats-officedocument.presentationml.comments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omments/comment2.xml" ContentType="application/vnd.openxmlformats-officedocument.presentationml.comments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omments/comment3.xml" ContentType="application/vnd.openxmlformats-officedocument.presentationml.comments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omments/comment4.xml" ContentType="application/vnd.openxmlformats-officedocument.presentationml.comments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omments/comment5.xml" ContentType="application/vnd.openxmlformats-officedocument.presentationml.comments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comments/comment6.xml" ContentType="application/vnd.openxmlformats-officedocument.presentationml.comments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comments/comment7.xml" ContentType="application/vnd.openxmlformats-officedocument.presentationml.comments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comments/comment8.xml" ContentType="application/vnd.openxmlformats-officedocument.presentationml.comments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comments/comment9.xml" ContentType="application/vnd.openxmlformats-officedocument.presentationml.comments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comments/comment10.xml" ContentType="application/vnd.openxmlformats-officedocument.presentationml.comments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comments/comment11.xml" ContentType="application/vnd.openxmlformats-officedocument.presentationml.comments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comments/comment12.xml" ContentType="application/vnd.openxmlformats-officedocument.presentationml.comments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comments/comment13.xml" ContentType="application/vnd.openxmlformats-officedocument.presentationml.comments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comments/comment14.xml" ContentType="application/vnd.openxmlformats-officedocument.presentationml.comments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comments/comment15.xml" ContentType="application/vnd.openxmlformats-officedocument.presentationml.comments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comments/comment16.xml" ContentType="application/vnd.openxmlformats-officedocument.presentationml.comments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comments/comment17.xml" ContentType="application/vnd.openxmlformats-officedocument.presentationml.comments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comments/comment18.xml" ContentType="application/vnd.openxmlformats-officedocument.presentationml.comments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comments/comment19.xml" ContentType="application/vnd.openxmlformats-officedocument.presentationml.comments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comments/comment20.xml" ContentType="application/vnd.openxmlformats-officedocument.presentationml.comments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comments/comment21.xml" ContentType="application/vnd.openxmlformats-officedocument.presentationml.comments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comments/comment22.xml" ContentType="application/vnd.openxmlformats-officedocument.presentationml.comments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comments/comment23.xml" ContentType="application/vnd.openxmlformats-officedocument.presentationml.comments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comments/comment24.xml" ContentType="application/vnd.openxmlformats-officedocument.presentationml.comments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comments/comment25.xml" ContentType="application/vnd.openxmlformats-officedocument.presentationml.comments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comments/comment26.xml" ContentType="application/vnd.openxmlformats-officedocument.presentationml.comments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comments/comment27.xml" ContentType="application/vnd.openxmlformats-officedocument.presentationml.comments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comments/comment28.xml" ContentType="application/vnd.openxmlformats-officedocument.presentationml.comments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comments/comment29.xml" ContentType="application/vnd.openxmlformats-officedocument.presentationml.comments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comments/comment30.xml" ContentType="application/vnd.openxmlformats-officedocument.presentationml.comments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comments/comment31.xml" ContentType="application/vnd.openxmlformats-officedocument.presentationml.comments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comments/comment32.xml" ContentType="application/vnd.openxmlformats-officedocument.presentationml.comments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comments/comment33.xml" ContentType="application/vnd.openxmlformats-officedocument.presentationml.comments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comments/comment34.xml" ContentType="application/vnd.openxmlformats-officedocument.presentationml.comments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comments/comment35.xml" ContentType="application/vnd.openxmlformats-officedocument.presentationml.comments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comments/comment36.xml" ContentType="application/vnd.openxmlformats-officedocument.presentationml.comments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comments/comment37.xml" ContentType="application/vnd.openxmlformats-officedocument.presentationml.comments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comments/comment38.xml" ContentType="application/vnd.openxmlformats-officedocument.presentationml.comments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comments/comment39.xml" ContentType="application/vnd.openxmlformats-officedocument.presentationml.comments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comments/comment40.xml" ContentType="application/vnd.openxmlformats-officedocument.presentationml.comments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comments/comment41.xml" ContentType="application/vnd.openxmlformats-officedocument.presentationml.comments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comments/comment42.xml" ContentType="application/vnd.openxmlformats-officedocument.presentationml.comments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comments/comment43.xml" ContentType="application/vnd.openxmlformats-officedocument.presentationml.comments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comments/comment44.xml" ContentType="application/vnd.openxmlformats-officedocument.presentationml.comments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comments/comment45.xml" ContentType="application/vnd.openxmlformats-officedocument.presentationml.comments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comments/comment46.xml" ContentType="application/vnd.openxmlformats-officedocument.presentationml.comments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comments/comment47.xml" ContentType="application/vnd.openxmlformats-officedocument.presentationml.comments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comments/comment48.xml" ContentType="application/vnd.openxmlformats-officedocument.presentationml.comments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comments/comment49.xml" ContentType="application/vnd.openxmlformats-officedocument.presentationml.comments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comments/comment50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606" r:id="rId2"/>
    <p:sldId id="471" r:id="rId3"/>
    <p:sldId id="682" r:id="rId4"/>
    <p:sldId id="683" r:id="rId5"/>
    <p:sldId id="680" r:id="rId6"/>
    <p:sldId id="681" r:id="rId7"/>
    <p:sldId id="684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686" r:id="rId20"/>
    <p:sldId id="687" r:id="rId21"/>
    <p:sldId id="688" r:id="rId22"/>
    <p:sldId id="591" r:id="rId23"/>
    <p:sldId id="642" r:id="rId24"/>
    <p:sldId id="643" r:id="rId25"/>
    <p:sldId id="644" r:id="rId26"/>
    <p:sldId id="645" r:id="rId27"/>
    <p:sldId id="646" r:id="rId28"/>
    <p:sldId id="647" r:id="rId29"/>
    <p:sldId id="648" r:id="rId30"/>
    <p:sldId id="689" r:id="rId31"/>
    <p:sldId id="690" r:id="rId32"/>
    <p:sldId id="691" r:id="rId33"/>
    <p:sldId id="692" r:id="rId34"/>
    <p:sldId id="693" r:id="rId35"/>
    <p:sldId id="694" r:id="rId36"/>
    <p:sldId id="695" r:id="rId37"/>
    <p:sldId id="652" r:id="rId38"/>
    <p:sldId id="697" r:id="rId39"/>
    <p:sldId id="649" r:id="rId40"/>
    <p:sldId id="698" r:id="rId41"/>
    <p:sldId id="651" r:id="rId42"/>
    <p:sldId id="650" r:id="rId43"/>
    <p:sldId id="696" r:id="rId44"/>
    <p:sldId id="653" r:id="rId45"/>
    <p:sldId id="654" r:id="rId46"/>
    <p:sldId id="700" r:id="rId47"/>
    <p:sldId id="701" r:id="rId48"/>
    <p:sldId id="702" r:id="rId49"/>
    <p:sldId id="699" r:id="rId50"/>
    <p:sldId id="655" r:id="rId51"/>
    <p:sldId id="676" r:id="rId52"/>
    <p:sldId id="677" r:id="rId53"/>
    <p:sldId id="678" r:id="rId54"/>
    <p:sldId id="656" r:id="rId55"/>
    <p:sldId id="657" r:id="rId56"/>
    <p:sldId id="658" r:id="rId57"/>
    <p:sldId id="659" r:id="rId58"/>
    <p:sldId id="660" r:id="rId59"/>
    <p:sldId id="661" r:id="rId60"/>
    <p:sldId id="662" r:id="rId61"/>
    <p:sldId id="663" r:id="rId62"/>
    <p:sldId id="664" r:id="rId63"/>
    <p:sldId id="665" r:id="rId64"/>
    <p:sldId id="666" r:id="rId65"/>
    <p:sldId id="667" r:id="rId66"/>
    <p:sldId id="668" r:id="rId67"/>
    <p:sldId id="671" r:id="rId68"/>
    <p:sldId id="669" r:id="rId69"/>
    <p:sldId id="670" r:id="rId70"/>
    <p:sldId id="673" r:id="rId71"/>
    <p:sldId id="674" r:id="rId72"/>
    <p:sldId id="685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sit" initials="p" lastIdx="18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9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17">
    <p:pos x="16" y="394"/>
    <p:text>This is the normal slide to insert text, videos, etc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33">
    <p:pos x="16" y="394"/>
    <p:text>This is the normal slide to insert text, videos, etc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34">
    <p:pos x="16" y="394"/>
    <p:text>This is the normal slide to insert text, videos, etc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35">
    <p:pos x="16" y="394"/>
    <p:text>This is the normal slide to insert text, videos, etc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36">
    <p:pos x="16" y="394"/>
    <p:text>This is the normal slide to insert text, videos, etc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37">
    <p:pos x="16" y="394"/>
    <p:text>This is the normal slide to insert text, videos, etc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38">
    <p:pos x="16" y="394"/>
    <p:text>This is the normal slide to insert text, videos, etc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39">
    <p:pos x="16" y="394"/>
    <p:text>This is the normal slide to insert text, videos, etc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0">
    <p:pos x="16" y="394"/>
    <p:text>This is the normal slide to insert text, videos, etc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1">
    <p:pos x="16" y="394"/>
    <p:text>This is the normal slide to insert text, videos, etc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2">
    <p:pos x="16" y="394"/>
    <p:text>This is the normal slide to insert text, videos, etc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3">
    <p:pos x="16" y="394"/>
    <p:text>This is the normal slide to insert text, videos, etc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4">
    <p:pos x="16" y="394"/>
    <p:text>This is the normal slide to insert text, videos, etc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5">
    <p:pos x="16" y="394"/>
    <p:text>This is the normal slide to insert text, videos, etc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6">
    <p:pos x="16" y="394"/>
    <p:text>This is the normal slide to insert text, videos, etc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9">
    <p:pos x="16" y="394"/>
    <p:text>This is the normal slide to insert text, videos, etc</p:tex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80">
    <p:pos x="16" y="394"/>
    <p:text>This is the normal slide to insert text, videos, etc</p:tex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0">
    <p:pos x="16" y="394"/>
    <p:text>This is the normal slide to insert text, videos, etc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81">
    <p:pos x="16" y="394"/>
    <p:text>This is the normal slide to insert text, videos, etc</p:text>
  </p:cm>
</p:cmLst>
</file>

<file path=ppt/comments/comment2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83">
    <p:pos x="16" y="394"/>
    <p:text>This is the normal slide to insert text, videos, etc</p:text>
  </p:cm>
</p:cmLst>
</file>

<file path=ppt/comments/comment2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1">
    <p:pos x="16" y="394"/>
    <p:text>This is the normal slide to insert text, videos, etc</p:text>
  </p:cm>
</p:cmLst>
</file>

<file path=ppt/comments/comment2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77">
    <p:pos x="16" y="394"/>
    <p:text>This is the normal slide to insert text, videos, etc</p:text>
  </p:cm>
</p:cmLst>
</file>

<file path=ppt/comments/comment2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4">
    <p:pos x="16" y="394"/>
    <p:text>This is the normal slide to insert text, videos, etc</p:text>
  </p:cm>
</p:cmLst>
</file>

<file path=ppt/comments/comment2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5">
    <p:pos x="16" y="394"/>
    <p:text>This is the normal slide to insert text, videos, etc</p:text>
  </p:cm>
</p:cmLst>
</file>

<file path=ppt/comments/comment2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85">
    <p:pos x="16" y="394"/>
    <p:text>This is the normal slide to insert text, videos, etc</p:text>
  </p:cm>
</p:cmLst>
</file>

<file path=ppt/comments/comment2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86">
    <p:pos x="16" y="394"/>
    <p:text>This is the normal slide to insert text, videos, etc</p:text>
  </p:cm>
</p:cmLst>
</file>

<file path=ppt/comments/comment2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87">
    <p:pos x="16" y="394"/>
    <p:text>This is the normal slide to insert text, videos, etc</p:text>
  </p:cm>
</p:cmLst>
</file>

<file path=ppt/comments/comment2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84">
    <p:pos x="16" y="394"/>
    <p:text>This is the normal slide to insert text, videos, etc</p:text>
  </p:cm>
</p:cmLst>
</file>

<file path=ppt/comments/comment2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6">
    <p:pos x="16" y="394"/>
    <p:text>This is the normal slide to insert text, videos, etc</p:text>
  </p:cm>
</p:cmLst>
</file>

<file path=ppt/comments/comment3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7">
    <p:pos x="16" y="394"/>
    <p:text>This is the normal slide to insert text, videos, etc</p:text>
  </p:cm>
</p:cmLst>
</file>

<file path=ppt/comments/comment3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8">
    <p:pos x="16" y="394"/>
    <p:text>This is the normal slide to insert text, videos, etc</p:text>
  </p:cm>
</p:cmLst>
</file>

<file path=ppt/comments/comment3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9">
    <p:pos x="16" y="394"/>
    <p:text>This is the normal slide to insert text, videos, etc</p:text>
  </p:cm>
</p:cmLst>
</file>

<file path=ppt/comments/comment3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7">
    <p:pos x="16" y="394"/>
    <p:text>This is the normal slide to insert text, videos, etc</p:text>
  </p:cm>
</p:cmLst>
</file>

<file path=ppt/comments/comment3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8">
    <p:pos x="16" y="394"/>
    <p:text>This is the normal slide to insert text, videos, etc</p:text>
  </p:cm>
</p:cmLst>
</file>

<file path=ppt/comments/comment3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49">
    <p:pos x="16" y="394"/>
    <p:text>This is the normal slide to insert text, videos, etc</p:text>
  </p:cm>
</p:cmLst>
</file>

<file path=ppt/comments/comment3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0">
    <p:pos x="16" y="394"/>
    <p:text>This is the normal slide to insert text, videos, etc</p:text>
  </p:cm>
</p:cmLst>
</file>

<file path=ppt/comments/comment3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1">
    <p:pos x="16" y="394"/>
    <p:text>This is the normal slide to insert text, videos, etc</p:text>
  </p:cm>
</p:cmLst>
</file>

<file path=ppt/comments/comment3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2">
    <p:pos x="16" y="394"/>
    <p:text>This is the normal slide to insert text, videos, etc</p:text>
  </p:cm>
</p:cmLst>
</file>

<file path=ppt/comments/comment3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3">
    <p:pos x="16" y="394"/>
    <p:text>This is the normal slide to insert text, videos, etc</p:text>
  </p:cm>
</p:cmLst>
</file>

<file path=ppt/comments/comment4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4">
    <p:pos x="16" y="394"/>
    <p:text>This is the normal slide to insert text, videos, etc</p:text>
  </p:cm>
</p:cmLst>
</file>

<file path=ppt/comments/comment4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5">
    <p:pos x="16" y="394"/>
    <p:text>This is the normal slide to insert text, videos, etc</p:text>
  </p:cm>
</p:cmLst>
</file>

<file path=ppt/comments/comment4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6">
    <p:pos x="16" y="394"/>
    <p:text>This is the normal slide to insert text, videos, etc</p:text>
  </p:cm>
</p:cmLst>
</file>

<file path=ppt/comments/comment4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7">
    <p:pos x="16" y="394"/>
    <p:text>This is the normal slide to insert text, videos, etc</p:text>
  </p:cm>
</p:cmLst>
</file>

<file path=ppt/comments/comment4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8">
    <p:pos x="16" y="394"/>
    <p:text>This is the normal slide to insert text, videos, etc</p:text>
  </p:cm>
</p:cmLst>
</file>

<file path=ppt/comments/comment4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59">
    <p:pos x="16" y="394"/>
    <p:text>This is the normal slide to insert text, videos, etc</p:text>
  </p:cm>
</p:cmLst>
</file>

<file path=ppt/comments/comment4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2">
    <p:pos x="16" y="394"/>
    <p:text>This is the normal slide to insert text, videos, etc</p:text>
  </p:cm>
</p:cmLst>
</file>

<file path=ppt/comments/comment4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0">
    <p:pos x="16" y="394"/>
    <p:text>This is the normal slide to insert text, videos, etc</p:text>
  </p:cm>
</p:cmLst>
</file>

<file path=ppt/comments/comment4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1">
    <p:pos x="16" y="394"/>
    <p:text>This is the normal slide to insert text, videos, etc</p:text>
  </p:cm>
</p:cmLst>
</file>

<file path=ppt/comments/comment4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4">
    <p:pos x="16" y="394"/>
    <p:text>This is the normal slide to insert text, videos, etc</p:text>
  </p:cm>
</p:cmLst>
</file>

<file path=ppt/comments/comment5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01T13:54:17.085" idx="165">
    <p:pos x="16" y="394"/>
    <p:text>This is the normal slide to insert text, videos, etc</p:tex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D3830-85D1-4120-A46B-CD9B950C3BB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3F3AB-41E1-4FEB-829F-210A55F37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3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73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0DCD9-7341-495E-8909-EAA21EB6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6A3E1-0E4E-7075-CFDB-A1C01BD0B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94716-4D83-B5FD-5D4D-C08F5B1E9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9307F-3F0A-DE35-EBBF-60AE6A2C4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40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FB51-998B-8A2D-F528-478F2CFB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461BA-34DE-1B1E-F4A1-37025D113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92D3B-6CF5-938C-9D1B-7F62EF5C4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D6901-088A-AE45-2F83-64DE6F677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0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61EAC-0DB9-E4C5-C6FF-46FE086C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D1519-7C51-1764-7CD1-A54127AD2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12402-9489-9A34-5D60-313F32F7D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85C45-1CDA-85BE-BBF7-8A28BA456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25D5B-60F4-47F1-97DF-38107AB8C824}" type="datetime1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B269-3C36-483D-9396-A3070A3EEBFC}" type="datetime1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9002D-9AE5-44B1-9B10-FB085242BC49}" type="datetime1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23B4-6842-4C37-A800-C33970BE139B}" type="datetime1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D90C-7828-4672-BF49-1995FC6B6F2E}" type="datetime1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48D36-75F5-45C8-B989-D8905602C277}" type="datetime1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3B91-B51D-491E-9A46-4F6FE91CE402}" type="datetime1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345-3E21-4EBB-8437-B3131759110C}" type="datetime1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C83C-29EA-4B4B-B64D-AFECCD6272DB}" type="datetime1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5DD2-246D-4D36-82D4-8AE838B18C1F}" type="datetime1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17C7-A10A-4DB0-A56B-2C771F1D3D41}" type="datetime1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12F57-2351-7148-802E-EF9900F3352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975B9-5BB4-9D47-ADCD-45C7DCC3991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E2C94B76-3040-94D0-5288-A9E7F8DE094D}"/>
              </a:ext>
            </a:extLst>
          </p:cNvPr>
          <p:cNvSpPr/>
          <p:nvPr userDrawn="1"/>
        </p:nvSpPr>
        <p:spPr>
          <a:xfrm>
            <a:off x="11278227" y="0"/>
            <a:ext cx="746706" cy="1212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206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20137-03FE-479B-A65D-815EC44829E7}" type="datetime1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../../TextBooks/1_Sinan%20Ozdemir%20-%20Quick%20Start%20Guide%20to%20Large%20Language%20Models_%20Strategies%20and%20Best%20Practices%20for%20using%20ChatGPT%20and%20Other%20LLMs-Addison-Wesley%20Professional%20(2023)%20(1)%20(1).pdf" TargetMode="External"/><Relationship Id="rId2" Type="http://schemas.openxmlformats.org/officeDocument/2006/relationships/hyperlink" Target="../../3_CourseInfor_GEN%20AI%20and%20Its%20App.docx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../../2_GenAI_Project%20Guidelines,Schedule%20and%20Evaluation%20Scheme.pd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.xml"/><Relationship Id="rId18" Type="http://schemas.openxmlformats.org/officeDocument/2006/relationships/image" Target="../media/image13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.xml"/><Relationship Id="rId16" Type="http://schemas.openxmlformats.org/officeDocument/2006/relationships/image" Target="NULL"/><Relationship Id="rId20" Type="http://schemas.openxmlformats.org/officeDocument/2006/relationships/comments" Target="../comments/comment1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.xml"/><Relationship Id="rId15" Type="http://schemas.openxmlformats.org/officeDocument/2006/relationships/customXml" Target="../ink/ink4.xml"/><Relationship Id="rId10" Type="http://schemas.openxmlformats.org/officeDocument/2006/relationships/image" Target="NULL"/><Relationship Id="rId19" Type="http://schemas.openxmlformats.org/officeDocument/2006/relationships/image" Target="../media/image14.png"/><Relationship Id="rId1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15.png"/><Relationship Id="rId21" Type="http://schemas.openxmlformats.org/officeDocument/2006/relationships/comments" Target="../comments/comment2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5.xml"/><Relationship Id="rId16" Type="http://schemas.openxmlformats.org/officeDocument/2006/relationships/image" Target="NULL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6.xml"/><Relationship Id="rId15" Type="http://schemas.openxmlformats.org/officeDocument/2006/relationships/customXml" Target="../ink/ink8.xml"/><Relationship Id="rId10" Type="http://schemas.openxmlformats.org/officeDocument/2006/relationships/image" Target="NULL"/><Relationship Id="rId19" Type="http://schemas.openxmlformats.org/officeDocument/2006/relationships/image" Target="../media/image16.png"/><Relationship Id="rId1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.xml"/><Relationship Id="rId18" Type="http://schemas.openxmlformats.org/officeDocument/2006/relationships/image" Target="../media/image18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0.xml"/><Relationship Id="rId15" Type="http://schemas.openxmlformats.org/officeDocument/2006/relationships/customXml" Target="../ink/ink12.xml"/><Relationship Id="rId10" Type="http://schemas.openxmlformats.org/officeDocument/2006/relationships/image" Target="NULL"/><Relationship Id="rId19" Type="http://schemas.openxmlformats.org/officeDocument/2006/relationships/comments" Target="../comments/comment3.xml"/><Relationship Id="rId1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.xml"/><Relationship Id="rId18" Type="http://schemas.openxmlformats.org/officeDocument/2006/relationships/image" Target="../media/image19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4.xml"/><Relationship Id="rId15" Type="http://schemas.openxmlformats.org/officeDocument/2006/relationships/customXml" Target="../ink/ink16.xml"/><Relationship Id="rId10" Type="http://schemas.openxmlformats.org/officeDocument/2006/relationships/image" Target="NULL"/><Relationship Id="rId19" Type="http://schemas.openxmlformats.org/officeDocument/2006/relationships/comments" Target="../comments/comment4.xml"/><Relationship Id="rId14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.xml"/><Relationship Id="rId18" Type="http://schemas.openxmlformats.org/officeDocument/2006/relationships/image" Target="../media/image20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8.xml"/><Relationship Id="rId15" Type="http://schemas.openxmlformats.org/officeDocument/2006/relationships/customXml" Target="../ink/ink20.xml"/><Relationship Id="rId10" Type="http://schemas.openxmlformats.org/officeDocument/2006/relationships/image" Target="NULL"/><Relationship Id="rId19" Type="http://schemas.openxmlformats.org/officeDocument/2006/relationships/comments" Target="../comments/comment5.xml"/><Relationship Id="rId1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3.xml"/><Relationship Id="rId18" Type="http://schemas.openxmlformats.org/officeDocument/2006/relationships/image" Target="../media/image21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2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2.xml"/><Relationship Id="rId15" Type="http://schemas.openxmlformats.org/officeDocument/2006/relationships/customXml" Target="../ink/ink24.xml"/><Relationship Id="rId10" Type="http://schemas.openxmlformats.org/officeDocument/2006/relationships/image" Target="NULL"/><Relationship Id="rId19" Type="http://schemas.openxmlformats.org/officeDocument/2006/relationships/comments" Target="../comments/comment6.xml"/><Relationship Id="rId1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22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2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6.xml"/><Relationship Id="rId15" Type="http://schemas.openxmlformats.org/officeDocument/2006/relationships/customXml" Target="../ink/ink28.xml"/><Relationship Id="rId10" Type="http://schemas.openxmlformats.org/officeDocument/2006/relationships/image" Target="NULL"/><Relationship Id="rId19" Type="http://schemas.openxmlformats.org/officeDocument/2006/relationships/comments" Target="../comments/comment7.xml"/><Relationship Id="rId1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.xml"/><Relationship Id="rId18" Type="http://schemas.openxmlformats.org/officeDocument/2006/relationships/image" Target="../media/image23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2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0.xml"/><Relationship Id="rId15" Type="http://schemas.openxmlformats.org/officeDocument/2006/relationships/customXml" Target="../ink/ink32.xml"/><Relationship Id="rId10" Type="http://schemas.openxmlformats.org/officeDocument/2006/relationships/image" Target="NULL"/><Relationship Id="rId19" Type="http://schemas.openxmlformats.org/officeDocument/2006/relationships/comments" Target="../comments/comment8.xml"/><Relationship Id="rId1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.xml"/><Relationship Id="rId18" Type="http://schemas.openxmlformats.org/officeDocument/2006/relationships/image" Target="../media/image24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3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4.xml"/><Relationship Id="rId15" Type="http://schemas.openxmlformats.org/officeDocument/2006/relationships/customXml" Target="../ink/ink36.xml"/><Relationship Id="rId10" Type="http://schemas.openxmlformats.org/officeDocument/2006/relationships/image" Target="NULL"/><Relationship Id="rId19" Type="http://schemas.openxmlformats.org/officeDocument/2006/relationships/comments" Target="../comments/comment9.xml"/><Relationship Id="rId1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.xml"/><Relationship Id="rId18" Type="http://schemas.openxmlformats.org/officeDocument/2006/relationships/comments" Target="../comments/comment10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3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8.xml"/><Relationship Id="rId15" Type="http://schemas.openxmlformats.org/officeDocument/2006/relationships/customXml" Target="../ink/ink40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3.xml"/><Relationship Id="rId18" Type="http://schemas.openxmlformats.org/officeDocument/2006/relationships/comments" Target="../comments/comment11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4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42.xml"/><Relationship Id="rId15" Type="http://schemas.openxmlformats.org/officeDocument/2006/relationships/customXml" Target="../ink/ink44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7.xml"/><Relationship Id="rId18" Type="http://schemas.openxmlformats.org/officeDocument/2006/relationships/image" Target="../media/image25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4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46.xml"/><Relationship Id="rId15" Type="http://schemas.openxmlformats.org/officeDocument/2006/relationships/customXml" Target="../ink/ink48.xml"/><Relationship Id="rId10" Type="http://schemas.openxmlformats.org/officeDocument/2006/relationships/image" Target="NULL"/><Relationship Id="rId19" Type="http://schemas.openxmlformats.org/officeDocument/2006/relationships/comments" Target="../comments/comment12.xml"/><Relationship Id="rId1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1.xml"/><Relationship Id="rId18" Type="http://schemas.openxmlformats.org/officeDocument/2006/relationships/image" Target="../media/image26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4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50.xml"/><Relationship Id="rId15" Type="http://schemas.openxmlformats.org/officeDocument/2006/relationships/customXml" Target="../ink/ink52.xml"/><Relationship Id="rId10" Type="http://schemas.openxmlformats.org/officeDocument/2006/relationships/image" Target="NULL"/><Relationship Id="rId19" Type="http://schemas.openxmlformats.org/officeDocument/2006/relationships/comments" Target="../comments/comment13.xml"/><Relationship Id="rId1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5.xml"/><Relationship Id="rId18" Type="http://schemas.openxmlformats.org/officeDocument/2006/relationships/comments" Target="../comments/comment14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5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54.xml"/><Relationship Id="rId15" Type="http://schemas.openxmlformats.org/officeDocument/2006/relationships/customXml" Target="../ink/ink56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9.xml"/><Relationship Id="rId18" Type="http://schemas.openxmlformats.org/officeDocument/2006/relationships/image" Target="../media/image27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5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58.xml"/><Relationship Id="rId15" Type="http://schemas.openxmlformats.org/officeDocument/2006/relationships/customXml" Target="../ink/ink60.xml"/><Relationship Id="rId10" Type="http://schemas.openxmlformats.org/officeDocument/2006/relationships/image" Target="NULL"/><Relationship Id="rId19" Type="http://schemas.openxmlformats.org/officeDocument/2006/relationships/comments" Target="../comments/comment15.xml"/><Relationship Id="rId1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3.xml"/><Relationship Id="rId18" Type="http://schemas.openxmlformats.org/officeDocument/2006/relationships/comments" Target="../comments/comment16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6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62.xml"/><Relationship Id="rId15" Type="http://schemas.openxmlformats.org/officeDocument/2006/relationships/customXml" Target="../ink/ink64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7.xml"/><Relationship Id="rId18" Type="http://schemas.openxmlformats.org/officeDocument/2006/relationships/comments" Target="../comments/comment17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6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66.xml"/><Relationship Id="rId15" Type="http://schemas.openxmlformats.org/officeDocument/2006/relationships/customXml" Target="../ink/ink68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1.xml"/><Relationship Id="rId18" Type="http://schemas.openxmlformats.org/officeDocument/2006/relationships/image" Target="../media/image28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69.xml"/><Relationship Id="rId16" Type="http://schemas.openxmlformats.org/officeDocument/2006/relationships/image" Target="NULL"/><Relationship Id="rId20" Type="http://schemas.openxmlformats.org/officeDocument/2006/relationships/comments" Target="../comments/comment18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70.xml"/><Relationship Id="rId15" Type="http://schemas.openxmlformats.org/officeDocument/2006/relationships/customXml" Target="../ink/ink72.xml"/><Relationship Id="rId10" Type="http://schemas.openxmlformats.org/officeDocument/2006/relationships/image" Target="NULL"/><Relationship Id="rId19" Type="http://schemas.openxmlformats.org/officeDocument/2006/relationships/hyperlink" Target="https://arxiv.org/abs/1706.03762" TargetMode="External"/><Relationship Id="rId14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5.xml"/><Relationship Id="rId18" Type="http://schemas.openxmlformats.org/officeDocument/2006/relationships/image" Target="../media/image28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7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74.xml"/><Relationship Id="rId15" Type="http://schemas.openxmlformats.org/officeDocument/2006/relationships/customXml" Target="../ink/ink76.xml"/><Relationship Id="rId10" Type="http://schemas.openxmlformats.org/officeDocument/2006/relationships/image" Target="NULL"/><Relationship Id="rId19" Type="http://schemas.openxmlformats.org/officeDocument/2006/relationships/comments" Target="../comments/comment19.xml"/><Relationship Id="rId14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9.xml"/><Relationship Id="rId18" Type="http://schemas.openxmlformats.org/officeDocument/2006/relationships/image" Target="../media/image29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7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78.xml"/><Relationship Id="rId15" Type="http://schemas.openxmlformats.org/officeDocument/2006/relationships/customXml" Target="../ink/ink80.xml"/><Relationship Id="rId10" Type="http://schemas.openxmlformats.org/officeDocument/2006/relationships/image" Target="NULL"/><Relationship Id="rId19" Type="http://schemas.openxmlformats.org/officeDocument/2006/relationships/comments" Target="../comments/comment20.xml"/><Relationship Id="rId14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3.xml"/><Relationship Id="rId18" Type="http://schemas.openxmlformats.org/officeDocument/2006/relationships/image" Target="../media/image30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8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82.xml"/><Relationship Id="rId15" Type="http://schemas.openxmlformats.org/officeDocument/2006/relationships/customXml" Target="../ink/ink84.xml"/><Relationship Id="rId10" Type="http://schemas.openxmlformats.org/officeDocument/2006/relationships/image" Target="NULL"/><Relationship Id="rId19" Type="http://schemas.openxmlformats.org/officeDocument/2006/relationships/comments" Target="../comments/comment21.xml"/><Relationship Id="rId1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7.xml"/><Relationship Id="rId18" Type="http://schemas.openxmlformats.org/officeDocument/2006/relationships/image" Target="../media/image31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8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86.xml"/><Relationship Id="rId15" Type="http://schemas.openxmlformats.org/officeDocument/2006/relationships/customXml" Target="../ink/ink88.xml"/><Relationship Id="rId10" Type="http://schemas.openxmlformats.org/officeDocument/2006/relationships/image" Target="NULL"/><Relationship Id="rId19" Type="http://schemas.openxmlformats.org/officeDocument/2006/relationships/comments" Target="../comments/comment22.xml"/><Relationship Id="rId1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1.xml"/><Relationship Id="rId18" Type="http://schemas.openxmlformats.org/officeDocument/2006/relationships/image" Target="../media/image32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8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90.xml"/><Relationship Id="rId15" Type="http://schemas.openxmlformats.org/officeDocument/2006/relationships/customXml" Target="../ink/ink92.xml"/><Relationship Id="rId10" Type="http://schemas.openxmlformats.org/officeDocument/2006/relationships/image" Target="NULL"/><Relationship Id="rId19" Type="http://schemas.openxmlformats.org/officeDocument/2006/relationships/comments" Target="../comments/comment23.xml"/><Relationship Id="rId1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5.xml"/><Relationship Id="rId18" Type="http://schemas.openxmlformats.org/officeDocument/2006/relationships/comments" Target="../comments/comment24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9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94.xml"/><Relationship Id="rId15" Type="http://schemas.openxmlformats.org/officeDocument/2006/relationships/customXml" Target="../ink/ink96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9.xml"/><Relationship Id="rId18" Type="http://schemas.openxmlformats.org/officeDocument/2006/relationships/comments" Target="../comments/comment25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9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98.xml"/><Relationship Id="rId15" Type="http://schemas.openxmlformats.org/officeDocument/2006/relationships/customXml" Target="../ink/ink100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3.xml"/><Relationship Id="rId18" Type="http://schemas.openxmlformats.org/officeDocument/2006/relationships/comments" Target="../comments/comment26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0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02.xml"/><Relationship Id="rId15" Type="http://schemas.openxmlformats.org/officeDocument/2006/relationships/customXml" Target="../ink/ink104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7.xml"/><Relationship Id="rId18" Type="http://schemas.openxmlformats.org/officeDocument/2006/relationships/comments" Target="../comments/comment27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0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06.xml"/><Relationship Id="rId15" Type="http://schemas.openxmlformats.org/officeDocument/2006/relationships/customXml" Target="../ink/ink108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1.xml"/><Relationship Id="rId18" Type="http://schemas.openxmlformats.org/officeDocument/2006/relationships/image" Target="../media/image33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0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10.xml"/><Relationship Id="rId15" Type="http://schemas.openxmlformats.org/officeDocument/2006/relationships/customXml" Target="../ink/ink112.xml"/><Relationship Id="rId10" Type="http://schemas.openxmlformats.org/officeDocument/2006/relationships/image" Target="NULL"/><Relationship Id="rId19" Type="http://schemas.openxmlformats.org/officeDocument/2006/relationships/comments" Target="../comments/comment28.xml"/><Relationship Id="rId1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5.xml"/><Relationship Id="rId18" Type="http://schemas.openxmlformats.org/officeDocument/2006/relationships/image" Target="../media/image34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1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14.xml"/><Relationship Id="rId15" Type="http://schemas.openxmlformats.org/officeDocument/2006/relationships/customXml" Target="../ink/ink116.xml"/><Relationship Id="rId10" Type="http://schemas.openxmlformats.org/officeDocument/2006/relationships/image" Target="NULL"/><Relationship Id="rId19" Type="http://schemas.openxmlformats.org/officeDocument/2006/relationships/comments" Target="../comments/comment29.xml"/><Relationship Id="rId14" Type="http://schemas.openxmlformats.org/officeDocument/2006/relationships/image" Target="NUL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9.xml"/><Relationship Id="rId18" Type="http://schemas.openxmlformats.org/officeDocument/2006/relationships/comments" Target="../comments/comment30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1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18.xml"/><Relationship Id="rId15" Type="http://schemas.openxmlformats.org/officeDocument/2006/relationships/customXml" Target="../ink/ink120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3.xml"/><Relationship Id="rId18" Type="http://schemas.openxmlformats.org/officeDocument/2006/relationships/comments" Target="../comments/comment31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2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22.xml"/><Relationship Id="rId15" Type="http://schemas.openxmlformats.org/officeDocument/2006/relationships/customXml" Target="../ink/ink124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7.xml"/><Relationship Id="rId18" Type="http://schemas.openxmlformats.org/officeDocument/2006/relationships/comments" Target="../comments/comment32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2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26.xml"/><Relationship Id="rId15" Type="http://schemas.openxmlformats.org/officeDocument/2006/relationships/customXml" Target="../ink/ink128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1.xml"/><Relationship Id="rId18" Type="http://schemas.openxmlformats.org/officeDocument/2006/relationships/image" Target="../media/image35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2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30.xml"/><Relationship Id="rId15" Type="http://schemas.openxmlformats.org/officeDocument/2006/relationships/customXml" Target="../ink/ink132.xml"/><Relationship Id="rId10" Type="http://schemas.openxmlformats.org/officeDocument/2006/relationships/image" Target="NULL"/><Relationship Id="rId19" Type="http://schemas.openxmlformats.org/officeDocument/2006/relationships/comments" Target="../comments/comment33.xml"/><Relationship Id="rId14" Type="http://schemas.openxmlformats.org/officeDocument/2006/relationships/image" Target="NUL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5.xml"/><Relationship Id="rId18" Type="http://schemas.openxmlformats.org/officeDocument/2006/relationships/image" Target="../media/image36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3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34.xml"/><Relationship Id="rId15" Type="http://schemas.openxmlformats.org/officeDocument/2006/relationships/customXml" Target="../ink/ink136.xml"/><Relationship Id="rId10" Type="http://schemas.openxmlformats.org/officeDocument/2006/relationships/image" Target="NULL"/><Relationship Id="rId19" Type="http://schemas.openxmlformats.org/officeDocument/2006/relationships/comments" Target="../comments/comment34.xml"/><Relationship Id="rId14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9.xml"/><Relationship Id="rId18" Type="http://schemas.openxmlformats.org/officeDocument/2006/relationships/image" Target="../media/image37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37.xml"/><Relationship Id="rId16" Type="http://schemas.openxmlformats.org/officeDocument/2006/relationships/image" Target="NULL"/><Relationship Id="rId20" Type="http://schemas.openxmlformats.org/officeDocument/2006/relationships/comments" Target="../comments/comment35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38.xml"/><Relationship Id="rId15" Type="http://schemas.openxmlformats.org/officeDocument/2006/relationships/customXml" Target="../ink/ink140.xml"/><Relationship Id="rId10" Type="http://schemas.openxmlformats.org/officeDocument/2006/relationships/image" Target="NULL"/><Relationship Id="rId19" Type="http://schemas.openxmlformats.org/officeDocument/2006/relationships/image" Target="../media/image38.png"/><Relationship Id="rId14" Type="http://schemas.openxmlformats.org/officeDocument/2006/relationships/image" Target="NULL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3.xml"/><Relationship Id="rId18" Type="http://schemas.openxmlformats.org/officeDocument/2006/relationships/image" Target="../media/image39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4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42.xml"/><Relationship Id="rId15" Type="http://schemas.openxmlformats.org/officeDocument/2006/relationships/customXml" Target="../ink/ink144.xml"/><Relationship Id="rId10" Type="http://schemas.openxmlformats.org/officeDocument/2006/relationships/image" Target="NULL"/><Relationship Id="rId19" Type="http://schemas.openxmlformats.org/officeDocument/2006/relationships/comments" Target="../comments/comment36.xml"/><Relationship Id="rId14" Type="http://schemas.openxmlformats.org/officeDocument/2006/relationships/image" Target="NULL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7.xml"/><Relationship Id="rId18" Type="http://schemas.openxmlformats.org/officeDocument/2006/relationships/image" Target="../media/image40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4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46.xml"/><Relationship Id="rId15" Type="http://schemas.openxmlformats.org/officeDocument/2006/relationships/customXml" Target="../ink/ink148.xml"/><Relationship Id="rId10" Type="http://schemas.openxmlformats.org/officeDocument/2006/relationships/image" Target="NULL"/><Relationship Id="rId19" Type="http://schemas.openxmlformats.org/officeDocument/2006/relationships/comments" Target="../comments/comment37.xml"/><Relationship Id="rId14" Type="http://schemas.openxmlformats.org/officeDocument/2006/relationships/image" Target="NULL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1.xml"/><Relationship Id="rId18" Type="http://schemas.openxmlformats.org/officeDocument/2006/relationships/image" Target="../media/image41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4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50.xml"/><Relationship Id="rId15" Type="http://schemas.openxmlformats.org/officeDocument/2006/relationships/customXml" Target="../ink/ink152.xml"/><Relationship Id="rId10" Type="http://schemas.openxmlformats.org/officeDocument/2006/relationships/image" Target="NULL"/><Relationship Id="rId19" Type="http://schemas.openxmlformats.org/officeDocument/2006/relationships/comments" Target="../comments/comment38.xml"/><Relationship Id="rId1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5.xml"/><Relationship Id="rId18" Type="http://schemas.openxmlformats.org/officeDocument/2006/relationships/image" Target="../media/image42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5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54.xml"/><Relationship Id="rId15" Type="http://schemas.openxmlformats.org/officeDocument/2006/relationships/customXml" Target="../ink/ink156.xml"/><Relationship Id="rId10" Type="http://schemas.openxmlformats.org/officeDocument/2006/relationships/image" Target="NULL"/><Relationship Id="rId19" Type="http://schemas.openxmlformats.org/officeDocument/2006/relationships/comments" Target="../comments/comment39.xml"/><Relationship Id="rId14" Type="http://schemas.openxmlformats.org/officeDocument/2006/relationships/image" Target="NULL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9.xml"/><Relationship Id="rId18" Type="http://schemas.openxmlformats.org/officeDocument/2006/relationships/image" Target="../media/image43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5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58.xml"/><Relationship Id="rId15" Type="http://schemas.openxmlformats.org/officeDocument/2006/relationships/customXml" Target="../ink/ink160.xml"/><Relationship Id="rId10" Type="http://schemas.openxmlformats.org/officeDocument/2006/relationships/image" Target="NULL"/><Relationship Id="rId19" Type="http://schemas.openxmlformats.org/officeDocument/2006/relationships/comments" Target="../comments/comment40.xml"/><Relationship Id="rId14" Type="http://schemas.openxmlformats.org/officeDocument/2006/relationships/image" Target="NUL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3.xml"/><Relationship Id="rId18" Type="http://schemas.openxmlformats.org/officeDocument/2006/relationships/image" Target="../media/image44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6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62.xml"/><Relationship Id="rId15" Type="http://schemas.openxmlformats.org/officeDocument/2006/relationships/customXml" Target="../ink/ink164.xml"/><Relationship Id="rId10" Type="http://schemas.openxmlformats.org/officeDocument/2006/relationships/image" Target="NULL"/><Relationship Id="rId19" Type="http://schemas.openxmlformats.org/officeDocument/2006/relationships/comments" Target="../comments/comment41.xml"/><Relationship Id="rId14" Type="http://schemas.openxmlformats.org/officeDocument/2006/relationships/image" Target="NULL"/></Relationships>
</file>

<file path=ppt/slides/_rels/slide6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7.xml"/><Relationship Id="rId18" Type="http://schemas.openxmlformats.org/officeDocument/2006/relationships/image" Target="../media/image45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6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66.xml"/><Relationship Id="rId15" Type="http://schemas.openxmlformats.org/officeDocument/2006/relationships/customXml" Target="../ink/ink168.xml"/><Relationship Id="rId10" Type="http://schemas.openxmlformats.org/officeDocument/2006/relationships/image" Target="NULL"/><Relationship Id="rId19" Type="http://schemas.openxmlformats.org/officeDocument/2006/relationships/comments" Target="../comments/comment42.xml"/><Relationship Id="rId14" Type="http://schemas.openxmlformats.org/officeDocument/2006/relationships/image" Target="NULL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1.xml"/><Relationship Id="rId18" Type="http://schemas.openxmlformats.org/officeDocument/2006/relationships/image" Target="../media/image46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6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70.xml"/><Relationship Id="rId15" Type="http://schemas.openxmlformats.org/officeDocument/2006/relationships/customXml" Target="../ink/ink172.xml"/><Relationship Id="rId10" Type="http://schemas.openxmlformats.org/officeDocument/2006/relationships/image" Target="NULL"/><Relationship Id="rId19" Type="http://schemas.openxmlformats.org/officeDocument/2006/relationships/comments" Target="../comments/comment43.xml"/><Relationship Id="rId14" Type="http://schemas.openxmlformats.org/officeDocument/2006/relationships/image" Target="NULL"/></Relationships>
</file>

<file path=ppt/slides/_rels/slide6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5.xml"/><Relationship Id="rId18" Type="http://schemas.openxmlformats.org/officeDocument/2006/relationships/image" Target="../media/image47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7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74.xml"/><Relationship Id="rId15" Type="http://schemas.openxmlformats.org/officeDocument/2006/relationships/customXml" Target="../ink/ink176.xml"/><Relationship Id="rId10" Type="http://schemas.openxmlformats.org/officeDocument/2006/relationships/image" Target="NULL"/><Relationship Id="rId19" Type="http://schemas.openxmlformats.org/officeDocument/2006/relationships/comments" Target="../comments/comment44.xml"/><Relationship Id="rId14" Type="http://schemas.openxmlformats.org/officeDocument/2006/relationships/image" Target="NULL"/></Relationships>
</file>

<file path=ppt/slides/_rels/slide6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9.xml"/><Relationship Id="rId18" Type="http://schemas.openxmlformats.org/officeDocument/2006/relationships/comments" Target="../comments/comment45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7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78.xml"/><Relationship Id="rId15" Type="http://schemas.openxmlformats.org/officeDocument/2006/relationships/customXml" Target="../ink/ink180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6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3.xml"/><Relationship Id="rId18" Type="http://schemas.openxmlformats.org/officeDocument/2006/relationships/image" Target="../media/image48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8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82.xml"/><Relationship Id="rId15" Type="http://schemas.openxmlformats.org/officeDocument/2006/relationships/customXml" Target="../ink/ink184.xml"/><Relationship Id="rId10" Type="http://schemas.openxmlformats.org/officeDocument/2006/relationships/image" Target="NULL"/><Relationship Id="rId19" Type="http://schemas.openxmlformats.org/officeDocument/2006/relationships/comments" Target="../comments/comment46.xml"/><Relationship Id="rId14" Type="http://schemas.openxmlformats.org/officeDocument/2006/relationships/image" Target="NULL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7.xml"/><Relationship Id="rId18" Type="http://schemas.openxmlformats.org/officeDocument/2006/relationships/image" Target="../media/image49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8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86.xml"/><Relationship Id="rId15" Type="http://schemas.openxmlformats.org/officeDocument/2006/relationships/customXml" Target="../ink/ink188.xml"/><Relationship Id="rId10" Type="http://schemas.openxmlformats.org/officeDocument/2006/relationships/image" Target="NULL"/><Relationship Id="rId19" Type="http://schemas.openxmlformats.org/officeDocument/2006/relationships/comments" Target="../comments/comment47.xml"/><Relationship Id="rId14" Type="http://schemas.openxmlformats.org/officeDocument/2006/relationships/image" Target="NULL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1.xml"/><Relationship Id="rId18" Type="http://schemas.openxmlformats.org/officeDocument/2006/relationships/image" Target="../media/image50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8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90.xml"/><Relationship Id="rId15" Type="http://schemas.openxmlformats.org/officeDocument/2006/relationships/customXml" Target="../ink/ink192.xml"/><Relationship Id="rId10" Type="http://schemas.openxmlformats.org/officeDocument/2006/relationships/image" Target="NULL"/><Relationship Id="rId19" Type="http://schemas.openxmlformats.org/officeDocument/2006/relationships/comments" Target="../comments/comment48.xml"/><Relationship Id="rId14" Type="http://schemas.openxmlformats.org/officeDocument/2006/relationships/image" Target="NULL"/></Relationships>
</file>

<file path=ppt/slides/_rels/slide7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5.xml"/><Relationship Id="rId18" Type="http://schemas.openxmlformats.org/officeDocument/2006/relationships/image" Target="../media/image51.png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93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94.xml"/><Relationship Id="rId15" Type="http://schemas.openxmlformats.org/officeDocument/2006/relationships/customXml" Target="../ink/ink196.xml"/><Relationship Id="rId10" Type="http://schemas.openxmlformats.org/officeDocument/2006/relationships/image" Target="NULL"/><Relationship Id="rId19" Type="http://schemas.openxmlformats.org/officeDocument/2006/relationships/comments" Target="../comments/comment49.xml"/><Relationship Id="rId14" Type="http://schemas.openxmlformats.org/officeDocument/2006/relationships/image" Target="NULL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9.xml"/><Relationship Id="rId18" Type="http://schemas.openxmlformats.org/officeDocument/2006/relationships/comments" Target="../comments/comment50.xm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97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98.xml"/><Relationship Id="rId15" Type="http://schemas.openxmlformats.org/officeDocument/2006/relationships/customXml" Target="../ink/ink200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84D8-88AA-506C-A995-4816CF4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3">
            <a:extLst>
              <a:ext uri="{FF2B5EF4-FFF2-40B4-BE49-F238E27FC236}">
                <a16:creationId xmlns:a16="http://schemas.microsoft.com/office/drawing/2014/main" id="{93EDC3FF-C190-C8EA-7DEC-7D397F52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384675"/>
            <a:ext cx="749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Dr. Pooja Agarwal</a:t>
            </a:r>
          </a:p>
        </p:txBody>
      </p:sp>
      <p:sp>
        <p:nvSpPr>
          <p:cNvPr id="2052" name="Rectangle 14">
            <a:extLst>
              <a:ext uri="{FF2B5EF4-FFF2-40B4-BE49-F238E27FC236}">
                <a16:creationId xmlns:a16="http://schemas.microsoft.com/office/drawing/2014/main" id="{E126F1CE-3265-D2D3-A8ED-FB29F4A9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846638"/>
            <a:ext cx="7496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Dept. of CSE, PES University, Bangalore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A5893B-36D7-B39F-6574-0BEF4B614DA0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57EE55-932E-282C-F262-08B6A35DE8A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D1F7A9-6D4B-6583-A540-C61464640517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D2D032-4BDF-904C-4128-8AC3A456DDE2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FCCEBE-CF5C-2002-9968-7EA6E810D44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0BEC23-062A-FD79-274A-8A4CCCDFE8C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E9A012-124A-AB39-5001-C490129B421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3E2B4B40-4943-37DE-2983-E6D43431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05DE2F-FA5D-ECAD-E530-C3EA137ADC55}"/>
              </a:ext>
            </a:extLst>
          </p:cNvPr>
          <p:cNvSpPr/>
          <p:nvPr/>
        </p:nvSpPr>
        <p:spPr>
          <a:xfrm>
            <a:off x="6096000" y="1730266"/>
            <a:ext cx="2181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</a:rPr>
              <a:t>Unit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971A3-32DB-BD1A-6B28-A37F3C620372}"/>
              </a:ext>
            </a:extLst>
          </p:cNvPr>
          <p:cNvSpPr/>
          <p:nvPr/>
        </p:nvSpPr>
        <p:spPr>
          <a:xfrm>
            <a:off x="4731026" y="3429000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Generative AI and Its Applications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AC26A-E62F-8101-6EC5-6B9CB1FE6B7D}"/>
              </a:ext>
            </a:extLst>
          </p:cNvPr>
          <p:cNvSpPr/>
          <p:nvPr/>
        </p:nvSpPr>
        <p:spPr>
          <a:xfrm>
            <a:off x="2567536" y="503881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67F86042-2C35-03EC-2220-3972DA3DDCCA}"/>
              </a:ext>
            </a:extLst>
          </p:cNvPr>
          <p:cNvSpPr/>
          <p:nvPr/>
        </p:nvSpPr>
        <p:spPr>
          <a:xfrm>
            <a:off x="6316143" y="2640500"/>
            <a:ext cx="26120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3600"/>
            </a:pPr>
            <a:r>
              <a:rPr lang="en-GB" sz="2667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(UE23CS342BA4)</a:t>
            </a:r>
            <a:endParaRPr sz="2667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1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Acknowledgement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03435-562F-6B36-6764-2B23A3388569}"/>
              </a:ext>
            </a:extLst>
          </p:cNvPr>
          <p:cNvSpPr txBox="1"/>
          <p:nvPr/>
        </p:nvSpPr>
        <p:spPr>
          <a:xfrm>
            <a:off x="618877" y="2214438"/>
            <a:ext cx="9580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/>
              <a:t>The slides are prepared from  various resources from the Universities from abroad and India. Also, some material is taken from reliable resources from internet throughout this course.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2AAB39-893C-D3AB-EF7A-F1898677FE1E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76BF-229A-3128-B64C-3F56F31A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9A2827-18DA-250B-58F1-DF8FC137383B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3D6263B-72B6-94BF-E056-EFF53E9A3CAA}"/>
              </a:ext>
            </a:extLst>
          </p:cNvPr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Syllabus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B26962-C223-92F5-9CF0-D034E6ACC23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C4E7A81-E863-2188-D7CA-E972C165525B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82F37A-17DA-8F72-2F96-0A51D85E6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13" y="1320333"/>
            <a:ext cx="8956447" cy="497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2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AB4B-A408-2203-0C30-6D637EC6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22C907-0BA1-F1B1-EB98-64E8399AAA36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7470E09-0FB3-DEE2-F573-38F44888A952}"/>
              </a:ext>
            </a:extLst>
          </p:cNvPr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Syllabus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C775BD-9F32-DADC-00BA-4D93CD4BF02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7043CB0-E54C-430C-F9C9-83807D8F4BC8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F302E-EE07-CEA5-C7BA-49FD3DE01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08" y="1403345"/>
            <a:ext cx="10164594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53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A8B0-748E-2F3F-1EAA-015D25A9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2E197D-1694-B0E6-765C-A82C95A6F03F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EA6D1F1-4FE8-AA01-71BF-B3D32C901FD8}"/>
              </a:ext>
            </a:extLst>
          </p:cNvPr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Evaluation Policy (UE23CS342BA4)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6844F-F43A-73DA-EE3A-1AD63D28FEF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5DBF09C-A864-2B25-6441-32CFB99BB526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5DE343-1EE2-72EE-CEE9-7DE862D95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08" y="1209922"/>
            <a:ext cx="10147988" cy="56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20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175B0-BB82-3CE3-7024-D0FED1D4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4E105E-3E01-9CED-E5E9-D051804B319B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30BFA58-4CED-F50D-EA18-8C2415278E4A}"/>
              </a:ext>
            </a:extLst>
          </p:cNvPr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Evaluation Policy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99796A-9E26-0A48-C1BF-DFBDC29C568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4A943FD-B263-9D1D-4261-8F7CFB00E58B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5ADF1E-51DC-3302-5C49-F39144858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5" y="1320333"/>
            <a:ext cx="9363075" cy="1762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AE4D7-AE89-B57A-B02E-3B144CD43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25" y="3270739"/>
            <a:ext cx="10945753" cy="628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C69A32-609F-7FEB-B319-05ED85E5D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25" y="3899477"/>
            <a:ext cx="10507541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1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A5AB-5D2F-3DB8-66ED-5AF0BFBC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6A5A9B-49BB-BD4D-6746-3AE3364FB294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A2AB75F-98C7-C776-C196-B497EBCE7A53}"/>
              </a:ext>
            </a:extLst>
          </p:cNvPr>
          <p:cNvSpPr/>
          <p:nvPr/>
        </p:nvSpPr>
        <p:spPr>
          <a:xfrm>
            <a:off x="944322" y="1872170"/>
            <a:ext cx="79997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hlinkClick r:id="rId2" action="ppaction://hlinkfile"/>
              </a:rPr>
              <a:t>Course Information</a:t>
            </a:r>
            <a:endParaRPr lang="en-IN" sz="2400" b="1" dirty="0">
              <a:solidFill>
                <a:schemeClr val="accent1"/>
              </a:solidFill>
            </a:endParaRPr>
          </a:p>
          <a:p>
            <a:r>
              <a:rPr lang="en-IN" sz="2400" b="1" dirty="0">
                <a:solidFill>
                  <a:schemeClr val="accent1"/>
                </a:solidFill>
                <a:hlinkClick r:id="rId3" action="ppaction://hlinkfile"/>
              </a:rPr>
              <a:t>Text Book</a:t>
            </a:r>
            <a:endParaRPr lang="en-IN" sz="2400" b="1" dirty="0">
              <a:solidFill>
                <a:schemeClr val="accent1"/>
              </a:solidFill>
            </a:endParaRPr>
          </a:p>
          <a:p>
            <a:r>
              <a:rPr lang="en-IN" sz="2400" b="1" dirty="0">
                <a:solidFill>
                  <a:schemeClr val="accent1"/>
                </a:solidFill>
                <a:hlinkClick r:id="rId4" action="ppaction://hlinkfile"/>
              </a:rPr>
              <a:t>Project Guidelines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C8EA9D-E8C9-B681-E41B-DFAEDBC3C76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792E01A-601A-EEEA-6149-EE0753829A39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4387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1. Text Generation</a:t>
            </a:r>
          </a:p>
          <a:p>
            <a:r>
              <a:rPr lang="en-US" b="1" dirty="0"/>
              <a:t>Objective</a:t>
            </a:r>
            <a:r>
              <a:rPr lang="en-US" dirty="0"/>
              <a:t>: Generate coherent and meaningful text based on a given prompt.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pre-trained models like GPT-2 or GPT-3.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a pre-trained LLM on a specific dataset (e.g., fairy tales, news articles).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 text based on various prompts.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Understanding the basics of text generation and prompt engineering.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7563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2. </a:t>
            </a:r>
            <a:r>
              <a:rPr lang="en-US" b="1" dirty="0"/>
              <a:t>Chatbot Development</a:t>
            </a:r>
          </a:p>
          <a:p>
            <a:r>
              <a:rPr lang="en-US" b="1" dirty="0"/>
              <a:t>Objective</a:t>
            </a:r>
            <a:r>
              <a:rPr lang="en-US" dirty="0"/>
              <a:t>: Create a simple chatbot that can carry on basic conversations.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GPT-3 or a smaller model like </a:t>
            </a:r>
            <a:r>
              <a:rPr lang="en-US" dirty="0" err="1"/>
              <a:t>DialoGPT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 up a basic conversational interface.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the model if necessary for specific dialogue styles or topics.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Practical experience with dialogue systems and LLM API usage.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4773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3. </a:t>
            </a:r>
            <a:r>
              <a:rPr lang="en-US" b="1" dirty="0"/>
              <a:t>Text Summarization</a:t>
            </a:r>
          </a:p>
          <a:p>
            <a:r>
              <a:rPr lang="en-US" b="1" dirty="0"/>
              <a:t>Objective</a:t>
            </a:r>
            <a:r>
              <a:rPr lang="en-US" dirty="0"/>
              <a:t>: Develop a tool that can summarize long articles into shorter, coherent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models like BART or T5.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a summarization model on a news dataset or any text corpus.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Evaluate the quality of the summaries produced.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Insights into text summarization techniques and model evaluation.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96579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4. </a:t>
            </a:r>
            <a:r>
              <a:rPr lang="en-US" b="1" dirty="0"/>
              <a:t>Sentiment Analysis</a:t>
            </a:r>
          </a:p>
          <a:p>
            <a:r>
              <a:rPr lang="en-US" b="1" dirty="0"/>
              <a:t>Objective</a:t>
            </a:r>
            <a:r>
              <a:rPr lang="en-US" dirty="0"/>
              <a:t>: Analyze the sentiment of given text data (positive, negative, neutral).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pre-trained models like BERT or </a:t>
            </a:r>
            <a:r>
              <a:rPr lang="en-US" dirty="0" err="1"/>
              <a:t>RoBERTa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a sentiment analysis model on a dataset like IMDb reviews.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 a simple interface to input text and display sentiment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Understanding text classification and model fine-tuning.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15890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5. </a:t>
            </a:r>
            <a:r>
              <a:rPr lang="en-US" b="1" dirty="0"/>
              <a:t>Named Entity Recognition (NER)</a:t>
            </a:r>
          </a:p>
          <a:p>
            <a:r>
              <a:rPr lang="en-US" b="1" dirty="0"/>
              <a:t>Objective</a:t>
            </a:r>
            <a:r>
              <a:rPr lang="en-US" dirty="0"/>
              <a:t>: Identify and classify named entities (e.g., people, organizations, locations) in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models like </a:t>
            </a:r>
            <a:r>
              <a:rPr lang="en-US" dirty="0" err="1"/>
              <a:t>SpaCy</a:t>
            </a:r>
            <a:r>
              <a:rPr lang="en-US" dirty="0"/>
              <a:t> or BERT-based NER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an NER model on a labeled dataset.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a tool to highlight named entities in the input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Practical experience with NER and understanding entity recognition.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24902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6. </a:t>
            </a:r>
            <a:r>
              <a:rPr lang="en-US" b="1" dirty="0"/>
              <a:t>Language Translation</a:t>
            </a:r>
          </a:p>
          <a:p>
            <a:r>
              <a:rPr lang="en-US" b="1" dirty="0"/>
              <a:t>Objective</a:t>
            </a:r>
            <a:r>
              <a:rPr lang="en-US" dirty="0"/>
              <a:t>: Build a simple tool for translating text from one language to another.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models like </a:t>
            </a:r>
            <a:r>
              <a:rPr lang="en-US" dirty="0" err="1"/>
              <a:t>MarianMT</a:t>
            </a:r>
            <a:r>
              <a:rPr lang="en-US" dirty="0"/>
              <a:t> or M2M100.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 up the translation model with pre-trained weights.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Translate text between selected language pairs and evaluate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Insights into machine translation and handling multilingual data.</a:t>
            </a:r>
          </a:p>
          <a:p>
            <a:endParaRPr lang="en-US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43954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7. </a:t>
            </a:r>
            <a:r>
              <a:rPr lang="en-US" b="1" dirty="0"/>
              <a:t>Text-Based Games</a:t>
            </a:r>
          </a:p>
          <a:p>
            <a:r>
              <a:rPr lang="en-US" b="1" dirty="0"/>
              <a:t>Objective</a:t>
            </a:r>
            <a:r>
              <a:rPr lang="en-US" dirty="0"/>
              <a:t>: Create interactive text-based games (e.g., trivia, adventure).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GPT-2 or GPT-3.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 game logic and integrate it with the LLM.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the model for better game-specific responses if necessary.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Combining creativity with LLMs to build engaging applications.</a:t>
            </a:r>
          </a:p>
          <a:p>
            <a:endParaRPr lang="en-US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88954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8. Fake News Detection</a:t>
            </a:r>
          </a:p>
          <a:p>
            <a:r>
              <a:rPr lang="en-US" b="1" dirty="0"/>
              <a:t>Objective</a:t>
            </a:r>
            <a:r>
              <a:rPr lang="en-US" dirty="0"/>
              <a:t>: Classify news articles as real or fake.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BERT or </a:t>
            </a:r>
            <a:r>
              <a:rPr lang="en-US" dirty="0" err="1"/>
              <a:t>RoBERTa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a classification model on a dataset of real and fake news.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 an interface to input news articles and display classification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Understanding text classification and ethical considerations in AI.</a:t>
            </a:r>
          </a:p>
          <a:p>
            <a:endParaRPr lang="en-US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96309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9. Medical Question Answering System</a:t>
            </a:r>
          </a:p>
          <a:p>
            <a:r>
              <a:rPr lang="en-US" b="1" dirty="0"/>
              <a:t>Objective</a:t>
            </a:r>
            <a:r>
              <a:rPr lang="en-US" dirty="0"/>
              <a:t>: Develop a system that can answer common medical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GPT-3 or similar LLMs.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Compile a dataset of frequently asked medical questions and their answers.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the LLM on this dataset if necessary.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an interface where users can input questions and receive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Understanding how to use LLMs for information retrieval and healthcare communication.</a:t>
            </a:r>
          </a:p>
          <a:p>
            <a:endParaRPr lang="en-US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75909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10. </a:t>
            </a:r>
            <a:r>
              <a:rPr lang="en-IN" b="1" dirty="0"/>
              <a:t>Symptom Checker</a:t>
            </a:r>
            <a:endParaRPr lang="en-US" b="1" dirty="0"/>
          </a:p>
          <a:p>
            <a:r>
              <a:rPr lang="en-US" b="1" dirty="0"/>
              <a:t>Objective</a:t>
            </a:r>
            <a:r>
              <a:rPr lang="en-US" dirty="0"/>
              <a:t>: Create a tool that suggests possible conditions based on described symptoms.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GPT-3 or other LLMs.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 a dataset mapping symptoms to potential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Fine-tune the LLM to understand and analyze symptom descriptions.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 a user interface to input symptoms and display possible conditions.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Insights into medical symptom analysis and user interaction with AI tools.</a:t>
            </a:r>
          </a:p>
          <a:p>
            <a:endParaRPr lang="en-US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50848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5" y="90376"/>
            <a:ext cx="9601200" cy="707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Project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5C152-C481-C141-899D-0B6969B2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638300"/>
            <a:ext cx="9601200" cy="3581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11. Automated Essay Grader</a:t>
            </a:r>
          </a:p>
          <a:p>
            <a:r>
              <a:rPr lang="en-US" b="1" dirty="0"/>
              <a:t>Objective</a:t>
            </a:r>
            <a:r>
              <a:rPr lang="en-US" dirty="0"/>
              <a:t>: Create a tool to evaluate and grade student essays.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  <a:r>
              <a:rPr lang="en-US" dirty="0"/>
              <a:t>: Use BERT or GPT-3.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Gather a dataset of student essays with grades provided by teachers.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 or fine-tune the model to evaluate essays based on various criteria (e.g., coherence, grammar, content).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 a user interface for students to submit essays and receive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Learning Outcomes</a:t>
            </a:r>
            <a:r>
              <a:rPr lang="en-US" dirty="0"/>
              <a:t>: Insights into automated evaluation and feedback mechanisms in education.</a:t>
            </a:r>
          </a:p>
          <a:p>
            <a:endParaRPr lang="en-US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62093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0D43-5975-33B1-077D-F4669A87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9C4C0B5-5D96-C274-E6E0-16883ADD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Generative 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3BAB2-C37A-2A70-11E6-5FA4262B6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645" y="1825625"/>
            <a:ext cx="9160710" cy="4351338"/>
          </a:xfrm>
          <a:prstGeom prst="rect">
            <a:avLst/>
          </a:prstGeom>
          <a:noFill/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C431BE11-F2A8-2ABD-CB32-07859F2D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77729C9-FBBD-4916-93BC-8B48DFD0D00A}" type="slidenum">
              <a:rPr lang="en-IN" smtClean="0"/>
              <a:pPr>
                <a:spcAft>
                  <a:spcPts val="600"/>
                </a:spcAft>
              </a:pPr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052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B047-7F73-19CD-D041-786E020B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772066-D763-01A8-02EA-80E3E6FBB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63" y="1463549"/>
            <a:ext cx="10612052" cy="48257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ADD6464-FF43-6513-6600-23BD81B2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How is GenAI different from Tradition AI</a:t>
            </a:r>
          </a:p>
        </p:txBody>
      </p:sp>
    </p:spTree>
    <p:extLst>
      <p:ext uri="{BB962C8B-B14F-4D97-AF65-F5344CB8AC3E}">
        <p14:creationId xmlns:p14="http://schemas.microsoft.com/office/powerpoint/2010/main" val="2517257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8EA3-C389-487F-FF53-EA0C2F10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AADCE8-61F5-7733-E951-82053F122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362" y="1347497"/>
            <a:ext cx="8783276" cy="416300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24C1D5D-AA9A-718E-C2B2-62905AAA0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3850969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DABDB-509C-CBB5-444A-B27D7969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E9ADAB5-31F3-518C-7717-88BCAF2E0C85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Artificial Intelligence, Machine Learning and Deep 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82E972-9397-9034-F10F-850394F1D401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D30286AA-01F0-1A49-2970-EB2D3C1C473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58D496A2-87CD-921C-C902-1357FB1F11C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951EFCC5-FD39-F4EC-2FFF-7CC0DC0876D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20A3B8CC-B34B-4C12-C0E1-1F4D6C421CB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465DD7C6-90C3-998E-FA2D-DDC31013D1E8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C18CDF-0E6B-D62A-3C09-F696747D161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5AFD1-1C4A-5553-0069-8425AB0D5E3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5640" y="1573213"/>
            <a:ext cx="9569645" cy="2244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ADF13E-D4E9-8650-B7AE-D8F7AEA2BE6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06625" y="3972719"/>
            <a:ext cx="75628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35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7D517-F1BB-200C-9061-CC7E8E69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9743DB-A6DD-9D11-9987-C8C5CD74F81F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Types of Machine Learning Models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6B84B1-0D3A-0A83-D525-F28B8C452A55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904F9010-2F1A-4155-F5A8-D390C80A35D9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8DB8DD33-E959-2469-9AAC-39E147DAAF6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878F32D9-C96E-1B61-000A-18DC6E82056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6BEEED19-9260-4DE9-9AF1-2F15140A6D2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0B660A71-8F47-2559-1187-91E24E4D844E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3FA7C94-9ABA-3C3D-8824-C8F06764022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4E6F2-993E-B4FD-AEB8-9D181450DF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98" y="1443037"/>
            <a:ext cx="8515350" cy="4943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FCCCAD-B3B0-7A26-DC52-8C5365A80A7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31110" y="1419915"/>
            <a:ext cx="2299317" cy="23772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12806D-E181-BF06-0987-6E7839BB45D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32851" y="3897098"/>
            <a:ext cx="28575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30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10B8E-5DE3-841A-EBD1-602C9F31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E9B29E4-DCB9-3AE4-68F5-6F55AECE3708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Types of Machine Learning Models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7FF18C-D4CD-E451-C8CC-3C46E5C1243D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8B865A41-BC96-4363-05FE-A15474683BE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BBA4A6D8-C8DA-A9A9-D7FA-DF887D81CC6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26BBDA1C-5145-6D60-8AAB-AFA0ADD296C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180FB8B6-20BB-B807-4B22-54C3C6BB4A7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617B9CCA-ED2C-11EE-9059-0966071A2C08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28C0D1-CC9A-29EC-9095-8B3149650D6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DABD7-089A-D619-4957-8B9585F3F2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3111" y="1573213"/>
            <a:ext cx="1109662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64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37F1-F1DC-A4F7-88B8-9A0347E6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454B9C4-1C62-1DA8-E727-29F47A6094DD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Types of Machine Learning Models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448C80-19F3-D5FA-FFE4-402F83F5D597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9A17BA15-0D0E-2039-6BDD-16949F94015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2427468B-CF7F-61DB-C4C3-AA1C2A7E8E6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527CFA7D-F7F9-F304-BB70-3CD0FA4E1CE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DD431F0B-0D63-57D1-FDA3-A2DDB23EB40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67D534B3-A246-F377-CABA-5A8DFF0D5B28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70EA56-23EF-BF22-9284-639FDB102A2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71B8A-963E-14A2-AD41-43001598B2D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7595" y="1592263"/>
            <a:ext cx="114204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49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8F83-574C-8413-E5D3-3EAF3E3D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171BB62-F6BC-3812-A951-ED35B630C7CC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Summary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AD26CF-1843-524A-A468-A8FE9CD0A7F3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A21FC5BF-5164-1E56-64F4-036A995BF93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F304D1EF-CA15-9E0A-EF95-D9CA4B472AD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36828654-A1FA-7DC7-B8D5-864D4E8A975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459AA525-2023-016B-3AC3-700897E2CB9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40D68120-43CA-A181-7AB8-F32B8B67FCA9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B640AF-75A8-8CC5-7B82-9FEEF3EA185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68636-30E3-A618-9E45-5B98B019000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978" y="1693862"/>
            <a:ext cx="1059180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66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CC4C-209E-D0F6-5AD9-C41613BA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AB0928-89BD-C080-39AA-3BF82F524087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A7DD37DF-C9FF-F707-A395-D4263080CE7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44D98CF5-5722-7F51-FF7A-A169C858D63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62BA34DB-61BD-F0DF-2F71-0555D88FA04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24924E52-6E35-2691-A992-F9891237A908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65A271E9-925D-3C04-040D-151204296617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7506A5-B2B5-58A9-84B1-DC47AA3D9D5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6D378-6F2D-D455-A2F7-EA6A1890A73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76549" y="2481262"/>
            <a:ext cx="7791418" cy="255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577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79F8-17D7-5545-EB8B-917C42B8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5651D5-34A0-9FE7-C9CF-CD9CE8CF022C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F5442294-1F15-D46B-8B5F-CDE397516C9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DDF44848-1FA8-91C8-004E-9BC453FC69E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ED5C959C-4D76-7309-DEBA-761AAD1E6A6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C262E092-806D-2CD8-2839-7EC1CBA068B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EF83DFAB-736F-A0E7-D65B-5F2AB9AFFF6F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300E0D-6B89-CDE3-F83A-250D1184A69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3F0105-FF6B-D9D3-04DE-8E01BCD0C8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5812" y="1786686"/>
            <a:ext cx="8620875" cy="38210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0E7088-BF86-D54A-226F-C9D72220292F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AI (Definition)</a:t>
            </a:r>
          </a:p>
        </p:txBody>
      </p:sp>
    </p:spTree>
    <p:extLst>
      <p:ext uri="{BB962C8B-B14F-4D97-AF65-F5344CB8AC3E}">
        <p14:creationId xmlns:p14="http://schemas.microsoft.com/office/powerpoint/2010/main" val="2837111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25AB-6B8A-7DEC-4F8B-9DD5F989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262B6F-ECD5-3536-E393-8BE719E54340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8C049DB5-9E04-4E19-280F-29F2A881D6D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CD71AF55-1947-2D94-E36B-643CCAFE512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26E07E89-123C-B484-3B22-E421327E71A9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0486004C-50BB-D4E7-5C72-06D17EEEF34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3B2E6702-B7B4-E03A-197F-A464CEAED608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4FE065-5D64-F853-E793-7F07AD8216B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D5A7F8-65BC-CCA4-2B25-75525EEDECED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E93C6-A072-9BD4-B451-6DBD7019930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929" y="1707097"/>
            <a:ext cx="9268354" cy="407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2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DB15-9087-B3C1-3076-2BDCE96F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F93660-B83C-23AE-05B0-29A58A4304A5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48F31EE7-9B22-ED51-FE7F-0C38071F2A1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C05204FC-B0BC-3E5D-2320-9D8C45CD4E6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593694C6-47E9-7681-C5B1-8EFFC260539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69FE1680-E852-D57E-ED66-404F4675E67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6898EE9-7335-F545-0CB2-E91B7EE85AEF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737E19-84D5-1978-0925-BFC80134ED2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A9E49-8922-963D-E55F-417557D9101F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3DE16-BFF5-CA8E-AD8C-74733A897DC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5175" y="1925202"/>
            <a:ext cx="9717266" cy="33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45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2B42-C43E-81A7-D170-942AD564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412275-3901-1323-461F-92312A31A49E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CEADA2FD-2FF7-C235-4D64-FEDAE8D3D06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B4E514F9-29ED-40A7-35B8-DC9B6577684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19ABA7C6-CD6E-0796-0FBD-9DEE08758CA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9236B224-C0B1-AD3A-6A27-1D6E4D2EBE1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62DBDC7-E7A3-99E4-64A2-93CED79CEA8A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B4ACA8-E8D1-C596-5C27-24BBBA4AF65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35ADE-0984-595A-D498-0030DAF16E47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VERY IMPORTANT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B4487-310F-6930-F5BF-6CBC53F81D51}"/>
              </a:ext>
            </a:extLst>
          </p:cNvPr>
          <p:cNvSpPr txBox="1"/>
          <p:nvPr/>
        </p:nvSpPr>
        <p:spPr>
          <a:xfrm>
            <a:off x="633929" y="2967335"/>
            <a:ext cx="10383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rgbClr val="FF0000"/>
                </a:solidFill>
              </a:rPr>
              <a:t>AI enables ML, ML enables DL, DL enables Generative AI; </a:t>
            </a:r>
            <a:r>
              <a:rPr lang="en-IN" sz="2400" i="1" dirty="0"/>
              <a:t>Transformers power modern GenAI models</a:t>
            </a:r>
            <a:r>
              <a:rPr lang="en-IN" sz="2400" i="1" dirty="0">
                <a:solidFill>
                  <a:srgbClr val="FF0000"/>
                </a:solidFill>
              </a:rPr>
              <a:t> such as GPT, BERT, and BART, collectively known as </a:t>
            </a:r>
            <a:r>
              <a:rPr lang="en-IN" sz="2400" b="1" i="1" dirty="0"/>
              <a:t>Large Language Models</a:t>
            </a:r>
            <a:r>
              <a:rPr lang="en-IN" sz="2400" i="1" dirty="0">
                <a:solidFill>
                  <a:srgbClr val="FF0000"/>
                </a:solidFill>
              </a:rPr>
              <a:t>, while GANs represent a parallel generative framework.</a:t>
            </a:r>
          </a:p>
        </p:txBody>
      </p:sp>
    </p:spTree>
    <p:extLst>
      <p:ext uri="{BB962C8B-B14F-4D97-AF65-F5344CB8AC3E}">
        <p14:creationId xmlns:p14="http://schemas.microsoft.com/office/powerpoint/2010/main" val="969749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83065-215A-4FC2-FC1B-0523A517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096699-5975-089A-8135-EA1E9E5A9107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7800D8BC-47AD-DB4D-6E56-17E73701DF1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49E801DD-A267-A676-E717-505F75EFDC2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2B004FCA-1A88-2AF8-58B6-6D2B93E15EA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ED156A27-4E91-6C3E-B8E8-A6470E3D90E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E1336213-05B9-FA8E-1FE0-7217F361BE09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407AAA-8056-9A5A-FBA3-92F70F7551F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713A7-1468-F908-D529-D696A1360994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LLM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25F07-7599-3E4D-2801-B2C0E9C69CB2}"/>
              </a:ext>
            </a:extLst>
          </p:cNvPr>
          <p:cNvSpPr txBox="1"/>
          <p:nvPr/>
        </p:nvSpPr>
        <p:spPr>
          <a:xfrm>
            <a:off x="562809" y="1936315"/>
            <a:ext cx="10383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LLMs, or Large Language Models, are the key component behind text generation.</a:t>
            </a:r>
          </a:p>
          <a:p>
            <a:endParaRPr lang="en-US" sz="2400" i="1" dirty="0"/>
          </a:p>
          <a:p>
            <a:r>
              <a:rPr lang="en-US" sz="2400" i="1" dirty="0"/>
              <a:t>In a nutshell, they consist of large pretrained transformer models trained to predict the next word (or, more precisely, token) given some input text. </a:t>
            </a:r>
          </a:p>
          <a:p>
            <a:endParaRPr lang="en-US" sz="2400" i="1" dirty="0"/>
          </a:p>
          <a:p>
            <a:r>
              <a:rPr lang="en-US" sz="2400" i="1" dirty="0"/>
              <a:t>Since they predict one token at a time, you need to do autoregressive generation to generate new sentences. (Hugging Face) </a:t>
            </a:r>
            <a:endParaRPr lang="en-IN" sz="2400" i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D6C6F-8005-9C14-BE11-9921EEE39A70}"/>
              </a:ext>
            </a:extLst>
          </p:cNvPr>
          <p:cNvSpPr txBox="1"/>
          <p:nvPr/>
        </p:nvSpPr>
        <p:spPr>
          <a:xfrm>
            <a:off x="562809" y="5007540"/>
            <a:ext cx="107702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We can see LLMs as language models with 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larger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architecture (a 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larger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number of weights), trained on 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larger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dataset while requiring a 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larger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amount of resources (hardware and software) and capable of performing a 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larger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set of tasks with 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greater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efficiency compared to the traditional language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146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A45E-82AB-4A75-AA92-B97A5BCE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C5C7D8-2AE7-09F9-257E-94F49D94BEC7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4F5C5414-12B6-47C1-93E2-C35103B5C17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71D8B5CF-B540-F9C1-094B-C7773CC9A93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3E7C7115-6EBD-C507-512C-85C7839823B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083600A4-8732-42EC-5327-3E2A902386C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8D863A8B-45B4-CD20-5A52-E178F9A6A683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D5F223-186E-C0A7-4C4D-29383E4B33B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3095F5-04D2-C335-8B06-C7D2CDBEFDFA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SOME LLMs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608D98-6983-DCDA-D8DF-68769F774D5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8215" y="1308240"/>
            <a:ext cx="9035776" cy="547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43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59065-3375-6935-CEAC-666EB5F9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AC5ACB-8FFF-2270-D56F-9B67B4C1E543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B7F11580-FD09-F507-B074-96243EB71CC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D89AA581-E60A-DBF4-D696-0934C9CC84F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4EA85C43-7B25-3D06-B7FF-9E51380CE25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712E13E0-7027-8973-AC82-7ECC8A262D4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C24EF159-93C7-18D4-2FFB-BA6652AFC29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0C0AAF-42D1-1A7D-7E31-76A270C9DC3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3F6C3-0CD9-E37C-CD07-7A681CE5618D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BERT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F5D00E-F726-4C10-8574-99D361D31A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41611" y="1308240"/>
            <a:ext cx="7972510" cy="35617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71CB08-34D1-162F-96E2-169C820C4EE4}"/>
              </a:ext>
            </a:extLst>
          </p:cNvPr>
          <p:cNvSpPr txBox="1"/>
          <p:nvPr/>
        </p:nvSpPr>
        <p:spPr>
          <a:xfrm>
            <a:off x="974724" y="5143154"/>
            <a:ext cx="104755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Bidirectional Encoder Representations from Transformers [5], or 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BERT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for short, is one of the earliest LLM models that’s published in 2018 by Google research team. It’s a transformer based deep neural network that processes the text from both directions (left-to-right and right-to-left).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974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21E43-3EFC-D2AA-59C3-86486A5A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496451-F329-5C68-BE41-50D4919660C3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D6690F80-1187-E174-D985-4ED2005BF43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3D8EF0C9-FA80-798C-EEA3-FB1E8EA3F9D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D8BE48DE-20D4-1DA2-2626-581C37642D4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9F334AC4-D385-9A56-0960-8763EE67ADD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EECFEA19-F6CB-A4D7-CE03-88F9231A7885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821BD8-DB26-C04F-F53D-4AE57989F4E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103599-9310-E915-F3F5-14FD672CF830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BERT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A66B13-2EFC-5A7C-B457-10BDEE86CAD3}"/>
              </a:ext>
            </a:extLst>
          </p:cNvPr>
          <p:cNvSpPr txBox="1"/>
          <p:nvPr/>
        </p:nvSpPr>
        <p:spPr>
          <a:xfrm>
            <a:off x="507364" y="1808336"/>
            <a:ext cx="104755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BERT’s model architecture consists of a </a:t>
            </a:r>
            <a:r>
              <a:rPr lang="en-US" sz="2400" b="1" dirty="0"/>
              <a:t>bidirectional Transformer encoder with a total of 340M parameter</a:t>
            </a:r>
            <a:r>
              <a:rPr lang="en-US" sz="2400" dirty="0"/>
              <a:t>. </a:t>
            </a:r>
            <a:r>
              <a:rPr lang="en-US" sz="2400" dirty="0">
                <a:solidFill>
                  <a:srgbClr val="FF0000"/>
                </a:solidFill>
              </a:rPr>
              <a:t>BERT’s input can be a single sentence or a pair of sentences packed together into a single sequence </a:t>
            </a:r>
            <a:r>
              <a:rPr lang="en-US" sz="2400" dirty="0"/>
              <a:t>where every sentence starts with the token [CLS] and the pair of sentences are separated by a special token [SEP].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BERT is </a:t>
            </a:r>
            <a:r>
              <a:rPr lang="en-US" sz="2400" b="1" dirty="0">
                <a:solidFill>
                  <a:srgbClr val="FF0000"/>
                </a:solidFill>
              </a:rPr>
              <a:t>pre-trained on Books Corpus with 800M words and English Wikipedia with 2500M words</a:t>
            </a:r>
            <a:r>
              <a:rPr lang="en-US" sz="2400" dirty="0"/>
              <a:t> and can be finetuned by just adding an output layer to create models for several tasks such as question answering.</a:t>
            </a:r>
          </a:p>
        </p:txBody>
      </p:sp>
    </p:spTree>
    <p:extLst>
      <p:ext uri="{BB962C8B-B14F-4D97-AF65-F5344CB8AC3E}">
        <p14:creationId xmlns:p14="http://schemas.microsoft.com/office/powerpoint/2010/main" val="2758404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2E25-0069-C65B-DFD5-FF2B6217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A828AC-EE1F-B11B-0998-AD5A3613C25E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49B64FF0-EFB1-2F77-AEFB-E12CD36584A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74840B07-B3C0-E7B2-EB25-84FA2EFBFAC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0CA0B1F1-A194-CBE0-FDE4-26D4323751A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F0175684-26CC-07DD-C2B0-8D0A134914C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2AB044D4-85AF-F111-AF5D-ACF731024A5D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5AB9A0-40EA-91D5-CD84-5BFF0EB2AD7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40735-DFA1-1CD9-FF35-EAA65D226E0D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D8B5B-5661-85A9-AC0A-E1A17D435E91}"/>
              </a:ext>
            </a:extLst>
          </p:cNvPr>
          <p:cNvSpPr txBox="1"/>
          <p:nvPr/>
        </p:nvSpPr>
        <p:spPr>
          <a:xfrm>
            <a:off x="974724" y="5143154"/>
            <a:ext cx="10475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Generative Pre-trained Transformer, or GPT for short, is a series of LLMs developed by OpenAI. As BERT, GPT models are transformer-based deep neural networks pre-trained on large amounts of text data.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8744C-54D1-06C6-8C6D-3A7E1C75669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17829" y="1603275"/>
            <a:ext cx="6540441" cy="292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72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D9B0-5796-E0AF-3B21-BC04ACAE4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BD8482-E1FA-F658-1BED-9C7B1DB605FA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503E4866-3352-8297-D572-8147D75D7E4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1F6846FD-3489-1A22-83DD-BF138447DF2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1BFEF3E4-AF59-DE47-601B-E379A21CA48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2202F42F-4186-F14A-D3B4-78A45B30E96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2AB03E02-0474-3AA0-528B-1B310A470B5E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034E08-C300-A468-BAB8-2CFD539BD86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40CD0E-D938-3F8A-BFE3-2976D4587472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5FB754-01BC-DE18-AA83-A0B92529B919}"/>
              </a:ext>
            </a:extLst>
          </p:cNvPr>
          <p:cNvSpPr txBox="1"/>
          <p:nvPr/>
        </p:nvSpPr>
        <p:spPr>
          <a:xfrm>
            <a:off x="393111" y="1621200"/>
            <a:ext cx="10982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GPT-1</a:t>
            </a:r>
            <a:r>
              <a:rPr lang="en-US" sz="2400" dirty="0"/>
              <a:t> is the first LLM of this series that’s published in 2018.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 consists of a 12-layer Transformer decoder with a total of 117M parameters.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Similarly to BERT, GPT-1 is pre-trained on Books Corpus and can be finetuned by adding an output layer to create models for more specific natural language processing tasks, such as question answering and machine translation.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2ECAD-9882-2ACB-2FD2-D0F6AD839872}"/>
              </a:ext>
            </a:extLst>
          </p:cNvPr>
          <p:cNvSpPr txBox="1"/>
          <p:nvPr/>
        </p:nvSpPr>
        <p:spPr>
          <a:xfrm>
            <a:off x="393111" y="4137958"/>
            <a:ext cx="109829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GPT-2 </a:t>
            </a:r>
            <a:r>
              <a:rPr lang="en-US" sz="2400" dirty="0"/>
              <a:t> is the second LLM of the GPT family that’s published in 2019.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The GPT-2 model follows the GPT-1 architecture with a total of 1.5B parameters.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 was trained on a larger dataset, </a:t>
            </a:r>
            <a:r>
              <a:rPr lang="en-US" sz="2400" dirty="0" err="1"/>
              <a:t>WebText</a:t>
            </a:r>
            <a:r>
              <a:rPr lang="en-US" sz="2400" dirty="0"/>
              <a:t>, after removing Wikipedia documents for analysis sake.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Another particularity of this model, is that it’s able to learn some tasks without explicit supervision, in other words, no fine tuning was needed (zero-shot task transfer).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42250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1950B-0A5D-B16F-F3D9-8FDEB1B7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7222CA-55E6-F76E-5216-C032889AFBC9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95259D0C-DDC6-A938-FD6B-540234DD0DB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8C710EB1-CA9D-5ABE-0068-4C818C3EA5D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818CF167-7DC4-3009-B0C2-447386621F0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85035447-6C1B-3E8B-BD9C-E0F8049E12F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76377AC8-01F6-34C4-7066-97404DBAB779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AB15A2-8187-D754-3126-15A35B6B9A5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3B5A8D-8B53-EBB4-166E-9C261DF013C6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06185-9308-7C9A-E86A-577C68D137CF}"/>
              </a:ext>
            </a:extLst>
          </p:cNvPr>
          <p:cNvSpPr txBox="1"/>
          <p:nvPr/>
        </p:nvSpPr>
        <p:spPr>
          <a:xfrm>
            <a:off x="873124" y="1419915"/>
            <a:ext cx="98355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GPT-3</a:t>
            </a:r>
            <a:r>
              <a:rPr lang="en-US" sz="2400" dirty="0"/>
              <a:t> came in 2020 to demonstrate that increasing the language models size improves the performance across various tasks without task-specific training.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Its architecture is similar to GPT-2 with a total of 175B parameters and it was trained with an even larger dataset compared to GPT-2.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86E1F7-064A-3AFE-2ED1-2496F6C7F6AF}"/>
              </a:ext>
            </a:extLst>
          </p:cNvPr>
          <p:cNvSpPr txBox="1"/>
          <p:nvPr/>
        </p:nvSpPr>
        <p:spPr>
          <a:xfrm>
            <a:off x="873124" y="4020437"/>
            <a:ext cx="104457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GPT-4 [11] is the most powerful LLM in the GPT family launched in 2023.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It’s a multimodal model transformer-based LLM that can take text and image and input and output text.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GPT-4 is pre-trained using public datasets and licensed datasets to predict the next token and then </a:t>
            </a:r>
            <a:r>
              <a:rPr lang="en-US" sz="2400" b="1" dirty="0"/>
              <a:t>finetuned using Reinforcement Learning from Human Feedback, RLHF</a:t>
            </a:r>
            <a:r>
              <a:rPr lang="en-US" sz="2400" dirty="0"/>
              <a:t> for short, a machine learning approach to improve model performance.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30107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9221D-66A6-81C1-CF3B-886CAA88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615886-2BE9-3317-0490-73B660ACAB55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DE79C340-D278-3507-B7F5-48BF1D37BEC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6E1ABBF6-6297-AF79-F2D0-1733F5326C9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B5F5AB32-6488-A798-291E-8B095380112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68329C9F-93FD-6900-DCA0-4D68FF1AEF8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0A1A1F46-B8F2-49CE-1620-F7217E7B850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4F0371-CB38-0262-7DE3-4813633992F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6BBFE-A14C-C95E-3686-D61C74D87DD2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FD26D7-029D-6FC8-AA6F-A28040497EC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6328" y="2201069"/>
            <a:ext cx="5153744" cy="3096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35AD62-3C41-4416-D482-880A1141829C}"/>
              </a:ext>
            </a:extLst>
          </p:cNvPr>
          <p:cNvSpPr txBox="1"/>
          <p:nvPr/>
        </p:nvSpPr>
        <p:spPr>
          <a:xfrm>
            <a:off x="393111" y="155545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In general, the architecture of LLMs is based on the </a:t>
            </a:r>
            <a:r>
              <a:rPr lang="en-US" b="1" i="0" dirty="0">
                <a:solidFill>
                  <a:srgbClr val="FF0000"/>
                </a:solidFill>
                <a:effectLst/>
                <a:latin typeface="Work Sans" pitchFamily="2" charset="0"/>
              </a:rPr>
              <a:t>Transformer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model published in the paper: </a:t>
            </a:r>
            <a:r>
              <a:rPr lang="en-US" b="0" i="0" u="sng" dirty="0">
                <a:effectLst/>
                <a:latin typeface="Work Sans" pitchFamily="2" charset="0"/>
                <a:hlinkClick r:id="rId19"/>
              </a:rPr>
              <a:t>Attention is all you need (in 2017)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A transformer is an encoder-decoder architecture with the self-attention mechanism.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FF0000"/>
                </a:solidFill>
                <a:effectLst/>
                <a:latin typeface="Work Sans" pitchFamily="2" charset="0"/>
              </a:rPr>
              <a:t>The encoder 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maps the input sequence of symbol representation to a sequence of continuous representation </a:t>
            </a:r>
            <a:r>
              <a:rPr lang="en-US" b="1" i="0" dirty="0">
                <a:solidFill>
                  <a:srgbClr val="FF0000"/>
                </a:solidFill>
                <a:effectLst/>
                <a:latin typeface="Work Sans" pitchFamily="2" charset="0"/>
              </a:rPr>
              <a:t>while the decoder 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generates from the encoder output, a sequence of symbols for one element at a time.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The self-attention mechanism here, enables the Transformer to capture dependencies between words.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246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F387-A179-8419-2C00-4A81D561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29D484-2CCB-2399-5CC0-AA7EE4DB3798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E200C9BF-87BE-D9BB-CBBF-5C2A791BA76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82430422-DA33-DE8A-8660-200B43B63D3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9B6F2D14-03CF-EFDC-14CD-D328832F9FE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36AB849E-D642-416A-474B-A1922C359B5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3DB339AF-BE4C-D42E-1C9D-C1C2749F400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DE6FC2-A52B-AA75-8F8E-6406750453E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A88D02-DA5A-987A-5786-E4523A5B4790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15913E-117F-5DDA-7C0A-C61409F4778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6328" y="2201069"/>
            <a:ext cx="5153744" cy="3096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6333C9-1159-5344-6CDE-4B9DDB58B507}"/>
              </a:ext>
            </a:extLst>
          </p:cNvPr>
          <p:cNvSpPr txBox="1"/>
          <p:nvPr/>
        </p:nvSpPr>
        <p:spPr>
          <a:xfrm>
            <a:off x="393111" y="155545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Some of the LLMs, </a:t>
            </a:r>
            <a:r>
              <a:rPr lang="en-US" sz="2400" b="1" dirty="0"/>
              <a:t>like the BERT family, </a:t>
            </a:r>
            <a:r>
              <a:rPr lang="en-US" sz="2400" dirty="0"/>
              <a:t>follow the </a:t>
            </a:r>
            <a:r>
              <a:rPr lang="en-US" sz="2400" b="1" dirty="0">
                <a:solidFill>
                  <a:srgbClr val="FF0000"/>
                </a:solidFill>
              </a:rPr>
              <a:t>encoder-only architecture design</a:t>
            </a:r>
            <a:r>
              <a:rPr lang="en-US" sz="2400" dirty="0"/>
              <a:t> that focuses on understanding the context of the input text such as text classification.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/>
              <a:t>Some other LLMs, like GPT, </a:t>
            </a:r>
            <a:r>
              <a:rPr lang="en-US" sz="2400" dirty="0" err="1"/>
              <a:t>PaLM</a:t>
            </a:r>
            <a:r>
              <a:rPr lang="en-US" sz="2400" dirty="0"/>
              <a:t> and </a:t>
            </a:r>
            <a:r>
              <a:rPr lang="en-US" sz="2400" dirty="0" err="1"/>
              <a:t>LLaMA</a:t>
            </a:r>
            <a:r>
              <a:rPr lang="en-US" sz="2400" dirty="0"/>
              <a:t> families, opted for </a:t>
            </a:r>
            <a:r>
              <a:rPr lang="en-US" sz="2400" b="1" dirty="0">
                <a:solidFill>
                  <a:srgbClr val="FF0000"/>
                </a:solidFill>
              </a:rPr>
              <a:t>decoder-only architecture </a:t>
            </a:r>
            <a:r>
              <a:rPr lang="en-US" sz="2400" dirty="0"/>
              <a:t>design that focuses on generating output text based on the provided context.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779425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A2E0-15C8-5511-71A1-AA01834A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B59B9F-5A44-EC5C-65EF-D5BE83FFDA23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8F194585-E6AD-3E0D-A596-9D000F58AD6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F8CD0613-D539-E9CD-7832-CAF5C37E2B6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8E94A5B2-9895-9B6F-D67F-F89EEE2C9E3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F13048F6-D43F-F111-C0B5-C1EC67833E2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0C7800C5-3264-5814-B56C-1D2615E1E2E5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A87F32-CB10-6137-9B4A-E12207FEF01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1F5D6-166A-6AA4-D306-F9C4DBB94402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31D3F5-4058-CFF4-9325-B8DE22D510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8637" y="1470279"/>
            <a:ext cx="1186815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38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30DF-CF7A-B4F9-3BC7-4230A447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A40A61-A8B5-DDAA-9D96-63023AB27FF7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2911F815-E714-0979-10A8-2FC89F8F698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1DD31658-A9B4-A099-1BB0-768FC178B89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B9E173D8-EE4A-E950-7DB6-A9DF9898C7F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E0C76C5C-AD2D-AE15-C658-58FBB05DA38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421D17A7-0504-9229-3689-D2C96671D36C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573FE3-A2A8-A83F-7A1C-4D987F1CFD7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C0CBF5-AB20-A659-7263-FAAD2E0963B2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978FA-7491-A119-2506-8F32A76DFCE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7662" y="1666939"/>
            <a:ext cx="1201102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020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EC8141-E05E-1A1A-42F2-15FB9505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E7E931-B440-5E2E-5F64-B76137A895CA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1C910478-813C-2E14-8718-839CD6CF08F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B6BE635C-C85F-418C-4660-E2A2EDA36249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CBB1B9A6-C825-FBD1-E64C-4B6AC76C4C6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080FC19B-4DD7-D5D1-387E-9A98D9C33C6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C01397D3-CC59-5820-ADAB-6996BA749DA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A0A071-683F-3815-0F79-1F826E79369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976DE-5811-7C61-A17C-583B5236F636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6F36A-0A07-E900-88A6-3E69D7B866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72481" y="1325821"/>
            <a:ext cx="6096794" cy="544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567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4C28BE-4C9F-2D91-9E7B-97158F99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6ADF5A-5C23-7862-EA91-7A4C9DC87748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6B8C09C8-25F1-EF37-8D73-CD12EE30194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B6A8BB8D-926F-760D-4EF5-79532945285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264D133E-F848-1A6D-B25D-DD9BA51F8FE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0EB29023-1506-F594-B34F-84F5D03AF79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3B4CA2C-6CE4-365B-849F-99A9C6FD6950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C70CF3-E549-627C-5206-B24BA4A382D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427DE1-7F09-1639-DFA5-052AD31D3B49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Generative Pre-Trained Transformer (GPT) – Chain of thought Prompting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24A7F3-E5E9-0929-2712-A80E2FF802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447" y="1631157"/>
            <a:ext cx="9331972" cy="473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457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D72F-FFF0-88F8-02ED-28D124F15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7CDA30-8374-1468-A8FC-BD0D96E8CC75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456E3F1B-C9A6-AE18-EC9F-7D41CC8F884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37B65E12-A440-46DC-063B-96A2A67BE8F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7A0D7A30-F692-6C80-99E7-493F6781D3D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E79F8860-C98A-3D46-4EC6-C1CF59652D0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6C3FD64D-43E3-3A2E-7163-00339C7DB3E9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967529-BB06-9024-FE4A-345F70B7252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AD8E30-F551-18A2-7C4C-4CC24123AE3C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LLMs Input and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A34225-98B1-9EAF-71FF-21B1D5FC7979}"/>
              </a:ext>
            </a:extLst>
          </p:cNvPr>
          <p:cNvSpPr txBox="1"/>
          <p:nvPr/>
        </p:nvSpPr>
        <p:spPr>
          <a:xfrm>
            <a:off x="705049" y="1728331"/>
            <a:ext cx="96581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LLMs was initially proposed to work on text data: 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they often take raw text as input that can be sentences, paragraphs or documents and output text that can also be sentences, paragraphs and or documents. </a:t>
            </a:r>
          </a:p>
          <a:p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The raw input is typically transformed into tokens that represent words or </a:t>
            </a:r>
            <a:r>
              <a:rPr lang="en-US" b="0" i="0" dirty="0" err="1">
                <a:solidFill>
                  <a:srgbClr val="2A2A2A"/>
                </a:solidFill>
                <a:effectLst/>
                <a:latin typeface="Work Sans" pitchFamily="2" charset="0"/>
              </a:rPr>
              <a:t>subwords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units depending on the employed tokenization algorithm. </a:t>
            </a:r>
          </a:p>
          <a:p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Similarly, LLMs typically output tokens that can be converted back into human-readable text using the model’s tokenizer.</a:t>
            </a:r>
          </a:p>
          <a:p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r>
              <a:rPr lang="en-US" dirty="0"/>
              <a:t>Some recent LLMs operate not only on text but also images to generate text output like GPT-4. Other LLMs went beyond that to operate on videos and audio also and generate images alongside texts like Gemini. </a:t>
            </a:r>
          </a:p>
          <a:p>
            <a:endParaRPr lang="en-US" dirty="0"/>
          </a:p>
          <a:p>
            <a:r>
              <a:rPr lang="en-US" dirty="0"/>
              <a:t>More complex architecture generally called Multimodal Language Models (MLMs).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9059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B69FC-5EB6-4B10-1862-53CCE53B1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ACC1D2-3F53-B47A-548B-D9474225B7BE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1A423BBB-FFC7-CA41-2BAE-1E66F246D64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3AD357D5-3590-B0E7-BBC1-30E4B1C96B5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4F2E32AB-A93E-4FEA-888A-5D40F722D81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D65790EE-B4AB-AC88-B7A8-3E41D060104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EB7EA58A-8D6D-0CFE-CE40-CEAC5BDD577A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CE54ED1-BF17-C592-ECCD-20A979ABE11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6D4A6-4EA1-A0B7-13DF-015A0B73E6CB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Use Cases of LLM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63E89-A078-EE16-BC39-5E1AAF9BBBB0}"/>
              </a:ext>
            </a:extLst>
          </p:cNvPr>
          <p:cNvSpPr txBox="1"/>
          <p:nvPr/>
        </p:nvSpPr>
        <p:spPr>
          <a:xfrm>
            <a:off x="758826" y="1663590"/>
            <a:ext cx="88728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LLMs have a 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wide range of applications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and across various fields </a:t>
            </a:r>
          </a:p>
          <a:p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r>
              <a:rPr lang="en-US" b="1" dirty="0"/>
              <a:t>Text classification</a:t>
            </a:r>
            <a:r>
              <a:rPr lang="en-US" dirty="0"/>
              <a:t>: that consists of classifying text into defined classes or labels like in sentiment analysis, spam detection and document classification.</a:t>
            </a:r>
          </a:p>
          <a:p>
            <a:r>
              <a:rPr lang="en-US" b="1" dirty="0"/>
              <a:t>Named entity recognition</a:t>
            </a:r>
            <a:r>
              <a:rPr lang="en-US" dirty="0"/>
              <a:t>: that consists of detecting entities mentioned in text such as names of people or locations.</a:t>
            </a:r>
          </a:p>
          <a:p>
            <a:r>
              <a:rPr lang="en-US" b="1" dirty="0"/>
              <a:t>Question answering</a:t>
            </a:r>
            <a:r>
              <a:rPr lang="en-US" dirty="0"/>
              <a:t>: that consists of generating answers to questions while considering the context.</a:t>
            </a:r>
          </a:p>
          <a:p>
            <a:r>
              <a:rPr lang="en-US" b="1" dirty="0"/>
              <a:t>Text generation</a:t>
            </a:r>
            <a:r>
              <a:rPr lang="en-US" dirty="0"/>
              <a:t>: that consists of generating relevant text like translating, summarizing and paraphrasing.</a:t>
            </a:r>
          </a:p>
          <a:p>
            <a:r>
              <a:rPr lang="en-US" b="1" dirty="0"/>
              <a:t>Dialogue systems</a:t>
            </a:r>
            <a:r>
              <a:rPr lang="en-US" dirty="0"/>
              <a:t>: that consists of building conversational agents, chatbots or assistants that can engage in natural language conversations with users.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8670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A267D-133D-5DA0-B4B4-42ABC3BEB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5A2162-874E-DAFA-8BC9-989BA87EF27A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9507A796-692A-F15E-630C-238E7E75833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5532E7D6-8FA8-3D55-C58A-01AA44AFEEB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0EA9A908-6265-B26E-BDF4-72CC622F93A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B8F9CC60-37BB-FB05-6DF6-4BE54AE4316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FAAE308B-FE17-9F15-0D3D-541A1DAA9250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51F8C4-0144-9B29-AD94-30E9F8006E0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27129-3EE7-0AE9-8639-5E46496740D4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Use Cases of LLM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2FB84-BB4C-41A7-06FD-546FC4038FBD}"/>
              </a:ext>
            </a:extLst>
          </p:cNvPr>
          <p:cNvSpPr txBox="1"/>
          <p:nvPr/>
        </p:nvSpPr>
        <p:spPr>
          <a:xfrm>
            <a:off x="758826" y="1663590"/>
            <a:ext cx="88728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LLMs are needed to perform better only on one specific task. Therefore, several techniques have been proposed in order to adapt LLMs to a given task among which we will present fine-tuning and prompting</a:t>
            </a:r>
          </a:p>
          <a:p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r>
              <a:rPr lang="en-US" b="1" dirty="0"/>
              <a:t>Fine-tuning</a:t>
            </a:r>
          </a:p>
          <a:p>
            <a:r>
              <a:rPr lang="en-US" dirty="0"/>
              <a:t>Fine-tuning is a popular approach in machine learning in general. It consists of further training on a specific task or data domain. In LLMs, it’s commonly used for tasks like text classification, sentiment analysis and language translation.</a:t>
            </a:r>
          </a:p>
          <a:p>
            <a:endParaRPr lang="en-US" b="1" dirty="0"/>
          </a:p>
          <a:p>
            <a:r>
              <a:rPr lang="en-US" b="1" dirty="0"/>
              <a:t>Prompting</a:t>
            </a:r>
          </a:p>
          <a:p>
            <a:r>
              <a:rPr lang="en-US" dirty="0"/>
              <a:t>In generative AI models, prompting is providing textual input to guide the model’s output. It generally consists of providing questions, instructions, examples or/and input data. There are various variants of prompt engineering techniques including: Chain of Thought (</a:t>
            </a:r>
            <a:r>
              <a:rPr lang="en-US" dirty="0" err="1"/>
              <a:t>CoT</a:t>
            </a:r>
            <a:r>
              <a:rPr lang="en-US" dirty="0"/>
              <a:t>), Tree of Thought (</a:t>
            </a:r>
            <a:r>
              <a:rPr lang="en-US" dirty="0" err="1"/>
              <a:t>ToT</a:t>
            </a:r>
            <a:r>
              <a:rPr lang="en-US" dirty="0"/>
              <a:t>), self-consistency, expert prompting,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677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C0F9-3365-DA4C-499B-B70817766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815FDD-A6F2-DF90-AC36-A203E215FA01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3CCBD729-D817-CC9B-AC38-30387A74701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5D61F66D-8E32-AC6B-614B-6A1FC562854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47EFBC55-CCAD-4599-9103-ACBA8E0A161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76CBBC56-ECD7-23D4-CEB0-766DCFE572D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9CFB265C-F963-DD5C-97D4-A4DEA1ECC4CC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16BB56-D150-5DC8-A1FA-4FD9FB1C0C7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CF000D-A5CB-F8A6-C74E-AB54ADCBC666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VERY IMPORTANT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D3EA6-A60C-1E19-57F6-96270720D5AF}"/>
              </a:ext>
            </a:extLst>
          </p:cNvPr>
          <p:cNvSpPr txBox="1"/>
          <p:nvPr/>
        </p:nvSpPr>
        <p:spPr>
          <a:xfrm>
            <a:off x="965200" y="2345115"/>
            <a:ext cx="9814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GPT and LLMs</a:t>
            </a:r>
            <a:r>
              <a:rPr lang="en-US" sz="2400" i="1" dirty="0"/>
              <a:t> generate content sequentially in token space.</a:t>
            </a:r>
          </a:p>
          <a:p>
            <a:br>
              <a:rPr lang="en-US" sz="2400" i="1" dirty="0"/>
            </a:br>
            <a:r>
              <a:rPr lang="en-US" sz="2400" b="1" i="1" dirty="0">
                <a:solidFill>
                  <a:srgbClr val="FF0000"/>
                </a:solidFill>
              </a:rPr>
              <a:t>GANs and Diffusion models </a:t>
            </a:r>
            <a:r>
              <a:rPr lang="en-US" sz="2400" i="1" dirty="0"/>
              <a:t>generate content in data space (images, signals) using fundamentally different learning principles.”</a:t>
            </a:r>
            <a:endParaRPr lang="en-IN" sz="24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8841D-2EFB-2EEB-29D5-228FBC6018F1}"/>
              </a:ext>
            </a:extLst>
          </p:cNvPr>
          <p:cNvSpPr txBox="1"/>
          <p:nvPr/>
        </p:nvSpPr>
        <p:spPr>
          <a:xfrm>
            <a:off x="2722880" y="4092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“GANs </a:t>
            </a:r>
            <a:r>
              <a:rPr lang="en-US" b="1" i="1" dirty="0"/>
              <a:t>learn to imitate reality</a:t>
            </a:r>
            <a:r>
              <a:rPr lang="en-US" b="1" dirty="0"/>
              <a:t> rather than predict sequences.”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380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D00E-8925-7336-88D7-1607DCEA1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AA27F3-6CB6-5E02-9FB9-A92FEA2C2992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E3AE90FB-A1BD-D6E3-F3E3-691465B4B4D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A528F619-2315-F805-7113-0C43BA94A25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D550721F-9C78-C8FF-2747-D569927F614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4D8A0B46-D499-51AC-CF34-C8F0459F9FA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15CAD11C-7D7F-8447-9331-62683F032C19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B284A9-8362-4FC1-3FD9-1D22303B850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591ED-E4F3-F57B-EC22-915F63ACDB3D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GAN – Generative Adversarial Networks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D364C9-821C-A2F5-259D-BCEBB7A2A0D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7804" y="1788680"/>
            <a:ext cx="9732974" cy="38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130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F913-E950-C0FF-4DAF-288E0206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DDE38F-D84B-9E17-CBDF-F6900C2AF2CC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47392BE2-6D0B-4C5F-BFE5-F827176A4AA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F3611580-F4A3-53F6-90FE-692D7759797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3F772CBF-3D3E-4B92-4438-BE649A24094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B106517D-261A-33B6-B139-6C2A94C466F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B2D0A83F-9A10-ABBF-2240-8BB9E507E6CD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FF9187-20E6-3760-1B9F-63E0155AE56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3474F9-7214-D82B-BDFD-DCC608DEB9EB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Diffusion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0E1C03-CEAF-A961-86B4-098BE05B99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3537" y="1795860"/>
            <a:ext cx="112490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682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8298B6-B5CB-5B92-F891-2C4DA1F0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AB0561-1AAC-4F19-DF97-C6125A232B3B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F9F7499D-1639-3B36-0933-D6C05A9E3D9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2E0B3589-A64F-1266-DB7A-F1F2F484098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EBB93CD8-31C0-F837-DD9C-40DE5D34533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9BD2E2DA-C060-5CCB-ECA0-AF120752968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66BDDDC-E0AA-FAEE-5B33-33DE57A25C4D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44D233-43BF-C670-8FCC-4FE4FE7FDAD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2DA6A-C152-60E0-477D-27DA9D7DE0D5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GAN – Generative Adversarial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80405-4E46-C8B2-1BC4-9F29ADEAD37F}"/>
              </a:ext>
            </a:extLst>
          </p:cNvPr>
          <p:cNvSpPr txBox="1"/>
          <p:nvPr/>
        </p:nvSpPr>
        <p:spPr>
          <a:xfrm>
            <a:off x="393111" y="1774497"/>
            <a:ext cx="110317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Diffusion Probabilistic Model (DPM)</a:t>
            </a:r>
            <a:r>
              <a:rPr lang="en-US" dirty="0"/>
              <a:t>, also known as a </a:t>
            </a:r>
            <a:r>
              <a:rPr lang="en-US" b="1" dirty="0"/>
              <a:t>Denoising Diffusion Probabilistic Model (DDPM)</a:t>
            </a:r>
            <a:r>
              <a:rPr lang="en-US" dirty="0"/>
              <a:t>, is a type of </a:t>
            </a:r>
          </a:p>
          <a:p>
            <a:r>
              <a:rPr lang="en-US" dirty="0"/>
              <a:t>generative model that learns to generate data by reversing a diffusion process.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A8AC6-1EBB-3821-6156-0078F4BADB35}"/>
              </a:ext>
            </a:extLst>
          </p:cNvPr>
          <p:cNvSpPr txBox="1"/>
          <p:nvPr/>
        </p:nvSpPr>
        <p:spPr>
          <a:xfrm>
            <a:off x="465290" y="2857504"/>
            <a:ext cx="1109278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b="1" dirty="0"/>
              <a:t>U-Net Architecture</a:t>
            </a:r>
            <a:r>
              <a:rPr lang="en-US" dirty="0"/>
              <a:t> is a type of convolutional neural network designed primarily for biomedical image segmentation.</a:t>
            </a:r>
          </a:p>
          <a:p>
            <a:r>
              <a:rPr lang="en-US" b="1" dirty="0"/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Biomedical Image Segmentation</a:t>
            </a:r>
            <a:r>
              <a:rPr lang="en-US" dirty="0"/>
              <a:t>: Segmenting medical images such as MRI scans or cell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 Detection</a:t>
            </a:r>
            <a:r>
              <a:rPr lang="en-US" dirty="0"/>
              <a:t>: Identifying and locating objects in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Satellite Image Analysis</a:t>
            </a:r>
            <a:r>
              <a:rPr lang="en-US" dirty="0"/>
              <a:t>: Analyzing geographical and environmental features from satellite imagery.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Autonomous Driving</a:t>
            </a:r>
            <a:r>
              <a:rPr lang="en-US" dirty="0"/>
              <a:t>: Segmenting different elements on the road such as lanes, vehicles, and pedestrians.</a:t>
            </a:r>
          </a:p>
        </p:txBody>
      </p:sp>
    </p:spTree>
    <p:extLst>
      <p:ext uri="{BB962C8B-B14F-4D97-AF65-F5344CB8AC3E}">
        <p14:creationId xmlns:p14="http://schemas.microsoft.com/office/powerpoint/2010/main" val="278536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0A2E4D-713D-F927-4569-576C8FE0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82FBDE-9380-FE8A-AC81-FBDD20FE84BD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B2AB9C4C-1BED-A1BD-CA69-07729B97E3B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EA086A2C-CD58-20D0-7A27-83461CBDE8E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CAA19F18-9C98-2E08-EE5B-C4A39FEEC40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5AC8E03E-41B0-A27A-A32D-8CE74E9E6509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D6177EB-C1D4-B27C-657A-357C158DA01F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B15A6F-2ABE-B823-181F-7B915790E22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10184-7838-0A59-996D-5FA55167668E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GAN – Generative Adversarial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9F448-03D4-6907-70CF-343BEC5AB649}"/>
              </a:ext>
            </a:extLst>
          </p:cNvPr>
          <p:cNvSpPr txBox="1"/>
          <p:nvPr/>
        </p:nvSpPr>
        <p:spPr>
          <a:xfrm>
            <a:off x="305616" y="1555453"/>
            <a:ext cx="1188697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Latent Text Encoding</a:t>
            </a:r>
            <a:r>
              <a:rPr lang="en-US" dirty="0"/>
              <a:t> is a technique used in natural language processing (NLP) and machine learning to transform textual</a:t>
            </a:r>
          </a:p>
          <a:p>
            <a:r>
              <a:rPr lang="en-US" dirty="0"/>
              <a:t> data into a numerical format that can be processed by machine learning models. </a:t>
            </a:r>
          </a:p>
          <a:p>
            <a:r>
              <a:rPr lang="en-US" b="1" u="sng" dirty="0"/>
              <a:t>Text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Tokenization</a:t>
            </a:r>
            <a:r>
              <a:rPr lang="en-US" dirty="0"/>
              <a:t>: Breaking down the text into smaller units, such as words, </a:t>
            </a:r>
            <a:r>
              <a:rPr lang="en-US" dirty="0" err="1"/>
              <a:t>subwords</a:t>
            </a:r>
            <a:r>
              <a:rPr lang="en-US" dirty="0"/>
              <a:t>, or characters.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Vocabulary</a:t>
            </a:r>
            <a:r>
              <a:rPr lang="en-US" dirty="0"/>
              <a:t>: Creating a dictionary of all unique tokens (words, </a:t>
            </a:r>
            <a:r>
              <a:rPr lang="en-US" dirty="0" err="1"/>
              <a:t>subwords</a:t>
            </a:r>
            <a:r>
              <a:rPr lang="en-US" dirty="0"/>
              <a:t>, or characters) in the dataset.</a:t>
            </a:r>
          </a:p>
          <a:p>
            <a:r>
              <a:rPr lang="en-US" b="1" dirty="0"/>
              <a:t>E</a:t>
            </a:r>
            <a:r>
              <a:rPr lang="en-US" b="1" u="sng" dirty="0"/>
              <a:t>mbedding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Bag-of-Words (</a:t>
            </a:r>
            <a:r>
              <a:rPr lang="en-US" b="1" dirty="0" err="1"/>
              <a:t>BoW</a:t>
            </a:r>
            <a:r>
              <a:rPr lang="en-US" b="1" dirty="0"/>
              <a:t>)</a:t>
            </a:r>
            <a:r>
              <a:rPr lang="en-US" dirty="0"/>
              <a:t>: Represents text by the frequency of each word in a fixed vocabulary. It disregards the word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TF-IDF (Term Frequency-Inverse Document Frequency)</a:t>
            </a:r>
            <a:r>
              <a:rPr lang="en-US" dirty="0"/>
              <a:t>: A numerical representation of text that considers the importance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 a word in a document relative to a collection of documents.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Word Embeddings</a:t>
            </a:r>
            <a:r>
              <a:rPr lang="en-US" dirty="0"/>
              <a:t>: Dense vector representations of words that capture their semantic meaning. Common methods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Word2Vec</a:t>
            </a:r>
            <a:r>
              <a:rPr lang="en-US" dirty="0"/>
              <a:t>: Uses neural networks to learn word embeddings based on their context.</a:t>
            </a:r>
          </a:p>
          <a:p>
            <a:r>
              <a:rPr lang="en-US" b="1" u="sng" dirty="0"/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Text Classification</a:t>
            </a:r>
            <a:r>
              <a:rPr lang="en-US" dirty="0"/>
              <a:t>: Assigning predefined categories to text based on its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Text Generation</a:t>
            </a:r>
            <a:r>
              <a:rPr lang="en-US" dirty="0"/>
              <a:t>: Generating coherent and contextually relevant text based on a given prompt.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Machine Translation</a:t>
            </a:r>
            <a:r>
              <a:rPr lang="en-US" dirty="0"/>
              <a:t>: Translating text from one language to another.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Text Summarization</a:t>
            </a:r>
            <a:r>
              <a:rPr lang="en-US" dirty="0"/>
              <a:t>: Creating a concise summary of a longer text.</a:t>
            </a:r>
          </a:p>
        </p:txBody>
      </p:sp>
    </p:spTree>
    <p:extLst>
      <p:ext uri="{BB962C8B-B14F-4D97-AF65-F5344CB8AC3E}">
        <p14:creationId xmlns:p14="http://schemas.microsoft.com/office/powerpoint/2010/main" val="1792539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A28A5D-711F-A843-18C4-834994D2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595505-8C25-D0AA-89FE-2A36A22E821D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C7EE2F50-0C2E-AD22-E376-DA6531022A5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1E0CA42A-700E-A779-ADF3-B716223AAD9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04AED5A0-419B-15D4-1EC6-1008CFFCFE1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D9917195-4CC0-AFDF-FE95-3CBF7C40A51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10160FCA-2DF1-5411-6EDB-E54C08A4508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21FDBF-4CBD-D5CE-B587-636F487C125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8BC1E-BD1E-5C82-210D-B7ED827F243A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GAN – Generative Adversarial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0FC2F-5D1E-A233-D7C1-4B6E79CBC3A8}"/>
              </a:ext>
            </a:extLst>
          </p:cNvPr>
          <p:cNvSpPr txBox="1"/>
          <p:nvPr/>
        </p:nvSpPr>
        <p:spPr>
          <a:xfrm>
            <a:off x="305616" y="1555453"/>
            <a:ext cx="1061893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endParaRPr lang="en-US" dirty="0"/>
          </a:p>
          <a:p>
            <a:r>
              <a:rPr lang="en-US" b="1" dirty="0"/>
              <a:t>Classifier-Free Guidance (CFG)</a:t>
            </a:r>
            <a:r>
              <a:rPr lang="en-US" dirty="0"/>
              <a:t> is a technique used in diffusion models to guide the generation process without </a:t>
            </a:r>
          </a:p>
          <a:p>
            <a:r>
              <a:rPr lang="en-US" dirty="0"/>
              <a:t>relying on an external classifier</a:t>
            </a:r>
          </a:p>
          <a:p>
            <a:endParaRPr lang="en-US" dirty="0"/>
          </a:p>
          <a:p>
            <a:r>
              <a:rPr lang="en-US" b="1" dirty="0"/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Text-to-Image Generation</a:t>
            </a:r>
            <a:r>
              <a:rPr lang="en-US" dirty="0"/>
              <a:t>: Generating images based on textual descriptions.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Super-Resolution</a:t>
            </a:r>
            <a:r>
              <a:rPr lang="en-US" dirty="0">
                <a:effectLst/>
              </a:rPr>
              <a:t>: Enhancing the resolution of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Sound Generation</a:t>
            </a:r>
            <a:r>
              <a:rPr lang="en-US" dirty="0">
                <a:effectLst/>
              </a:rPr>
              <a:t>: Producing audio samples based on conditions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25428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9559B-C11E-7C7C-038C-EDA3FA6B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175C40-8A0B-1716-EAE6-2F2C9EB4B9E1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A3BF0101-D83B-237A-199B-5F32BCEF638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C5505228-D959-DEBA-8B00-1B8AC1B2619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5E4E95CC-2D49-0D00-3C20-513AC9AE183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B38B9AB6-DFC9-D739-8CBB-C43409DB779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8723FEA3-7790-9D03-601B-6285702120B8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0799B-BAF0-B014-32FE-9342BF96F4F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9C78CB-A177-990E-9EFD-9567384B13FC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DFF92-59C3-02FF-0E58-78D940E2F5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4277" y="1464663"/>
            <a:ext cx="10696353" cy="490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890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9CF8-BCAC-3242-9090-70352F87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C48CB-550A-8754-7C1F-71509012E892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AD214D07-9FC6-6E52-5FF9-A3C54D1C40B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5C9CBDF7-873B-4AFC-5DC7-D9FA415189D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D0F3285F-F5CD-4389-0024-E5FB1EB9DD8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9E7F98A4-BC22-1EFE-1BF4-5F6E9F657EA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11388059-B75A-852B-D4D3-981A44E5F84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2BF2E3-530A-3989-385A-3D404366072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6A5BB1-04E1-1447-7079-C5C467514C90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Applications: </a:t>
            </a:r>
            <a:r>
              <a:rPr lang="en-IN" sz="2400" b="1" dirty="0" err="1">
                <a:solidFill>
                  <a:schemeClr val="accent1"/>
                </a:solidFill>
              </a:rPr>
              <a:t>Chatgpt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2EBA15-9E30-7496-3E50-FD7071BFA9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50800" y="1436427"/>
            <a:ext cx="12192000" cy="50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684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C0B3-093C-C5C8-33D0-D821EC63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4F9195-54D6-0209-D97D-C8E6E8EFB9A2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360E6EED-ABB5-B41B-DC74-E7914DCAE70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92081332-CAC2-B124-F6DB-DDF095B7F85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67F7CF77-4AD5-FB2C-C725-3D98DAF7852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AD34D9FB-1222-3914-9B10-858B9CEA67E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40B0E9AD-4A52-F901-81F3-9B0A6C4DD1CC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2AFEA6-8330-3881-FFF3-4A95D957FF1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002B4-1F89-A1B3-B944-654D6B54FF9F}"/>
              </a:ext>
            </a:extLst>
          </p:cNvPr>
          <p:cNvSpPr/>
          <p:nvPr/>
        </p:nvSpPr>
        <p:spPr>
          <a:xfrm>
            <a:off x="633929" y="785601"/>
            <a:ext cx="95520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Ner4Opt: Named Entity Recognition for  Optimization Modelling from Natural Language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58B7FF-1BF6-CEFA-C742-BEC0CBD367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5497" y="1729720"/>
            <a:ext cx="5648325" cy="4524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4C8D88-91A2-5415-1F1B-1B72C8483F6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46660" y="1322600"/>
            <a:ext cx="5195511" cy="551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322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067B5-8D43-8A5F-2636-B7224B8D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4B8931-A1E0-DF51-E6E0-F11009CA322A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988C6BF7-55B2-6187-E145-0A3497C2E7F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0AE41D96-6440-0687-0956-200CCE25FEB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17BE022B-3B80-920F-F89E-4D237D67D77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C05433A0-38D1-2AAB-0073-4B0B7D5943B8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75F9A64F-32B8-78B4-93A2-BBAE7E807B5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E840BF-AEEE-DA1E-8109-0E1E6CBC9E4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C617D0-A343-55C1-B552-34ECB038F042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A3D652-BD92-0366-9C8F-5557094996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929" y="1573213"/>
            <a:ext cx="99441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585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07856-5476-F137-0EE6-5CC7ABAD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F067C7-185C-AA7A-3D11-F474CD4D0DA9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5CB41394-3CAB-EDAF-10E9-B60565428D18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001637B3-FFCF-BFAB-0CCA-2E3C2884C4E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063C536C-8405-3882-CE32-7E1B93ADC28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C22ED6E8-D993-419E-8EE8-75E8395609A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0031D6B0-CF7E-E61E-C480-AB785AFB7735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C7EE1C-955E-B5CA-67DC-65F97F74589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4829E-A0D9-4B94-D0BF-FFBDA3AA82C9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4EA0F-A44F-0AB3-9A23-995028441F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1595437"/>
            <a:ext cx="112014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743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DCE5-772A-45FF-A913-54140A81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529452-972C-8196-D0B5-B45D9A692AD2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86D63F7D-2258-7D9C-8B03-81AEE1B139F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F411A80E-E572-BB9B-57D6-D841A0F2A80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3B31AC56-5104-24AB-1779-4A4B7C53996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812DCDD8-A693-31F3-7836-0D6939DD379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18116556-C58E-554E-D907-A99F430DADFE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A03FA7E-2F0E-4D44-A534-5D34706EAC4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94727E-80A0-25BC-175C-38434C9BBBDF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3E69E7-A587-2D7B-E021-772D9EC73C7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9794" y="1845330"/>
            <a:ext cx="1065847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413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84F4-28DA-D5E5-1B22-B9FFF1B13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CCDE77-24DD-8907-14DD-96A531817F5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1744A1AC-8364-F598-9E15-C9E947A2AF1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63EAC1A4-CD9B-B964-3616-84FC64F1BE6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0AC8676B-8150-B672-FF79-DA310F450515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B35DFBDB-7DC8-3FE8-A6B6-C7DE2B3C80D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E191B31C-A1DB-B8CF-5434-5275266D36C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E0D460-E0BC-BAA2-8120-E0B7E388F0A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CD7E7A-EB18-A592-D5F1-6EEC56262809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0F4C40-6133-8763-8D53-F55852D2366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9035" y="1849437"/>
            <a:ext cx="1122997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79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7714-9B3D-F0F6-AE70-D44FC534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6E2613-FB57-0D64-8043-14D9FA5F957B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9FFE7E2E-56EB-C9DA-35DF-E352CD8AC56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079E7A65-DB24-D428-7BEA-852E85DC478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84569906-ED64-4E80-7196-6C4D315BBD6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135AA573-96CC-4248-4CB5-0F5708E2108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639A4070-BDD8-2428-3AA3-0B84080F037D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41E906-33C5-B13C-DE41-92F2648DF89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E173C9-C9EF-0900-FEAF-1C7B91BB6091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A2EA5F-1554-CDD6-11AB-890E9C66CB9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929" y="1631157"/>
            <a:ext cx="102584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923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26E0-64B4-CC0A-BFEC-C8A60128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CD146C-911D-334A-40EF-18BD321A69CC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0079AB6F-E124-1E96-7168-65780540755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23A7C047-3E65-8CCE-BEB0-17B99483EC1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4783C696-04A4-F8DD-65F7-13F358BED6E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7BE5E7B1-BBF0-033E-94CD-D8B45700159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A1F89D04-B5E9-55BE-5B70-C08AF8E19E0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7E38BB-CBD9-22C2-3C73-FEAC84E6D98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B79021-CAB1-C48A-AE87-C7A385BE7E0E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CE166-8668-7820-5AA4-8685D206980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8133" y="1631157"/>
            <a:ext cx="104489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210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A6DE-C521-BFEA-C127-D134BCC8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F892C4-B357-C70F-F181-D98F442DA348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F66BCA06-99AD-FD32-06CB-7566EC1B1DA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98F1B35B-3751-CDC8-4B5A-2EFD0750522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FAA27298-42FB-ECA9-1A3D-AC436F54DC6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DD503578-BDA5-FBF8-3B75-445D89E6BF6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D4347CE1-D820-8E27-65E2-91C052D6E858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E0DBDA-79DB-F0AF-0B0C-E5BB88806B0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4027B-4468-4AF9-F3C7-49ED04E027B1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F0442D-D155-D3DC-9853-F64471242B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2998" y="1728741"/>
            <a:ext cx="103822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729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CB8FE-9974-CAC5-A354-192CCADA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7587BC-8662-7130-B995-D65B7C9FCFDB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C8D00B08-C234-2FE7-9B28-5E7767E6630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0C3A4CB1-089B-80CA-B95E-3C7E259F78F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1259A629-DC4C-6551-07B9-7B7F3F36E5B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C20E5BB6-CAA4-DCA2-6600-21BF945BBEF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F488C14B-99A3-AC47-C221-9C323E3F5AE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5FEBF5-F3B9-73B1-C030-18399DF2456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29CC8-7D5F-56C4-9B32-3C23539A6D32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How Generative AI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3505D-FE53-AFD4-EACE-BF714577557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4104" y="1710583"/>
            <a:ext cx="110109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10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9086-FA45-9851-DE6E-9DA1E9F1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7EDB8-2296-4664-91A1-8FB6C686A18B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05468D90-8E4B-220D-5FE4-96C380EA5BE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248E9779-5667-4B49-A0A5-0F699416670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00A049EB-3340-071F-FF89-CA6E42C115F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1057C63B-2015-74DC-C1A8-296F38985DD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0CDB433-CC97-C13B-C8B2-B7E7616F359E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F423EA-54F5-297D-53D0-47811A490DC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2A52F-BCC9-1B3D-F9A1-6C67D509C756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Available GenAI Tools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F0B162-5B55-1CA5-9880-FD8ABE1752A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9995" y="1628309"/>
            <a:ext cx="11268075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069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AF656-CF9E-E1B6-700B-AD80E400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93BA48-E32C-EC1B-5D09-8B3029A76716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E0535D14-662E-0192-DB37-A380EFD1FE4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3F75DD9E-FD53-B9AE-4C3C-FBFB17187339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D0DA23BD-78E6-DFFF-34C4-08717B74E299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35D94BA3-AF32-E4B5-DA75-43EB98CA591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226A7ED8-0869-D324-910C-AC6420BB43C0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51AA84-3F6B-67E3-C42F-8C7F469FB76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BAD08-B639-8E0F-D31D-D2B69719AFB8}"/>
              </a:ext>
            </a:extLst>
          </p:cNvPr>
          <p:cNvSpPr/>
          <p:nvPr/>
        </p:nvSpPr>
        <p:spPr>
          <a:xfrm>
            <a:off x="1624769" y="2644170"/>
            <a:ext cx="955206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500" b="1" dirty="0">
                <a:solidFill>
                  <a:schemeClr val="accent1"/>
                </a:solidFill>
              </a:rPr>
              <a:t>Using Generative AI in Academic</a:t>
            </a:r>
          </a:p>
        </p:txBody>
      </p:sp>
    </p:spTree>
    <p:extLst>
      <p:ext uri="{BB962C8B-B14F-4D97-AF65-F5344CB8AC3E}">
        <p14:creationId xmlns:p14="http://schemas.microsoft.com/office/powerpoint/2010/main" val="10799740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8FBED-3224-44BA-7604-2251EE9A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189E8B-EC25-AA96-F124-809221BE48D2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BB99D099-F1F1-A632-5653-3903DCD81DB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6CBAE3FF-572E-4D22-6D2C-145208501A0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87FC09CF-66C2-4B0B-2517-254D1790DCE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65733AC6-8F2C-2D5A-37B3-72B5B4620248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B1139449-9482-CD66-701B-11A2BA287BC6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FDD923-1A47-9284-916F-D0F7C1E06AC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CCB0E-3528-9481-8A43-CDCD7BD2FE49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Use DALLE-2 to create images </a:t>
            </a:r>
            <a:r>
              <a:rPr lang="en-IN" sz="2400" b="1" dirty="0" err="1">
                <a:solidFill>
                  <a:schemeClr val="accent1"/>
                </a:solidFill>
              </a:rPr>
              <a:t>images</a:t>
            </a:r>
            <a:r>
              <a:rPr lang="en-IN" sz="2400" b="1" dirty="0">
                <a:solidFill>
                  <a:schemeClr val="accent1"/>
                </a:solidFill>
              </a:rPr>
              <a:t> for slides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6B695-D14E-50A7-0BF5-60C33DBDB7B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5900" y="1544637"/>
            <a:ext cx="115443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04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E92D-87EC-9968-E18E-16953613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7AC02B-5EE6-F1BD-5B8F-1682AFCB70DF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7806AF0D-64D3-A775-C053-2C8941DA0B4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88463731-EE2E-DD87-F08A-9AD8B3876AA7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9982CE62-6BE3-ED93-08C1-8039CE6F819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0B276466-A058-8628-4712-BE8DEBC7BAD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9EC56C53-AAA6-ED20-2C3F-BD634408CB3D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52B202-A00C-8644-8014-05A2B6E0B5B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FC42DA-9EEC-EEC5-2E06-A146C2E3CE1A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Use </a:t>
            </a:r>
            <a:r>
              <a:rPr lang="en-IN" sz="2400" b="1" dirty="0" err="1">
                <a:solidFill>
                  <a:schemeClr val="accent1"/>
                </a:solidFill>
              </a:rPr>
              <a:t>Chatgpt</a:t>
            </a:r>
            <a:r>
              <a:rPr lang="en-IN" sz="2400" b="1" dirty="0">
                <a:solidFill>
                  <a:schemeClr val="accent1"/>
                </a:solidFill>
              </a:rPr>
              <a:t> to Create first draft of biography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C07A8-7F65-6F97-A432-8083EFBC090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3550" y="1555453"/>
            <a:ext cx="1116330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301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B4AE-53B9-D9F5-9D80-501E80EBF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93CFE8-42FF-DF5E-5543-F6F89420C091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8647CCDD-C340-F58E-3BD8-A22F632D6CA9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620E6165-6823-681D-8F05-B1FF7370E34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F3BBE543-A8A4-3D9F-923A-3434F894ED7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056C02FC-7D88-3DD8-6FD4-8A39E5FF15D8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5A10A3A6-D68B-0841-F147-74C624665575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F98649-17E6-9AA0-06D7-14549D8BD1A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28688C-A11E-8914-AEF1-0D5CCB41DB55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U</a:t>
            </a:r>
            <a:r>
              <a:rPr lang="en-IN" sz="2400" b="1" dirty="0">
                <a:solidFill>
                  <a:schemeClr val="accent1"/>
                </a:solidFill>
              </a:rPr>
              <a:t>se </a:t>
            </a:r>
            <a:r>
              <a:rPr lang="en-IN" sz="2400" b="1" dirty="0" err="1">
                <a:solidFill>
                  <a:schemeClr val="accent1"/>
                </a:solidFill>
              </a:rPr>
              <a:t>BingChat</a:t>
            </a:r>
            <a:r>
              <a:rPr lang="en-IN" sz="2400" b="1" dirty="0">
                <a:solidFill>
                  <a:schemeClr val="accent1"/>
                </a:solidFill>
              </a:rPr>
              <a:t> to draft a grant proposal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042DA5-223D-F046-B2B1-B0A6488D6B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7675" y="1797913"/>
            <a:ext cx="1174432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831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93F2-1766-5C54-D472-6B5747B2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2E6B13-E429-8741-E066-A68C49F77465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FFE49589-973B-6B71-3149-C1482FD754D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A872260F-AAB8-02A3-04C1-75AEF0B9F33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BEA48AE4-978C-DFB1-80F4-00DE302FA8E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6F3ECA92-AB3D-BFE5-4192-6CFE4A68197C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1A54E6F0-B83A-D69D-104E-EEC150E6C03B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6AECCF-D925-7EB6-3A27-0CC0DD12E74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5BF4D6-958C-5AF5-5792-E68AB435589E}"/>
              </a:ext>
            </a:extLst>
          </p:cNvPr>
          <p:cNvSpPr/>
          <p:nvPr/>
        </p:nvSpPr>
        <p:spPr>
          <a:xfrm>
            <a:off x="633929" y="730686"/>
            <a:ext cx="955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Some actual or realistic risks of using Generative AI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CE74F-3B65-B9C3-B0E3-9D1CD359FC4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3111" y="1535803"/>
            <a:ext cx="109632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996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60E9-07E6-D12C-3685-C595C7D4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4C47B1-9BE7-D816-AAE4-71F8D1A1A14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7C6DD055-0101-24BC-2AFD-80A53DB5CDB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79D7E3D8-55BD-A2C9-6846-A4539C4B338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199C2E08-3CAB-F79C-F5C0-61A33541743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8F83BABB-FF93-3CBC-C0CD-9CC433563CA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0E5B025D-EC75-F0B7-DCE5-36AFC6FB87C6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22778" y="41457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41C18C-2CAE-560B-7194-3170FD2A734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DB3B9-71FC-E8B0-69AC-6A160C7D53D5}"/>
              </a:ext>
            </a:extLst>
          </p:cNvPr>
          <p:cNvSpPr txBox="1"/>
          <p:nvPr/>
        </p:nvSpPr>
        <p:spPr>
          <a:xfrm>
            <a:off x="228600" y="3785599"/>
            <a:ext cx="11175432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Students are permitted to use tools such as Stable Diffusion, DALL-E, ChatGPT </a:t>
            </a:r>
          </a:p>
          <a:p>
            <a:r>
              <a:rPr lang="en-US" sz="2400" dirty="0"/>
              <a:t>and </a:t>
            </a:r>
            <a:r>
              <a:rPr lang="en-US" sz="2400" dirty="0" err="1"/>
              <a:t>BingGPT</a:t>
            </a:r>
            <a:r>
              <a:rPr lang="en-US" sz="2400" dirty="0"/>
              <a:t> etc.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IF you use an AI tool or other creative tool to generate , draft, create  or compose </a:t>
            </a:r>
          </a:p>
          <a:p>
            <a:r>
              <a:rPr lang="en-US" sz="2400" dirty="0"/>
              <a:t>any portion of any assignment , you must 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400" dirty="0"/>
              <a:t>Credit the tool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400" dirty="0"/>
              <a:t>Identify what part of the work is from the AI tool 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400" dirty="0"/>
              <a:t>Briefly summarize why you have decided to use the tool and include it output.</a:t>
            </a:r>
          </a:p>
          <a:p>
            <a:endParaRPr lang="en-IN" dirty="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BFA259CA-E002-6827-D21D-5A7603D84D9A}"/>
              </a:ext>
            </a:extLst>
          </p:cNvPr>
          <p:cNvSpPr/>
          <p:nvPr/>
        </p:nvSpPr>
        <p:spPr>
          <a:xfrm>
            <a:off x="1078478" y="1041079"/>
            <a:ext cx="8428074" cy="273684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FF0000"/>
                </a:solidFill>
              </a:rPr>
              <a:t>POLICY to USE AI Tools</a:t>
            </a:r>
          </a:p>
        </p:txBody>
      </p:sp>
    </p:spTree>
    <p:extLst>
      <p:ext uri="{BB962C8B-B14F-4D97-AF65-F5344CB8AC3E}">
        <p14:creationId xmlns:p14="http://schemas.microsoft.com/office/powerpoint/2010/main" val="30975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811A-2FC1-0C77-BD31-2E6C082F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DF6489-D7A3-40AC-112A-543C900C9F3F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D25856-DCFF-7A6A-4374-83D050D31E2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71B449-2826-7977-8466-4D1865C32AA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CDF589-379E-0A5A-E263-6500CA2727EE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A50068-80A7-0452-01BA-6FF1BFF4A0D8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4D576D-9B28-A545-1BD0-2B01A87345A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175C2-36E1-01FD-5B60-D8FD3FB0A51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83248446-CE7F-0835-D6E8-CAE0E10E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F8ED8-595B-56B2-E722-3B6812D733E9}"/>
              </a:ext>
            </a:extLst>
          </p:cNvPr>
          <p:cNvSpPr/>
          <p:nvPr/>
        </p:nvSpPr>
        <p:spPr>
          <a:xfrm>
            <a:off x="4731026" y="3615531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         Thank You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1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18778</TotalTime>
  <Words>2944</Words>
  <Application>Microsoft Office PowerPoint</Application>
  <PresentationFormat>Widescreen</PresentationFormat>
  <Paragraphs>322</Paragraphs>
  <Slides>72</Slides>
  <Notes>4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Calibri Light</vt:lpstr>
      <vt:lpstr>Wingdings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Ideas</vt:lpstr>
      <vt:lpstr>Project Ideas</vt:lpstr>
      <vt:lpstr>Project Ideas</vt:lpstr>
      <vt:lpstr>Project Ideas</vt:lpstr>
      <vt:lpstr>Project Ideas</vt:lpstr>
      <vt:lpstr>Project Ideas</vt:lpstr>
      <vt:lpstr>Project Ideas</vt:lpstr>
      <vt:lpstr>Project Ideas</vt:lpstr>
      <vt:lpstr>Project Ideas</vt:lpstr>
      <vt:lpstr>Project Ideas</vt:lpstr>
      <vt:lpstr>Project Ideas</vt:lpstr>
      <vt:lpstr>Generative AI</vt:lpstr>
      <vt:lpstr>How is GenAI different from Tradition AI</vt:lpstr>
      <vt:lpstr>LLM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MHR</dc:creator>
  <cp:lastModifiedBy>Dr Pooja Agarwal</cp:lastModifiedBy>
  <cp:revision>338</cp:revision>
  <dcterms:created xsi:type="dcterms:W3CDTF">2020-06-03T14:19:11Z</dcterms:created>
  <dcterms:modified xsi:type="dcterms:W3CDTF">2026-01-06T01:20:10Z</dcterms:modified>
</cp:coreProperties>
</file>