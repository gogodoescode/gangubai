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606" r:id="rId2"/>
    <p:sldId id="398" r:id="rId3"/>
    <p:sldId id="326" r:id="rId4"/>
    <p:sldId id="385" r:id="rId5"/>
    <p:sldId id="386" r:id="rId6"/>
    <p:sldId id="387" r:id="rId7"/>
    <p:sldId id="400" r:id="rId8"/>
    <p:sldId id="416" r:id="rId9"/>
    <p:sldId id="417" r:id="rId10"/>
    <p:sldId id="608" r:id="rId11"/>
    <p:sldId id="401" r:id="rId12"/>
    <p:sldId id="609" r:id="rId13"/>
    <p:sldId id="610" r:id="rId14"/>
    <p:sldId id="389" r:id="rId15"/>
    <p:sldId id="611" r:id="rId16"/>
    <p:sldId id="612" r:id="rId17"/>
    <p:sldId id="613" r:id="rId18"/>
    <p:sldId id="614" r:id="rId19"/>
    <p:sldId id="615" r:id="rId20"/>
    <p:sldId id="616" r:id="rId21"/>
    <p:sldId id="617" r:id="rId22"/>
    <p:sldId id="395" r:id="rId23"/>
    <p:sldId id="618" r:id="rId24"/>
    <p:sldId id="412" r:id="rId25"/>
    <p:sldId id="413" r:id="rId26"/>
    <p:sldId id="685" r:id="rId27"/>
    <p:sldId id="686" r:id="rId28"/>
    <p:sldId id="688" r:id="rId29"/>
    <p:sldId id="687" r:id="rId30"/>
    <p:sldId id="691" r:id="rId31"/>
    <p:sldId id="692" r:id="rId32"/>
    <p:sldId id="693" r:id="rId33"/>
    <p:sldId id="720" r:id="rId34"/>
    <p:sldId id="694" r:id="rId35"/>
    <p:sldId id="721" r:id="rId36"/>
    <p:sldId id="695" r:id="rId37"/>
    <p:sldId id="696" r:id="rId38"/>
    <p:sldId id="722" r:id="rId39"/>
    <p:sldId id="697" r:id="rId40"/>
    <p:sldId id="699" r:id="rId41"/>
    <p:sldId id="724" r:id="rId42"/>
    <p:sldId id="698" r:id="rId43"/>
    <p:sldId id="468" r:id="rId44"/>
    <p:sldId id="619" r:id="rId45"/>
    <p:sldId id="620" r:id="rId46"/>
    <p:sldId id="388" r:id="rId47"/>
    <p:sldId id="451" r:id="rId48"/>
    <p:sldId id="621" r:id="rId49"/>
    <p:sldId id="622" r:id="rId50"/>
    <p:sldId id="623" r:id="rId51"/>
    <p:sldId id="624" r:id="rId52"/>
    <p:sldId id="626" r:id="rId53"/>
    <p:sldId id="627" r:id="rId54"/>
    <p:sldId id="397" r:id="rId55"/>
    <p:sldId id="443" r:id="rId56"/>
    <p:sldId id="628" r:id="rId57"/>
    <p:sldId id="636" r:id="rId58"/>
    <p:sldId id="637" r:id="rId59"/>
    <p:sldId id="638" r:id="rId60"/>
    <p:sldId id="639" r:id="rId61"/>
    <p:sldId id="418" r:id="rId62"/>
    <p:sldId id="419" r:id="rId63"/>
    <p:sldId id="420" r:id="rId64"/>
    <p:sldId id="421" r:id="rId65"/>
    <p:sldId id="422" r:id="rId66"/>
    <p:sldId id="706" r:id="rId67"/>
    <p:sldId id="710" r:id="rId68"/>
    <p:sldId id="725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sit" initials="p" lastIdx="16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9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3-12T06:17:57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6838 13984 12 0,'0'0'0'0,"0"0"0"0,0 2 0 0,0-2 0 16,0 0 1-16,0 0-1 0,0 4 0 0,0-4 6 0,0 5 0 15,0-5-6-15,6 2 0 0,-6-2 6 0,5 4 1 0,-5-4-7 16,15 9 0-16,-15-9 5 0,32 15 2 15,-8-7-7-15,2-5 0 0,6 3 7 0,1 1-1 16,5-5-6-16,1 2 0 0,2 2 15 0,2 1 1 0,5-3-16 16,6-1 0-16,8-1 13 0,5 0 1 15,0 0-14-15,2 0 0 0,-4 2 14 0,6-3 2 16,1 3-16-16,5 0 0 0,1 1 16 0,4 1-1 0,2-2-15 16,-4-4 0-16,2 0 21 0,2 0 0 0,2-2-21 0,1 0 0 15,6 0 22-15,2-2 2 0,2 3-24 16,6-1 0-16,-5-6 25 0,3 5 0 0,2-5-25 15,1 3 0-15,11 1 29 0,-3-4 0 0,-2 1-29 16,-4-2 0-16,-1 3 28 0,-3-3 1 0,-9 1-29 0,1 1 0 16,-11 3 25-16,1-1 0 0,-6 3-25 15,-5-2 0-15,0 0 21 0,1 1 0 0,-8 1-21 16,-1 2 0-16,-4 3 15 0,-9-1 0 0,1 4-15 16,-7-2 0-16,-1-1 17 0,-2 1 0 0,-4 0-17 0,-9-2 0 15,0-2 14-15,-6 0 1 0,-4 3-15 16,-1 3 0-16,-6 1 14 0,2 1-1 0,-4-1-13 0,-4-1 0 15,-1-2 12-15,-4-4 1 0,2 0-13 0,-4 1 0 0,0 1 14 0,1 0 2 16,-1-2-16-16,0 0 0 0,0 0 13 16,0 0 2-16,0 0-15 0,0 0 0 0,0 0 15 15,0 0 0-15,0 0-15 0,0 0 0 0,0 0 12 16,0 0 0-16,0 0-12 0,0 0 0 0,0 0 11 0,0 0 0 16,0 0-11-16,0 0 0 0,0 0 12 0,6 2 0 15,-6 0-12-15,2 0 0 0,2 0 13 0,-4-1 1 16,2 5-14-16,-1 3 0 0,3 4 14 0,-2 2 1 15,-2 0-15-15,-2 0 0 0,2-15-665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06T08:52:42.3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5301 7244 12 0,'0'0'0'0,"0"0"0"15,15-20 0-15,0-3 0 0,7 1 0 0,1-4 0 16,6-2 0-16,3-3 0 0,7-1 0 0,6-2 0 15,0 1 0-15,-45 33-10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3-19T07:57:34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23401 7962 12 0,'0'0'0'0,"0"0"0"15,31-5 0-15,1 1 0 0,7-2 0 0,0 1 0 16,2 3 0-16,-5 2 0 0,-1 4 0 0,-1-2 0 0,-3-2 0 0,-1-2 0 16,2-2 0-16,-4 4 0 0,2 0 0 15,-2 0 0-15,-1 2 0 0,-2 0 0 0,3-2 0 16,-28 0-10-16</inkml:trace>
  <inkml:trace contextRef="#ctx0" brushRef="#br0" timeOffset="6132.21">18907 10213 12 0,'0'0'0'0,"0"0"0"16,7 0 0-16,-7 0 0 0,13 0 0 0,-13 0 0 15,28 2 0-15,-9-2 0 0,1 0 0 0,6 0 0 16,-2 2 0-16,-24-2-10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024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584.43732" units="1/cm"/>
          <inkml:channelProperty channel="Y" name="resolution" value="585.1428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17T07:26:30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23002 11815 401 0,'0'0'0'0,"0"0"0"0,-4 0 0 0,4 0 19 0,-7 0 2 15,7 0-21-15,-2 0 0 0,2 0 62 0,-9 0 2 16,9 0-64-16,-15 0 0 0,15 0 59 0,-11 0-1 16,11 0-58-16,-14 2 0 0,14-2 27 0,-22 6 0 15,22-6-27-15,-28 7 0 0,28-7 25 0,-35 13-1 16,16-6-24-16,2 1 0 0,2-3 28 0,2-1 2 16,0 0-30-16,0 1 0 0,2 3 24 0,0-4 2 0,2 1-26 15,-1 1 0-15,1-2 20 0,0-3 2 0,1 1-22 16,3 2 0-16,-1-2 17 0,2 0 1 0,3 0-18 15,-1-1 0-15,0 1 20 0,2-2-1 0,2 0-19 16,0 0 0-16,1 0 20 0,3 0 1 0,12-2-21 16,10-3 0-16,15-6 23 0,11-2 0 0,4-2-23 15,5-2 0-15,4-5 21 0,6-1 2 0,4-3-23 16,1-3 0-16,4-7 18 0,7-1 1 0,1 2-19 16,-5 1 0-16,5 3 22 0,-1 1 2 0,-5 2-24 15,-4 0 0-15,-5 2 29 0,-3 2 1 0,-5 0-30 16,-3 3 0-16,-12 1 30 0,-5 3 0 0,-5 6-30 0,-2 0 0 15,-3 3 35-15,-2-1 1 0,-5 1-36 0,-4 3 0 16,-7-5 32-16,-4 5 2 0,-6 3-34 0,-2-4 0 16,-5 6 24-16,-2 6 2 0,2-6-26 0,0 0 0 15,-2 0 20-15,0 0 1 0,0 0-21 0,0 0 0 16,0 0 14-16,0 0 1 0,0 0-15 0,0 0 0 16,0 0 10-16,0 0 1 0,2 0-11 0,3 0 0 0,-5 0-1217 15</inkml:trace>
  <inkml:trace contextRef="#ctx0" brushRef="#br0" timeOffset="901.26">23708 12429 326 0,'0'0'0'0,"0"0"0"16,-7-4 0-16,7 4 20 0,-13-3 2 0,13 3-22 15,-13-4 0-15,13 4 44 0,-4-6 1 0,4 6-45 16,-2-2 0-16,2 2 50 0,-2-3 0 0,2 3-50 16,0-4 0-16,0 4 20 0,0-4 2 0,0 4-22 15,2-3 0-15,-2 3 22 0,-4-4 2 0,4 4-24 16,-11-4 0-16,11 4 28 0,-4-4 0 0,4 4-28 15,-7-2 0-15,7 2 20 0,-8-5 0 0,8 5-20 0,-9-4 0 16,9 4 24-16,-2-4 1 0,2 4-25 0,-2-3 0 16,2 3 28-16,2-4 0 0,-2 4-28 0,25-13 0 15,4 2 37-15,9-8 0 0,3 1-37 0,9 3 0 16,10-2 37-16,3-2 1 0,4 1-38 0,6-5 0 16,9-1 35-16,5-2-1 0,3 0-34 0,1-4 0 0,4 3 32 15,0-1 0-15,0 0-32 0,-2 2 0 0,-3-2 27 16,-3 7 0-16,-9-1-27 0,-3 3 0 0,-6 3 24 15,-6 1 1-15,-5-2-25 0,-4 0 0 0,-6 4 21 16,-3 0 0-16,-8 2-21 0,-5 4 0 0,-6-3 18 0,-5 3 0 16,-6 1-18-16,-2 4 0 0,-6 2 15 0,-3 2 0 15,0-2-15-15,-4 0 0 0,0 0 12 0,0 0 0 16,0 0-12-16,0 0 0 0,0 0 9 0,0 0 0 16,1 0-9-16,1 0 0 0,0 0 7 0,2 0-1 15,0 0-6-15,5 2 0 0,11 0 6 0,8 4 0 16,2-10-6-16,4-2 0 0,-34 6-1055 0</inkml:trace>
  <inkml:trace contextRef="#ctx0" brushRef="#br0" timeOffset="1601.6">28467 10959 375 0,'0'0'0'0,"0"0"0"16,-6-2 0-16,6 2 18 0,-13-3 1 0,13 3-19 16,-9-4 0-16,9 4 40 0,-7 0-1 0,7 0-39 15,-8 0 0-15,8 0 43 0,-4 0 0 0,4 0-43 16,-5 0 0-16,5 0 21 0,-2 0-1 0,2 0-20 16,-4 0 0-16,4 0 20 0,-4 0 0 0,4 0-20 15,0 0 0-15,0 0 23 0,6 0-1 0,-6 0-22 16,21-9 0-16,5-1 21 0,7-1 2 0,3 0-23 15,1 2 0-15,4-1 18 0,0 1 1 0,5 0-19 16,8-2 0-16,6-4 20 0,3 0 1 0,3 0-21 16,4 0 0-16,1-2 20 0,4-1 0 0,-1 5-20 15,3-4 0-15,3 2 23 0,-2 6 2 0,-2-2-25 0,-1-2 0 16,-10 2 34-16,-3-1-1 0,-3 1-33 0,1 0 0 16,-10 2 40-16,4-1-1 0,-3-1-39 0,-9-2 0 0,-6 2 42 15,-4 2 1-15,-6 1-43 0,-4 3 0 0,2 1 37 16,-3 2 0-16,-8 2-37 0,-2-4 0 0,-6 3 30 15,-1-1 2-15,-4 0-32 0,4 2 0 0,-4 0 26 16,2 0 0-16,-2 0-26 0,0 0 0 0,0 0 24 16,0 0 2-16,-6 4-26 0,-7 5 0 0,-9 10 20 0,-10 3 2 15,32-22-1091-15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D3830-85D1-4120-A46B-CD9B950C3BB9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3F3AB-41E1-4FEB-829F-210A55F37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73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25D5B-60F4-47F1-97DF-38107AB8C824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B269-3C36-483D-9396-A3070A3EEBFC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9002D-9AE5-44B1-9B10-FB085242BC49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523B4-6842-4C37-A800-C33970BE139B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D90C-7828-4672-BF49-1995FC6B6F2E}" type="datetime1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48D36-75F5-45C8-B989-D8905602C277}" type="datetime1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3B91-B51D-491E-9A46-4F6FE91CE402}" type="datetime1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345-3E21-4EBB-8437-B3131759110C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C83C-29EA-4B4B-B64D-AFECCD6272DB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5DD2-246D-4D36-82D4-8AE838B18C1F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17C7-A10A-4DB0-A56B-2C771F1D3D41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20137-03FE-479B-A65D-815EC44829E7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84D8-88AA-506C-A995-4816CF45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3">
            <a:extLst>
              <a:ext uri="{FF2B5EF4-FFF2-40B4-BE49-F238E27FC236}">
                <a16:creationId xmlns:a16="http://schemas.microsoft.com/office/drawing/2014/main" id="{93EDC3FF-C190-C8EA-7DEC-7D397F52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384675"/>
            <a:ext cx="749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Dr Pooja Agarwal</a:t>
            </a:r>
          </a:p>
        </p:txBody>
      </p:sp>
      <p:sp>
        <p:nvSpPr>
          <p:cNvPr id="2052" name="Rectangle 14">
            <a:extLst>
              <a:ext uri="{FF2B5EF4-FFF2-40B4-BE49-F238E27FC236}">
                <a16:creationId xmlns:a16="http://schemas.microsoft.com/office/drawing/2014/main" id="{E126F1CE-3265-D2D3-A8ED-FB29F4A96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846638"/>
            <a:ext cx="7496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Dept. of CSE, PES University, Bangalore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A5893B-36D7-B39F-6574-0BEF4B614DA0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57EE55-932E-282C-F262-08B6A35DE8A3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ED1F7A9-6D4B-6583-A540-C61464640517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D2D032-4BDF-904C-4128-8AC3A456DDE2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FCCEBE-CF5C-2002-9968-7EA6E810D44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0BEC23-062A-FD79-274A-8A4CCCDFE8C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E9A012-124A-AB39-5001-C490129B421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3E2B4B40-4943-37DE-2983-E6D43431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05DE2F-FA5D-ECAD-E530-C3EA137ADC55}"/>
              </a:ext>
            </a:extLst>
          </p:cNvPr>
          <p:cNvSpPr/>
          <p:nvPr/>
        </p:nvSpPr>
        <p:spPr>
          <a:xfrm>
            <a:off x="6096000" y="1730266"/>
            <a:ext cx="2181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rgbClr val="FF0000"/>
                </a:solidFill>
              </a:rPr>
              <a:t>Unit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971A3-32DB-BD1A-6B28-A37F3C620372}"/>
              </a:ext>
            </a:extLst>
          </p:cNvPr>
          <p:cNvSpPr/>
          <p:nvPr/>
        </p:nvSpPr>
        <p:spPr>
          <a:xfrm>
            <a:off x="5727179" y="3512942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POS and NER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AC26A-E62F-8101-6EC5-6B9CB1FE6B7D}"/>
              </a:ext>
            </a:extLst>
          </p:cNvPr>
          <p:cNvSpPr/>
          <p:nvPr/>
        </p:nvSpPr>
        <p:spPr>
          <a:xfrm>
            <a:off x="2567536" y="503881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67F86042-2C35-03EC-2220-3972DA3DDCCA}"/>
              </a:ext>
            </a:extLst>
          </p:cNvPr>
          <p:cNvSpPr/>
          <p:nvPr/>
        </p:nvSpPr>
        <p:spPr>
          <a:xfrm>
            <a:off x="6316143" y="2640500"/>
            <a:ext cx="26120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3600"/>
            </a:pPr>
            <a:r>
              <a:rPr lang="en-GB" sz="2667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(UE23CS342BA4)</a:t>
            </a:r>
            <a:endParaRPr sz="2667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1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25BC88E-8529-566C-DD47-10EA1283F89B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AE969A-041F-9E63-CCBA-F068589456BF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4D17D7-B73A-6E5A-9C9E-6055164AF060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79037C-064D-83D3-0BAD-9BE99C41F9BC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645943-7909-C1C3-AADF-0DDAA620DCA8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A011CA-F398-B9FD-8353-E700C592132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E6025830-B364-7880-174B-4213FABF4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49C34B-B598-8068-0843-09793B6DA77E}"/>
              </a:ext>
            </a:extLst>
          </p:cNvPr>
          <p:cNvSpPr/>
          <p:nvPr/>
        </p:nvSpPr>
        <p:spPr>
          <a:xfrm>
            <a:off x="4733925" y="3249039"/>
            <a:ext cx="53308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Parts of Speech Tagging (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PoS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CB9A75-18F7-83F3-2C9D-1DA95C70579E}"/>
              </a:ext>
            </a:extLst>
          </p:cNvPr>
          <p:cNvSpPr/>
          <p:nvPr/>
        </p:nvSpPr>
        <p:spPr>
          <a:xfrm>
            <a:off x="3978893" y="2392316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(parts of speech)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FF563DE-8326-4ADB-B68F-C8AC1DC4F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111" y="1597025"/>
            <a:ext cx="8919331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dirty="0"/>
              <a:t>Parts of speech (POS) are </a:t>
            </a:r>
            <a:r>
              <a:rPr lang="en-US" sz="2800" b="1" dirty="0"/>
              <a:t>useful because they reveal a lot about a word and its neighbors. </a:t>
            </a: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b="1" dirty="0"/>
              <a:t>Knowing a word POS(noun or verb, …) tells us about </a:t>
            </a:r>
          </a:p>
          <a:p>
            <a:pPr marL="870966" lvl="2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>
                <a:solidFill>
                  <a:srgbClr val="FFC000"/>
                </a:solidFill>
              </a:rPr>
              <a:t>likely neighboring words </a:t>
            </a:r>
            <a:r>
              <a:rPr lang="en-US" sz="2400" dirty="0"/>
              <a:t>(nouns are preceded by determiners and adjectives, verbs by nouns) and </a:t>
            </a:r>
          </a:p>
          <a:p>
            <a:pPr marL="870966" lvl="2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>
                <a:solidFill>
                  <a:srgbClr val="FFC000"/>
                </a:solidFill>
              </a:rPr>
              <a:t>syntactic structure</a:t>
            </a:r>
            <a:r>
              <a:rPr lang="en-US" sz="2400" b="1" dirty="0"/>
              <a:t> </a:t>
            </a:r>
            <a:r>
              <a:rPr lang="en-US" sz="2400" dirty="0"/>
              <a:t>(nouns are generally part of noun phrases), making POS tagging a key aspect of parsing. </a:t>
            </a: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b="1" u="sng" dirty="0">
                <a:solidFill>
                  <a:srgbClr val="FF0000"/>
                </a:solidFill>
              </a:rPr>
              <a:t>Parts of speech are useful features </a:t>
            </a:r>
          </a:p>
          <a:p>
            <a:pPr marL="870966" lvl="2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>
                <a:solidFill>
                  <a:srgbClr val="FFC000"/>
                </a:solidFill>
              </a:rPr>
              <a:t>for labeling named entities(NER)</a:t>
            </a:r>
            <a:r>
              <a:rPr lang="en-US" sz="2400" b="1" dirty="0"/>
              <a:t> </a:t>
            </a:r>
            <a:r>
              <a:rPr lang="en-US" sz="2400" dirty="0"/>
              <a:t>like people or organizations in information extraction, or </a:t>
            </a:r>
          </a:p>
          <a:p>
            <a:pPr marL="870966" lvl="2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>
                <a:solidFill>
                  <a:srgbClr val="FFC000"/>
                </a:solidFill>
              </a:rPr>
              <a:t>for coreference resolution</a:t>
            </a:r>
            <a:r>
              <a:rPr lang="en-US" sz="2400" b="1" dirty="0"/>
              <a:t>(</a:t>
            </a:r>
            <a:r>
              <a:rPr lang="en-US" sz="2400" dirty="0"/>
              <a:t>the task of finding all expressions that refer to the same entity in a text</a:t>
            </a:r>
            <a:r>
              <a:rPr lang="en-US" sz="2400" b="1" dirty="0"/>
              <a:t>)</a:t>
            </a:r>
          </a:p>
          <a:p>
            <a:pPr marL="870966" lvl="2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>
                <a:solidFill>
                  <a:srgbClr val="FFC000"/>
                </a:solidFill>
              </a:rPr>
              <a:t>for sentiment analysis, question answering, and word sense disambiguation.</a:t>
            </a:r>
            <a:endParaRPr lang="en-US" altLang="en-US" sz="2400" b="1" dirty="0">
              <a:solidFill>
                <a:srgbClr val="FFC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88E460-E4D9-4B3B-A376-008CD81A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5140B54-DF55-1E8F-56AA-59FB830D97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DFF2FA-E5E5-4066-971B-C3BB3BB0E9C6}"/>
                  </a:ext>
                </a:extLst>
              </p14:cNvPr>
              <p14:cNvContentPartPr/>
              <p14:nvPr/>
            </p14:nvContentPartPr>
            <p14:xfrm>
              <a:off x="2461680" y="5034240"/>
              <a:ext cx="1590840" cy="59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DFF2FA-E5E5-4066-971B-C3BB3BB0E9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2320" y="5024880"/>
                <a:ext cx="1609560" cy="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500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31043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(parts of speech) examples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5958477-BA7D-431C-9B56-67AB5966F5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altLang="en-US" sz="2800" dirty="0"/>
              <a:t>N		</a:t>
            </a:r>
            <a:r>
              <a:rPr lang="en-US" altLang="en-US" sz="2800" b="1" dirty="0"/>
              <a:t>noun	</a:t>
            </a:r>
            <a:r>
              <a:rPr lang="en-US" altLang="en-US" sz="2800" dirty="0"/>
              <a:t>	chair, bandwidth, pacing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dirty="0"/>
              <a:t>V		</a:t>
            </a:r>
            <a:r>
              <a:rPr lang="en-US" altLang="en-US" sz="2800" b="1" dirty="0"/>
              <a:t>verb		</a:t>
            </a:r>
            <a:r>
              <a:rPr lang="en-US" altLang="en-US" sz="2800" dirty="0"/>
              <a:t>study, debate, munch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dirty="0"/>
              <a:t>ADJ	</a:t>
            </a:r>
            <a:r>
              <a:rPr lang="en-US" altLang="en-US" sz="2800" b="1" dirty="0"/>
              <a:t>adjective</a:t>
            </a:r>
            <a:r>
              <a:rPr lang="en-US" altLang="en-US" sz="2800" dirty="0"/>
              <a:t>	purple, tall, ridiculous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dirty="0"/>
              <a:t>ADV	</a:t>
            </a:r>
            <a:r>
              <a:rPr lang="en-US" altLang="en-US" sz="2800" b="1" dirty="0"/>
              <a:t>adverb</a:t>
            </a:r>
            <a:r>
              <a:rPr lang="en-US" altLang="en-US" sz="2800" dirty="0"/>
              <a:t>	unfortunately, slowly,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dirty="0"/>
              <a:t>P		</a:t>
            </a:r>
            <a:r>
              <a:rPr lang="en-US" altLang="en-US" sz="2800" b="1" dirty="0"/>
              <a:t>preposition	</a:t>
            </a:r>
            <a:r>
              <a:rPr lang="en-US" altLang="en-US" sz="2800" dirty="0"/>
              <a:t>of, by, to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dirty="0"/>
              <a:t>PRO	</a:t>
            </a:r>
            <a:r>
              <a:rPr lang="en-US" altLang="en-US" sz="2800" b="1" dirty="0"/>
              <a:t>pronoun</a:t>
            </a:r>
            <a:r>
              <a:rPr lang="en-US" altLang="en-US" sz="2800" dirty="0"/>
              <a:t>	I, me, mine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dirty="0"/>
              <a:t>DET	</a:t>
            </a:r>
            <a:r>
              <a:rPr lang="en-US" altLang="en-US" sz="2800" b="1" dirty="0"/>
              <a:t>determiner</a:t>
            </a:r>
            <a:r>
              <a:rPr lang="en-US" altLang="en-US" sz="2800" dirty="0"/>
              <a:t>	the, a, that, those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dirty="0" err="1"/>
              <a:t>Conj</a:t>
            </a:r>
            <a:r>
              <a:rPr lang="en-US" altLang="en-US" sz="2800" dirty="0"/>
              <a:t>      </a:t>
            </a:r>
            <a:r>
              <a:rPr lang="en-US" altLang="en-US" b="1" dirty="0"/>
              <a:t>conjunctions  </a:t>
            </a:r>
            <a:r>
              <a:rPr lang="en-US" altLang="en-US" dirty="0"/>
              <a:t>and, or</a:t>
            </a:r>
          </a:p>
          <a:p>
            <a:pPr marL="514350" indent="-514350">
              <a:buFont typeface="+mj-lt"/>
              <a:buAutoNum type="arabicParenR"/>
            </a:pPr>
            <a:endParaRPr lang="en-US" alt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E863A-B4A0-40AC-B12B-4C3CD945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92CD46E-7A01-5F8B-B128-239E45625FC6}"/>
                  </a:ext>
                </a:extLst>
              </p14:cNvPr>
              <p14:cNvContentPartPr/>
              <p14:nvPr/>
            </p14:nvContentPartPr>
            <p14:xfrm>
              <a:off x="1908360" y="2518200"/>
              <a:ext cx="95760" cy="90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92CD46E-7A01-5F8B-B128-239E45625F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9000" y="2508840"/>
                <a:ext cx="114480" cy="1087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object 5">
            <a:extLst>
              <a:ext uri="{FF2B5EF4-FFF2-40B4-BE49-F238E27FC236}">
                <a16:creationId xmlns:a16="http://schemas.microsoft.com/office/drawing/2014/main" id="{09035F29-4D92-0E5C-B53C-EAD38A6C8FC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0DD963-0AAA-92E1-3C31-372E0604FB8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6966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(parts of speech)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7B6FF3A-3453-48A7-9E9C-8D2104B2F5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6779" y="1645151"/>
            <a:ext cx="9923546" cy="4351338"/>
          </a:xfrm>
        </p:spPr>
        <p:txBody>
          <a:bodyPr>
            <a:normAutofit/>
          </a:bodyPr>
          <a:lstStyle/>
          <a:p>
            <a:pPr marL="514350" indent="-514350" algn="just">
              <a:buFont typeface="Wingdings" pitchFamily="2" charset="2"/>
              <a:buChar char="§"/>
            </a:pPr>
            <a:r>
              <a:rPr lang="en-US" sz="2400" b="1" dirty="0"/>
              <a:t>Parts of speech can be divided into two broad categories: </a:t>
            </a:r>
          </a:p>
          <a:p>
            <a:pPr marL="1017270" lvl="3" indent="-514350" algn="just">
              <a:buFont typeface="Wingdings" pitchFamily="2" charset="2"/>
              <a:buChar char="§"/>
            </a:pPr>
            <a:r>
              <a:rPr lang="en-US" sz="2400" b="1" dirty="0">
                <a:solidFill>
                  <a:srgbClr val="FFC000"/>
                </a:solidFill>
              </a:rPr>
              <a:t>Closed class type </a:t>
            </a:r>
            <a:endParaRPr lang="en-US" sz="2400" dirty="0"/>
          </a:p>
          <a:p>
            <a:pPr marL="1017270" lvl="3" indent="-514350" algn="just">
              <a:buFont typeface="Wingdings" pitchFamily="2" charset="2"/>
              <a:buChar char="§"/>
            </a:pPr>
            <a:r>
              <a:rPr lang="en-US" sz="2400" b="1" dirty="0">
                <a:solidFill>
                  <a:srgbClr val="FFC000"/>
                </a:solidFill>
              </a:rPr>
              <a:t>Open class type </a:t>
            </a:r>
            <a:r>
              <a:rPr lang="en-US" sz="2400" dirty="0"/>
              <a:t>(verbs, adverbs, nouns, and adjectives)</a:t>
            </a:r>
          </a:p>
          <a:p>
            <a:pPr marL="514350" indent="-514350" algn="just">
              <a:buFont typeface="Wingdings" pitchFamily="2" charset="2"/>
              <a:buChar char="§"/>
            </a:pPr>
            <a:r>
              <a:rPr lang="en-US" sz="2400" b="1" dirty="0"/>
              <a:t>Closed classes</a:t>
            </a:r>
            <a:r>
              <a:rPr lang="en-US" sz="2400" dirty="0"/>
              <a:t> No inclusion of new words very often. Closed classes are those with relatively </a:t>
            </a:r>
            <a:r>
              <a:rPr lang="en-US" sz="2400" b="1" dirty="0"/>
              <a:t>fixed membership</a:t>
            </a:r>
            <a:r>
              <a:rPr lang="en-US" sz="2400" dirty="0"/>
              <a:t>, such as prepositions—new prepositions are rarely coined.   Like preposition, aux verbs </a:t>
            </a:r>
            <a:r>
              <a:rPr lang="en-US" sz="2400" dirty="0" err="1"/>
              <a:t>etc</a:t>
            </a:r>
            <a:endParaRPr lang="en-US" sz="2400" dirty="0"/>
          </a:p>
          <a:p>
            <a:pPr marL="514350" indent="-514350" algn="just">
              <a:buFont typeface="Wingdings" pitchFamily="2" charset="2"/>
              <a:buChar char="§"/>
            </a:pPr>
            <a:r>
              <a:rPr lang="en-US" sz="2400" b="1" dirty="0"/>
              <a:t>Closed class words are generally function words </a:t>
            </a:r>
            <a:r>
              <a:rPr lang="en-US" sz="2400" dirty="0"/>
              <a:t>like </a:t>
            </a:r>
            <a:r>
              <a:rPr lang="en-US" sz="2400" dirty="0">
                <a:solidFill>
                  <a:srgbClr val="FF0000"/>
                </a:solidFill>
              </a:rPr>
              <a:t>of, it, and, or you</a:t>
            </a:r>
            <a:r>
              <a:rPr lang="en-US" sz="2400" dirty="0"/>
              <a:t>, </a:t>
            </a:r>
            <a:r>
              <a:rPr lang="en-US" sz="2400" b="1" dirty="0"/>
              <a:t>occur frequently.</a:t>
            </a:r>
            <a:r>
              <a:rPr lang="en-US" sz="2400" dirty="0"/>
              <a:t>                                             </a:t>
            </a:r>
          </a:p>
          <a:p>
            <a:pPr marL="514350" indent="-514350" algn="just">
              <a:buFont typeface="Wingdings" pitchFamily="2" charset="2"/>
              <a:buChar char="§"/>
            </a:pPr>
            <a:r>
              <a:rPr lang="en-US" sz="2400" dirty="0"/>
              <a:t>Nouns and verbs are </a:t>
            </a:r>
            <a:r>
              <a:rPr lang="en-US" sz="2400" b="1" dirty="0"/>
              <a:t>open classes</a:t>
            </a:r>
            <a:r>
              <a:rPr lang="en-US" sz="2400" dirty="0"/>
              <a:t>—new nouns and verbs like </a:t>
            </a:r>
            <a:r>
              <a:rPr lang="en-US" sz="2400" dirty="0" err="1"/>
              <a:t>iPhone</a:t>
            </a:r>
            <a:r>
              <a:rPr lang="en-US" sz="2400" dirty="0"/>
              <a:t> or to fax are continually being created or borrowed. </a:t>
            </a:r>
          </a:p>
          <a:p>
            <a:pPr marL="514350" indent="-514350"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46311-F48B-44B8-B9A9-94247857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F38E9-C54A-4BD8-9B03-B51E7CE1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A93813D-2B32-0E3B-6377-0A82B8BBF9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C9E8DAB-63CA-DE0B-7D2C-E27C5101A2C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501888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(parts of speech)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F31F7CD-1508-424C-8374-348AB23DC0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8882" y="1482725"/>
            <a:ext cx="9688117" cy="4351338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/>
              <a:t>The important </a:t>
            </a:r>
            <a:r>
              <a:rPr lang="en-US" sz="2400" b="1" dirty="0">
                <a:solidFill>
                  <a:srgbClr val="FFC000"/>
                </a:solidFill>
              </a:rPr>
              <a:t>closed classes </a:t>
            </a:r>
            <a:r>
              <a:rPr lang="en-US" sz="2400" b="1" dirty="0"/>
              <a:t>in English include:</a:t>
            </a:r>
          </a:p>
          <a:p>
            <a:pPr lvl="3"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/>
              <a:t>Prepositions</a:t>
            </a:r>
            <a:r>
              <a:rPr lang="en-US" sz="2400" dirty="0"/>
              <a:t>: on, under, over, near, by, at, from, to, with</a:t>
            </a:r>
          </a:p>
          <a:p>
            <a:pPr lvl="3"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/>
              <a:t> Particles</a:t>
            </a:r>
            <a:r>
              <a:rPr lang="en-US" sz="2400" dirty="0"/>
              <a:t>: up, down, on, off, in, out, at, by</a:t>
            </a:r>
          </a:p>
          <a:p>
            <a:pPr lvl="3"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/>
              <a:t> Determiners</a:t>
            </a:r>
            <a:r>
              <a:rPr lang="en-US" sz="2400" dirty="0"/>
              <a:t>: a, an, the, </a:t>
            </a:r>
            <a:r>
              <a:rPr lang="en-US" sz="2400" i="1" dirty="0"/>
              <a:t>this/that, these/those, its, our, their</a:t>
            </a:r>
            <a:endParaRPr lang="en-US" sz="2400" dirty="0"/>
          </a:p>
          <a:p>
            <a:pPr lvl="3"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/>
              <a:t>Conjunctions</a:t>
            </a:r>
            <a:r>
              <a:rPr lang="en-US" sz="2400" dirty="0"/>
              <a:t>: and, but, or, as, if, when</a:t>
            </a:r>
          </a:p>
          <a:p>
            <a:pPr lvl="3"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/>
              <a:t>Pronouns</a:t>
            </a:r>
            <a:r>
              <a:rPr lang="en-US" sz="2400" dirty="0"/>
              <a:t>: she, who, I, others</a:t>
            </a:r>
          </a:p>
          <a:p>
            <a:pPr lvl="3"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/>
              <a:t>Auxiliary verbs</a:t>
            </a:r>
            <a:r>
              <a:rPr lang="en-US" sz="2400" dirty="0"/>
              <a:t>: can, may, should, is, are, do, have, ... </a:t>
            </a:r>
          </a:p>
          <a:p>
            <a:pPr lvl="3"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b="1" dirty="0"/>
              <a:t> Numerals</a:t>
            </a:r>
            <a:r>
              <a:rPr lang="en-US" sz="2400" dirty="0"/>
              <a:t>: one, two, three, first, second, third, …</a:t>
            </a:r>
            <a:endParaRPr lang="en-US" alt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DA595-F384-46DF-BD45-40A324C2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5267EA6-46E5-B748-C690-368F07A7E1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BA0E5B-9B5C-2D3D-5DA3-9F0793EB021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17145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Different Corpora and Tree Banks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112AFB-D241-48A1-A9FD-6367F717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93111" y="1536867"/>
            <a:ext cx="9484815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corpus is a large and </a:t>
            </a:r>
            <a:r>
              <a:rPr lang="en-US" sz="2400" dirty="0">
                <a:solidFill>
                  <a:srgbClr val="FF0000"/>
                </a:solidFill>
              </a:rPr>
              <a:t>structured set of machine-readable texts </a:t>
            </a:r>
            <a:r>
              <a:rPr lang="en-US" sz="2400" dirty="0"/>
              <a:t>that have been produced in a natural communicative setting. </a:t>
            </a:r>
          </a:p>
          <a:p>
            <a:r>
              <a:rPr lang="en-US" sz="2400" dirty="0"/>
              <a:t>Its plural is corpora. </a:t>
            </a:r>
          </a:p>
          <a:p>
            <a:r>
              <a:rPr lang="en-US" sz="2400" dirty="0"/>
              <a:t>They can be derived in different ways like text that was originally electronic, </a:t>
            </a:r>
            <a:r>
              <a:rPr lang="en-US" sz="2400" b="1" dirty="0"/>
              <a:t>transcripts of spoken language and optical character recognition,</a:t>
            </a:r>
            <a:r>
              <a:rPr lang="en-US" sz="2400" dirty="0"/>
              <a:t> etc.</a:t>
            </a:r>
          </a:p>
          <a:p>
            <a:r>
              <a:rPr lang="en-US" sz="2400" dirty="0"/>
              <a:t>Corpora are generally solely used for </a:t>
            </a:r>
            <a:r>
              <a:rPr lang="en-US" sz="2400" dirty="0">
                <a:solidFill>
                  <a:srgbClr val="FF0000"/>
                </a:solidFill>
              </a:rPr>
              <a:t>statistical linguistic analysis and hypothesis testing.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BFA80-6E66-4F6E-A01E-A5C5B0C6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55EFC0D2-A893-BE6C-D9C7-1B9961ABC2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F1F0D4-A4B1-912F-8043-ACBBA4A6B8F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65495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Different Corpora and Tree Banks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112AFB-D241-48A1-A9FD-6367F717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44" y="1552575"/>
            <a:ext cx="8471465" cy="2502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45444" y="4326904"/>
            <a:ext cx="80894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chemeClr val="accent6">
                    <a:lumMod val="50000"/>
                  </a:schemeClr>
                </a:solidFill>
              </a:rPr>
              <a:t>Brown Corpus </a:t>
            </a:r>
            <a:r>
              <a:rPr lang="en-IN" sz="2400" dirty="0"/>
              <a:t>is a million word collection of samples from 500 written texts from different genres(like newspapers, novels, non-fiction, academics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9E449-FCE7-4B87-BBA9-6EF66B0F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5E18E747-AD09-151F-8FF9-682C76C87D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EDE7681-F46D-0D45-5BCC-45440A8CFF5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23288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Different Corpora and Tree Banks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112AFB-D241-48A1-A9FD-6367F717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661737" y="2028327"/>
            <a:ext cx="87830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Linguistically </a:t>
            </a:r>
            <a:r>
              <a:rPr lang="en-US" sz="2400" dirty="0">
                <a:solidFill>
                  <a:srgbClr val="002060"/>
                </a:solidFill>
              </a:rPr>
              <a:t>parsed text corpus </a:t>
            </a:r>
            <a:r>
              <a:rPr lang="en-US" sz="2400" dirty="0"/>
              <a:t>that annotates syntactic or semantic sentence structure.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Geoffrey Leech coined the term ‘</a:t>
            </a:r>
            <a:r>
              <a:rPr lang="en-US" sz="2400" dirty="0" err="1"/>
              <a:t>treebank</a:t>
            </a:r>
            <a:r>
              <a:rPr lang="en-US" sz="2400" dirty="0"/>
              <a:t>’, which represents that the most common way of representing the </a:t>
            </a:r>
            <a:r>
              <a:rPr lang="en-US" sz="2400" dirty="0">
                <a:solidFill>
                  <a:srgbClr val="FF0000"/>
                </a:solidFill>
              </a:rPr>
              <a:t>grammatical analysis is by means of a tree structure.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Generally, </a:t>
            </a:r>
            <a:r>
              <a:rPr lang="en-US" sz="2400" dirty="0" err="1">
                <a:solidFill>
                  <a:schemeClr val="accent2">
                    <a:lumMod val="50000"/>
                  </a:schemeClr>
                </a:solidFill>
              </a:rPr>
              <a:t>Treebanks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are created on the top of a corpus</a:t>
            </a:r>
            <a:r>
              <a:rPr lang="en-US" sz="2400" dirty="0"/>
              <a:t>, which has already been annotated with part-of-speech tags.</a:t>
            </a:r>
            <a:endParaRPr lang="en-IN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74031" y="1467853"/>
            <a:ext cx="4916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TreeBanks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DB48B-B355-49EF-8BD4-47ED3421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07A78B9E-6F16-AF71-6D05-B4C21AD682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D37E5EA-2137-4933-FF89-27C294E70F6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7700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(parts of speech)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DE962BE-652C-4B3D-9C35-E0D9964F6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8732" y="131645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b="1" dirty="0"/>
              <a:t>What are POS tags?</a:t>
            </a:r>
          </a:p>
          <a:p>
            <a:pPr marL="514350" indent="-514350">
              <a:lnSpc>
                <a:spcPct val="100000"/>
              </a:lnSpc>
              <a:buNone/>
            </a:pPr>
            <a:r>
              <a:rPr lang="en-US" sz="2800" dirty="0"/>
              <a:t>	POS tags are also known as </a:t>
            </a:r>
            <a:r>
              <a:rPr lang="en-US" sz="2800" b="1" dirty="0"/>
              <a:t>word classes, morphological classes</a:t>
            </a:r>
            <a:r>
              <a:rPr lang="en-US" sz="2800" dirty="0"/>
              <a:t>, or </a:t>
            </a:r>
            <a:r>
              <a:rPr lang="en-US" sz="2800" b="1" dirty="0"/>
              <a:t>lexical tags </a:t>
            </a: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b="1" dirty="0"/>
              <a:t>Number of tags used by </a:t>
            </a:r>
            <a:r>
              <a:rPr lang="en-US" sz="2800" b="1" dirty="0">
                <a:solidFill>
                  <a:srgbClr val="002060"/>
                </a:solidFill>
              </a:rPr>
              <a:t>different systems/corpora/languages are different</a:t>
            </a:r>
          </a:p>
          <a:p>
            <a:pPr marL="1017270" lvl="3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dirty="0"/>
              <a:t>Penn Treebank (Wall Street Journal Newswire): 45 tags</a:t>
            </a:r>
          </a:p>
          <a:p>
            <a:pPr marL="1017270" lvl="3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3000" dirty="0"/>
              <a:t>Brown corpus (Mixed genres like fiction, biographies, etc): 87 tags</a:t>
            </a:r>
            <a:endParaRPr lang="en-US" sz="3200" dirty="0"/>
          </a:p>
          <a:p>
            <a:pPr marL="1017270" lvl="3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altLang="en-US" sz="3200" dirty="0"/>
              <a:t>Lancaster UCREL C5: 61 tags</a:t>
            </a:r>
          </a:p>
          <a:p>
            <a:pPr marL="1017270" lvl="3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altLang="en-US" sz="3200" dirty="0"/>
              <a:t>Lancaster C7: 145 tags</a:t>
            </a:r>
          </a:p>
          <a:p>
            <a:pPr marL="1474470" lvl="4" indent="-514350">
              <a:lnSpc>
                <a:spcPct val="100000"/>
              </a:lnSpc>
              <a:buFont typeface="Wingdings" pitchFamily="2" charset="2"/>
              <a:buChar char="§"/>
            </a:pPr>
            <a:endParaRPr lang="en-US" sz="2800" dirty="0"/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dirty="0">
                <a:solidFill>
                  <a:srgbClr val="00B050"/>
                </a:solidFill>
              </a:rPr>
              <a:t>POS tags can be of varying granularity. </a:t>
            </a: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dirty="0"/>
              <a:t>Morphologically complex languages have very different tag-sets from English or Dutch.</a:t>
            </a:r>
            <a:endParaRPr lang="en-US" alt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112AFB-D241-48A1-A9FD-6367F717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D4343-A021-4B1A-A001-302838DF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57075C6-4EF0-622B-D57F-F43794CEAC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4700D0-145A-7667-8379-D17E94078E8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983198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(parts of speech)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6382BC91-E63D-44DA-B906-27074D2D61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447" y="1609833"/>
            <a:ext cx="8753475" cy="4663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AE09A-545F-4FA1-94BA-2AC8B760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FC578-04FD-4477-8A3C-DABFDDD9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C908988-67F7-B7FB-DA6B-792BB2C075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8669CE-92A6-9CF7-9325-1A6311886E3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39699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tagging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AEE5DD8-E3B6-4B25-AAEC-1DB35B2166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281737" cy="4351338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dirty="0">
                <a:solidFill>
                  <a:srgbClr val="FFC000"/>
                </a:solidFill>
              </a:rPr>
              <a:t>Part-of-speech tagging is the </a:t>
            </a:r>
            <a:r>
              <a:rPr lang="en-US" sz="2800" b="1" dirty="0">
                <a:solidFill>
                  <a:srgbClr val="FFC000"/>
                </a:solidFill>
              </a:rPr>
              <a:t>process of assigning a part-of-speech marker to each word in an input text</a:t>
            </a:r>
            <a:r>
              <a:rPr lang="en-US" sz="2800" dirty="0">
                <a:solidFill>
                  <a:srgbClr val="FFC000"/>
                </a:solidFill>
              </a:rPr>
              <a:t>.</a:t>
            </a: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endParaRPr lang="en-US" sz="2800" dirty="0">
              <a:solidFill>
                <a:srgbClr val="FFC000"/>
              </a:solidFill>
            </a:endParaRP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endParaRPr lang="en-US" sz="2800" dirty="0">
              <a:solidFill>
                <a:srgbClr val="FFC000"/>
              </a:solidFill>
            </a:endParaRP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endParaRPr lang="en-US" sz="2800" dirty="0">
              <a:solidFill>
                <a:srgbClr val="FFC000"/>
              </a:solidFill>
            </a:endParaRP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endParaRPr lang="en-US" sz="2800" dirty="0">
              <a:solidFill>
                <a:srgbClr val="FFC000"/>
              </a:solidFill>
            </a:endParaRP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dirty="0"/>
              <a:t>The input to a tagging algorithm is a sequence of (tokenized) words and a tagset, and the output is a sequence of tags, one per token.</a:t>
            </a:r>
            <a:endParaRPr lang="en-US" alt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92BFB-F366-4788-A34B-10C2F368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67" y="3061516"/>
            <a:ext cx="8102286" cy="136562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72C1-30AB-4AD4-9008-2424C49CB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9857A-A6FD-4477-BDAC-065E2499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0CFF784F-D357-0984-4AD6-D14C7BAA433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C505B5-31F9-B6EA-5FFB-6E1205E003D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82617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tagging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EC9B3BF-2A43-4E2F-B9D3-0855E11B29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111" y="169183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b="1" dirty="0">
                <a:solidFill>
                  <a:srgbClr val="FFC000"/>
                </a:solidFill>
              </a:rPr>
              <a:t>Tagging is a </a:t>
            </a:r>
            <a:r>
              <a:rPr lang="en-US" sz="2800" b="1" dirty="0">
                <a:solidFill>
                  <a:srgbClr val="00B050"/>
                </a:solidFill>
              </a:rPr>
              <a:t>disambiguation task</a:t>
            </a:r>
            <a:r>
              <a:rPr lang="en-US" sz="2800" b="1" dirty="0">
                <a:solidFill>
                  <a:srgbClr val="FFC000"/>
                </a:solidFill>
              </a:rPr>
              <a:t>; words are ambiguous - have more than one possible POS - and the goal is to find the correct tag for the situation.</a:t>
            </a: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dirty="0"/>
              <a:t>For example, </a:t>
            </a:r>
          </a:p>
          <a:p>
            <a:pPr marL="1017270" lvl="3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600" b="1" dirty="0">
                <a:solidFill>
                  <a:srgbClr val="FF0000"/>
                </a:solidFill>
              </a:rPr>
              <a:t>book </a:t>
            </a:r>
            <a:r>
              <a:rPr lang="en-US" sz="2600" dirty="0"/>
              <a:t>can be a verb (</a:t>
            </a:r>
            <a:r>
              <a:rPr lang="en-US" sz="2600" i="1" dirty="0"/>
              <a:t>book</a:t>
            </a:r>
            <a:r>
              <a:rPr lang="en-US" sz="2600" dirty="0"/>
              <a:t> that flight) or a noun (hand me that </a:t>
            </a:r>
            <a:r>
              <a:rPr lang="en-US" sz="2600" i="1" dirty="0"/>
              <a:t>book</a:t>
            </a:r>
            <a:r>
              <a:rPr lang="en-US" sz="2600" dirty="0"/>
              <a:t>).</a:t>
            </a:r>
          </a:p>
          <a:p>
            <a:pPr marL="1017270" lvl="3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600" b="1" i="1" dirty="0">
                <a:solidFill>
                  <a:srgbClr val="FF0000"/>
                </a:solidFill>
              </a:rPr>
              <a:t>That</a:t>
            </a:r>
            <a:r>
              <a:rPr lang="en-US" sz="2600" dirty="0"/>
              <a:t> can be a determiner (Does that flight serve dinner) or a complementizer (I thought </a:t>
            </a:r>
            <a:r>
              <a:rPr lang="en-US" sz="2600" i="1" dirty="0"/>
              <a:t>that</a:t>
            </a:r>
            <a:r>
              <a:rPr lang="en-US" sz="2600" dirty="0"/>
              <a:t> your flight was earlier). </a:t>
            </a:r>
          </a:p>
          <a:p>
            <a:pPr marL="514350" indent="-514350"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800" b="1" dirty="0">
                <a:solidFill>
                  <a:srgbClr val="FFC000"/>
                </a:solidFill>
              </a:rPr>
              <a:t>The </a:t>
            </a:r>
            <a:r>
              <a:rPr lang="en-US" sz="2800" b="1" dirty="0">
                <a:solidFill>
                  <a:srgbClr val="0070C0"/>
                </a:solidFill>
              </a:rPr>
              <a:t>goal of POS-tagging is to resolve these ambiguities</a:t>
            </a:r>
            <a:r>
              <a:rPr lang="en-US" sz="2800" b="1" dirty="0">
                <a:solidFill>
                  <a:srgbClr val="FFC000"/>
                </a:solidFill>
              </a:rPr>
              <a:t>, choosing the proper tag for the context.</a:t>
            </a:r>
            <a:endParaRPr lang="en-US" alt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5BF53-BEA5-4977-8945-2F22273EE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021A8-48FC-47FC-91D5-AA28FFAE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85002D2D-E43E-AF1A-9B95-4AECA5BAEF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DC8719-C637-0D99-54A5-9EDC7AFBC2C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41758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Why is POS tagging hard?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1E4EA8A-C92A-4121-B03F-DF1E29B11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C000"/>
                </a:solidFill>
              </a:rPr>
              <a:t>Ambiguity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 “Plants</a:t>
            </a:r>
            <a:r>
              <a:rPr lang="en-US" sz="2800" b="1" dirty="0">
                <a:solidFill>
                  <a:srgbClr val="0070C0"/>
                </a:solidFill>
              </a:rPr>
              <a:t>/N</a:t>
            </a:r>
            <a:r>
              <a:rPr lang="en-US" sz="2800" b="1" dirty="0"/>
              <a:t> need light and water.” </a:t>
            </a:r>
          </a:p>
          <a:p>
            <a:pPr marL="514350" indent="-514350">
              <a:buNone/>
            </a:pPr>
            <a:r>
              <a:rPr lang="en-US" sz="2800" b="1" dirty="0"/>
              <a:t>	 “Each one plant</a:t>
            </a:r>
            <a:r>
              <a:rPr lang="en-US" sz="2800" b="1" dirty="0">
                <a:solidFill>
                  <a:srgbClr val="0070C0"/>
                </a:solidFill>
              </a:rPr>
              <a:t>/V</a:t>
            </a:r>
            <a:r>
              <a:rPr lang="en-US" sz="2800" b="1" dirty="0"/>
              <a:t> one.” </a:t>
            </a:r>
          </a:p>
          <a:p>
            <a:pPr marL="514350" indent="-514350">
              <a:buNone/>
            </a:pPr>
            <a:r>
              <a:rPr lang="en-US" sz="2800" b="1" dirty="0"/>
              <a:t>2.	“Flies like a flower” 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C000"/>
                </a:solidFill>
              </a:rPr>
              <a:t>Flies</a:t>
            </a:r>
            <a:r>
              <a:rPr lang="en-US" sz="2800" dirty="0"/>
              <a:t>: noun or verb? 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C000"/>
                </a:solidFill>
              </a:rPr>
              <a:t>like</a:t>
            </a:r>
            <a:r>
              <a:rPr lang="en-US" sz="2800" dirty="0"/>
              <a:t>:  preposition, adverb, conjunction, noun, or verb? 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C000"/>
                </a:solidFill>
              </a:rPr>
              <a:t>a</a:t>
            </a:r>
            <a:r>
              <a:rPr lang="en-US" sz="2800" dirty="0"/>
              <a:t>:     article, noun, or preposition? 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C000"/>
                </a:solidFill>
              </a:rPr>
              <a:t>flower</a:t>
            </a:r>
            <a:r>
              <a:rPr lang="en-US" sz="2800" dirty="0"/>
              <a:t>: noun or verb?</a:t>
            </a:r>
            <a:endParaRPr lang="en-US" alt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F294D-1A01-41FA-B516-E1C35D4B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2481B-3A84-4EE8-9088-853C5021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559C5A83-1DDF-A016-D1CC-1C2180F7BB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DCFCD4-F10D-25C9-4417-0B47E386ECE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3221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Why is POS tagging hard?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3C602BC-FBDC-4117-94DE-7C8C11BFBE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FFC000"/>
                </a:solidFill>
              </a:rPr>
              <a:t>Words often have more than one POS</a:t>
            </a:r>
          </a:p>
          <a:p>
            <a:r>
              <a:rPr lang="en-US" altLang="en-US" sz="3200" b="1" dirty="0"/>
              <a:t>For example, the word </a:t>
            </a:r>
            <a:r>
              <a:rPr lang="en-US" altLang="en-US" sz="3200" b="1" i="1" dirty="0"/>
              <a:t>back</a:t>
            </a:r>
            <a:r>
              <a:rPr lang="en-US" altLang="en-US" sz="3200" b="1" dirty="0"/>
              <a:t> in following sentences:</a:t>
            </a:r>
          </a:p>
          <a:p>
            <a:pPr marL="642366" lvl="1" indent="-514350">
              <a:buFont typeface="+mj-lt"/>
              <a:buAutoNum type="arabicPeriod"/>
            </a:pPr>
            <a:r>
              <a:rPr lang="en-US" altLang="en-US" sz="2800" dirty="0"/>
              <a:t>The </a:t>
            </a:r>
            <a:r>
              <a:rPr lang="en-US" altLang="en-US" sz="2800" i="1" dirty="0">
                <a:solidFill>
                  <a:srgbClr val="92D050"/>
                </a:solidFill>
              </a:rPr>
              <a:t>back</a:t>
            </a:r>
            <a:r>
              <a:rPr lang="en-US" altLang="en-US" sz="2800" dirty="0"/>
              <a:t> door = JJ(Adjective)  </a:t>
            </a:r>
          </a:p>
          <a:p>
            <a:pPr marL="642366" lvl="1" indent="-514350">
              <a:buFont typeface="+mj-lt"/>
              <a:buAutoNum type="arabicPeriod"/>
            </a:pPr>
            <a:r>
              <a:rPr lang="en-US" altLang="en-US" sz="2800" dirty="0"/>
              <a:t>On my </a:t>
            </a:r>
            <a:r>
              <a:rPr lang="en-US" altLang="en-US" sz="2800" i="1" dirty="0">
                <a:solidFill>
                  <a:srgbClr val="92D050"/>
                </a:solidFill>
              </a:rPr>
              <a:t>back</a:t>
            </a:r>
            <a:r>
              <a:rPr lang="en-US" altLang="en-US" sz="2800" dirty="0"/>
              <a:t> = NN(Noun singular)</a:t>
            </a:r>
          </a:p>
          <a:p>
            <a:pPr marL="642366" lvl="1" indent="-514350">
              <a:buFont typeface="+mj-lt"/>
              <a:buAutoNum type="arabicPeriod"/>
            </a:pPr>
            <a:r>
              <a:rPr lang="en-US" altLang="en-US" sz="2800" dirty="0"/>
              <a:t>Win the voters </a:t>
            </a:r>
            <a:r>
              <a:rPr lang="en-US" altLang="en-US" sz="2800" i="1" dirty="0">
                <a:solidFill>
                  <a:srgbClr val="92D050"/>
                </a:solidFill>
              </a:rPr>
              <a:t>back</a:t>
            </a:r>
            <a:r>
              <a:rPr lang="en-US" altLang="en-US" sz="2800" dirty="0">
                <a:solidFill>
                  <a:srgbClr val="92D050"/>
                </a:solidFill>
              </a:rPr>
              <a:t> </a:t>
            </a:r>
            <a:r>
              <a:rPr lang="en-US" altLang="en-US" sz="2800" dirty="0"/>
              <a:t>= RB(Adverb)</a:t>
            </a:r>
          </a:p>
          <a:p>
            <a:pPr marL="642366" lvl="1" indent="-514350">
              <a:buFont typeface="+mj-lt"/>
              <a:buAutoNum type="arabicPeriod"/>
            </a:pPr>
            <a:r>
              <a:rPr lang="en-US" altLang="en-US" sz="2800" dirty="0"/>
              <a:t>Promised to </a:t>
            </a:r>
            <a:r>
              <a:rPr lang="en-US" altLang="en-US" sz="2800" i="1" dirty="0">
                <a:solidFill>
                  <a:srgbClr val="92D050"/>
                </a:solidFill>
              </a:rPr>
              <a:t>back</a:t>
            </a:r>
            <a:r>
              <a:rPr lang="en-US" altLang="en-US" sz="2800" dirty="0"/>
              <a:t> the bill = VB(Verb base form)</a:t>
            </a:r>
          </a:p>
          <a:p>
            <a:r>
              <a:rPr lang="en-US" altLang="en-US" sz="2800" b="1" dirty="0">
                <a:solidFill>
                  <a:srgbClr val="FFC000"/>
                </a:solidFill>
              </a:rPr>
              <a:t>The POS tagging problem is to determine the POS tag for a particular instance of a word.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B1F15-194E-408D-940C-2AADAB9C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1EE2F-D32D-452F-8DF5-8DFB5137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5DC97E55-E78F-4063-56DB-CF56803780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BA3757-0F5F-AA07-FFB0-81DC1E7B467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25361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3 approaches for POS tagging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EF13F68-760A-47FF-AF66-8292844D76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1" y="1825625"/>
            <a:ext cx="7620000" cy="4351338"/>
          </a:xfrm>
        </p:spPr>
        <p:txBody>
          <a:bodyPr>
            <a:normAutofit/>
          </a:bodyPr>
          <a:lstStyle/>
          <a:p>
            <a:pPr marL="533400" indent="-533400">
              <a:buFont typeface="Arial" panose="020B0604020202020204" pitchFamily="34" charset="0"/>
              <a:buAutoNum type="arabicPeriod"/>
            </a:pPr>
            <a:r>
              <a:rPr lang="en-US" altLang="en-US" sz="2400" b="1" dirty="0"/>
              <a:t>Rule-based tagging</a:t>
            </a:r>
          </a:p>
          <a:p>
            <a:pPr marL="914400" lvl="1" indent="-457200"/>
            <a:r>
              <a:rPr lang="en-US" dirty="0"/>
              <a:t>The ENGTWOL tagger (</a:t>
            </a:r>
            <a:r>
              <a:rPr lang="en-US" dirty="0" err="1"/>
              <a:t>Voutilainen</a:t>
            </a:r>
            <a:r>
              <a:rPr lang="en-US" dirty="0"/>
              <a:t>, 1995) is a rule based tagger based on two-stage architecture.</a:t>
            </a:r>
            <a:endParaRPr lang="en-US" altLang="en-US" dirty="0"/>
          </a:p>
          <a:p>
            <a:pPr marL="533400" indent="-533400">
              <a:buFont typeface="Arial" panose="020B0604020202020204" pitchFamily="34" charset="0"/>
              <a:buAutoNum type="arabicPeriod"/>
            </a:pPr>
            <a:r>
              <a:rPr lang="en-US" altLang="en-US" sz="2400" b="1" dirty="0"/>
              <a:t>Transformation-based tagging</a:t>
            </a:r>
          </a:p>
          <a:p>
            <a:pPr marL="914400" lvl="1" indent="-457200"/>
            <a:r>
              <a:rPr lang="en-US" altLang="en-US" dirty="0"/>
              <a:t>Brill tagger</a:t>
            </a:r>
          </a:p>
          <a:p>
            <a:pPr marL="533400" indent="-533400">
              <a:buFont typeface="Arial" panose="020B0604020202020204" pitchFamily="34" charset="0"/>
              <a:buAutoNum type="arabicPeriod"/>
            </a:pPr>
            <a:r>
              <a:rPr lang="en-US" altLang="en-US" sz="2400" b="1" dirty="0"/>
              <a:t>Stochastic (Probability/Frequency) tagging</a:t>
            </a:r>
          </a:p>
          <a:p>
            <a:pPr marL="914400" lvl="1" indent="-457200"/>
            <a:r>
              <a:rPr lang="en-US" altLang="en-US" dirty="0"/>
              <a:t>Most frequent tag algorithm</a:t>
            </a:r>
          </a:p>
          <a:p>
            <a:pPr marL="914400" lvl="1" indent="-457200"/>
            <a:r>
              <a:rPr lang="en-US" altLang="en-US" dirty="0"/>
              <a:t>HMM (Hidden Markov Model) tagging</a:t>
            </a:r>
          </a:p>
          <a:p>
            <a:pPr marL="914400" lvl="1" indent="-457200">
              <a:buNone/>
            </a:pPr>
            <a:endParaRPr lang="en-US" alt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B06E9-50EC-4339-B2B5-F621839C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336C3-5DE5-414D-A8B7-1F270A39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98F9528C-67D7-9223-463D-7C6B3E11E3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DB3401-4969-3A6A-11D5-BBC74BBEF5A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46823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Rule-based tagging (two stage - architecture)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5812D6F-5CBF-4BA3-9207-DD91A43317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825" y="1530350"/>
            <a:ext cx="9120438" cy="4351338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en-US" sz="2800" b="1" dirty="0"/>
              <a:t>Stage 1:</a:t>
            </a:r>
          </a:p>
          <a:p>
            <a:pPr marL="1017270" lvl="3" indent="-5143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en-US" sz="2800" dirty="0"/>
              <a:t>Start with a dictionary of Tagsets</a:t>
            </a:r>
          </a:p>
          <a:p>
            <a:pPr marL="1017270" lvl="3" indent="-5143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en-US" sz="2800" dirty="0"/>
              <a:t>Assign all possible tags to words from the dictionary</a:t>
            </a:r>
            <a:r>
              <a:rPr lang="en-US" sz="2800" dirty="0"/>
              <a:t> exploiting morphological/orthographic rules.</a:t>
            </a:r>
            <a:endParaRPr lang="en-US" altLang="en-US" sz="2800" dirty="0"/>
          </a:p>
          <a:p>
            <a:pPr marL="514350" indent="-5143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en-US" sz="2800" b="1" dirty="0"/>
              <a:t>Stage 2:</a:t>
            </a:r>
          </a:p>
          <a:p>
            <a:pPr marL="1017270" lvl="3" indent="-5143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en-US" sz="2800" b="1" dirty="0"/>
              <a:t>Write rules by hand to selectively remove tags. </a:t>
            </a:r>
          </a:p>
          <a:p>
            <a:pPr marL="1483614" lvl="6" indent="-514350"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2800" dirty="0"/>
              <a:t>Disambiguation is done by analyzing the linguistic features of the word, its </a:t>
            </a:r>
            <a:r>
              <a:rPr lang="en-US" sz="2800" dirty="0">
                <a:solidFill>
                  <a:srgbClr val="0070C0"/>
                </a:solidFill>
              </a:rPr>
              <a:t>preceding word</a:t>
            </a:r>
            <a:r>
              <a:rPr lang="en-US" sz="2800" dirty="0"/>
              <a:t>, its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following word </a:t>
            </a:r>
            <a:r>
              <a:rPr lang="en-US" sz="2800" dirty="0"/>
              <a:t>and 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</a:rPr>
              <a:t>other aspects. </a:t>
            </a:r>
          </a:p>
          <a:p>
            <a:pPr marL="1483614" lvl="6" indent="-514350">
              <a:lnSpc>
                <a:spcPct val="120000"/>
              </a:lnSpc>
              <a:buFont typeface="Wingdings" pitchFamily="2" charset="2"/>
              <a:buChar char="§"/>
            </a:pPr>
            <a:r>
              <a:rPr lang="en-US" sz="2800" dirty="0"/>
              <a:t>For example, if the preceding word is an article then the word in question must be noun. This information is coded in the form of rules.</a:t>
            </a:r>
          </a:p>
          <a:p>
            <a:pPr marL="1017270" lvl="3" indent="-514350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en-US" sz="2800" b="1" dirty="0"/>
              <a:t>Leaving the correct tag for each word</a:t>
            </a:r>
            <a:r>
              <a:rPr lang="en-US" altLang="en-US" sz="2800" dirty="0"/>
              <a:t>.</a:t>
            </a:r>
          </a:p>
          <a:p>
            <a:pPr marL="514350" indent="-514350"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kumimoji="1" lang="en-GB" altLang="en-US" sz="2800" dirty="0"/>
              <a:t>	</a:t>
            </a:r>
          </a:p>
          <a:p>
            <a:pPr marL="514350" indent="-514350">
              <a:spcBef>
                <a:spcPct val="20000"/>
              </a:spcBef>
              <a:buClr>
                <a:schemeClr val="tx2"/>
              </a:buClr>
              <a:buSzPct val="75000"/>
              <a:buNone/>
            </a:pPr>
            <a:r>
              <a:rPr kumimoji="1" lang="en-GB" altLang="en-US" sz="2800" dirty="0"/>
              <a:t>		Example of rules: </a:t>
            </a:r>
            <a:r>
              <a:rPr kumimoji="1" lang="en-GB" altLang="en-US" sz="2800" b="1" dirty="0">
                <a:solidFill>
                  <a:srgbClr val="FF0000"/>
                </a:solidFill>
              </a:rPr>
              <a:t>NP </a:t>
            </a:r>
            <a:r>
              <a:rPr kumimoji="1" lang="en-GB" altLang="en-US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kumimoji="1" lang="en-GB" altLang="en-US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Det</a:t>
            </a:r>
            <a:r>
              <a:rPr kumimoji="1" lang="en-GB" altLang="en-US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 (</a:t>
            </a:r>
            <a:r>
              <a:rPr kumimoji="1" lang="en-GB" altLang="en-US" sz="28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Adj</a:t>
            </a:r>
            <a:r>
              <a:rPr kumimoji="1" lang="en-GB" altLang="en-US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*) N</a:t>
            </a:r>
            <a:r>
              <a:rPr kumimoji="1" lang="en-GB" altLang="en-US" sz="2800" dirty="0">
                <a:sym typeface="Wingdings" panose="05000000000000000000" pitchFamily="2" charset="2"/>
              </a:rPr>
              <a:t>		For example: </a:t>
            </a:r>
            <a:r>
              <a:rPr kumimoji="1" lang="en-GB" altLang="en-US" sz="2800" b="1" i="1" dirty="0">
                <a:solidFill>
                  <a:srgbClr val="FF0000"/>
                </a:solidFill>
                <a:sym typeface="Wingdings" panose="05000000000000000000" pitchFamily="2" charset="2"/>
              </a:rPr>
              <a:t>the clever student 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B6CB3-9A27-429D-90F3-2066E6B5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4DB6F-84FC-4CC3-8C05-38ADFCD3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2B3940EA-4AE9-0081-0AC9-838AAB19E6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EFD0AD-005A-FA9C-38E7-A6A66922DD8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30736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Rule-based tagging (two stage - architecture)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A0419F9-C9AE-4E98-A25F-066C7D3127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3411" y="1954923"/>
            <a:ext cx="9720072" cy="614855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+mn-lt"/>
              </a:rPr>
              <a:t>Rule based : Start with a dictionary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4A8B4AA-1772-4035-A3DE-E4EECFAAE1B4}"/>
              </a:ext>
            </a:extLst>
          </p:cNvPr>
          <p:cNvSpPr txBox="1">
            <a:spLocks noChangeArrowheads="1"/>
          </p:cNvSpPr>
          <p:nvPr/>
        </p:nvSpPr>
        <p:spPr>
          <a:xfrm>
            <a:off x="1579179" y="2707650"/>
            <a:ext cx="9612695" cy="3573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Times" panose="02020603050405020304" pitchFamily="18" charset="0"/>
              <a:buChar char="•"/>
            </a:pPr>
            <a:r>
              <a:rPr lang="en-US" altLang="en-US" dirty="0"/>
              <a:t>she:			PRP</a:t>
            </a:r>
          </a:p>
          <a:p>
            <a:pPr>
              <a:buFont typeface="Times" panose="02020603050405020304" pitchFamily="18" charset="0"/>
              <a:buChar char="•"/>
            </a:pPr>
            <a:r>
              <a:rPr lang="en-US" altLang="en-US" dirty="0"/>
              <a:t>promised:		VBN,VBD</a:t>
            </a:r>
          </a:p>
          <a:p>
            <a:pPr>
              <a:buFont typeface="Times" panose="02020603050405020304" pitchFamily="18" charset="0"/>
              <a:buChar char="•"/>
            </a:pPr>
            <a:r>
              <a:rPr lang="en-US" altLang="en-US" dirty="0"/>
              <a:t>to			TO</a:t>
            </a:r>
          </a:p>
          <a:p>
            <a:pPr>
              <a:buFont typeface="Times" panose="02020603050405020304" pitchFamily="18" charset="0"/>
              <a:buChar char="•"/>
            </a:pPr>
            <a:r>
              <a:rPr lang="en-US" altLang="en-US" dirty="0"/>
              <a:t>back:			VB, JJ, RB, NN	</a:t>
            </a:r>
          </a:p>
          <a:p>
            <a:pPr>
              <a:buFont typeface="Times" panose="02020603050405020304" pitchFamily="18" charset="0"/>
              <a:buChar char="•"/>
            </a:pPr>
            <a:r>
              <a:rPr lang="en-US" altLang="en-US" dirty="0"/>
              <a:t>the:			DT</a:t>
            </a:r>
          </a:p>
          <a:p>
            <a:pPr>
              <a:buFont typeface="Times" panose="02020603050405020304" pitchFamily="18" charset="0"/>
              <a:buChar char="•"/>
            </a:pPr>
            <a:r>
              <a:rPr lang="en-US" altLang="en-US" dirty="0"/>
              <a:t>bill:			NN, VB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F48D16-07C8-4B1C-BD23-5BE3B1C479A7}"/>
              </a:ext>
            </a:extLst>
          </p:cNvPr>
          <p:cNvSpPr/>
          <p:nvPr/>
        </p:nvSpPr>
        <p:spPr>
          <a:xfrm>
            <a:off x="826789" y="1273643"/>
            <a:ext cx="1951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rgbClr val="FFC000"/>
                </a:solidFill>
              </a:rPr>
              <a:t>Example 1: 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AB65B-5286-4279-8AC3-248B775B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6364102" y="3885223"/>
            <a:ext cx="348649" cy="409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21904" y="3621505"/>
            <a:ext cx="938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Adverb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483158" y="2911642"/>
            <a:ext cx="348649" cy="409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19537" y="2732690"/>
            <a:ext cx="184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Past tense verb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893611" y="2732690"/>
            <a:ext cx="589547" cy="6000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67932" y="2426186"/>
            <a:ext cx="2223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Past participle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934326" y="2732690"/>
            <a:ext cx="517358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46159" y="2353997"/>
            <a:ext cx="210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Personal pronoun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65205-F2D7-498E-B361-838E44FF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18" name="object 5">
            <a:extLst>
              <a:ext uri="{FF2B5EF4-FFF2-40B4-BE49-F238E27FC236}">
                <a16:creationId xmlns:a16="http://schemas.microsoft.com/office/drawing/2014/main" id="{1D2080FA-D2EC-D3B4-2EFB-3181E7383C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187B6A-82E8-94D6-9226-D0CF697BD63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9047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Rule-based tagging (two stage - architecture)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57FEFCA-AE4A-4AA5-B632-09B96B5AE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0041" y="1103586"/>
            <a:ext cx="7827580" cy="961697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+mn-lt"/>
              </a:rPr>
              <a:t>Write rules to eliminate tags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BBFDEDD-CE0C-4414-AA65-F87CEB664E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111" y="2045368"/>
            <a:ext cx="10920222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/>
              <a:t>R1: Eliminate VBN if VBD is an option when VBN|VBD follows </a:t>
            </a:r>
            <a:r>
              <a:rPr lang="en-US" altLang="en-US" sz="2400" b="1" dirty="0">
                <a:solidFill>
                  <a:srgbClr val="FFC000"/>
                </a:solidFill>
              </a:rPr>
              <a:t>“&lt;start&gt; PRP”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				NN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				RB	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	</a:t>
            </a:r>
            <a:r>
              <a:rPr lang="en-US" altLang="en-US" dirty="0">
                <a:latin typeface="ヒラギノ角ゴ Pro W3" pitchFamily="80" charset="-128"/>
              </a:rPr>
              <a:t>		         </a:t>
            </a:r>
            <a:r>
              <a:rPr lang="en-US" altLang="en-US" dirty="0"/>
              <a:t>JJ			VB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PRP	VBD		TO	VB		DT	NN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rgbClr val="FFC000"/>
                </a:solidFill>
              </a:rPr>
              <a:t>She	promised	to	back 		the	bill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74B675-DF6B-4896-BC15-3F4EB5460C23}"/>
              </a:ext>
            </a:extLst>
          </p:cNvPr>
          <p:cNvSpPr/>
          <p:nvPr/>
        </p:nvSpPr>
        <p:spPr>
          <a:xfrm>
            <a:off x="826789" y="1273643"/>
            <a:ext cx="1648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solidFill>
                  <a:srgbClr val="FFC000"/>
                </a:solidFill>
              </a:rPr>
              <a:t>Example 1: 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CFEB76-72E1-4DC0-9B03-D0795482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26C90-0A39-4539-B4A2-5AE43584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175975F1-5B6B-1DFF-817E-DC1A0178FD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67A090F-881A-44A7-85E4-0A1B3662BF9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72155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2. Stochastic tagging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7FAB9EB-0381-47CF-BF4F-4E76B49D6F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111" y="1316457"/>
            <a:ext cx="9159963" cy="510840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FF0000"/>
                </a:solidFill>
              </a:rPr>
              <a:t>tag encountered most frequently </a:t>
            </a:r>
            <a:r>
              <a:rPr lang="en-US" sz="2400" dirty="0"/>
              <a:t>with the word in the training set is the </a:t>
            </a:r>
            <a:r>
              <a:rPr lang="en-US" sz="2400" dirty="0">
                <a:solidFill>
                  <a:srgbClr val="FF0000"/>
                </a:solidFill>
              </a:rPr>
              <a:t>one assigned to an instance of that word.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sz="2400" b="1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b="1" dirty="0"/>
              <a:t>Word Frequency Approach</a:t>
            </a:r>
          </a:p>
          <a:p>
            <a:pPr lvl="2">
              <a:lnSpc>
                <a:spcPct val="100000"/>
              </a:lnSpc>
            </a:pPr>
            <a:r>
              <a:rPr lang="en-US" altLang="en-US" sz="2400" b="1" dirty="0">
                <a:solidFill>
                  <a:srgbClr val="FFC000"/>
                </a:solidFill>
              </a:rPr>
              <a:t>Create dictionary with each possible tag for a word</a:t>
            </a:r>
          </a:p>
          <a:p>
            <a:pPr lvl="2">
              <a:lnSpc>
                <a:spcPct val="100000"/>
              </a:lnSpc>
            </a:pPr>
            <a:r>
              <a:rPr lang="en-US" altLang="en-US" sz="2400" b="1" dirty="0">
                <a:solidFill>
                  <a:srgbClr val="FFC000"/>
                </a:solidFill>
              </a:rPr>
              <a:t>Take a tagged corpus</a:t>
            </a:r>
          </a:p>
          <a:p>
            <a:pPr lvl="2">
              <a:lnSpc>
                <a:spcPct val="100000"/>
              </a:lnSpc>
            </a:pPr>
            <a:r>
              <a:rPr lang="en-US" altLang="en-US" sz="2400" b="1" dirty="0">
                <a:solidFill>
                  <a:srgbClr val="FFC000"/>
                </a:solidFill>
              </a:rPr>
              <a:t>Count the number of times each tag occurs for that word.    </a:t>
            </a:r>
          </a:p>
          <a:p>
            <a:pPr>
              <a:lnSpc>
                <a:spcPct val="100000"/>
              </a:lnSpc>
            </a:pPr>
            <a:r>
              <a:rPr lang="en-US" altLang="en-US" sz="2400" b="1" dirty="0"/>
              <a:t>Given a new sentence</a:t>
            </a:r>
          </a:p>
          <a:p>
            <a:pPr lvl="1">
              <a:lnSpc>
                <a:spcPct val="100000"/>
              </a:lnSpc>
            </a:pPr>
            <a:r>
              <a:rPr lang="en-US" altLang="en-US" dirty="0"/>
              <a:t>For each word, pick the most frequent tag for that word using above.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The main issue with this approach is that it may yield inadmissible sequence of  tags.</a:t>
            </a:r>
            <a:endParaRPr lang="en-US" altLang="en-US" sz="24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7B0A-5124-46A9-8D84-42843A4B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F4FCE-846B-4CE8-B87C-582BFE0D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A85728BC-18F5-49D1-7A3A-1EB8D02064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8A8640-68D8-EC91-ABA2-573E99DA207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407593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2. Stochastic tagging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E639156-F2FC-44D4-954E-D04F065F61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780" y="1276492"/>
            <a:ext cx="8957009" cy="4351338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/>
              <a:t>Tag Sequence Probabilities – N-gram approach</a:t>
            </a:r>
          </a:p>
          <a:p>
            <a:pPr algn="just"/>
            <a:r>
              <a:rPr lang="en-US" altLang="en-US" sz="2400" b="1" dirty="0">
                <a:solidFill>
                  <a:srgbClr val="FFC000"/>
                </a:solidFill>
              </a:rPr>
              <a:t>Probabilities</a:t>
            </a:r>
            <a:r>
              <a:rPr lang="en-US" altLang="en-US" sz="2400" dirty="0"/>
              <a:t>: Tagging with lexical frequencies</a:t>
            </a:r>
          </a:p>
          <a:p>
            <a:pPr marL="0" indent="0" algn="just"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Sami is expected to </a:t>
            </a:r>
            <a:r>
              <a:rPr lang="en-US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race</a:t>
            </a:r>
            <a:r>
              <a:rPr lang="en-US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 tomorrow </a:t>
            </a:r>
            <a:r>
              <a:rPr lang="en-US" altLang="en-US" sz="2400" dirty="0"/>
              <a:t>	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altLang="en-US" dirty="0"/>
              <a:t>Sami</a:t>
            </a:r>
            <a:r>
              <a:rPr lang="en-US" altLang="en-US" dirty="0">
                <a:solidFill>
                  <a:srgbClr val="00B050"/>
                </a:solidFill>
              </a:rPr>
              <a:t>/NNP </a:t>
            </a:r>
            <a:r>
              <a:rPr lang="en-US" altLang="en-US" dirty="0"/>
              <a:t>is</a:t>
            </a:r>
            <a:r>
              <a:rPr lang="en-US" altLang="en-US" dirty="0">
                <a:solidFill>
                  <a:srgbClr val="00B050"/>
                </a:solidFill>
              </a:rPr>
              <a:t>/VBZ</a:t>
            </a:r>
            <a:r>
              <a:rPr lang="en-US" altLang="en-US" dirty="0"/>
              <a:t> expected</a:t>
            </a:r>
            <a:r>
              <a:rPr lang="en-US" altLang="en-US" dirty="0">
                <a:solidFill>
                  <a:srgbClr val="00B050"/>
                </a:solidFill>
              </a:rPr>
              <a:t>/VBN</a:t>
            </a:r>
            <a:r>
              <a:rPr lang="en-US" altLang="en-US" dirty="0"/>
              <a:t> to</a:t>
            </a:r>
            <a:r>
              <a:rPr lang="en-US" altLang="en-US" dirty="0">
                <a:solidFill>
                  <a:srgbClr val="00B050"/>
                </a:solidFill>
              </a:rPr>
              <a:t>/TO</a:t>
            </a:r>
            <a:r>
              <a:rPr lang="en-US" altLang="en-US" dirty="0"/>
              <a:t> </a:t>
            </a:r>
            <a:r>
              <a:rPr lang="en-US" altLang="en-US" b="1" dirty="0"/>
              <a:t>race</a:t>
            </a:r>
            <a:r>
              <a:rPr lang="en-US" altLang="en-US" dirty="0">
                <a:solidFill>
                  <a:srgbClr val="00B050"/>
                </a:solidFill>
              </a:rPr>
              <a:t>/VB</a:t>
            </a:r>
            <a:r>
              <a:rPr lang="en-US" altLang="en-US" dirty="0"/>
              <a:t> tomorrow</a:t>
            </a:r>
            <a:r>
              <a:rPr lang="en-US" altLang="en-US" dirty="0">
                <a:solidFill>
                  <a:srgbClr val="00B050"/>
                </a:solidFill>
              </a:rPr>
              <a:t>/NN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altLang="en-US" dirty="0"/>
              <a:t>People</a:t>
            </a:r>
            <a:r>
              <a:rPr lang="en-US" altLang="en-US" dirty="0">
                <a:solidFill>
                  <a:srgbClr val="00B050"/>
                </a:solidFill>
              </a:rPr>
              <a:t>/NNS</a:t>
            </a:r>
            <a:r>
              <a:rPr lang="en-US" altLang="en-US" dirty="0"/>
              <a:t> continue</a:t>
            </a:r>
            <a:r>
              <a:rPr lang="en-US" altLang="en-US" dirty="0">
                <a:solidFill>
                  <a:srgbClr val="00B050"/>
                </a:solidFill>
              </a:rPr>
              <a:t>/VBP</a:t>
            </a:r>
            <a:r>
              <a:rPr lang="en-US" altLang="en-US" dirty="0"/>
              <a:t> to</a:t>
            </a:r>
            <a:r>
              <a:rPr lang="en-US" altLang="en-US" dirty="0">
                <a:solidFill>
                  <a:srgbClr val="00B050"/>
                </a:solidFill>
              </a:rPr>
              <a:t>/TO</a:t>
            </a:r>
            <a:r>
              <a:rPr lang="en-US" altLang="en-US" dirty="0"/>
              <a:t> inquire</a:t>
            </a:r>
            <a:r>
              <a:rPr lang="en-US" altLang="en-US" dirty="0">
                <a:solidFill>
                  <a:srgbClr val="00B050"/>
                </a:solidFill>
              </a:rPr>
              <a:t>/VB</a:t>
            </a:r>
            <a:r>
              <a:rPr lang="en-US" altLang="en-US" dirty="0"/>
              <a:t> the</a:t>
            </a:r>
            <a:r>
              <a:rPr lang="en-US" altLang="en-US" dirty="0">
                <a:solidFill>
                  <a:srgbClr val="00B050"/>
                </a:solidFill>
              </a:rPr>
              <a:t>/DT</a:t>
            </a:r>
            <a:r>
              <a:rPr lang="en-US" altLang="en-US" dirty="0"/>
              <a:t> reason</a:t>
            </a:r>
            <a:r>
              <a:rPr lang="en-US" altLang="en-US" dirty="0">
                <a:solidFill>
                  <a:srgbClr val="00B050"/>
                </a:solidFill>
              </a:rPr>
              <a:t>/NN</a:t>
            </a:r>
            <a:r>
              <a:rPr lang="en-US" altLang="en-US" dirty="0"/>
              <a:t> for</a:t>
            </a:r>
            <a:r>
              <a:rPr lang="en-US" altLang="en-US" dirty="0">
                <a:solidFill>
                  <a:srgbClr val="00B050"/>
                </a:solidFill>
              </a:rPr>
              <a:t>/IN </a:t>
            </a:r>
            <a:r>
              <a:rPr lang="en-US" altLang="en-US" dirty="0"/>
              <a:t>the</a:t>
            </a:r>
            <a:r>
              <a:rPr lang="en-US" altLang="en-US" dirty="0">
                <a:solidFill>
                  <a:srgbClr val="00B050"/>
                </a:solidFill>
              </a:rPr>
              <a:t>/DT</a:t>
            </a:r>
            <a:r>
              <a:rPr lang="en-US" altLang="en-US" dirty="0"/>
              <a:t> </a:t>
            </a:r>
            <a:r>
              <a:rPr lang="en-US" altLang="en-US" b="1" dirty="0"/>
              <a:t>race</a:t>
            </a:r>
            <a:r>
              <a:rPr lang="en-US" altLang="en-US" dirty="0">
                <a:solidFill>
                  <a:srgbClr val="00B050"/>
                </a:solidFill>
              </a:rPr>
              <a:t>/NN</a:t>
            </a:r>
            <a:r>
              <a:rPr lang="en-US" altLang="en-US" dirty="0"/>
              <a:t> for</a:t>
            </a:r>
            <a:r>
              <a:rPr lang="en-US" altLang="en-US" dirty="0">
                <a:solidFill>
                  <a:srgbClr val="00B050"/>
                </a:solidFill>
              </a:rPr>
              <a:t>/IN</a:t>
            </a:r>
            <a:r>
              <a:rPr lang="en-US" altLang="en-US" dirty="0"/>
              <a:t> outer</a:t>
            </a:r>
            <a:r>
              <a:rPr lang="en-US" altLang="en-US" dirty="0">
                <a:solidFill>
                  <a:srgbClr val="00B050"/>
                </a:solidFill>
              </a:rPr>
              <a:t>/JJ</a:t>
            </a:r>
            <a:r>
              <a:rPr lang="en-US" altLang="en-US" dirty="0"/>
              <a:t> space</a:t>
            </a:r>
            <a:r>
              <a:rPr lang="en-US" altLang="en-US" dirty="0">
                <a:solidFill>
                  <a:srgbClr val="00B050"/>
                </a:solidFill>
              </a:rPr>
              <a:t>/NN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rgbClr val="FFC000"/>
                </a:solidFill>
              </a:rPr>
              <a:t>Problem:  Assign a </a:t>
            </a:r>
            <a:r>
              <a:rPr lang="en-US" altLang="en-US" sz="2400" b="1" dirty="0">
                <a:solidFill>
                  <a:srgbClr val="FF0000"/>
                </a:solidFill>
              </a:rPr>
              <a:t>tag</a:t>
            </a:r>
            <a:r>
              <a:rPr lang="en-US" altLang="en-US" sz="2400" b="1" dirty="0">
                <a:solidFill>
                  <a:srgbClr val="FFC000"/>
                </a:solidFill>
              </a:rPr>
              <a:t> to </a:t>
            </a:r>
            <a:r>
              <a:rPr lang="en-US" altLang="en-US" sz="2400" b="1" i="1" dirty="0">
                <a:solidFill>
                  <a:srgbClr val="FF0000"/>
                </a:solidFill>
              </a:rPr>
              <a:t>race</a:t>
            </a:r>
            <a:r>
              <a:rPr lang="en-US" altLang="en-US" sz="2400" b="1" dirty="0">
                <a:solidFill>
                  <a:srgbClr val="FFC000"/>
                </a:solidFill>
              </a:rPr>
              <a:t> given its  lexical frequency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dirty="0"/>
              <a:t>Solution: 	We choose the tag that has the greater likelihood</a:t>
            </a:r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en-US" dirty="0"/>
              <a:t>			P(</a:t>
            </a:r>
            <a:r>
              <a:rPr lang="en-US" altLang="en-US" dirty="0" err="1"/>
              <a:t>race|VB</a:t>
            </a:r>
            <a:r>
              <a:rPr lang="en-US" altLang="en-US" dirty="0"/>
              <a:t>) = Count(race is verb)/Total Count(race)</a:t>
            </a:r>
          </a:p>
          <a:p>
            <a:pPr lvl="1" algn="just">
              <a:buNone/>
            </a:pPr>
            <a:r>
              <a:rPr lang="en-US" altLang="en-US" dirty="0"/>
              <a:t>			P(</a:t>
            </a:r>
            <a:r>
              <a:rPr lang="en-US" altLang="en-US" dirty="0" err="1"/>
              <a:t>race|NN</a:t>
            </a:r>
            <a:r>
              <a:rPr lang="en-US" altLang="en-US" dirty="0"/>
              <a:t>)= Count(race is noun)/Total Count(race) 	</a:t>
            </a:r>
          </a:p>
          <a:p>
            <a:pPr algn="just"/>
            <a:r>
              <a:rPr lang="en-US" altLang="en-US" sz="2400" dirty="0"/>
              <a:t>In </a:t>
            </a:r>
            <a:r>
              <a:rPr lang="en-US" altLang="en-US" sz="2400" i="1" dirty="0"/>
              <a:t>Brown corpus</a:t>
            </a:r>
            <a:r>
              <a:rPr lang="en-US" altLang="en-US" sz="2400" dirty="0"/>
              <a:t>, P(</a:t>
            </a:r>
            <a:r>
              <a:rPr lang="en-US" altLang="en-US" sz="2400" dirty="0" err="1"/>
              <a:t>race|VB</a:t>
            </a:r>
            <a:r>
              <a:rPr lang="en-US" altLang="en-US" sz="2400" dirty="0"/>
              <a:t>) = 96/98 = .98 which is higher than P(</a:t>
            </a:r>
            <a:r>
              <a:rPr lang="en-US" altLang="en-US" sz="2400" dirty="0" err="1"/>
              <a:t>race|NN</a:t>
            </a:r>
            <a:r>
              <a:rPr lang="en-US" altLang="en-US" sz="2400" dirty="0"/>
              <a:t>)=0.2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17990-A354-4FA4-9AE6-76BA8C6A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E1173-1E1A-465D-8337-047CF148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97170F4C-1244-BA63-DF54-9705760F0C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B53620-2CC1-4851-B21D-F14FB37F9B0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844939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3. Transformation-based tagging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E059D84-6A08-4866-BC16-A773E6163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111" y="1520825"/>
            <a:ext cx="8811047" cy="43513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800" dirty="0"/>
              <a:t> </a:t>
            </a:r>
            <a:r>
              <a:rPr lang="en-US" sz="2400" dirty="0"/>
              <a:t>It is also called </a:t>
            </a:r>
            <a:r>
              <a:rPr lang="en-US" sz="2400" b="1" dirty="0"/>
              <a:t>Brill tagging.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400" dirty="0"/>
              <a:t> Brill tagging is an </a:t>
            </a:r>
            <a:r>
              <a:rPr lang="en-US" sz="2400" dirty="0">
                <a:solidFill>
                  <a:srgbClr val="FF0000"/>
                </a:solidFill>
              </a:rPr>
              <a:t>instance of the transformation-based learning (TBL).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400" dirty="0"/>
              <a:t>It draws the inspiration from both the </a:t>
            </a:r>
            <a:r>
              <a:rPr lang="en-US" sz="2400" dirty="0">
                <a:solidFill>
                  <a:srgbClr val="FF0000"/>
                </a:solidFill>
              </a:rPr>
              <a:t>rule-based and stochastic taggers.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400" dirty="0"/>
              <a:t> TBL, allows us to have linguistic knowledge in a readable form,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transforms </a:t>
            </a:r>
            <a:r>
              <a:rPr lang="en-US" sz="2400" dirty="0">
                <a:solidFill>
                  <a:srgbClr val="CC0066"/>
                </a:solidFill>
              </a:rPr>
              <a:t>one state to another state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by </a:t>
            </a:r>
            <a:r>
              <a:rPr lang="en-US" sz="2400" dirty="0">
                <a:solidFill>
                  <a:srgbClr val="CC0066"/>
                </a:solidFill>
              </a:rPr>
              <a:t>using transformation rules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FA5DC-147C-4985-9757-242761AA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90D6E-4089-4664-BC28-ED957CD2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22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93AAB0F1-E2CA-7D8B-019E-A88AE1A140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1FB279-E780-EEE0-505E-4BED82B0BC3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873938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Transformation-based tagging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B6C8ECB-0A23-4BD9-9A10-3FD02A1B4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111" y="1558925"/>
            <a:ext cx="8508518" cy="435133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b="1" dirty="0">
                <a:solidFill>
                  <a:srgbClr val="FFC000"/>
                </a:solidFill>
              </a:rPr>
              <a:t>Basic idea</a:t>
            </a:r>
            <a:r>
              <a:rPr lang="en-US" altLang="en-US" sz="2400" dirty="0"/>
              <a:t>: 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First use </a:t>
            </a:r>
            <a:r>
              <a:rPr lang="en-US" altLang="en-US" dirty="0">
                <a:solidFill>
                  <a:srgbClr val="C00000"/>
                </a:solidFill>
              </a:rPr>
              <a:t>frequency</a:t>
            </a:r>
            <a:r>
              <a:rPr lang="en-US" altLang="en-US" dirty="0"/>
              <a:t>, then revise it using </a:t>
            </a:r>
            <a:r>
              <a:rPr lang="en-US" altLang="en-US" dirty="0">
                <a:solidFill>
                  <a:srgbClr val="C00000"/>
                </a:solidFill>
              </a:rPr>
              <a:t>contextual rule</a:t>
            </a:r>
            <a:r>
              <a:rPr lang="en-US" alt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The </a:t>
            </a:r>
            <a:r>
              <a:rPr lang="en-US" sz="2400" b="1" dirty="0"/>
              <a:t>Brill tagger</a:t>
            </a:r>
            <a:r>
              <a:rPr lang="en-US" sz="2400" dirty="0"/>
              <a:t> was described and invented by Eric Brill in his 1993.                                         It can be summarized as an "</a:t>
            </a:r>
            <a:r>
              <a:rPr lang="en-US" sz="2400" b="1" dirty="0"/>
              <a:t>error-driven transformation-based tagger</a:t>
            </a:r>
            <a:r>
              <a:rPr lang="en-US" sz="2400" dirty="0"/>
              <a:t>". </a:t>
            </a:r>
          </a:p>
          <a:p>
            <a:pPr>
              <a:lnSpc>
                <a:spcPct val="110000"/>
              </a:lnSpc>
            </a:pP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The </a:t>
            </a:r>
            <a:r>
              <a:rPr lang="en-US" sz="2400" b="1" dirty="0"/>
              <a:t>Brill tagger</a:t>
            </a:r>
            <a:r>
              <a:rPr lang="en-US" sz="2400" dirty="0"/>
              <a:t> is:</a:t>
            </a:r>
          </a:p>
          <a:p>
            <a:pPr lvl="2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400" dirty="0"/>
              <a:t>a form of supervised learning, which aims to minimize error and</a:t>
            </a:r>
          </a:p>
          <a:p>
            <a:pPr lvl="2"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2400" b="1" dirty="0">
                <a:solidFill>
                  <a:srgbClr val="FFC000"/>
                </a:solidFill>
              </a:rPr>
              <a:t>a transformation-based process</a:t>
            </a:r>
            <a:r>
              <a:rPr lang="en-US" sz="2400" b="1" dirty="0"/>
              <a:t>, in the sense that </a:t>
            </a:r>
            <a:r>
              <a:rPr lang="en-US" sz="2400" b="1" dirty="0">
                <a:solidFill>
                  <a:srgbClr val="C00000"/>
                </a:solidFill>
              </a:rPr>
              <a:t>a tag is assigned to each word and changed using a set of predefined rules</a:t>
            </a:r>
            <a:r>
              <a:rPr lang="en-US" sz="2600" dirty="0"/>
              <a:t>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70F4F-B3B9-4046-84D4-DD4E1520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A81B-CAD1-48CF-B3D3-55C6A0BB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23</a:t>
            </a:fld>
            <a:endParaRPr lang="en-IN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4AEDBE38-2C48-C17D-A459-D302704213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C88EEA-2241-33F3-4738-1BF0CF90D9E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39123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Transformation-based tagging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FCB7479-F828-4E97-8452-5833472896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111" y="1682406"/>
            <a:ext cx="8640720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In the transformation process,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the word is known, it first </a:t>
            </a:r>
            <a:r>
              <a:rPr lang="en-US" dirty="0">
                <a:solidFill>
                  <a:srgbClr val="CC0066"/>
                </a:solidFill>
              </a:rPr>
              <a:t>assigns the most frequent tag (may be noun or determiner)</a:t>
            </a:r>
            <a:r>
              <a:rPr lang="en-US" dirty="0"/>
              <a:t> or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the word is unknown, it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naively assigns the tag "noun" </a:t>
            </a:r>
            <a:r>
              <a:rPr lang="en-US" dirty="0"/>
              <a:t>to it.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Applying over and over the hand written rules ( Rule based tagging), changing the incorrect tags, a quite high accuracy is achieved.</a:t>
            </a:r>
          </a:p>
          <a:p>
            <a:pPr eaLnBrk="1" hangingPunct="1">
              <a:lnSpc>
                <a:spcPct val="100000"/>
              </a:lnSpc>
            </a:pPr>
            <a:endParaRPr lang="en-US" alt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BFCBA1-F02A-4EF6-8C9B-AE634226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F3EC8-17F6-4BF7-B8E8-F62626DF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24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73EDBDA8-C8E4-F862-1098-FAC9C6DA2F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5EBF44-7252-8E7E-ABC6-78B650CCBCE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78370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Transformation-based tagging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27F708B-EC07-44FB-8C80-E093C3367C95}"/>
              </a:ext>
            </a:extLst>
          </p:cNvPr>
          <p:cNvSpPr txBox="1">
            <a:spLocks noChangeArrowheads="1"/>
          </p:cNvSpPr>
          <p:nvPr/>
        </p:nvSpPr>
        <p:spPr>
          <a:xfrm>
            <a:off x="512564" y="1316458"/>
            <a:ext cx="8751751" cy="5238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 algn="just"/>
            <a:r>
              <a:rPr lang="en-US" altLang="en-US" sz="2400" b="1" dirty="0"/>
              <a:t>Example:</a:t>
            </a:r>
          </a:p>
          <a:p>
            <a:pPr marL="914400" lvl="1" indent="-457200" algn="just"/>
            <a:r>
              <a:rPr lang="en-US" altLang="en-US" b="1" dirty="0"/>
              <a:t>It is expected to </a:t>
            </a:r>
            <a:r>
              <a:rPr lang="en-US" altLang="en-US" b="1" i="1" dirty="0"/>
              <a:t>race</a:t>
            </a:r>
            <a:r>
              <a:rPr lang="en-US" altLang="en-US" b="1" dirty="0"/>
              <a:t> tomorrow. The </a:t>
            </a:r>
            <a:r>
              <a:rPr lang="en-US" altLang="en-US" b="1" i="1" dirty="0"/>
              <a:t>race</a:t>
            </a:r>
            <a:r>
              <a:rPr lang="en-US" altLang="en-US" b="1" dirty="0"/>
              <a:t> for outer space.</a:t>
            </a:r>
          </a:p>
          <a:p>
            <a:pPr marL="533400" indent="-533400" algn="just"/>
            <a:r>
              <a:rPr lang="en-US" altLang="en-US" sz="2400" b="1" dirty="0">
                <a:solidFill>
                  <a:srgbClr val="FFC000"/>
                </a:solidFill>
              </a:rPr>
              <a:t>Tagging algorithm:</a:t>
            </a:r>
          </a:p>
          <a:p>
            <a:pPr marL="914400" lvl="1" indent="-457200" algn="just">
              <a:buFontTx/>
              <a:buAutoNum type="arabicPeriod"/>
            </a:pPr>
            <a:r>
              <a:rPr lang="en-US" altLang="en-US" dirty="0"/>
              <a:t>Tag all uses of “race” as NN (most likely tag in the Brown corpus)</a:t>
            </a:r>
          </a:p>
          <a:p>
            <a:pPr marL="1295400" lvl="2" indent="-381000" algn="just"/>
            <a:r>
              <a:rPr lang="en-US" altLang="en-US" sz="2400" dirty="0"/>
              <a:t>It is expected to race</a:t>
            </a:r>
            <a:r>
              <a:rPr lang="en-US" altLang="en-US" sz="2400" dirty="0">
                <a:solidFill>
                  <a:srgbClr val="FF0000"/>
                </a:solidFill>
              </a:rPr>
              <a:t>/NN</a:t>
            </a:r>
            <a:r>
              <a:rPr lang="en-US" altLang="en-US" sz="2400" dirty="0"/>
              <a:t> tomorrow</a:t>
            </a:r>
          </a:p>
          <a:p>
            <a:pPr marL="1295400" lvl="2" indent="-381000" algn="just"/>
            <a:r>
              <a:rPr lang="en-US" altLang="en-US" sz="2400" dirty="0"/>
              <a:t>the race</a:t>
            </a:r>
            <a:r>
              <a:rPr lang="en-US" altLang="en-US" sz="2400" dirty="0">
                <a:solidFill>
                  <a:srgbClr val="FF0000"/>
                </a:solidFill>
              </a:rPr>
              <a:t>/NN</a:t>
            </a:r>
            <a:r>
              <a:rPr lang="en-US" altLang="en-US" sz="2400" dirty="0"/>
              <a:t> for outer space</a:t>
            </a:r>
          </a:p>
          <a:p>
            <a:pPr marL="914400" lvl="1" indent="-457200" algn="just">
              <a:buFontTx/>
              <a:buAutoNum type="arabicPeriod"/>
            </a:pPr>
            <a:r>
              <a:rPr lang="en-US" altLang="en-US" dirty="0"/>
              <a:t>Use a </a:t>
            </a:r>
            <a:r>
              <a:rPr lang="en-US" altLang="en-US" i="1" dirty="0">
                <a:solidFill>
                  <a:srgbClr val="CC0066"/>
                </a:solidFill>
              </a:rPr>
              <a:t>transformation rule </a:t>
            </a:r>
            <a:r>
              <a:rPr lang="en-US" altLang="en-US" dirty="0"/>
              <a:t>to replace the tag NN with VB for all uses of “race” preceded by the tag TO:</a:t>
            </a:r>
          </a:p>
          <a:p>
            <a:pPr marL="1295400" lvl="2" indent="-381000" algn="just"/>
            <a:r>
              <a:rPr lang="en-US" altLang="en-US" sz="2400" dirty="0"/>
              <a:t>It is expected to race</a:t>
            </a:r>
            <a:r>
              <a:rPr lang="en-US" altLang="en-US" sz="2400" dirty="0">
                <a:solidFill>
                  <a:srgbClr val="FF0000"/>
                </a:solidFill>
              </a:rPr>
              <a:t>/VB</a:t>
            </a:r>
            <a:r>
              <a:rPr lang="en-US" altLang="en-US" sz="2400" dirty="0"/>
              <a:t> tomorrow</a:t>
            </a:r>
          </a:p>
          <a:p>
            <a:pPr marL="1295400" lvl="2" indent="-381000" algn="just"/>
            <a:r>
              <a:rPr lang="en-US" altLang="en-US" sz="2400" dirty="0"/>
              <a:t>the race</a:t>
            </a:r>
            <a:r>
              <a:rPr lang="en-US" altLang="en-US" sz="2400" dirty="0">
                <a:solidFill>
                  <a:srgbClr val="FF0000"/>
                </a:solidFill>
              </a:rPr>
              <a:t>/NN</a:t>
            </a:r>
            <a:r>
              <a:rPr lang="en-US" altLang="en-US" sz="2400" dirty="0"/>
              <a:t> for outer space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865A3FB-4748-465D-B6D5-0BB812906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B2D6E-285A-431E-BB34-3CD4DB21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25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BCE975A-49E1-2DA9-CF57-CE3EA893A4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FD63DE6-309C-7D1E-3F29-817D61E3F58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4229872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5CCC-487E-1039-D47C-1206B338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061A24-DD4D-1FE1-EE35-A8756701150C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C5C3170-A204-BA8F-7AFF-7416128E32CA}"/>
              </a:ext>
            </a:extLst>
          </p:cNvPr>
          <p:cNvSpPr/>
          <p:nvPr/>
        </p:nvSpPr>
        <p:spPr>
          <a:xfrm>
            <a:off x="3423390" y="3113533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C85AAF-3119-D073-78DA-07057FBC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 Courtesy:Prof C.O.Prakash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F4A6F-7037-6AF9-A0A8-1958C481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26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BEE8593-9E07-34DA-3C60-9891AEBF02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AC2A8F-87F5-DB6C-A764-E5B82BFE6C6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05682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B9836-F0B3-4329-4A85-EC2B2DC1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451579-A737-74B5-4784-6A45B99AA8F2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6D23CD2-8E52-1113-EA09-9C36BDEFCD33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0F37C-F56F-8836-5248-D2298218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27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D547FAA-B701-D2E8-4CA5-024E462239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E81B8F-AE4C-7C52-B6B9-FE644588161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24334-D8D9-92D1-B525-0EFE8C3B0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88" y="1360733"/>
            <a:ext cx="8957816" cy="460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22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A4AD1-3F76-DB95-F6D2-AE51D9E0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150D19-0F85-6724-AC2D-ACDB267C4435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5E8C0D0-8963-2E75-87E9-E8D96D2E0D97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A7945-2197-142E-1281-B6C282A1B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28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C853567C-B76B-2653-A226-C3E9390503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B635A0-1F30-74FF-5D85-6E661B5C0C5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F1FFC4-D5D7-12E9-5C8E-F6A7F47CB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6945"/>
            <a:ext cx="10502264" cy="442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03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EE3FA-9248-5B02-170C-F3932DCF4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B66D7F-64E2-3860-2CD1-A48C8716E3FF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3E43F16-82D9-FA65-586D-79F516FA2BCE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93EBA-C4AC-7467-391E-C0B13974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29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8AC693A-1D55-E8FA-D89A-D3E1073587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33C4E7-BA32-3785-32F5-CF95DA5D913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64C6CC-BA52-D6E5-E1A0-834B638FC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" y="1632203"/>
            <a:ext cx="119729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68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5166-374D-388F-45CE-A7A579D9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E1FD8A-C322-58A3-AA2D-15C8AF397C26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75B0918-6E3F-4F02-E9DF-6C0F3F3E2392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(Example)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D2C5D-D250-2305-E03B-31DBD3D9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30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404536C-1159-4ADE-F64F-A563A13E56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6D47D5-86C1-8003-9708-2515DDAEF6D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F42DF2-2BD2-B029-FCF8-AC877CED2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66" y="1420055"/>
            <a:ext cx="8655552" cy="518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58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FBF6-AA1A-36F4-4417-8ACC10AEC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C9F8F8-AA98-36C5-B29F-4DF604EC8229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91A9DF5-A7B6-17D2-BF70-6AC6B601FFB2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759BD-1E5D-57D8-275B-B5F9AD88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31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7B34333-A1EB-D5B3-FB2F-F41452F1C0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2C935C-3EC8-D7A7-3562-1867E2ED3AD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A393E1-1518-AB1B-46E3-513A24FC1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64" y="1462171"/>
            <a:ext cx="8123892" cy="494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098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27DB-4B3D-275F-3D95-8E5A0722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417BDB-4B40-10CE-E755-932D8986A5F8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4CEBF87-24A3-49E4-2213-2B7F6DE6EEA7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476E2-4F1F-2329-1F20-4DBC4A83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32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9039881-CB9F-035A-E7B7-788D589D38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2A0E5D-D14F-F7FA-E8B1-A303B2CA364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6F357C-C6FA-834B-0AC1-64E641082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80" y="1386903"/>
            <a:ext cx="7458075" cy="3905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A7F644-AE93-A9C3-6D28-AB3B629C7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28" y="1836849"/>
            <a:ext cx="5019675" cy="39338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23C2F4-336E-A36A-BBA3-93C22F6D6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784" y="5670586"/>
            <a:ext cx="4851216" cy="93517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EDD77A-60DB-7561-13A5-933DFCBC6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092549"/>
              </p:ext>
            </p:extLst>
          </p:nvPr>
        </p:nvGraphicFramePr>
        <p:xfrm>
          <a:off x="7102549" y="1816977"/>
          <a:ext cx="3695404" cy="4660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539">
                  <a:extLst>
                    <a:ext uri="{9D8B030D-6E8A-4147-A177-3AD203B41FA5}">
                      <a16:colId xmlns:a16="http://schemas.microsoft.com/office/drawing/2014/main" val="3710208783"/>
                    </a:ext>
                  </a:extLst>
                </a:gridCol>
                <a:gridCol w="850605">
                  <a:extLst>
                    <a:ext uri="{9D8B030D-6E8A-4147-A177-3AD203B41FA5}">
                      <a16:colId xmlns:a16="http://schemas.microsoft.com/office/drawing/2014/main" val="1007030422"/>
                    </a:ext>
                  </a:extLst>
                </a:gridCol>
                <a:gridCol w="634409">
                  <a:extLst>
                    <a:ext uri="{9D8B030D-6E8A-4147-A177-3AD203B41FA5}">
                      <a16:colId xmlns:a16="http://schemas.microsoft.com/office/drawing/2014/main" val="4197392170"/>
                    </a:ext>
                  </a:extLst>
                </a:gridCol>
                <a:gridCol w="923851">
                  <a:extLst>
                    <a:ext uri="{9D8B030D-6E8A-4147-A177-3AD203B41FA5}">
                      <a16:colId xmlns:a16="http://schemas.microsoft.com/office/drawing/2014/main" val="3699152439"/>
                    </a:ext>
                  </a:extLst>
                </a:gridCol>
              </a:tblGrid>
              <a:tr h="5178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9838"/>
                  </a:ext>
                </a:extLst>
              </a:tr>
              <a:tr h="5178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789172"/>
                  </a:ext>
                </a:extLst>
              </a:tr>
              <a:tr h="5178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46666"/>
                  </a:ext>
                </a:extLst>
              </a:tr>
              <a:tr h="5178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209611"/>
                  </a:ext>
                </a:extLst>
              </a:tr>
              <a:tr h="5178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299825"/>
                  </a:ext>
                </a:extLst>
              </a:tr>
              <a:tr h="5178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841999"/>
                  </a:ext>
                </a:extLst>
              </a:tr>
              <a:tr h="5178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433367"/>
                  </a:ext>
                </a:extLst>
              </a:tr>
              <a:tr h="51787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536696"/>
                  </a:ext>
                </a:extLst>
              </a:tr>
              <a:tr h="51787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39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024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5A11-EA25-4ADE-7C4E-B2B79C9C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45FD2B-E5D0-476D-D27F-021895E73E7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92CA3E8-4542-F0D3-39B9-9170A7D1AFB5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9A3B9-1841-C0AA-DEA8-871BF88A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33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BB63F5B-E991-AB94-33CB-51056AE6FD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D410111-870B-984E-927E-B9DB5808A36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D38BB7-D3F7-29F1-2B66-EAD454ECC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80" y="1386903"/>
            <a:ext cx="7458075" cy="390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10FB05-4EC3-F9F9-D602-C997039BE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2" y="1919012"/>
            <a:ext cx="2904460" cy="48169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248857-82DC-3F5F-6458-EB9667BC1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28" y="1836849"/>
            <a:ext cx="5019675" cy="39338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4FD7A7-CA82-C241-8757-84BAD3083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784" y="5670586"/>
            <a:ext cx="4851216" cy="9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3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2043-F95D-AC57-4C57-32CE2CE09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45E5FB-425E-7531-41DC-410EA0B632FF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1D7CBBC-9F56-6E23-8D28-2F123D9AA611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EA1A2-E56C-294E-F2E1-C20457D7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34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5FFD9F7-D1CC-FB5F-D19E-D3E349418F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5D89EA-923A-D21F-D181-CE7BD06131B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93B604-2881-E71D-D249-ECD76696F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41" y="1362792"/>
            <a:ext cx="8982075" cy="485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15E4D5-8B6D-0CCC-3174-8ECCF52DE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28" y="1836849"/>
            <a:ext cx="5019675" cy="3933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BBCDC3-A314-5AF0-0916-A66103025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181" y="5628204"/>
            <a:ext cx="4212819" cy="110632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98376C-0F7F-011F-98B1-E221D31B5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678174"/>
              </p:ext>
            </p:extLst>
          </p:nvPr>
        </p:nvGraphicFramePr>
        <p:xfrm>
          <a:off x="6528391" y="2082832"/>
          <a:ext cx="4709265" cy="427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853">
                  <a:extLst>
                    <a:ext uri="{9D8B030D-6E8A-4147-A177-3AD203B41FA5}">
                      <a16:colId xmlns:a16="http://schemas.microsoft.com/office/drawing/2014/main" val="2026268858"/>
                    </a:ext>
                  </a:extLst>
                </a:gridCol>
                <a:gridCol w="941853">
                  <a:extLst>
                    <a:ext uri="{9D8B030D-6E8A-4147-A177-3AD203B41FA5}">
                      <a16:colId xmlns:a16="http://schemas.microsoft.com/office/drawing/2014/main" val="1252947744"/>
                    </a:ext>
                  </a:extLst>
                </a:gridCol>
                <a:gridCol w="941853">
                  <a:extLst>
                    <a:ext uri="{9D8B030D-6E8A-4147-A177-3AD203B41FA5}">
                      <a16:colId xmlns:a16="http://schemas.microsoft.com/office/drawing/2014/main" val="1636176894"/>
                    </a:ext>
                  </a:extLst>
                </a:gridCol>
                <a:gridCol w="941853">
                  <a:extLst>
                    <a:ext uri="{9D8B030D-6E8A-4147-A177-3AD203B41FA5}">
                      <a16:colId xmlns:a16="http://schemas.microsoft.com/office/drawing/2014/main" val="1405288230"/>
                    </a:ext>
                  </a:extLst>
                </a:gridCol>
                <a:gridCol w="941853">
                  <a:extLst>
                    <a:ext uri="{9D8B030D-6E8A-4147-A177-3AD203B41FA5}">
                      <a16:colId xmlns:a16="http://schemas.microsoft.com/office/drawing/2014/main" val="3495192423"/>
                    </a:ext>
                  </a:extLst>
                </a:gridCol>
              </a:tblGrid>
              <a:tr h="85470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268354"/>
                  </a:ext>
                </a:extLst>
              </a:tr>
              <a:tr h="85470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314523"/>
                  </a:ext>
                </a:extLst>
              </a:tr>
              <a:tr h="85470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019879"/>
                  </a:ext>
                </a:extLst>
              </a:tr>
              <a:tr h="85470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1148"/>
                  </a:ext>
                </a:extLst>
              </a:tr>
              <a:tr h="85470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902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640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020A-C932-FE4E-9427-4890AA6E0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635821-04C1-1DAF-F083-33222923BC08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A2C4D4E-9006-4F6F-A61A-94D85C07B9DB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7C1F7-29A5-0359-98F8-9E06F70E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35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FD16E4B-12AF-F68B-FB44-3805EA3C6F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3889A1-8543-5C58-B14A-3776F455EAA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49079E-3EE4-6486-A5F3-68256957F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41" y="1362792"/>
            <a:ext cx="8982075" cy="485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7D6988-EF72-0E50-0BB0-0F275EEAA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28" y="1836849"/>
            <a:ext cx="5019675" cy="3933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00C250-5F6C-F921-CA2B-DC26E32A9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181" y="5628204"/>
            <a:ext cx="4212819" cy="11063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FE287B-F5F1-3902-5F96-12E726A35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176" y="1919012"/>
            <a:ext cx="4212820" cy="394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015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FB22-7117-7F05-1E78-4FB408AA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5C6EE4-6A42-3254-8699-204119933F36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0BB10F3-467C-F780-334A-86E320D06E7A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0A059-3230-E691-41EE-8398E66C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36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C8CBCBB-150F-2DF5-5D5E-C8381C2B3D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2957F5-8F99-612C-E2EE-B0586D3C9AE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216B67-ECA8-25B2-7FB6-230AAEB6C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1" y="1386903"/>
            <a:ext cx="4093829" cy="947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64115-F844-BD0F-1536-6F82A4B80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484" y="1632202"/>
            <a:ext cx="3237115" cy="2346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471C79-4576-B8EC-5B56-C5F4A2E94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0890" y="4106085"/>
            <a:ext cx="9131374" cy="212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84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A16F-937C-8A46-21FC-FDCC25A7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65D5E-5793-52C5-F9C0-F0EA22278362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2FFF6E5-AD3A-1E3D-D9DF-8AA504072BE9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711B9-1286-C173-3BCA-A8D475C0A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37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13EEDCE-FB4E-83D7-714D-046C5417A9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E5B1FB-AC5B-A562-56F7-4ADBFFDDADB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918487-3680-1044-2027-9958D437A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03" y="1632203"/>
            <a:ext cx="2219325" cy="2539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020E22-4FBC-7549-006C-4BD6DB727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234756"/>
            <a:ext cx="922020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06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4C012-E35A-EF74-8B95-833F850F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9B93D9-24DD-A3FA-CA41-5EF07C36DE5E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E8A21C0-9D87-CE4B-3D02-AE4286829B93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65C34-8418-E81D-E089-66415BF7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38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608CE55-9F11-B7B1-DA27-3A7429A439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3CFCAA-DCDD-2873-1CA8-61A894D9623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3DBEB-4C33-6BC5-ED69-C36A99102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03" y="1632203"/>
            <a:ext cx="2219325" cy="2539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90BE-77A4-54CC-B19E-5408DA710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234756"/>
            <a:ext cx="9220200" cy="542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BD2F4E-233C-B65A-8385-042B292AA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7164" y="3351657"/>
            <a:ext cx="65151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206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C070-4879-D7DD-0D59-68759B37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288D22-6BD0-57D1-7D9A-C0B2F26D6180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268B96D-A211-FBB3-1D42-59EE5C401F4D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CA42A-178C-335D-60EE-7C4CADAD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39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C17CB9E-AC57-211F-9862-CF55F83DB9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71CFE1-ED4D-32DE-9F8D-16BFE9B70D8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E2A7F6-03A0-C403-C0BA-09C6ADE02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7" y="1395137"/>
            <a:ext cx="3257550" cy="523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899BAB-943A-034D-169B-20E3B7F96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62" y="1997690"/>
            <a:ext cx="2342928" cy="18503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2FCDAE-B623-A038-A4F3-06BE40596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687" y="1436397"/>
            <a:ext cx="2581275" cy="24294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32604-06BA-446F-3A8C-D9E84DC0B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23998"/>
            <a:ext cx="4610986" cy="19540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587420-7D8A-5C25-1F83-B426467308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791" y="6039494"/>
            <a:ext cx="5890438" cy="69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7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31CE-032E-5270-E154-FA5D3896C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01646F-7A55-CC32-03E3-C72CFB5D93D6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8979312-81FE-6061-F39C-9E90A71AE61F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77E9E-8D2F-C881-5E3A-3D9C6726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40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913783B-5EE3-92C2-7976-5A694C22D2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13A85E-0DF3-D231-4F3D-476F88E2CEB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0F461A-626D-1B02-139D-884CB228D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58" y="1385570"/>
            <a:ext cx="2652713" cy="23705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49A51A-F8D8-878D-CA53-DC799C4E5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229" y="1385570"/>
            <a:ext cx="2814638" cy="25190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B2A0BA-5DC5-EEC6-021D-F1F9448DB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04579"/>
            <a:ext cx="5044263" cy="20164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3B7349-B52F-82C0-383F-E018A33EC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8503" y="5808491"/>
            <a:ext cx="6419628" cy="79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E9A4-40E8-B25D-65E2-6B1E9EAA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5A2D3A-FCC6-657D-6932-4856FB23E9CB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E408C98-4DED-4C2F-1EB9-616BC7A1C2E6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CBF62-9683-FA87-3FDE-A6A8442A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41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FB4D6869-475B-3F5C-B7C3-A0DCBC0C95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DFA9EB-85AA-AE3A-A73D-ADB2A8688F8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A110B-9147-3E6F-48CB-75B1EED4A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1" y="1528762"/>
            <a:ext cx="2327910" cy="2345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C16AB4-12F4-0BDB-36B0-1C27509DB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11" y="3874308"/>
            <a:ext cx="4879658" cy="1233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69B379-24DC-74A3-73B7-420D64661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532886"/>
            <a:ext cx="2080260" cy="5265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EF1DFE-0665-9FEA-7FEE-0F31C232F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910" y="5259938"/>
            <a:ext cx="3143250" cy="8566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07E8D4-5D01-FBBC-C4CF-53F87B43AA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175" y="1342092"/>
            <a:ext cx="2552700" cy="2584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B234CC-211A-BAC8-58D6-56524741EE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3093" y="3874309"/>
            <a:ext cx="3793897" cy="20006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EF2728-D837-3F46-F677-E5CE1417F8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5119" y="6103445"/>
            <a:ext cx="34766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915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F4B1B-4517-F7F3-3E2B-7A8DA2CF3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C9D75C-9E5F-0F8E-1AE8-C43019789C4B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D9396F2-8EA0-292D-B5BB-06BE0B19F76F}"/>
              </a:ext>
            </a:extLst>
          </p:cNvPr>
          <p:cNvSpPr/>
          <p:nvPr/>
        </p:nvSpPr>
        <p:spPr>
          <a:xfrm>
            <a:off x="393111" y="784349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POS Tag using HMM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C843F-D6B9-BEE4-96AE-A725CCC0E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42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81C89760-9A54-97BE-6FA6-30281521A7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C24B44-C952-2B1A-AD3C-80670A03B41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697E1-A9A4-C286-FE14-D54BCADA5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1919012"/>
            <a:ext cx="8058150" cy="571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49AC39-A012-01C0-13CB-C0151D80E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475" y="3318531"/>
            <a:ext cx="80867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43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25BC88E-8529-566C-DD47-10EA1283F89B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AE969A-041F-9E63-CCBA-F068589456BF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4D17D7-B73A-6E5A-9C9E-6055164AF060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79037C-064D-83D3-0BAD-9BE99C41F9BC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C645943-7909-C1C3-AADF-0DDAA620DCA8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A011CA-F398-B9FD-8353-E700C5921325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E6025830-B364-7880-174B-4213FABF4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49C34B-B598-8068-0843-09793B6DA77E}"/>
              </a:ext>
            </a:extLst>
          </p:cNvPr>
          <p:cNvSpPr/>
          <p:nvPr/>
        </p:nvSpPr>
        <p:spPr>
          <a:xfrm>
            <a:off x="4733925" y="3249039"/>
            <a:ext cx="67755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Named Entity Recognition(NER)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CB9A75-18F7-83F3-2C9D-1DA95C70579E}"/>
              </a:ext>
            </a:extLst>
          </p:cNvPr>
          <p:cNvSpPr/>
          <p:nvPr/>
        </p:nvSpPr>
        <p:spPr>
          <a:xfrm>
            <a:off x="3891935" y="2620916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Information Extraction (IE)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02C9DE-F52E-45D1-AA07-59B6F86C7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691835"/>
            <a:ext cx="8480258" cy="435133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Information extraction is </a:t>
            </a:r>
            <a:r>
              <a:rPr lang="en-IN" sz="2400" dirty="0"/>
              <a:t>an area of NLP that deals with </a:t>
            </a:r>
            <a:r>
              <a:rPr lang="en-IN" sz="2400" u="sng" dirty="0">
                <a:solidFill>
                  <a:srgbClr val="FF0000"/>
                </a:solidFill>
              </a:rPr>
              <a:t>finding factual information </a:t>
            </a:r>
            <a:r>
              <a:rPr lang="en-IN" sz="2400" dirty="0"/>
              <a:t>in free text.</a:t>
            </a:r>
          </a:p>
          <a:p>
            <a:pPr marL="514350" indent="-514350" algn="just">
              <a:buFont typeface="+mj-lt"/>
              <a:buAutoNum type="arabicPeriod"/>
            </a:pPr>
            <a:endParaRPr lang="en-IN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In formal terms, </a:t>
            </a:r>
            <a:r>
              <a:rPr lang="en-IN" sz="2400" i="1" u="sng" dirty="0">
                <a:solidFill>
                  <a:srgbClr val="FF0000"/>
                </a:solidFill>
              </a:rPr>
              <a:t>facts </a:t>
            </a:r>
            <a:r>
              <a:rPr lang="en-IN" sz="2400" u="sng" dirty="0">
                <a:solidFill>
                  <a:srgbClr val="FF0000"/>
                </a:solidFill>
              </a:rPr>
              <a:t>are structured objects, such as database records</a:t>
            </a:r>
            <a:r>
              <a:rPr lang="en-IN" sz="2400" dirty="0"/>
              <a:t>. Such a record may capture a real-world entity with its attributes, with its arguments or actors: who did what to whom, where and when. </a:t>
            </a:r>
          </a:p>
          <a:p>
            <a:pPr marL="514350" indent="-514350" algn="just">
              <a:buFont typeface="+mj-lt"/>
              <a:buAutoNum type="arabicPeriod"/>
            </a:pPr>
            <a:endParaRPr lang="en-IN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Information is </a:t>
            </a:r>
            <a:r>
              <a:rPr lang="en-IN" sz="2400" dirty="0">
                <a:solidFill>
                  <a:srgbClr val="FF0000"/>
                </a:solidFill>
              </a:rPr>
              <a:t>typically sought in a particular target setting</a:t>
            </a:r>
            <a:r>
              <a:rPr lang="en-IN" sz="2400" dirty="0"/>
              <a:t>, e.g. corporate mergers and acquisitions etc.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7C65E3-F1A2-4ABF-BDC6-D16B077F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44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74E3AB1D-81AA-6AE7-0DE7-8BA9B525B8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3F39B8-6D58-496D-E2D1-54FCC409D2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9877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An Example Information Extraction 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3B1197-79C9-4159-8927-3527ABA9B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11" y="1691835"/>
            <a:ext cx="8931363" cy="4351338"/>
          </a:xfrm>
        </p:spPr>
        <p:txBody>
          <a:bodyPr>
            <a:normAutofit/>
          </a:bodyPr>
          <a:lstStyle/>
          <a:p>
            <a:r>
              <a:rPr lang="en-IN" sz="2400" i="1" dirty="0">
                <a:solidFill>
                  <a:srgbClr val="00B050"/>
                </a:solidFill>
              </a:rPr>
              <a:t>Three bombs have exploded in north-eastern Nigeria, killing 25 people and wounding 12 in an attack carried out by Terrorist group. Authorities said the bombs exploded on Sunday afternoon in the city of Maiduguri</a:t>
            </a:r>
          </a:p>
          <a:p>
            <a:pPr marL="128016" lvl="1" indent="0" algn="ctr">
              <a:buNone/>
            </a:pPr>
            <a:r>
              <a:rPr lang="en-US" i="1" dirty="0"/>
              <a:t>:Information extracted : </a:t>
            </a:r>
          </a:p>
          <a:p>
            <a:pPr marL="128016" lvl="1" indent="0" algn="ctr">
              <a:buNone/>
            </a:pPr>
            <a:endParaRPr lang="en-IN" i="1" dirty="0"/>
          </a:p>
          <a:p>
            <a:r>
              <a:rPr lang="en-US" sz="2400" i="1" dirty="0"/>
              <a:t>TYPE : Crisis ; SUBTYPE : BOMBING ; LOCATION : Maiduguri</a:t>
            </a:r>
          </a:p>
          <a:p>
            <a:r>
              <a:rPr lang="en-US" sz="2400" i="1" dirty="0"/>
              <a:t>DEAD-COUNT : 25 ; INJURED-COINT : 12 ; </a:t>
            </a:r>
          </a:p>
          <a:p>
            <a:r>
              <a:rPr lang="en-US" sz="2400" i="1" dirty="0"/>
              <a:t>PERPETRATOR : Terrorist group;  WEAPONS : Bomb</a:t>
            </a:r>
          </a:p>
          <a:p>
            <a:r>
              <a:rPr lang="en-US" sz="2400" i="1" dirty="0"/>
              <a:t>TIME: Sunday afternoon </a:t>
            </a:r>
            <a:endParaRPr lang="en-IN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6F8407-2E42-42BB-A8D2-00B5903B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45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64AF2021-6100-AEC4-ACE2-EC59A044D5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AFBD222-1325-A654-CF9A-5C5780616B1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966230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Applications of IE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4B526B-7E31-46C9-A304-0958B0F24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7500"/>
            <a:ext cx="8636668" cy="435133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Provides dramatic </a:t>
            </a:r>
            <a:r>
              <a:rPr lang="en-IN" sz="2400" u="sng" dirty="0"/>
              <a:t>improvements in the conversion of the raw textual information into structured data </a:t>
            </a:r>
            <a:r>
              <a:rPr lang="en-IN" sz="2400" dirty="0"/>
              <a:t>and are increasingly being deployed in commercial applications. </a:t>
            </a:r>
          </a:p>
          <a:p>
            <a:pPr marL="514350" indent="-514350" algn="just">
              <a:buFont typeface="+mj-lt"/>
              <a:buAutoNum type="arabicPeriod"/>
            </a:pPr>
            <a:endParaRPr lang="en-IN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Can constitute a core component in many other NLP applications i.e. </a:t>
            </a:r>
            <a:r>
              <a:rPr lang="en-IN" sz="2400" u="sng" dirty="0"/>
              <a:t>Machine Translation</a:t>
            </a:r>
            <a:r>
              <a:rPr lang="en-IN" sz="2400" dirty="0"/>
              <a:t>, </a:t>
            </a:r>
            <a:r>
              <a:rPr lang="en-IN" sz="2400" u="sng" dirty="0"/>
              <a:t>Question Answering, Text Summarization, Opinion Mining </a:t>
            </a:r>
            <a:r>
              <a:rPr lang="en-IN" sz="2400" dirty="0"/>
              <a:t>etc.</a:t>
            </a:r>
            <a:endParaRPr lang="en-US" sz="2400" dirty="0"/>
          </a:p>
          <a:p>
            <a:endParaRPr lang="en-IN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7DDD3-5832-4307-B87B-D1A885E2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46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EECABD93-8A98-54ED-F6B2-1A69860454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4ACCB6-C4A5-5BEE-BDB2-E83D129D028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225712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Classic Task of IE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4B526B-7E31-46C9-A304-0958B0F24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7500"/>
            <a:ext cx="863666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u="sng" dirty="0"/>
              <a:t>Classic Tasks of IE</a:t>
            </a:r>
          </a:p>
          <a:p>
            <a:pPr marL="0" indent="0" algn="just">
              <a:buNone/>
            </a:pPr>
            <a:endParaRPr lang="en-US" sz="24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NER</a:t>
            </a:r>
          </a:p>
          <a:p>
            <a:pPr marL="457200" lvl="1" indent="0" algn="just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Co-reference Resolution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Relation Extraction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Event Extraction</a:t>
            </a:r>
            <a:endParaRPr lang="en-US" sz="2000" dirty="0"/>
          </a:p>
          <a:p>
            <a:endParaRPr lang="en-IN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7DDD3-5832-4307-B87B-D1A885E2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47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7D653CB-97A5-2548-D349-39B2000783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C07F38-AC48-A030-B689-4276521EA50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526546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Classic IE Tasks : Named Entity Recognition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BFFD99C-A353-4C33-BBDF-7837751F5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511300"/>
            <a:ext cx="9050254" cy="4351338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Addresses the </a:t>
            </a:r>
            <a:r>
              <a:rPr lang="en-IN" sz="2400" u="sng" dirty="0"/>
              <a:t>problem of the identification (detection) and classification </a:t>
            </a:r>
            <a:r>
              <a:rPr lang="en-IN" sz="2400" dirty="0"/>
              <a:t>of </a:t>
            </a:r>
            <a:r>
              <a:rPr lang="en-IN" sz="2400" u="sng" dirty="0"/>
              <a:t>predefined types of </a:t>
            </a:r>
            <a:r>
              <a:rPr lang="en-IN" sz="2400" b="1" u="sng" dirty="0">
                <a:solidFill>
                  <a:srgbClr val="FF0000"/>
                </a:solidFill>
              </a:rPr>
              <a:t>named </a:t>
            </a:r>
            <a:r>
              <a:rPr lang="en-IN" sz="2400" b="1" i="1" u="sng" dirty="0">
                <a:solidFill>
                  <a:srgbClr val="FF0000"/>
                </a:solidFill>
              </a:rPr>
              <a:t>entities</a:t>
            </a:r>
            <a:r>
              <a:rPr lang="en-IN" sz="2400" dirty="0"/>
              <a:t>, such as </a:t>
            </a:r>
            <a:r>
              <a:rPr lang="en-IN" sz="2400" b="1" dirty="0"/>
              <a:t>organizations</a:t>
            </a:r>
            <a:r>
              <a:rPr lang="en-IN" sz="2400" dirty="0"/>
              <a:t> (e.g., ‘</a:t>
            </a:r>
            <a:r>
              <a:rPr lang="en-IN" sz="2400" i="1" dirty="0"/>
              <a:t>World Health Organisation</a:t>
            </a:r>
            <a:r>
              <a:rPr lang="en-IN" sz="2400" dirty="0"/>
              <a:t>’), </a:t>
            </a:r>
            <a:r>
              <a:rPr lang="en-IN" sz="2400" b="1" dirty="0"/>
              <a:t>persons</a:t>
            </a:r>
            <a:r>
              <a:rPr lang="en-IN" sz="2400" dirty="0"/>
              <a:t> (e.g., ‘</a:t>
            </a:r>
            <a:r>
              <a:rPr lang="en-IN" sz="2400" i="1" dirty="0"/>
              <a:t>Muammar Kaddafi</a:t>
            </a:r>
            <a:r>
              <a:rPr lang="en-IN" sz="2400" dirty="0"/>
              <a:t>’), </a:t>
            </a:r>
            <a:r>
              <a:rPr lang="en-IN" sz="2400" b="1" dirty="0"/>
              <a:t>place names </a:t>
            </a:r>
            <a:r>
              <a:rPr lang="en-IN" sz="2400" dirty="0"/>
              <a:t>(e.g., ‘</a:t>
            </a:r>
            <a:r>
              <a:rPr lang="en-IN" sz="2400" i="1" dirty="0"/>
              <a:t>the Baltic Sea</a:t>
            </a:r>
            <a:r>
              <a:rPr lang="en-IN" sz="2400" dirty="0"/>
              <a:t>’), </a:t>
            </a:r>
            <a:r>
              <a:rPr lang="en-IN" sz="2400" b="1" dirty="0"/>
              <a:t>temporal expressions </a:t>
            </a:r>
            <a:r>
              <a:rPr lang="en-IN" sz="2400" dirty="0"/>
              <a:t>(e.g., ‘</a:t>
            </a:r>
            <a:r>
              <a:rPr lang="en-IN" sz="2400" i="1" dirty="0"/>
              <a:t>1 September 2011</a:t>
            </a:r>
            <a:r>
              <a:rPr lang="en-IN" sz="2400" dirty="0"/>
              <a:t>’), </a:t>
            </a:r>
            <a:r>
              <a:rPr lang="en-IN" sz="2400" b="1" dirty="0"/>
              <a:t>numerical and currency expressions</a:t>
            </a:r>
            <a:r>
              <a:rPr lang="en-IN" sz="2400" dirty="0"/>
              <a:t> (e.g., ‘</a:t>
            </a:r>
            <a:r>
              <a:rPr lang="en-IN" sz="2400" i="1" dirty="0"/>
              <a:t>20 Million Euros</a:t>
            </a:r>
            <a:r>
              <a:rPr lang="en-IN" sz="2400" dirty="0"/>
              <a:t>’) etc.</a:t>
            </a:r>
          </a:p>
          <a:p>
            <a:pPr marL="514350" indent="-514350" algn="just">
              <a:buFont typeface="+mj-lt"/>
              <a:buAutoNum type="arabicPeriod"/>
            </a:pPr>
            <a:endParaRPr lang="en-IN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NER task </a:t>
            </a:r>
            <a:r>
              <a:rPr lang="en-IN" sz="2400" u="sng" dirty="0"/>
              <a:t>can additionally include extracting </a:t>
            </a:r>
            <a:r>
              <a:rPr lang="en-IN" sz="2400" u="sng" dirty="0">
                <a:solidFill>
                  <a:srgbClr val="FF0000"/>
                </a:solidFill>
              </a:rPr>
              <a:t>descriptive information </a:t>
            </a:r>
            <a:r>
              <a:rPr lang="en-IN" sz="2400" u="sng" dirty="0"/>
              <a:t>from the text about the detected entities</a:t>
            </a:r>
            <a:r>
              <a:rPr lang="en-IN" sz="2400" dirty="0"/>
              <a:t> through filling of a small-scale template. </a:t>
            </a:r>
          </a:p>
          <a:p>
            <a:pPr marL="0" indent="0" algn="just">
              <a:buNone/>
            </a:pPr>
            <a:r>
              <a:rPr lang="en-IN" sz="2400" dirty="0"/>
              <a:t>       For example, in the case of </a:t>
            </a:r>
            <a:r>
              <a:rPr lang="en-IN" sz="2400" dirty="0">
                <a:solidFill>
                  <a:srgbClr val="FF0000"/>
                </a:solidFill>
              </a:rPr>
              <a:t>persons</a:t>
            </a:r>
            <a:r>
              <a:rPr lang="en-IN" sz="2400" dirty="0"/>
              <a:t>, it may include extracting the      	</a:t>
            </a:r>
            <a:r>
              <a:rPr lang="en-IN" sz="2400" dirty="0">
                <a:solidFill>
                  <a:srgbClr val="7030A0"/>
                </a:solidFill>
              </a:rPr>
              <a:t>title, position, nationality, sex, and other attributes of the 	person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579C9-5D24-4052-8A4D-09687BC6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48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87BE864-E78D-6D5C-A5F5-393898FC50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BAF7CD-14EF-0E4B-8866-51D59B2C095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831464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Classic IE Tasks: Co-reference Resolution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554358-9B9D-4E39-9A79-C6058D6E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539875"/>
            <a:ext cx="9029199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600" dirty="0"/>
              <a:t>It requires the identification of </a:t>
            </a:r>
            <a:r>
              <a:rPr lang="en-IN" sz="2600" u="sng" dirty="0"/>
              <a:t>multiple (co-referring) mentions of the same entity</a:t>
            </a:r>
            <a:r>
              <a:rPr lang="en-IN" sz="2600" dirty="0"/>
              <a:t> in the text.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Entity mention can be : </a:t>
            </a:r>
          </a:p>
          <a:p>
            <a:pPr lvl="2"/>
            <a:r>
              <a:rPr lang="en-IN" sz="2600" u="sng" dirty="0">
                <a:solidFill>
                  <a:srgbClr val="C00000"/>
                </a:solidFill>
              </a:rPr>
              <a:t>Named</a:t>
            </a:r>
            <a:r>
              <a:rPr lang="en-IN" sz="2600" dirty="0"/>
              <a:t>, in case an entity is referred to </a:t>
            </a:r>
            <a:r>
              <a:rPr lang="en-IN" sz="2600" u="sng" dirty="0"/>
              <a:t>by name</a:t>
            </a:r>
            <a:r>
              <a:rPr lang="en-IN" sz="2600" dirty="0"/>
              <a:t>; e.g., ‘</a:t>
            </a:r>
            <a:r>
              <a:rPr lang="en-IN" sz="2600" i="1" dirty="0"/>
              <a:t>General Electric</a:t>
            </a:r>
            <a:r>
              <a:rPr lang="en-IN" sz="2600" dirty="0"/>
              <a:t>’ and ‘</a:t>
            </a:r>
            <a:r>
              <a:rPr lang="en-IN" sz="2600" b="1" i="1" dirty="0">
                <a:solidFill>
                  <a:srgbClr val="FF0000"/>
                </a:solidFill>
              </a:rPr>
              <a:t>GE</a:t>
            </a:r>
            <a:r>
              <a:rPr lang="en-IN" sz="2600" b="1" dirty="0">
                <a:solidFill>
                  <a:srgbClr val="FF0000"/>
                </a:solidFill>
              </a:rPr>
              <a:t>’</a:t>
            </a:r>
            <a:r>
              <a:rPr lang="en-IN" sz="2600" dirty="0"/>
              <a:t>. </a:t>
            </a:r>
          </a:p>
          <a:p>
            <a:pPr lvl="2"/>
            <a:r>
              <a:rPr lang="en-IN" sz="2600" u="sng" dirty="0">
                <a:solidFill>
                  <a:srgbClr val="C00000"/>
                </a:solidFill>
              </a:rPr>
              <a:t>Pronominal</a:t>
            </a:r>
            <a:r>
              <a:rPr lang="en-IN" sz="2600" dirty="0"/>
              <a:t>, in case an entity is referred to </a:t>
            </a:r>
            <a:r>
              <a:rPr lang="en-IN" sz="2600" u="sng" dirty="0"/>
              <a:t>with a pronoun</a:t>
            </a:r>
            <a:r>
              <a:rPr lang="en-IN" sz="2600" dirty="0"/>
              <a:t>; e.g., in ‘</a:t>
            </a:r>
            <a:r>
              <a:rPr lang="en-IN" sz="2600" i="1" dirty="0"/>
              <a:t>John bought food. But he forgot to buy drinks.</a:t>
            </a:r>
            <a:r>
              <a:rPr lang="en-IN" sz="2600" dirty="0"/>
              <a:t>’, the pronoun </a:t>
            </a:r>
            <a:r>
              <a:rPr lang="en-IN" sz="2600" b="1" i="1" u="sng" dirty="0">
                <a:solidFill>
                  <a:srgbClr val="FF0000"/>
                </a:solidFill>
              </a:rPr>
              <a:t>he </a:t>
            </a:r>
            <a:r>
              <a:rPr lang="en-IN" sz="2600" b="1" dirty="0">
                <a:solidFill>
                  <a:srgbClr val="FF0000"/>
                </a:solidFill>
              </a:rPr>
              <a:t>refers to </a:t>
            </a:r>
            <a:r>
              <a:rPr lang="en-IN" sz="2600" b="1" i="1" u="sng" dirty="0">
                <a:solidFill>
                  <a:srgbClr val="FF0000"/>
                </a:solidFill>
              </a:rPr>
              <a:t>John. </a:t>
            </a:r>
            <a:r>
              <a:rPr lang="en-IN" sz="2600" b="1" i="1" u="sng" dirty="0"/>
              <a:t>Here he is the named entity and its </a:t>
            </a:r>
            <a:r>
              <a:rPr lang="en-IN" sz="2600" b="1" i="1" u="sng" dirty="0">
                <a:highlight>
                  <a:srgbClr val="FFFF00"/>
                </a:highlight>
              </a:rPr>
              <a:t>pronominal.</a:t>
            </a:r>
          </a:p>
          <a:p>
            <a:pPr lvl="2"/>
            <a:r>
              <a:rPr lang="en-IN" sz="2600" u="sng" dirty="0">
                <a:solidFill>
                  <a:srgbClr val="C00000"/>
                </a:solidFill>
              </a:rPr>
              <a:t>Nominal</a:t>
            </a:r>
            <a:r>
              <a:rPr lang="en-IN" sz="2600" dirty="0"/>
              <a:t>, in case an entity is referred to with </a:t>
            </a:r>
            <a:r>
              <a:rPr lang="en-IN" sz="2600" u="sng" dirty="0"/>
              <a:t>a nominal phrase</a:t>
            </a:r>
            <a:r>
              <a:rPr lang="en-IN" sz="2600" dirty="0"/>
              <a:t>; e.g., in ‘</a:t>
            </a:r>
            <a:r>
              <a:rPr lang="en-IN" sz="2600" i="1" dirty="0"/>
              <a:t>Microsoft revealed its earnings. The company also unveiled future plans.</a:t>
            </a:r>
            <a:r>
              <a:rPr lang="en-IN" sz="2600" dirty="0"/>
              <a:t>’ the definite noun phrase </a:t>
            </a:r>
            <a:r>
              <a:rPr lang="en-IN" sz="2600" b="1" i="1" u="sng" dirty="0">
                <a:solidFill>
                  <a:srgbClr val="FF0000"/>
                </a:solidFill>
                <a:highlight>
                  <a:srgbClr val="FFFF00"/>
                </a:highlight>
              </a:rPr>
              <a:t>The company</a:t>
            </a:r>
            <a:r>
              <a:rPr lang="en-IN" sz="2600" b="1" i="1" u="sng" dirty="0">
                <a:solidFill>
                  <a:srgbClr val="FF0000"/>
                </a:solidFill>
              </a:rPr>
              <a:t> </a:t>
            </a:r>
            <a:r>
              <a:rPr lang="en-IN" sz="2600" b="1" dirty="0">
                <a:solidFill>
                  <a:srgbClr val="FF0000"/>
                </a:solidFill>
              </a:rPr>
              <a:t>is a nominal phrase that refers to </a:t>
            </a:r>
            <a:r>
              <a:rPr lang="en-IN" sz="2600" b="1" i="1" u="sng" dirty="0">
                <a:solidFill>
                  <a:srgbClr val="FF0000"/>
                </a:solidFill>
              </a:rPr>
              <a:t>Microsoft. </a:t>
            </a:r>
          </a:p>
          <a:p>
            <a:pPr lvl="2"/>
            <a:r>
              <a:rPr lang="en-IN" sz="2600" u="sng" dirty="0">
                <a:solidFill>
                  <a:srgbClr val="C00000"/>
                </a:solidFill>
              </a:rPr>
              <a:t>Implicit</a:t>
            </a:r>
            <a:r>
              <a:rPr lang="en-IN" sz="2600" dirty="0"/>
              <a:t>, as in case of using zero-anaphora. Prime minister  has visited the place of disaster. </a:t>
            </a:r>
            <a:r>
              <a:rPr lang="en-IN" sz="2600" b="1" dirty="0">
                <a:solidFill>
                  <a:srgbClr val="FF0000"/>
                </a:solidFill>
              </a:rPr>
              <a:t>[He] flew over with a helicopter</a:t>
            </a:r>
            <a:endParaRPr lang="en-IN" sz="2600" b="1" i="1" dirty="0">
              <a:solidFill>
                <a:srgbClr val="FF0000"/>
              </a:solidFill>
            </a:endParaRPr>
          </a:p>
          <a:p>
            <a:pPr lvl="1"/>
            <a:endParaRPr lang="en-IN" sz="5000" dirty="0"/>
          </a:p>
          <a:p>
            <a:pPr marL="688086" lvl="1" indent="-514350"/>
            <a:endParaRPr lang="en-IN" sz="5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15813-A747-4799-9108-91AC5A81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49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EF3E561-5862-AF09-F33F-ED1528C5282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590CCC-A955-7167-15AA-0291F80FA57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7398610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Classic IE Tasks: Relation Extraction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861961-6997-4EA7-8DF7-BA996413B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90021" cy="4351338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Relation Extraction is the task of detecting and classifying predefined </a:t>
            </a:r>
            <a:r>
              <a:rPr lang="en-IN" sz="2400" u="sng" dirty="0">
                <a:solidFill>
                  <a:srgbClr val="C00000"/>
                </a:solidFill>
              </a:rPr>
              <a:t>relationships between entities </a:t>
            </a:r>
            <a:r>
              <a:rPr lang="en-IN" sz="2400" dirty="0"/>
              <a:t>identified in text.</a:t>
            </a:r>
          </a:p>
          <a:p>
            <a:pPr marL="514350" indent="-514350" algn="just">
              <a:buFont typeface="+mj-lt"/>
              <a:buAutoNum type="arabicPeriod"/>
            </a:pPr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	Example: </a:t>
            </a:r>
            <a:r>
              <a:rPr lang="en-IN" sz="2400" dirty="0" err="1"/>
              <a:t>EmployeeOf</a:t>
            </a:r>
            <a:r>
              <a:rPr lang="en-IN" sz="2400" dirty="0"/>
              <a:t> (Steve Jobs, Apple): a relation 	between a person and an organisation, extracted from 	‘</a:t>
            </a:r>
            <a:r>
              <a:rPr lang="en-IN" sz="2400" i="1" dirty="0"/>
              <a:t>Steve Jobs works for Apple</a:t>
            </a:r>
            <a:r>
              <a:rPr lang="en-IN" sz="2400" dirty="0"/>
              <a:t>’</a:t>
            </a:r>
          </a:p>
          <a:p>
            <a:pPr marL="514350" indent="-514350" algn="just">
              <a:buFont typeface="+mj-lt"/>
              <a:buAutoNum type="arabicPeriod"/>
            </a:pPr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	</a:t>
            </a:r>
            <a:r>
              <a:rPr lang="en-IN" sz="2400" dirty="0" err="1"/>
              <a:t>LocatedIn</a:t>
            </a:r>
            <a:r>
              <a:rPr lang="en-IN" sz="2400" dirty="0"/>
              <a:t> (Smith, New York): a relation between a person 	and location, extracted from ‘</a:t>
            </a:r>
            <a:r>
              <a:rPr lang="en-IN" sz="2400" i="1" dirty="0"/>
              <a:t>Mr. Smith gave a talk at the 	conference in New York</a:t>
            </a:r>
            <a:r>
              <a:rPr lang="en-IN" sz="2400" dirty="0"/>
              <a:t>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FBB43B-2210-4EDF-AF4B-AFB4C266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50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9DDE7B2-A51A-8BAC-AEB6-89845C2DF0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FCE991-C85B-1967-BF60-6FE66994695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9972307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Classic IE Tasks : Event Extraction 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F315A6-4541-477B-AF51-D4FB75892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29863" cy="435133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Event Extraction refers to the task of </a:t>
            </a:r>
            <a:r>
              <a:rPr lang="en-IN" sz="2400" u="sng" dirty="0"/>
              <a:t>identifying events in free text and deriving detailed and structured information about them</a:t>
            </a:r>
            <a:r>
              <a:rPr lang="en-IN" sz="2400" dirty="0"/>
              <a:t>, ideally identifying </a:t>
            </a:r>
            <a:r>
              <a:rPr lang="en-IN" sz="2400" i="1" dirty="0">
                <a:solidFill>
                  <a:srgbClr val="FF0000"/>
                </a:solidFill>
              </a:rPr>
              <a:t>who did what to whom, when, where, through what methods (instruments) and why.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Usually, event extraction involves extraction of </a:t>
            </a:r>
            <a:r>
              <a:rPr lang="en-IN" sz="2400" dirty="0">
                <a:solidFill>
                  <a:srgbClr val="C00000"/>
                </a:solidFill>
              </a:rPr>
              <a:t>several entities and relationships between them.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/>
              <a:t>Example: The extraction of information on </a:t>
            </a:r>
            <a:r>
              <a:rPr lang="en-IN" sz="2400" u="sng" dirty="0"/>
              <a:t>new joint ventures</a:t>
            </a:r>
            <a:r>
              <a:rPr lang="en-IN" sz="2400" dirty="0"/>
              <a:t>, where </a:t>
            </a:r>
            <a:r>
              <a:rPr lang="en-IN" sz="2400" u="sng" dirty="0"/>
              <a:t>the aim is to identify the partners, products, profits and capitalization of the joint venture</a:t>
            </a:r>
            <a:r>
              <a:rPr lang="en-IN" sz="2400" dirty="0"/>
              <a:t>. 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EE is considered to be </a:t>
            </a:r>
            <a:r>
              <a:rPr lang="en-IN" sz="2400" u="sng" dirty="0">
                <a:solidFill>
                  <a:srgbClr val="7030A0"/>
                </a:solidFill>
              </a:rPr>
              <a:t>the hardest of the four IE tasks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BCDAF2-98A9-46EA-8A4F-655D1D85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51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9020185-C544-D75A-DE18-31AE510A2B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014FDD4-AAAE-AEBE-8E77-F737F2C937EC}"/>
                  </a:ext>
                </a:extLst>
              </p14:cNvPr>
              <p14:cNvContentPartPr/>
              <p14:nvPr/>
            </p14:nvContentPartPr>
            <p14:xfrm>
              <a:off x="6806520" y="2858400"/>
              <a:ext cx="1814760" cy="820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014FDD4-AAAE-AEBE-8E77-F737F2C937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97160" y="2849040"/>
                <a:ext cx="1833480" cy="8388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A19DB51-A2A5-5F36-0A9C-17BD80B3F56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389634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0" y="814827"/>
            <a:ext cx="78986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What is Named Entity and Named Entity Recognition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59DF2ED-4C27-4712-8D19-CAA18FD18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1557" y="1420647"/>
            <a:ext cx="7688768" cy="5341100"/>
          </a:xfrm>
        </p:spPr>
        <p:txBody>
          <a:bodyPr>
            <a:normAutofit/>
          </a:bodyPr>
          <a:lstStyle/>
          <a:p>
            <a:r>
              <a:rPr lang="en-US" sz="2400" dirty="0"/>
              <a:t>A named entity is anything that can be referred to with a proper name: </a:t>
            </a:r>
            <a:r>
              <a:rPr lang="en-US" sz="2400" dirty="0">
                <a:solidFill>
                  <a:srgbClr val="C00000"/>
                </a:solidFill>
              </a:rPr>
              <a:t>a person, a location, an organization. 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The task of named entity recognition (NER) is to find </a:t>
            </a:r>
            <a:r>
              <a:rPr lang="en-US" sz="2400" dirty="0">
                <a:solidFill>
                  <a:srgbClr val="C00000"/>
                </a:solidFill>
              </a:rPr>
              <a:t>spans of text</a:t>
            </a:r>
            <a:r>
              <a:rPr lang="en-US" sz="2400" dirty="0"/>
              <a:t> that constitute </a:t>
            </a:r>
            <a:r>
              <a:rPr lang="en-US" sz="2400" dirty="0">
                <a:solidFill>
                  <a:srgbClr val="7030A0"/>
                </a:solidFill>
              </a:rPr>
              <a:t>proper names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7030A0"/>
                </a:solidFill>
              </a:rPr>
              <a:t>tag</a:t>
            </a:r>
            <a:r>
              <a:rPr lang="en-US" sz="2400" dirty="0"/>
              <a:t> the type of named entity recognition NER the entity. </a:t>
            </a:r>
          </a:p>
          <a:p>
            <a:endParaRPr lang="en-US" sz="2400" dirty="0"/>
          </a:p>
          <a:p>
            <a:r>
              <a:rPr lang="en-US" sz="2400" dirty="0"/>
              <a:t>Four entity tags are most common: </a:t>
            </a:r>
          </a:p>
          <a:p>
            <a:pPr lvl="1"/>
            <a:r>
              <a:rPr lang="en-US" dirty="0"/>
              <a:t>PER (person), </a:t>
            </a:r>
          </a:p>
          <a:p>
            <a:pPr lvl="1"/>
            <a:r>
              <a:rPr lang="en-US" dirty="0"/>
              <a:t>LOC (location), </a:t>
            </a:r>
          </a:p>
          <a:p>
            <a:pPr lvl="1"/>
            <a:r>
              <a:rPr lang="en-US" dirty="0"/>
              <a:t>ORG (organization), or </a:t>
            </a:r>
          </a:p>
          <a:p>
            <a:pPr lvl="1"/>
            <a:r>
              <a:rPr lang="en-US" dirty="0"/>
              <a:t>GPE (geo-political entity). </a:t>
            </a:r>
          </a:p>
          <a:p>
            <a:pPr lvl="1"/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IN" altLang="en-US" sz="3300" dirty="0"/>
          </a:p>
        </p:txBody>
      </p:sp>
      <p:sp>
        <p:nvSpPr>
          <p:cNvPr id="4" name="Rectangle 3"/>
          <p:cNvSpPr/>
          <p:nvPr/>
        </p:nvSpPr>
        <p:spPr>
          <a:xfrm rot="20673222">
            <a:off x="8205595" y="3276182"/>
            <a:ext cx="285549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However, the term named entity is commonly extended to include things that aren’t entities like, </a:t>
            </a:r>
            <a:r>
              <a:rPr lang="en-US" dirty="0">
                <a:solidFill>
                  <a:srgbClr val="FF0000"/>
                </a:solidFill>
              </a:rPr>
              <a:t>dates, times, and other kinds of temporal expressions</a:t>
            </a:r>
            <a:r>
              <a:rPr lang="en-US" dirty="0"/>
              <a:t>, and even numerical expressions like prices. 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1DC20-E4D5-4828-A636-C3632B23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52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20BE6C5D-490C-8BD7-4406-184953B8EC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F4083B-9B0E-5781-0EEB-9D3E11E240B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B3D1F3-434B-7B9D-55B9-F5DD822071DE}"/>
                  </a:ext>
                </a:extLst>
              </p14:cNvPr>
              <p14:cNvContentPartPr/>
              <p14:nvPr/>
            </p14:nvContentPartPr>
            <p14:xfrm>
              <a:off x="8164080" y="3798720"/>
              <a:ext cx="2727720" cy="676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B3D1F3-434B-7B9D-55B9-F5DD822071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4720" y="3789360"/>
                <a:ext cx="2746440" cy="69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93392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NER Example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3111" y="1528011"/>
            <a:ext cx="95810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Citing high fuel prices,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ORG</a:t>
            </a:r>
            <a:r>
              <a:rPr lang="en-US" sz="2000" dirty="0">
                <a:solidFill>
                  <a:srgbClr val="7030A0"/>
                </a:solidFill>
              </a:rPr>
              <a:t> United Airlines</a:t>
            </a:r>
            <a:r>
              <a:rPr lang="en-US" sz="2000" dirty="0"/>
              <a:t>] said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TIME</a:t>
            </a:r>
            <a:r>
              <a:rPr lang="en-US" sz="2000" dirty="0">
                <a:solidFill>
                  <a:srgbClr val="7030A0"/>
                </a:solidFill>
              </a:rPr>
              <a:t> Friday] </a:t>
            </a:r>
            <a:r>
              <a:rPr lang="en-US" sz="2000" dirty="0"/>
              <a:t>it has increased fares by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MONEY</a:t>
            </a:r>
            <a:r>
              <a:rPr lang="en-US" sz="2000" dirty="0">
                <a:solidFill>
                  <a:srgbClr val="7030A0"/>
                </a:solidFill>
              </a:rPr>
              <a:t> $6] </a:t>
            </a:r>
            <a:r>
              <a:rPr lang="en-US" sz="2000" dirty="0"/>
              <a:t>per round trip on flights to some cities also served by lower-cost carriers.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ORG</a:t>
            </a:r>
            <a:r>
              <a:rPr lang="en-US" sz="2000" dirty="0">
                <a:solidFill>
                  <a:srgbClr val="7030A0"/>
                </a:solidFill>
              </a:rPr>
              <a:t> American Airlines], </a:t>
            </a:r>
            <a:r>
              <a:rPr lang="en-US" sz="2000" dirty="0"/>
              <a:t>a unit of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ORG</a:t>
            </a:r>
            <a:r>
              <a:rPr lang="en-US" sz="2000" dirty="0">
                <a:solidFill>
                  <a:srgbClr val="7030A0"/>
                </a:solidFill>
              </a:rPr>
              <a:t> AMR Corp.], </a:t>
            </a:r>
            <a:r>
              <a:rPr lang="en-US" sz="2000" dirty="0"/>
              <a:t>immediately matched the move, spokesman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PER</a:t>
            </a:r>
            <a:r>
              <a:rPr lang="en-US" sz="2000" dirty="0">
                <a:solidFill>
                  <a:srgbClr val="7030A0"/>
                </a:solidFill>
              </a:rPr>
              <a:t> Tim Wagner</a:t>
            </a:r>
            <a:r>
              <a:rPr lang="en-US" sz="2000" dirty="0"/>
              <a:t>] said.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ORG</a:t>
            </a:r>
            <a:r>
              <a:rPr lang="en-US" sz="2000" dirty="0">
                <a:solidFill>
                  <a:srgbClr val="7030A0"/>
                </a:solidFill>
              </a:rPr>
              <a:t> United</a:t>
            </a:r>
            <a:r>
              <a:rPr lang="en-US" sz="2000" dirty="0"/>
              <a:t>], a unit of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ORG</a:t>
            </a:r>
            <a:r>
              <a:rPr lang="en-US" sz="2000" dirty="0">
                <a:solidFill>
                  <a:srgbClr val="7030A0"/>
                </a:solidFill>
              </a:rPr>
              <a:t> UAL Corp.], </a:t>
            </a:r>
            <a:r>
              <a:rPr lang="en-US" sz="2000" dirty="0"/>
              <a:t>said the increase took effect </a:t>
            </a:r>
            <a:r>
              <a:rPr lang="en-US" sz="2000" dirty="0">
                <a:solidFill>
                  <a:srgbClr val="7030A0"/>
                </a:solidFill>
              </a:rPr>
              <a:t>[</a:t>
            </a:r>
            <a:r>
              <a:rPr lang="en-US" sz="2000" baseline="-25000" dirty="0">
                <a:solidFill>
                  <a:srgbClr val="7030A0"/>
                </a:solidFill>
              </a:rPr>
              <a:t>TIME</a:t>
            </a:r>
            <a:r>
              <a:rPr lang="en-US" sz="2000" dirty="0">
                <a:solidFill>
                  <a:srgbClr val="7030A0"/>
                </a:solidFill>
              </a:rPr>
              <a:t> Thursday</a:t>
            </a:r>
            <a:r>
              <a:rPr lang="en-US" sz="2000" dirty="0"/>
              <a:t>] and applies to most routes where it competes against discount carriers, such as [</a:t>
            </a:r>
            <a:r>
              <a:rPr lang="en-US" sz="2000" baseline="-25000" dirty="0">
                <a:solidFill>
                  <a:srgbClr val="7030A0"/>
                </a:solidFill>
              </a:rPr>
              <a:t>LOC </a:t>
            </a:r>
            <a:r>
              <a:rPr lang="en-US" sz="2000" dirty="0">
                <a:solidFill>
                  <a:srgbClr val="7030A0"/>
                </a:solidFill>
              </a:rPr>
              <a:t>Chicago</a:t>
            </a:r>
            <a:r>
              <a:rPr lang="en-US" sz="2000" dirty="0"/>
              <a:t>] to [</a:t>
            </a:r>
            <a:r>
              <a:rPr lang="en-US" sz="2000" baseline="-25000" dirty="0">
                <a:solidFill>
                  <a:srgbClr val="7030A0"/>
                </a:solidFill>
              </a:rPr>
              <a:t>LOC</a:t>
            </a:r>
            <a:r>
              <a:rPr lang="en-US" sz="2000" dirty="0">
                <a:solidFill>
                  <a:srgbClr val="7030A0"/>
                </a:solidFill>
              </a:rPr>
              <a:t> Dallas</a:t>
            </a:r>
            <a:r>
              <a:rPr lang="en-US" sz="2000" dirty="0"/>
              <a:t>] and [</a:t>
            </a:r>
            <a:r>
              <a:rPr lang="en-US" sz="2000" baseline="-25000" dirty="0">
                <a:solidFill>
                  <a:srgbClr val="7030A0"/>
                </a:solidFill>
              </a:rPr>
              <a:t>LOC</a:t>
            </a:r>
            <a:r>
              <a:rPr lang="en-US" sz="2000" dirty="0">
                <a:solidFill>
                  <a:srgbClr val="7030A0"/>
                </a:solidFill>
              </a:rPr>
              <a:t> Denver</a:t>
            </a:r>
            <a:r>
              <a:rPr lang="en-US" sz="2000" dirty="0"/>
              <a:t>] to [</a:t>
            </a:r>
            <a:r>
              <a:rPr lang="en-US" sz="2000" baseline="-25000" dirty="0">
                <a:solidFill>
                  <a:srgbClr val="7030A0"/>
                </a:solidFill>
              </a:rPr>
              <a:t>LOC </a:t>
            </a:r>
            <a:r>
              <a:rPr lang="en-US" sz="2000" dirty="0">
                <a:solidFill>
                  <a:srgbClr val="7030A0"/>
                </a:solidFill>
              </a:rPr>
              <a:t>San Francisco</a:t>
            </a:r>
            <a:r>
              <a:rPr lang="en-US" sz="2000" dirty="0"/>
              <a:t>].</a:t>
            </a:r>
            <a:endParaRPr lang="en-IN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926" y="3826043"/>
            <a:ext cx="8661923" cy="1419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897810" y="539014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list of generic named entity types with the kinds of entities they refer to.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A8B1AF-96C2-47F5-9374-DB9AFEB49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53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ABA5BC82-524B-AE1C-E135-9358C2802A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F0EBB2-4015-D5D6-1D2D-0FB21F26D3F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72525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NER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3111" y="1483311"/>
            <a:ext cx="876292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In POS tagging, there is no </a:t>
            </a:r>
            <a:r>
              <a:rPr lang="en-US" sz="2400" b="1" dirty="0">
                <a:solidFill>
                  <a:srgbClr val="FF0000"/>
                </a:solidFill>
              </a:rPr>
              <a:t>segmentation problem </a:t>
            </a:r>
            <a:r>
              <a:rPr lang="en-US" sz="2400" dirty="0"/>
              <a:t>since each word </a:t>
            </a:r>
            <a:r>
              <a:rPr lang="en-US" sz="2400" dirty="0">
                <a:solidFill>
                  <a:srgbClr val="FF0000"/>
                </a:solidFill>
              </a:rPr>
              <a:t>gets</a:t>
            </a:r>
            <a:r>
              <a:rPr lang="en-US" sz="2400" dirty="0"/>
              <a:t> one tag.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 But for NER one has to </a:t>
            </a:r>
            <a:r>
              <a:rPr lang="en-US" sz="2400" i="1" dirty="0">
                <a:solidFill>
                  <a:srgbClr val="7030A0"/>
                </a:solidFill>
              </a:rPr>
              <a:t>find and label spans of text</a:t>
            </a:r>
            <a:r>
              <a:rPr lang="en-US" sz="2400" dirty="0"/>
              <a:t>, and its difficult because of the </a:t>
            </a:r>
            <a:r>
              <a:rPr lang="en-US" sz="2400" dirty="0">
                <a:solidFill>
                  <a:srgbClr val="7030A0"/>
                </a:solidFill>
              </a:rPr>
              <a:t>ambiguity of segmentation</a:t>
            </a:r>
            <a:r>
              <a:rPr lang="en-US" sz="2400" dirty="0"/>
              <a:t>; we need to decide </a:t>
            </a:r>
            <a:r>
              <a:rPr lang="en-US" sz="2400" b="1" u="sng" dirty="0">
                <a:solidFill>
                  <a:srgbClr val="7030A0"/>
                </a:solidFill>
              </a:rPr>
              <a:t>what’s an entity </a:t>
            </a:r>
            <a:r>
              <a:rPr lang="en-US" sz="2400" b="1" u="sng" dirty="0"/>
              <a:t>and </a:t>
            </a:r>
            <a:r>
              <a:rPr lang="en-US" sz="2400" b="1" u="sng" dirty="0">
                <a:solidFill>
                  <a:srgbClr val="7030A0"/>
                </a:solidFill>
              </a:rPr>
              <a:t>what isn’t</a:t>
            </a:r>
            <a:r>
              <a:rPr lang="en-US" sz="2400" b="1" u="sng" dirty="0"/>
              <a:t>,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7030A0"/>
                </a:solidFill>
              </a:rPr>
              <a:t>where the boundaries are</a:t>
            </a:r>
            <a:r>
              <a:rPr lang="en-US" sz="2400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06" y="4224972"/>
            <a:ext cx="8235322" cy="142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A162C-E2C5-4C69-BA83-AF12BCE8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54</a:t>
            </a:fld>
            <a:endParaRPr lang="en-IN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1C4E976F-A0FF-D0D9-B9B8-C05A6A0872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05ADE2-561D-C159-A140-F43C1AF57D1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7788899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134C7F-A372-4F6B-A842-A822881A5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3979" y="1488741"/>
            <a:ext cx="10515600" cy="4351338"/>
          </a:xfrm>
        </p:spPr>
        <p:txBody>
          <a:bodyPr rtlCol="0">
            <a:normAutofit fontScale="62500" lnSpcReduction="20000"/>
          </a:bodyPr>
          <a:lstStyle/>
          <a:p>
            <a:pPr>
              <a:spcAft>
                <a:spcPts val="0"/>
              </a:spcAft>
              <a:defRPr/>
            </a:pPr>
            <a:endParaRPr lang="en-US" sz="2800" dirty="0"/>
          </a:p>
          <a:p>
            <a:pPr>
              <a:spcAft>
                <a:spcPts val="0"/>
              </a:spcAft>
              <a:defRPr/>
            </a:pPr>
            <a:r>
              <a:rPr lang="en-US" sz="3300" dirty="0"/>
              <a:t>Hotel &amp; </a:t>
            </a:r>
            <a:r>
              <a:rPr lang="en-US" sz="3300" dirty="0" err="1"/>
              <a:t>Taj</a:t>
            </a:r>
            <a:r>
              <a:rPr lang="en-US" sz="3300" dirty="0"/>
              <a:t> Hotel </a:t>
            </a:r>
          </a:p>
          <a:p>
            <a:pPr>
              <a:spcAft>
                <a:spcPts val="0"/>
              </a:spcAft>
              <a:defRPr/>
            </a:pPr>
            <a:endParaRPr lang="en-US" sz="3300" dirty="0"/>
          </a:p>
          <a:p>
            <a:pPr>
              <a:spcAft>
                <a:spcPts val="0"/>
              </a:spcAft>
              <a:defRPr/>
            </a:pPr>
            <a:r>
              <a:rPr lang="en-US" sz="3300" dirty="0"/>
              <a:t>Flower &amp; Rose Flower</a:t>
            </a:r>
          </a:p>
          <a:p>
            <a:pPr>
              <a:spcAft>
                <a:spcPts val="0"/>
              </a:spcAft>
              <a:buNone/>
              <a:defRPr/>
            </a:pPr>
            <a:endParaRPr lang="en-US" sz="3300" dirty="0"/>
          </a:p>
          <a:p>
            <a:pPr>
              <a:spcAft>
                <a:spcPts val="0"/>
              </a:spcAft>
              <a:defRPr/>
            </a:pPr>
            <a:r>
              <a:rPr lang="en-US" sz="3300" dirty="0"/>
              <a:t>Beach &amp; </a:t>
            </a:r>
            <a:r>
              <a:rPr lang="en-US" sz="3300" dirty="0" err="1"/>
              <a:t>Kovalam</a:t>
            </a:r>
            <a:r>
              <a:rPr lang="en-US" sz="3300" dirty="0"/>
              <a:t> Beach</a:t>
            </a:r>
          </a:p>
          <a:p>
            <a:pPr>
              <a:spcAft>
                <a:spcPts val="0"/>
              </a:spcAft>
              <a:buNone/>
              <a:defRPr/>
            </a:pPr>
            <a:endParaRPr lang="en-US" sz="3300" dirty="0"/>
          </a:p>
          <a:p>
            <a:pPr>
              <a:spcAft>
                <a:spcPts val="0"/>
              </a:spcAft>
              <a:defRPr/>
            </a:pPr>
            <a:r>
              <a:rPr lang="en-US" sz="3300" dirty="0"/>
              <a:t>Airport &amp; </a:t>
            </a:r>
            <a:r>
              <a:rPr lang="en-US" sz="3300" dirty="0" err="1"/>
              <a:t>Indira</a:t>
            </a:r>
            <a:r>
              <a:rPr lang="en-US" sz="3300" dirty="0"/>
              <a:t> Gandhi International airport</a:t>
            </a:r>
          </a:p>
          <a:p>
            <a:pPr>
              <a:spcAft>
                <a:spcPts val="0"/>
              </a:spcAft>
              <a:defRPr/>
            </a:pPr>
            <a:endParaRPr lang="en-US" sz="3300" dirty="0"/>
          </a:p>
          <a:p>
            <a:pPr>
              <a:spcAft>
                <a:spcPts val="0"/>
              </a:spcAft>
              <a:defRPr/>
            </a:pPr>
            <a:r>
              <a:rPr lang="en-US" sz="3300" dirty="0"/>
              <a:t>The School &amp;  Good Shepherd School</a:t>
            </a:r>
          </a:p>
          <a:p>
            <a:pPr>
              <a:spcAft>
                <a:spcPts val="0"/>
              </a:spcAft>
              <a:defRPr/>
            </a:pPr>
            <a:endParaRPr lang="en-US" sz="3300" dirty="0"/>
          </a:p>
          <a:p>
            <a:pPr>
              <a:spcAft>
                <a:spcPts val="0"/>
              </a:spcAft>
              <a:defRPr/>
            </a:pPr>
            <a:r>
              <a:rPr lang="en-US" sz="3300" dirty="0"/>
              <a:t>Prime Minister &amp; Mr. Narendra Modi</a:t>
            </a:r>
          </a:p>
          <a:p>
            <a:pPr>
              <a:spcAft>
                <a:spcPts val="0"/>
              </a:spcAft>
              <a:buNone/>
              <a:defRPr/>
            </a:pPr>
            <a:endParaRPr lang="en-US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Named Entity and a Named entity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DC5909-3399-4DC4-825A-BA019EC2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55</a:t>
            </a:fld>
            <a:endParaRPr lang="en-IN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69A87BF5-8E2A-AF9E-0F4D-E7FD6F7B7D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133CEF-197F-4C2B-4CD7-3D3E8D0A10B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525030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54793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Some problems in identifying NE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57C4629-84D2-40F8-AAEA-3B5149463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76708"/>
            <a:ext cx="8269705" cy="5381291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IN" altLang="en-US" sz="2800" dirty="0"/>
              <a:t> </a:t>
            </a:r>
            <a:r>
              <a:rPr lang="en-IN" altLang="en-US" dirty="0">
                <a:solidFill>
                  <a:srgbClr val="FF0000"/>
                </a:solidFill>
              </a:rPr>
              <a:t>Variation of NE </a:t>
            </a:r>
            <a:r>
              <a:rPr lang="en-IN" altLang="en-US" dirty="0"/>
              <a:t>(same entity in different form). </a:t>
            </a:r>
          </a:p>
          <a:p>
            <a:pPr lvl="1" eaLnBrk="1" hangingPunct="1"/>
            <a:r>
              <a:rPr lang="en-US" altLang="en-US" sz="2800" dirty="0" err="1"/>
              <a:t>Mahatama</a:t>
            </a:r>
            <a:r>
              <a:rPr lang="en-US" altLang="en-US" sz="2800" dirty="0"/>
              <a:t> Gandhi, Gandhi , Bapu</a:t>
            </a:r>
            <a:endParaRPr lang="en-IN" altLang="en-US" sz="2800" dirty="0"/>
          </a:p>
          <a:p>
            <a:pPr eaLnBrk="1" hangingPunct="1"/>
            <a:r>
              <a:rPr lang="en-IN" altLang="en-US" dirty="0"/>
              <a:t> </a:t>
            </a:r>
            <a:r>
              <a:rPr lang="en-IN" altLang="en-US" dirty="0">
                <a:solidFill>
                  <a:srgbClr val="FF0000"/>
                </a:solidFill>
              </a:rPr>
              <a:t>Ambiguity of NE types</a:t>
            </a:r>
            <a:r>
              <a:rPr lang="en-IN" altLang="en-US" dirty="0"/>
              <a:t>: </a:t>
            </a:r>
          </a:p>
          <a:p>
            <a:pPr lvl="1" eaLnBrk="1" hangingPunct="1"/>
            <a:r>
              <a:rPr lang="en-GB" altLang="en-US" sz="2800" dirty="0"/>
              <a:t>1945 (date vs. time)</a:t>
            </a:r>
          </a:p>
          <a:p>
            <a:pPr lvl="1" eaLnBrk="1" hangingPunct="1"/>
            <a:r>
              <a:rPr lang="en-IN" altLang="en-US" sz="2800" dirty="0"/>
              <a:t>Washington (location vs. person)</a:t>
            </a:r>
          </a:p>
          <a:p>
            <a:pPr lvl="1" eaLnBrk="1" hangingPunct="1"/>
            <a:r>
              <a:rPr lang="en-GB" altLang="en-US" sz="2800" dirty="0"/>
              <a:t>May (person vs. month)</a:t>
            </a:r>
          </a:p>
          <a:p>
            <a:pPr lvl="1" eaLnBrk="1" hangingPunct="1"/>
            <a:r>
              <a:rPr lang="en-IN" altLang="en-US" sz="2800" dirty="0"/>
              <a:t>Tata (person vs. organization</a:t>
            </a:r>
            <a:r>
              <a:rPr lang="en-IN" altLang="en-US" dirty="0"/>
              <a:t>) </a:t>
            </a:r>
          </a:p>
          <a:p>
            <a:r>
              <a:rPr lang="en-IN" altLang="en-US" dirty="0">
                <a:solidFill>
                  <a:srgbClr val="FF0000"/>
                </a:solidFill>
              </a:rPr>
              <a:t>Person </a:t>
            </a:r>
            <a:r>
              <a:rPr lang="en-IN" altLang="en-US" dirty="0" err="1">
                <a:solidFill>
                  <a:srgbClr val="FF0000"/>
                </a:solidFill>
              </a:rPr>
              <a:t>vs</a:t>
            </a:r>
            <a:r>
              <a:rPr lang="en-IN" altLang="en-US" dirty="0">
                <a:solidFill>
                  <a:srgbClr val="FF0000"/>
                </a:solidFill>
              </a:rPr>
              <a:t> Location</a:t>
            </a:r>
          </a:p>
          <a:p>
            <a:pPr lvl="1"/>
            <a:r>
              <a:rPr lang="en-IN" altLang="en-US" sz="2800" dirty="0">
                <a:solidFill>
                  <a:srgbClr val="00B050"/>
                </a:solidFill>
              </a:rPr>
              <a:t>Sir C. P </a:t>
            </a:r>
            <a:r>
              <a:rPr lang="en-IN" altLang="en-US" sz="2800" dirty="0" err="1">
                <a:solidFill>
                  <a:srgbClr val="00B050"/>
                </a:solidFill>
              </a:rPr>
              <a:t>Ramaswamy</a:t>
            </a:r>
            <a:r>
              <a:rPr lang="en-IN" altLang="en-US" sz="2800" dirty="0">
                <a:solidFill>
                  <a:srgbClr val="00B050"/>
                </a:solidFill>
              </a:rPr>
              <a:t> </a:t>
            </a:r>
            <a:r>
              <a:rPr lang="en-IN" altLang="en-US" sz="2800" dirty="0"/>
              <a:t>was the Divan of Travancore (Per)</a:t>
            </a:r>
          </a:p>
          <a:p>
            <a:pPr lvl="1"/>
            <a:r>
              <a:rPr lang="en-IN" altLang="en-US" sz="2800" dirty="0">
                <a:solidFill>
                  <a:srgbClr val="00B050"/>
                </a:solidFill>
              </a:rPr>
              <a:t>Sir C.P </a:t>
            </a:r>
            <a:r>
              <a:rPr lang="en-IN" altLang="en-US" sz="2800" dirty="0" err="1">
                <a:solidFill>
                  <a:srgbClr val="00B050"/>
                </a:solidFill>
              </a:rPr>
              <a:t>Ramaswamy</a:t>
            </a:r>
            <a:r>
              <a:rPr lang="en-IN" altLang="en-US" sz="2800" dirty="0">
                <a:solidFill>
                  <a:srgbClr val="00B050"/>
                </a:solidFill>
              </a:rPr>
              <a:t> </a:t>
            </a:r>
            <a:r>
              <a:rPr lang="en-IN" altLang="en-US" sz="2800" dirty="0"/>
              <a:t>Road is in Chennai (</a:t>
            </a:r>
            <a:r>
              <a:rPr lang="en-IN" altLang="en-US" sz="2800" dirty="0" err="1"/>
              <a:t>Loc</a:t>
            </a:r>
            <a:r>
              <a:rPr lang="en-IN" altLang="en-US" sz="2800" dirty="0"/>
              <a:t>)</a:t>
            </a:r>
          </a:p>
          <a:p>
            <a:r>
              <a:rPr lang="en-IN" altLang="en-US" dirty="0"/>
              <a:t> </a:t>
            </a:r>
            <a:r>
              <a:rPr lang="en-IN" altLang="en-US" dirty="0">
                <a:solidFill>
                  <a:srgbClr val="FF0000"/>
                </a:solidFill>
              </a:rPr>
              <a:t>Person </a:t>
            </a:r>
            <a:r>
              <a:rPr lang="en-IN" altLang="en-US" dirty="0" err="1">
                <a:solidFill>
                  <a:srgbClr val="FF0000"/>
                </a:solidFill>
              </a:rPr>
              <a:t>vs</a:t>
            </a:r>
            <a:r>
              <a:rPr lang="en-IN" altLang="en-US" dirty="0">
                <a:solidFill>
                  <a:srgbClr val="FF0000"/>
                </a:solidFill>
              </a:rPr>
              <a:t> Organization</a:t>
            </a:r>
          </a:p>
          <a:p>
            <a:pPr lvl="1"/>
            <a:r>
              <a:rPr lang="en-IN" altLang="en-US" sz="2800" dirty="0">
                <a:solidFill>
                  <a:srgbClr val="00B050"/>
                </a:solidFill>
              </a:rPr>
              <a:t>Anil </a:t>
            </a:r>
            <a:r>
              <a:rPr lang="en-IN" altLang="en-US" sz="2800" dirty="0" err="1">
                <a:solidFill>
                  <a:srgbClr val="00B050"/>
                </a:solidFill>
              </a:rPr>
              <a:t>Ambani</a:t>
            </a:r>
            <a:r>
              <a:rPr lang="en-IN" altLang="en-US" sz="2800" dirty="0">
                <a:solidFill>
                  <a:srgbClr val="00B050"/>
                </a:solidFill>
              </a:rPr>
              <a:t> </a:t>
            </a:r>
            <a:r>
              <a:rPr lang="en-IN" altLang="en-US" sz="2800" dirty="0"/>
              <a:t>opened Reliance Fresh (Per)</a:t>
            </a:r>
          </a:p>
          <a:p>
            <a:pPr lvl="1"/>
            <a:r>
              <a:rPr lang="en-IN" altLang="en-US" sz="2800" dirty="0"/>
              <a:t>Reliance Fresh is under </a:t>
            </a:r>
            <a:r>
              <a:rPr lang="en-IN" altLang="en-US" sz="2800" dirty="0">
                <a:solidFill>
                  <a:srgbClr val="00B050"/>
                </a:solidFill>
              </a:rPr>
              <a:t>Anil </a:t>
            </a:r>
            <a:r>
              <a:rPr lang="en-IN" altLang="en-US" sz="2800" dirty="0" err="1">
                <a:solidFill>
                  <a:srgbClr val="00B050"/>
                </a:solidFill>
              </a:rPr>
              <a:t>Amabani</a:t>
            </a:r>
            <a:r>
              <a:rPr lang="en-IN" altLang="en-US" sz="2800" dirty="0">
                <a:solidFill>
                  <a:srgbClr val="00B050"/>
                </a:solidFill>
              </a:rPr>
              <a:t> Group Ltd </a:t>
            </a:r>
            <a:r>
              <a:rPr lang="en-IN" altLang="en-US" sz="2800" dirty="0"/>
              <a:t>(Org)</a:t>
            </a:r>
          </a:p>
          <a:p>
            <a:pPr marL="457200" lvl="1" indent="0" eaLnBrk="1" hangingPunct="1">
              <a:buNone/>
            </a:pPr>
            <a:endParaRPr lang="en-IN" altLang="en-US" dirty="0"/>
          </a:p>
          <a:p>
            <a:pPr eaLnBrk="1" hangingPunct="1"/>
            <a:endParaRPr lang="en-I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DA3C10-AEF2-4D21-A05E-EAAFE1AC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56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DDF6516-98E2-913E-35B9-EE36053ABD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8178CB-6939-67B1-BC36-CD256148C90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35021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Entity name types (ENAMEX Subtypes)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5604CCF5-0F6A-4F1D-9F85-888424C3B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08" y="1269418"/>
            <a:ext cx="8177746" cy="4476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1463"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2"/>
                </a:solidFill>
                <a:latin typeface="Calibri" pitchFamily="32" charset="0"/>
              </a:defRPr>
            </a:lvl1pPr>
            <a:lvl2pPr eaLnBrk="0" hangingPunct="0">
              <a:spcBef>
                <a:spcPct val="20000"/>
              </a:spcBef>
              <a:buFont typeface="Arial" charset="0"/>
              <a:buChar char="˃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1"/>
                </a:solidFill>
                <a:latin typeface="Calibri" pitchFamily="32" charset="0"/>
              </a:defRPr>
            </a:lvl2pPr>
            <a:lvl3pPr eaLnBrk="0" hangingPunct="0">
              <a:spcBef>
                <a:spcPct val="20000"/>
              </a:spcBef>
              <a:buFont typeface="Calibri" pitchFamily="32" charset="0"/>
              <a:buChar char="+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Calibri" pitchFamily="32" charset="0"/>
              </a:defRPr>
            </a:lvl3pPr>
            <a:lvl4pPr eaLnBrk="0" hangingPunct="0">
              <a:spcBef>
                <a:spcPct val="20000"/>
              </a:spcBef>
              <a:buFont typeface="Arial" charset="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4pPr>
            <a:lvl5pPr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9pPr>
          </a:lstStyle>
          <a:p>
            <a:pPr marL="457200" indent="-457200" algn="just">
              <a:buSzPct val="45000"/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Persons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are entities  limited to humans. </a:t>
            </a:r>
            <a:r>
              <a:rPr lang="en-US" altLang="en-US" sz="2000" u="sng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Individual</a:t>
            </a:r>
            <a:r>
              <a:rPr lang="en-US" altLang="en-US" sz="2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refer to names of each individual person. </a:t>
            </a:r>
            <a:r>
              <a:rPr lang="en-US" altLang="en-US" sz="2000" u="sng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Group</a:t>
            </a:r>
            <a:r>
              <a:rPr lang="en-US" altLang="en-US" sz="2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refers to set of individual</a:t>
            </a:r>
          </a:p>
          <a:p>
            <a:pPr marL="458787" indent="-457200" algn="just">
              <a:buSzPct val="45000"/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+mn-lt"/>
                <a:cs typeface="Arial" charset="0"/>
              </a:rPr>
              <a:t>Location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+mn-lt"/>
                <a:cs typeface="Arial" charset="0"/>
              </a:rPr>
              <a:t>entities are limited to geographical entities such as geographical areas like names of countries, cities, continents and landmasses, bodies of water, and geological formations.</a:t>
            </a:r>
          </a:p>
          <a:p>
            <a:pPr marL="458787" indent="-457200" algn="just">
              <a:buSzPct val="45000"/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+mn-lt"/>
                <a:cs typeface="Arial" charset="0"/>
              </a:rPr>
              <a:t>Organization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+mn-lt"/>
                <a:cs typeface="Arial" charset="0"/>
              </a:rPr>
              <a:t>entities are limited to corporations, agencies, and other groups of people defined by an established organizational structure </a:t>
            </a:r>
          </a:p>
          <a:p>
            <a:pPr marL="458787" indent="-457200" algn="just">
              <a:buSzPct val="45000"/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Entertainment</a:t>
            </a:r>
            <a:r>
              <a:rPr lang="en-US" altLang="en-US" sz="2400" u="sng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entities denote activities, which divert and hold human attention or interest, giving pleasure, happiness, amusement especially  performance of some kind such as dance, music, sports, events.</a:t>
            </a:r>
          </a:p>
          <a:p>
            <a:pPr marL="1587" indent="0" algn="just">
              <a:buSzPct val="45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altLang="en-US" sz="2400" dirty="0" err="1">
                <a:solidFill>
                  <a:schemeClr val="tx1"/>
                </a:solidFill>
                <a:latin typeface="+mn-lt"/>
                <a:cs typeface="Arial" charset="0"/>
              </a:rPr>
              <a:t>En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: [Robin]</a:t>
            </a:r>
            <a:r>
              <a:rPr lang="en-US" altLang="en-US" sz="2400" baseline="-25000" dirty="0">
                <a:solidFill>
                  <a:schemeClr val="tx1"/>
                </a:solidFill>
                <a:latin typeface="+mn-lt"/>
                <a:cs typeface="Arial" charset="0"/>
              </a:rPr>
              <a:t>PERSON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 is working at [HCL]</a:t>
            </a:r>
            <a:r>
              <a:rPr lang="en-US" altLang="en-US" sz="2400" baseline="-25000" dirty="0">
                <a:solidFill>
                  <a:schemeClr val="tx1"/>
                </a:solidFill>
                <a:latin typeface="+mn-lt"/>
                <a:cs typeface="Arial" charset="0"/>
              </a:rPr>
              <a:t>ORGANIZATION , 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which is in [Chennai]</a:t>
            </a:r>
            <a:r>
              <a:rPr lang="en-US" altLang="en-US" sz="2400" baseline="-25000" dirty="0">
                <a:solidFill>
                  <a:schemeClr val="tx1"/>
                </a:solidFill>
                <a:latin typeface="+mn-lt"/>
                <a:cs typeface="Arial" charset="0"/>
              </a:rPr>
              <a:t> LOCATION</a:t>
            </a:r>
          </a:p>
          <a:p>
            <a:pPr marL="1587" indent="0" algn="just">
              <a:buSzPct val="45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altLang="en-US" sz="24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En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: [Flower Exhibition]</a:t>
            </a:r>
            <a:r>
              <a:rPr lang="en-GB" altLang="en-US" sz="2400" baseline="-25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ENTERTAINMENT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is held at [Hyderabad]</a:t>
            </a:r>
            <a:r>
              <a:rPr lang="en-GB" altLang="en-US" sz="2400" baseline="-25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LOCATION</a:t>
            </a:r>
            <a:endParaRPr lang="en-US" altLang="en-US" sz="240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1587" indent="0" algn="just">
              <a:buSzPct val="45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altLang="en-US" sz="2400" dirty="0">
              <a:solidFill>
                <a:schemeClr val="tx1"/>
              </a:solidFill>
              <a:latin typeface="Times New Roman" pitchFamily="16" charset="0"/>
              <a:cs typeface="Arial" charset="0"/>
            </a:endParaRPr>
          </a:p>
          <a:p>
            <a:pPr marL="458787" indent="-457200" algn="just">
              <a:lnSpc>
                <a:spcPct val="150000"/>
              </a:lnSpc>
              <a:buSzPct val="45000"/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altLang="en-US" sz="2400" dirty="0">
              <a:solidFill>
                <a:schemeClr val="tx1"/>
              </a:solidFill>
              <a:latin typeface="Times New Roman" pitchFamily="16" charset="0"/>
              <a:cs typeface="Arial" charset="0"/>
            </a:endParaRPr>
          </a:p>
          <a:p>
            <a:pPr algn="just">
              <a:lnSpc>
                <a:spcPct val="150000"/>
              </a:lnSpc>
              <a:buSzPct val="45000"/>
              <a:buFont typeface="Wingdings" panose="05000000000000000000" pitchFamily="2" charset="2"/>
              <a:buChar char="q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altLang="en-US" sz="2000" dirty="0">
              <a:solidFill>
                <a:schemeClr val="bg2">
                  <a:lumMod val="10000"/>
                </a:schemeClr>
              </a:solidFill>
              <a:latin typeface="Times New Roman" pitchFamily="16" charset="0"/>
              <a:cs typeface="Arial" charset="0"/>
            </a:endParaRPr>
          </a:p>
          <a:p>
            <a:pPr marL="0" indent="0" algn="just">
              <a:lnSpc>
                <a:spcPct val="150000"/>
              </a:lnSpc>
              <a:buSzPct val="45000"/>
              <a:buFont typeface="Wingdings" charset="2"/>
              <a:buChar char="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lang="en-US" altLang="en-US" sz="2000" dirty="0">
              <a:solidFill>
                <a:schemeClr val="tx1">
                  <a:lumMod val="50000"/>
                </a:schemeClr>
              </a:solidFill>
              <a:latin typeface="Times New Roman" pitchFamily="16" charset="0"/>
              <a:cs typeface="Arial" charset="0"/>
            </a:endParaRPr>
          </a:p>
          <a:p>
            <a:pPr eaLnBrk="1" hangingPunct="1">
              <a:spcBef>
                <a:spcPts val="500"/>
              </a:spcBef>
              <a:buNone/>
              <a:defRPr/>
            </a:pPr>
            <a:endParaRPr lang="en-GB" altLang="en-US" sz="2000" dirty="0">
              <a:solidFill>
                <a:srgbClr val="073E87"/>
              </a:solidFill>
              <a:latin typeface="Candara" pitchFamily="32" charset="0"/>
              <a:cs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C4E23-7C7D-47E8-B847-C44F8363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57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0250F30-240F-1610-E7A7-020145CF02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C46760-88CE-467C-8112-76CAA2DEEAB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809184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</a:rPr>
              <a:t>Entity name types (ENAMEX Subtypes)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7463B6-7B30-4AA7-BAD0-70F0C4B0C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813" y="1537500"/>
            <a:ext cx="7698767" cy="4519197"/>
          </a:xfrm>
        </p:spPr>
        <p:txBody>
          <a:bodyPr>
            <a:normAutofit fontScale="77500" lnSpcReduction="20000"/>
          </a:bodyPr>
          <a:lstStyle/>
          <a:p>
            <a:pPr marL="514350" indent="-514350" algn="just">
              <a:lnSpc>
                <a:spcPct val="100000"/>
              </a:lnSpc>
              <a:spcBef>
                <a:spcPts val="500"/>
              </a:spcBef>
              <a:buFont typeface="+mj-lt"/>
              <a:buAutoNum type="arabicPeriod" startAt="5"/>
              <a:defRPr/>
            </a:pPr>
            <a:r>
              <a:rPr lang="en-US" altLang="en-US" sz="2800" b="1" u="sng" dirty="0">
                <a:cs typeface="Arial" charset="0"/>
              </a:rPr>
              <a:t>Facilities</a:t>
            </a:r>
            <a:r>
              <a:rPr lang="en-US" altLang="en-US" sz="2800" dirty="0">
                <a:cs typeface="Arial" charset="0"/>
              </a:rPr>
              <a:t> are limited to buildings and other permanent man-made structures  and real estate improvements like hospitals, airport, colleges, libraries etc.</a:t>
            </a:r>
          </a:p>
          <a:p>
            <a:pPr marL="514350" indent="-514350" algn="just">
              <a:lnSpc>
                <a:spcPct val="100000"/>
              </a:lnSpc>
              <a:spcBef>
                <a:spcPts val="500"/>
              </a:spcBef>
              <a:buFont typeface="+mj-lt"/>
              <a:buAutoNum type="arabicPeriod" startAt="5"/>
              <a:defRPr/>
            </a:pPr>
            <a:r>
              <a:rPr lang="en-US" altLang="en-US" sz="2800" dirty="0">
                <a:cs typeface="Times New Roman" panose="02020603050405020304" pitchFamily="18" charset="0"/>
              </a:rPr>
              <a:t>A </a:t>
            </a:r>
            <a:r>
              <a:rPr lang="en-US" altLang="en-US" sz="2800" b="1" u="sng" dirty="0">
                <a:cs typeface="Times New Roman" panose="02020603050405020304" pitchFamily="18" charset="0"/>
              </a:rPr>
              <a:t>locomotive</a:t>
            </a:r>
            <a:r>
              <a:rPr lang="en-US" altLang="en-US" sz="2800" dirty="0">
                <a:cs typeface="Times New Roman" panose="02020603050405020304" pitchFamily="18" charset="0"/>
              </a:rPr>
              <a:t> entity is a physical device primarily designed to move an object from one location to another, by  carrying, pulling, or pushing the transported object. </a:t>
            </a:r>
          </a:p>
          <a:p>
            <a:pPr marL="514350" indent="-514350" algn="just">
              <a:lnSpc>
                <a:spcPct val="100000"/>
              </a:lnSpc>
              <a:spcBef>
                <a:spcPts val="500"/>
              </a:spcBef>
              <a:buFont typeface="+mj-lt"/>
              <a:buAutoNum type="arabicPeriod" startAt="5"/>
              <a:defRPr/>
            </a:pPr>
            <a:r>
              <a:rPr lang="en-US" altLang="en-US" sz="2800" b="1" u="sng" dirty="0">
                <a:cs typeface="Times New Roman" panose="02020603050405020304" pitchFamily="18" charset="0"/>
              </a:rPr>
              <a:t>Artifact </a:t>
            </a:r>
            <a:r>
              <a:rPr lang="en-US" altLang="en-US" sz="2800" dirty="0">
                <a:cs typeface="Times New Roman" panose="02020603050405020304" pitchFamily="18" charset="0"/>
              </a:rPr>
              <a:t>entities are objects or things, produced or shaped by human craft, such as tools, weapons/ammunition, art paintings, clothes, ornaments, medicines</a:t>
            </a:r>
          </a:p>
          <a:p>
            <a:pPr marL="457200" indent="-457200">
              <a:lnSpc>
                <a:spcPct val="100000"/>
              </a:lnSpc>
              <a:spcBef>
                <a:spcPts val="500"/>
              </a:spcBef>
              <a:buFont typeface="+mj-lt"/>
              <a:buAutoNum type="arabicPeriod" startAt="5"/>
              <a:defRPr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500"/>
              </a:spcBef>
              <a:buNone/>
              <a:defRPr/>
            </a:pPr>
            <a:r>
              <a:rPr lang="en-US" altLang="en-US" sz="2400" dirty="0">
                <a:cs typeface="Arial" charset="0"/>
              </a:rPr>
              <a:t>En: [</a:t>
            </a:r>
            <a:r>
              <a:rPr lang="en-US" altLang="en-US" sz="2400" dirty="0" err="1">
                <a:cs typeface="Arial" charset="0"/>
              </a:rPr>
              <a:t>Apolo</a:t>
            </a:r>
            <a:r>
              <a:rPr lang="en-US" altLang="en-US" sz="2400" dirty="0">
                <a:cs typeface="Arial" charset="0"/>
              </a:rPr>
              <a:t> Hospital]</a:t>
            </a:r>
            <a:r>
              <a:rPr lang="en-GB" altLang="en-US" sz="2400" baseline="-25000" dirty="0">
                <a:cs typeface="Times New Roman" panose="02020603050405020304" pitchFamily="18" charset="0"/>
              </a:rPr>
              <a:t> FACILITY</a:t>
            </a:r>
            <a:r>
              <a:rPr lang="en-US" altLang="en-US" sz="2400" dirty="0">
                <a:cs typeface="Arial" charset="0"/>
              </a:rPr>
              <a:t> is in [Chennai]</a:t>
            </a:r>
            <a:r>
              <a:rPr lang="en-GB" altLang="en-US" sz="2400" baseline="-25000" dirty="0">
                <a:cs typeface="Times New Roman" panose="02020603050405020304" pitchFamily="18" charset="0"/>
              </a:rPr>
              <a:t> LOCATION</a:t>
            </a:r>
            <a:endParaRPr lang="en-US" altLang="en-US" sz="2400" dirty="0">
              <a:cs typeface="Arial" charset="0"/>
            </a:endParaRPr>
          </a:p>
          <a:p>
            <a:pPr>
              <a:lnSpc>
                <a:spcPct val="110000"/>
              </a:lnSpc>
              <a:spcBef>
                <a:spcPts val="500"/>
              </a:spcBef>
              <a:buNone/>
              <a:defRPr/>
            </a:pPr>
            <a:r>
              <a:rPr lang="en-GB" altLang="en-US" sz="2400" dirty="0" err="1">
                <a:cs typeface="Times New Roman" panose="02020603050405020304" pitchFamily="18" charset="0"/>
              </a:rPr>
              <a:t>En</a:t>
            </a:r>
            <a:r>
              <a:rPr lang="en-GB" altLang="en-US" sz="2400" dirty="0">
                <a:cs typeface="Times New Roman" panose="02020603050405020304" pitchFamily="18" charset="0"/>
              </a:rPr>
              <a:t>: [Bangalore Express]</a:t>
            </a:r>
            <a:r>
              <a:rPr lang="en-GB" altLang="en-US" sz="2400" baseline="-25000" dirty="0">
                <a:cs typeface="Times New Roman" panose="02020603050405020304" pitchFamily="18" charset="0"/>
              </a:rPr>
              <a:t>LOCOMOTIVE</a:t>
            </a:r>
            <a:r>
              <a:rPr lang="en-GB" altLang="en-US" sz="2400" dirty="0">
                <a:cs typeface="Times New Roman" panose="02020603050405020304" pitchFamily="18" charset="0"/>
              </a:rPr>
              <a:t> departs from [Chennai]</a:t>
            </a:r>
            <a:r>
              <a:rPr lang="en-GB" altLang="en-US" sz="2400" baseline="-25000" dirty="0">
                <a:cs typeface="Times New Roman" panose="02020603050405020304" pitchFamily="18" charset="0"/>
              </a:rPr>
              <a:t> LOCATION</a:t>
            </a:r>
            <a:r>
              <a:rPr lang="en-GB" altLang="en-US" sz="2400" dirty="0">
                <a:cs typeface="Times New Roman" panose="02020603050405020304" pitchFamily="18" charset="0"/>
              </a:rPr>
              <a:t> at</a:t>
            </a:r>
          </a:p>
          <a:p>
            <a:pPr>
              <a:lnSpc>
                <a:spcPct val="110000"/>
              </a:lnSpc>
              <a:spcBef>
                <a:spcPts val="500"/>
              </a:spcBef>
              <a:buNone/>
              <a:defRPr/>
            </a:pPr>
            <a:r>
              <a:rPr lang="en-GB" altLang="en-US" sz="2400" dirty="0">
                <a:cs typeface="Times New Roman" panose="02020603050405020304" pitchFamily="18" charset="0"/>
              </a:rPr>
              <a:t>[7.30pm]</a:t>
            </a:r>
            <a:r>
              <a:rPr lang="en-GB" altLang="en-US" sz="2400" baseline="-25000" dirty="0">
                <a:cs typeface="Times New Roman" panose="02020603050405020304" pitchFamily="18" charset="0"/>
              </a:rPr>
              <a:t> Time</a:t>
            </a:r>
            <a:r>
              <a:rPr lang="en-GB" altLang="en-US" sz="2400" dirty="0"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500"/>
              </a:spcBef>
              <a:buNone/>
              <a:defRPr/>
            </a:pPr>
            <a:r>
              <a:rPr lang="en-US" altLang="en-US" sz="2400" dirty="0" err="1">
                <a:cs typeface="Times New Roman" panose="02020603050405020304" pitchFamily="18" charset="0"/>
              </a:rPr>
              <a:t>En</a:t>
            </a:r>
            <a:r>
              <a:rPr lang="en-US" altLang="en-US" sz="2400" dirty="0">
                <a:cs typeface="Times New Roman" panose="02020603050405020304" pitchFamily="18" charset="0"/>
              </a:rPr>
              <a:t>: [</a:t>
            </a:r>
            <a:r>
              <a:rPr lang="en-US" altLang="en-US" sz="2400" dirty="0" err="1">
                <a:cs typeface="Times New Roman" panose="02020603050405020304" pitchFamily="18" charset="0"/>
              </a:rPr>
              <a:t>Vinayaga</a:t>
            </a:r>
            <a:r>
              <a:rPr lang="en-US" altLang="en-US" sz="2400" dirty="0">
                <a:cs typeface="Times New Roman" panose="02020603050405020304" pitchFamily="18" charset="0"/>
              </a:rPr>
              <a:t> Statue]</a:t>
            </a:r>
            <a:r>
              <a:rPr lang="en-GB" altLang="en-US" sz="2400" baseline="-25000" dirty="0">
                <a:cs typeface="Times New Roman" panose="02020603050405020304" pitchFamily="18" charset="0"/>
              </a:rPr>
              <a:t> ARTIFACT</a:t>
            </a:r>
            <a:r>
              <a:rPr lang="en-US" altLang="en-US" sz="2400" dirty="0">
                <a:cs typeface="Times New Roman" panose="02020603050405020304" pitchFamily="18" charset="0"/>
              </a:rPr>
              <a:t> is looking beautiful.</a:t>
            </a:r>
          </a:p>
          <a:p>
            <a:pPr>
              <a:lnSpc>
                <a:spcPct val="110000"/>
              </a:lnSpc>
              <a:spcBef>
                <a:spcPts val="500"/>
              </a:spcBef>
              <a:buNone/>
              <a:defRPr/>
            </a:pPr>
            <a:endParaRPr lang="en-GB" alt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  <a:defRPr/>
            </a:pPr>
            <a:endParaRPr lang="en-US" alt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+mj-lt"/>
              <a:buAutoNum type="arabicPeriod"/>
              <a:defRPr/>
            </a:pPr>
            <a:endParaRPr lang="en-US" alt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+mj-lt"/>
              <a:buAutoNum type="arabicPeriod"/>
              <a:defRPr/>
            </a:pPr>
            <a:endParaRPr lang="en-US" altLang="en-US" sz="2400" dirty="0">
              <a:latin typeface="Times New Roman" pitchFamily="18" charset="0"/>
              <a:cs typeface="Arial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0C8BF-00F4-493A-BADF-4CF31667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58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7EAA1F89-8105-B7A3-01BB-39CFCF6AF0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AC92A7-ADB5-D4C7-41A3-A3F28C24A90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20219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</a:rPr>
              <a:t>Entity name types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7D44737-A1A5-4E31-8179-71225B9CE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876" y="1636295"/>
            <a:ext cx="7097188" cy="4023360"/>
          </a:xfrm>
        </p:spPr>
        <p:txBody>
          <a:bodyPr>
            <a:normAutofit/>
          </a:bodyPr>
          <a:lstStyle/>
          <a:p>
            <a:pPr marL="106362" indent="0" algn="just">
              <a:lnSpc>
                <a:spcPct val="100000"/>
              </a:lnSpc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b="1" dirty="0">
                <a:cs typeface="Times New Roman" panose="02020603050405020304" pitchFamily="18" charset="0"/>
              </a:rPr>
              <a:t>8. 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Materials</a:t>
            </a:r>
            <a:r>
              <a:rPr lang="en-US" altLang="en-US" sz="2400" dirty="0">
                <a:cs typeface="Times New Roman" panose="02020603050405020304" pitchFamily="18" charset="0"/>
              </a:rPr>
              <a:t> refer to the names of food items, cuisines, chemicals and cosmetics</a:t>
            </a:r>
          </a:p>
          <a:p>
            <a:pPr marL="106362" indent="0" algn="just">
              <a:lnSpc>
                <a:spcPct val="100000"/>
              </a:lnSpc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b="1" dirty="0">
                <a:cs typeface="Times New Roman" panose="02020603050405020304" pitchFamily="18" charset="0"/>
              </a:rPr>
              <a:t>9. 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ORGANISMS</a:t>
            </a:r>
            <a:r>
              <a:rPr lang="en-US" altLang="en-US" sz="2400" u="sng" dirty="0">
                <a:cs typeface="Times New Roman" panose="02020603050405020304" pitchFamily="18" charset="0"/>
              </a:rPr>
              <a:t>  </a:t>
            </a:r>
            <a:r>
              <a:rPr lang="en-US" altLang="en-US" sz="2400" dirty="0">
                <a:cs typeface="Times New Roman" panose="02020603050405020304" pitchFamily="18" charset="0"/>
              </a:rPr>
              <a:t>are the names of different animal species including birds, reptiles, viruses, bacteria and names of herbs, medicinal plants, shrubs, trees, fruits, flowers etc. </a:t>
            </a:r>
          </a:p>
          <a:p>
            <a:pPr marL="106362" indent="0" algn="just">
              <a:lnSpc>
                <a:spcPct val="100000"/>
              </a:lnSpc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b="1" dirty="0">
                <a:cs typeface="Arial" charset="0"/>
              </a:rPr>
              <a:t>10. </a:t>
            </a:r>
            <a:r>
              <a:rPr lang="en-US" altLang="en-US" sz="2400" b="1" u="sng" dirty="0">
                <a:cs typeface="Arial" charset="0"/>
              </a:rPr>
              <a:t>Disease</a:t>
            </a:r>
            <a:r>
              <a:rPr lang="en-US" altLang="en-US" sz="2400" u="sng" dirty="0"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 are names of disease, symptoms, diagnosis and treatments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.</a:t>
            </a:r>
          </a:p>
          <a:p>
            <a:pPr marL="714375" indent="-608013">
              <a:lnSpc>
                <a:spcPct val="100000"/>
              </a:lnSpc>
              <a:buSzPct val="45000"/>
              <a:buFont typeface="+mj-lt"/>
              <a:buAutoNum type="arabicPeriod" startAt="8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endParaRPr lang="en-US" altLang="en-US" sz="2400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 startAt="8"/>
            </a:pPr>
            <a:endParaRPr lang="en-IN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E7535A-504F-4AC9-B9EA-F9DFE37A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59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3DCD4755-192B-1A4C-ADFD-E42C9EB40B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DAC774-0D42-8995-2518-B0FFBD52E27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933278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Numerical expression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BFFD26-421E-41DD-AC7E-287E3B6CB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661" y="1868853"/>
            <a:ext cx="5066215" cy="388348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D05FE-44CF-4098-B387-326127F6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60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AE36534F-D186-2040-3722-BB6B1856CE6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21A44A-F2E5-FF53-CBAD-191C1BB17D1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3763592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</a:rPr>
              <a:t>Numerical expressions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6D4DBE07-E014-4BD2-B49A-54D5795B6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749" y="1566423"/>
            <a:ext cx="9384145" cy="4476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1463"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2"/>
                </a:solidFill>
                <a:latin typeface="Calibri" pitchFamily="32" charset="0"/>
              </a:defRPr>
            </a:lvl1pPr>
            <a:lvl2pPr eaLnBrk="0" hangingPunct="0">
              <a:spcBef>
                <a:spcPct val="20000"/>
              </a:spcBef>
              <a:buFont typeface="Arial" charset="0"/>
              <a:buChar char="˃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1"/>
                </a:solidFill>
                <a:latin typeface="Calibri" pitchFamily="32" charset="0"/>
              </a:defRPr>
            </a:lvl2pPr>
            <a:lvl3pPr eaLnBrk="0" hangingPunct="0">
              <a:spcBef>
                <a:spcPct val="20000"/>
              </a:spcBef>
              <a:buFont typeface="Calibri" pitchFamily="32" charset="0"/>
              <a:buChar char="+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Calibri" pitchFamily="32" charset="0"/>
              </a:defRPr>
            </a:lvl3pPr>
            <a:lvl4pPr eaLnBrk="0" hangingPunct="0">
              <a:spcBef>
                <a:spcPct val="20000"/>
              </a:spcBef>
              <a:buFont typeface="Arial" charset="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4pPr>
            <a:lvl5pPr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9pPr>
          </a:lstStyle>
          <a:p>
            <a:pPr marL="714375" indent="-608013" algn="just">
              <a:buSzPct val="45000"/>
              <a:buFont typeface="Wingdings" panose="05000000000000000000" pitchFamily="2" charset="2"/>
              <a:buChar char="Ø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+mn-lt"/>
                <a:cs typeface="Arial" charset="0"/>
              </a:rPr>
              <a:t>Distance</a:t>
            </a:r>
            <a:r>
              <a:rPr lang="en-US" altLang="en-US" sz="2400" b="1" dirty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refers to the distance measures such as kilometers, Centimeters, meters, acres, feet etc.</a:t>
            </a:r>
          </a:p>
          <a:p>
            <a:pPr marL="106362" indent="0" algn="just"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	Example: 10 cm., twenty feet, 15 hectares</a:t>
            </a:r>
          </a:p>
          <a:p>
            <a:pPr marL="714375" indent="-608013" algn="just">
              <a:buSzPct val="45000"/>
              <a:buFont typeface="Wingdings" panose="05000000000000000000" pitchFamily="2" charset="2"/>
              <a:buChar char="Ø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+mn-lt"/>
                <a:cs typeface="Arial" charset="0"/>
              </a:rPr>
              <a:t>Money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 specifies the different currency value such as rupee, euro, Dinar, dollar etc.</a:t>
            </a:r>
          </a:p>
          <a:p>
            <a:pPr marL="106362" indent="0" algn="just"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	 Example: </a:t>
            </a:r>
            <a:r>
              <a:rPr lang="en-US" altLang="en-US" sz="2400" dirty="0" err="1">
                <a:solidFill>
                  <a:schemeClr val="tx1"/>
                </a:solidFill>
                <a:latin typeface="+mn-lt"/>
                <a:cs typeface="Arial" charset="0"/>
              </a:rPr>
              <a:t>Rs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. 1000,  250 Euro, $160</a:t>
            </a:r>
          </a:p>
          <a:p>
            <a:pPr marL="714375" indent="-608013" algn="just">
              <a:buSzPct val="45000"/>
              <a:buFont typeface="Wingdings" panose="05000000000000000000" pitchFamily="2" charset="2"/>
              <a:buChar char="Ø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+mn-lt"/>
                <a:cs typeface="Arial" charset="0"/>
              </a:rPr>
              <a:t>Count 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denotes the number (or counts) of Items/ articles/things etc.</a:t>
            </a:r>
          </a:p>
          <a:p>
            <a:pPr marL="106362" indent="0" algn="just"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	Example: 5 subjects, 12 students, 20 books</a:t>
            </a:r>
          </a:p>
          <a:p>
            <a:pPr marL="714375" indent="-608013" algn="just">
              <a:buSzPct val="45000"/>
              <a:buFont typeface="Wingdings" panose="05000000000000000000" pitchFamily="2" charset="2"/>
              <a:buChar char="Ø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+mn-lt"/>
                <a:cs typeface="Arial" charset="0"/>
              </a:rPr>
              <a:t>Quantity 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measurements like liters, tons, grams, volts etc. are comes under this category.</a:t>
            </a:r>
          </a:p>
          <a:p>
            <a:pPr marL="106362" indent="0" algn="just"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	Example: 20 </a:t>
            </a:r>
            <a:r>
              <a:rPr lang="en-US" altLang="en-US" sz="2400" dirty="0" err="1">
                <a:solidFill>
                  <a:schemeClr val="tx1"/>
                </a:solidFill>
                <a:latin typeface="+mn-lt"/>
                <a:cs typeface="Arial" charset="0"/>
              </a:rPr>
              <a:t>litres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, 22 kg, 50g, 100 volts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1E5583-0FA9-425E-8368-C9FF4E335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61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C9D2BA0B-8198-43AC-58D4-DB3AF24971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96656D-E417-CAF8-A051-BF7341FB335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302921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</a:rPr>
              <a:t>Time Expressions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FBEDED-9A50-4AA0-AAFC-E90AC7B17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89" y="2045088"/>
            <a:ext cx="8919221" cy="276782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9674F-C8FA-442C-8657-16FB8494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62</a:t>
            </a:fld>
            <a:endParaRPr lang="en-IN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72AC1490-D53C-61C4-02BC-CA9FF4F84B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1EF1DF-42B7-D93D-A671-02674A11223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811654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</a:rPr>
              <a:t>Temporal Expressions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693D75BB-C0BC-4849-B7DD-7D612D49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39" y="1298622"/>
            <a:ext cx="10294513" cy="50260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1463"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2"/>
                </a:solidFill>
                <a:latin typeface="Calibri" pitchFamily="32" charset="0"/>
              </a:defRPr>
            </a:lvl1pPr>
            <a:lvl2pPr eaLnBrk="0" hangingPunct="0">
              <a:spcBef>
                <a:spcPct val="20000"/>
              </a:spcBef>
              <a:buFont typeface="Arial" charset="0"/>
              <a:buChar char="˃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1"/>
                </a:solidFill>
                <a:latin typeface="Calibri" pitchFamily="32" charset="0"/>
              </a:defRPr>
            </a:lvl2pPr>
            <a:lvl3pPr eaLnBrk="0" hangingPunct="0">
              <a:spcBef>
                <a:spcPct val="20000"/>
              </a:spcBef>
              <a:buFont typeface="Calibri" pitchFamily="32" charset="0"/>
              <a:buChar char="+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Calibri" pitchFamily="32" charset="0"/>
              </a:defRPr>
            </a:lvl3pPr>
            <a:lvl4pPr eaLnBrk="0" hangingPunct="0">
              <a:spcBef>
                <a:spcPct val="20000"/>
              </a:spcBef>
              <a:buFont typeface="Arial" charset="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4pPr>
            <a:lvl5pPr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9pPr>
          </a:lstStyle>
          <a:p>
            <a:pPr marL="449262" indent="-342900">
              <a:lnSpc>
                <a:spcPct val="150000"/>
              </a:lnSpc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Temporal expressions  are the entities refers to time, date, year, month and day</a:t>
            </a:r>
          </a:p>
          <a:p>
            <a:pPr marL="449262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Time: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These refer to expressions of time, includes different forms </a:t>
            </a:r>
          </a:p>
          <a:p>
            <a:pPr marL="449262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of expressing time. This also includes Hours, minutes and seconds.</a:t>
            </a:r>
          </a:p>
          <a:p>
            <a:pPr marL="919162" lvl="1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i="1" dirty="0">
                <a:latin typeface="Times New Roman" pitchFamily="16" charset="0"/>
                <a:cs typeface="Arial" charset="0"/>
              </a:rPr>
              <a:t>5’o clock in the morning</a:t>
            </a:r>
          </a:p>
          <a:p>
            <a:pPr marL="919162" lvl="1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9.30 a.m.</a:t>
            </a:r>
          </a:p>
          <a:p>
            <a:pPr marL="919162" lvl="1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Evening 6.30 p.m.</a:t>
            </a:r>
          </a:p>
          <a:p>
            <a:pPr marL="449262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Date: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This refers to expressions of Date such as 13/12/2001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etc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 in </a:t>
            </a:r>
          </a:p>
          <a:p>
            <a:pPr marL="449262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different forms. This also includes month, date and year </a:t>
            </a:r>
          </a:p>
          <a:p>
            <a:pPr marL="919162" lvl="1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August 15 1947</a:t>
            </a:r>
          </a:p>
          <a:p>
            <a:pPr marL="919162" lvl="1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1956</a:t>
            </a:r>
          </a:p>
          <a:p>
            <a:pPr marL="919162" lvl="1" indent="-342900">
              <a:buSzPct val="45000"/>
              <a:buFont typeface="Wingdings" panose="05000000000000000000" pitchFamily="2" charset="2"/>
              <a:buChar char="Ø"/>
              <a:tabLst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September 11</a:t>
            </a:r>
          </a:p>
          <a:p>
            <a:pPr eaLnBrk="1" hangingPunct="1">
              <a:spcBef>
                <a:spcPts val="500"/>
              </a:spcBef>
              <a:buNone/>
              <a:defRPr/>
            </a:pPr>
            <a:endParaRPr lang="en-GB" altLang="en-US" sz="2000" dirty="0">
              <a:solidFill>
                <a:srgbClr val="073E87"/>
              </a:solidFill>
              <a:latin typeface="Candara" pitchFamily="32" charset="0"/>
              <a:cs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CCD97-5056-48D9-AE0B-6595CDBD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63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2CBE5D6-8955-7C1C-8A1E-7ABCD1ED64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BF52AE-6234-5A47-056B-E7B61BB6D6B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092847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</a:rPr>
              <a:t>Temporal Expressions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9ED2E194-AAE1-4277-93EC-57912FB8C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83" y="1566423"/>
            <a:ext cx="8534400" cy="4476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1463"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2"/>
                </a:solidFill>
                <a:latin typeface="Calibri" pitchFamily="32" charset="0"/>
              </a:defRPr>
            </a:lvl1pPr>
            <a:lvl2pPr eaLnBrk="0" hangingPunct="0">
              <a:spcBef>
                <a:spcPct val="20000"/>
              </a:spcBef>
              <a:buFont typeface="Arial" charset="0"/>
              <a:buChar char="˃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1"/>
                </a:solidFill>
                <a:latin typeface="Calibri" pitchFamily="32" charset="0"/>
              </a:defRPr>
            </a:lvl2pPr>
            <a:lvl3pPr eaLnBrk="0" hangingPunct="0">
              <a:spcBef>
                <a:spcPct val="20000"/>
              </a:spcBef>
              <a:buFont typeface="Calibri" pitchFamily="32" charset="0"/>
              <a:buChar char="+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Calibri" pitchFamily="32" charset="0"/>
              </a:defRPr>
            </a:lvl3pPr>
            <a:lvl4pPr eaLnBrk="0" hangingPunct="0">
              <a:spcBef>
                <a:spcPct val="20000"/>
              </a:spcBef>
              <a:buFont typeface="Arial" charset="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4pPr>
            <a:lvl5pPr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9pPr>
          </a:lstStyle>
          <a:p>
            <a:pPr marL="714375" indent="-608013"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b="1" u="sng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Period: 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refers to expressions, which express duration of time or </a:t>
            </a:r>
          </a:p>
          <a:p>
            <a:pPr marL="714375" indent="-608013"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time periods or time intervals.</a:t>
            </a:r>
          </a:p>
          <a:p>
            <a:pPr marL="714375" indent="-608013">
              <a:buSzPct val="45000"/>
              <a:buNone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Example</a:t>
            </a:r>
          </a:p>
          <a:p>
            <a:pPr marL="1103313" lvl="1" indent="-533400">
              <a:buSzPct val="75000"/>
              <a:buFont typeface="Symbol" charset="2"/>
              <a:buChar char="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17 </a:t>
            </a:r>
            <a:r>
              <a:rPr lang="en-US" altLang="en-US" sz="2400" dirty="0" err="1">
                <a:latin typeface="Times New Roman" pitchFamily="16" charset="0"/>
                <a:cs typeface="Arial" charset="0"/>
              </a:rPr>
              <a:t>th</a:t>
            </a:r>
            <a:r>
              <a:rPr lang="en-US" altLang="en-US" sz="2400" dirty="0">
                <a:latin typeface="Times New Roman" pitchFamily="16" charset="0"/>
                <a:cs typeface="Arial" charset="0"/>
              </a:rPr>
              <a:t> century</a:t>
            </a:r>
          </a:p>
          <a:p>
            <a:pPr marL="1103313" lvl="1" indent="-533400">
              <a:buSzPct val="75000"/>
              <a:buFont typeface="Symbol" charset="2"/>
              <a:buChar char="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10 minutes</a:t>
            </a:r>
          </a:p>
          <a:p>
            <a:pPr marL="1103313" lvl="1" indent="-533400">
              <a:buSzPct val="75000"/>
              <a:buFont typeface="Symbol" charset="2"/>
              <a:buChar char="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10 a.m. to 12 p.m.</a:t>
            </a:r>
          </a:p>
          <a:p>
            <a:pPr marL="1103313" lvl="1" indent="-533400">
              <a:buSzPct val="75000"/>
              <a:buFont typeface="Symbol" charset="2"/>
              <a:buChar char=""/>
              <a:tabLst>
                <a:tab pos="744538" algn="l"/>
                <a:tab pos="1201738" algn="l"/>
                <a:tab pos="1658938" algn="l"/>
                <a:tab pos="2116138" algn="l"/>
                <a:tab pos="2573338" algn="l"/>
                <a:tab pos="3030538" algn="l"/>
                <a:tab pos="3487738" algn="l"/>
                <a:tab pos="3944938" algn="l"/>
                <a:tab pos="4402138" algn="l"/>
                <a:tab pos="4859338" algn="l"/>
                <a:tab pos="5316538" algn="l"/>
                <a:tab pos="5773738" algn="l"/>
                <a:tab pos="6230938" algn="l"/>
                <a:tab pos="6688138" algn="l"/>
                <a:tab pos="7145338" algn="l"/>
                <a:tab pos="7602538" algn="l"/>
                <a:tab pos="8059738" algn="l"/>
                <a:tab pos="8516938" algn="l"/>
                <a:tab pos="8974138" algn="l"/>
                <a:tab pos="9431338" algn="l"/>
              </a:tabLst>
              <a:defRPr/>
            </a:pPr>
            <a:r>
              <a:rPr lang="en-US" altLang="en-US" sz="2400" dirty="0">
                <a:latin typeface="Times New Roman" pitchFamily="16" charset="0"/>
                <a:cs typeface="Arial" charset="0"/>
              </a:rPr>
              <a:t>One year</a:t>
            </a:r>
          </a:p>
          <a:p>
            <a:pPr eaLnBrk="1" hangingPunct="1">
              <a:spcBef>
                <a:spcPts val="500"/>
              </a:spcBef>
              <a:buNone/>
              <a:defRPr/>
            </a:pPr>
            <a:endParaRPr lang="en-GB" altLang="en-US" sz="2000" dirty="0">
              <a:solidFill>
                <a:srgbClr val="073E87"/>
              </a:solidFill>
              <a:latin typeface="Candara" pitchFamily="32" charset="0"/>
              <a:cs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CD11B-744F-4D18-9343-028FF392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64</a:t>
            </a:fld>
            <a:endParaRPr lang="en-IN"/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03EE1ABE-A3A9-62D4-6213-02CD437AF3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CF2F43-F3BC-E403-33AD-ED331E3151C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6108850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75000"/>
                  </a:schemeClr>
                </a:solidFill>
              </a:rPr>
              <a:t>Nested or embedded entity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40D20BE8-5BD0-431A-BBC3-EACD28B2E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128" y="1819141"/>
            <a:ext cx="9185086" cy="458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1463"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2"/>
                </a:solidFill>
                <a:latin typeface="Calibri" pitchFamily="32" charset="0"/>
              </a:defRPr>
            </a:lvl1pPr>
            <a:lvl2pPr eaLnBrk="0" hangingPunct="0">
              <a:spcBef>
                <a:spcPct val="20000"/>
              </a:spcBef>
              <a:buFont typeface="Arial" charset="0"/>
              <a:buChar char="˃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800">
                <a:solidFill>
                  <a:schemeClr val="tx1"/>
                </a:solidFill>
                <a:latin typeface="Calibri" pitchFamily="32" charset="0"/>
              </a:defRPr>
            </a:lvl2pPr>
            <a:lvl3pPr eaLnBrk="0" hangingPunct="0">
              <a:spcBef>
                <a:spcPct val="20000"/>
              </a:spcBef>
              <a:buFont typeface="Calibri" pitchFamily="32" charset="0"/>
              <a:buChar char="+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400">
                <a:solidFill>
                  <a:schemeClr val="tx1"/>
                </a:solidFill>
                <a:latin typeface="Calibri" pitchFamily="32" charset="0"/>
              </a:defRPr>
            </a:lvl3pPr>
            <a:lvl4pPr eaLnBrk="0" hangingPunct="0">
              <a:spcBef>
                <a:spcPct val="20000"/>
              </a:spcBef>
              <a:buFont typeface="Arial" charset="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4pPr>
            <a:lvl5pPr eaLnBrk="0" hangingPunct="0">
              <a:spcBef>
                <a:spcPct val="20000"/>
              </a:spcBef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sz="2000">
                <a:solidFill>
                  <a:schemeClr val="tx1"/>
                </a:solidFill>
                <a:latin typeface="Calibri" pitchFamily="32" charset="0"/>
              </a:defRPr>
            </a:lvl9pPr>
          </a:lstStyle>
          <a:p>
            <a:pPr algn="just" eaLnBrk="1" hangingPunct="1">
              <a:spcBef>
                <a:spcPts val="650"/>
              </a:spcBef>
              <a:buClr>
                <a:schemeClr val="tx1">
                  <a:lumMod val="50000"/>
                </a:schemeClr>
              </a:buClr>
              <a:buNone/>
              <a:defRPr/>
            </a:pPr>
            <a:r>
              <a:rPr lang="en-GB" altLang="en-US" sz="2400" b="1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Nested Entities: </a:t>
            </a:r>
            <a:r>
              <a:rPr lang="en-GB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Refers to the named entities which occurs within another named entities. Also called as embedded entities.</a:t>
            </a:r>
          </a:p>
          <a:p>
            <a:pPr algn="just" eaLnBrk="1" hangingPunct="1">
              <a:spcBef>
                <a:spcPts val="650"/>
              </a:spcBef>
              <a:buClr>
                <a:schemeClr val="tx1">
                  <a:lumMod val="50000"/>
                </a:schemeClr>
              </a:buClr>
              <a:buNone/>
              <a:defRPr/>
            </a:pPr>
            <a:endParaRPr lang="en-GB" altLang="en-US" sz="2400" dirty="0">
              <a:solidFill>
                <a:schemeClr val="tx1"/>
              </a:solidFill>
              <a:latin typeface="Times New Roman" pitchFamily="16" charset="0"/>
              <a:cs typeface="Arial" charset="0"/>
            </a:endParaRPr>
          </a:p>
          <a:p>
            <a:pPr algn="just" eaLnBrk="1" hangingPunct="1">
              <a:spcBef>
                <a:spcPts val="650"/>
              </a:spcBef>
              <a:buClr>
                <a:schemeClr val="tx1">
                  <a:lumMod val="50000"/>
                </a:schemeClr>
              </a:buClr>
              <a:buNone/>
              <a:defRPr/>
            </a:pPr>
            <a:r>
              <a:rPr lang="en-GB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En:   Madurai               Meenakshi               Temple</a:t>
            </a:r>
          </a:p>
          <a:p>
            <a:pPr algn="just" eaLnBrk="1" hangingPunct="1">
              <a:spcBef>
                <a:spcPts val="650"/>
              </a:spcBef>
              <a:buClr>
                <a:schemeClr val="tx1">
                  <a:lumMod val="50000"/>
                </a:schemeClr>
              </a:buClr>
              <a:buNone/>
              <a:defRPr/>
            </a:pPr>
            <a:r>
              <a:rPr lang="en-GB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En:   Lalu Prasad Yadav</a:t>
            </a:r>
          </a:p>
          <a:p>
            <a:pPr algn="just" eaLnBrk="1" hangingPunct="1">
              <a:spcBef>
                <a:spcPts val="650"/>
              </a:spcBef>
              <a:buClr>
                <a:schemeClr val="tx1">
                  <a:lumMod val="50000"/>
                </a:schemeClr>
              </a:buClr>
              <a:buNone/>
              <a:defRPr/>
            </a:pPr>
            <a:r>
              <a:rPr lang="en-GB" altLang="en-US" sz="2400" dirty="0" err="1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En</a:t>
            </a:r>
            <a:r>
              <a:rPr lang="en-GB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  : </a:t>
            </a:r>
            <a:r>
              <a:rPr lang="en-GB" altLang="en-US" sz="2400" dirty="0" err="1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Nitoor</a:t>
            </a:r>
            <a:r>
              <a:rPr lang="en-GB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                   </a:t>
            </a:r>
            <a:r>
              <a:rPr lang="en-GB" altLang="en-US" sz="2400" dirty="0" err="1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Srinivasa</a:t>
            </a:r>
            <a:r>
              <a:rPr lang="en-GB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 </a:t>
            </a:r>
            <a:r>
              <a:rPr lang="en-GB" altLang="en-US" sz="2400" dirty="0" err="1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rao</a:t>
            </a:r>
            <a:r>
              <a:rPr lang="en-GB" altLang="en-US" sz="2400" baseline="-250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 </a:t>
            </a:r>
            <a:r>
              <a:rPr lang="en-GB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 </a:t>
            </a:r>
            <a:endParaRPr lang="en-GB" altLang="en-US" sz="2400" baseline="-25000" dirty="0">
              <a:solidFill>
                <a:schemeClr val="tx1"/>
              </a:solidFill>
              <a:latin typeface="Times New Roman" pitchFamily="16" charset="0"/>
              <a:cs typeface="Arial" charset="0"/>
            </a:endParaRPr>
          </a:p>
          <a:p>
            <a:pPr algn="just" eaLnBrk="1" hangingPunct="1">
              <a:spcBef>
                <a:spcPts val="650"/>
              </a:spcBef>
              <a:buClr>
                <a:schemeClr val="tx1">
                  <a:lumMod val="50000"/>
                </a:schemeClr>
              </a:buClr>
              <a:buNone/>
              <a:defRPr/>
            </a:pPr>
            <a:r>
              <a:rPr lang="en-GB" altLang="en-US" sz="2400" dirty="0" err="1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En</a:t>
            </a:r>
            <a:r>
              <a:rPr lang="en-GB" altLang="en-US" sz="2400" dirty="0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 :  Rajeev  Gandhi     </a:t>
            </a:r>
            <a:r>
              <a:rPr lang="en-GB" altLang="en-US" sz="2400" dirty="0" err="1">
                <a:solidFill>
                  <a:schemeClr val="tx1"/>
                </a:solidFill>
                <a:latin typeface="Times New Roman" pitchFamily="16" charset="0"/>
                <a:cs typeface="Arial" charset="0"/>
              </a:rPr>
              <a:t>Salai</a:t>
            </a:r>
            <a:r>
              <a:rPr lang="en-GB" altLang="en-US" sz="2000" baseline="-25000" dirty="0">
                <a:solidFill>
                  <a:schemeClr val="bg2">
                    <a:lumMod val="10000"/>
                  </a:schemeClr>
                </a:solidFill>
                <a:latin typeface="Times New Roman" pitchFamily="16" charset="0"/>
                <a:cs typeface="Arial" charset="0"/>
              </a:rPr>
              <a:t>      	</a:t>
            </a:r>
            <a:endParaRPr lang="en-GB" altLang="en-US" sz="2000" dirty="0">
              <a:solidFill>
                <a:schemeClr val="bg2">
                  <a:lumMod val="10000"/>
                </a:schemeClr>
              </a:solidFill>
              <a:latin typeface="Times New Roman" pitchFamily="16" charset="0"/>
              <a:cs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B7D5F-DA91-45B3-8256-DA16D20A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65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9A7930E2-E4B4-0653-7A12-970AB17E9A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83180E-610F-D2B4-C30A-2828A3CBDBE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2823101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7E70-C168-F032-027C-1DDBC915E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CB0D2F-3ECA-3458-64A9-FBA47F28C855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F5CB06C-1E61-A96B-3EA1-988EFE49E756}"/>
              </a:ext>
            </a:extLst>
          </p:cNvPr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Nested or embedded entity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B3464-E8EE-A0C8-21FE-71104989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66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CE474C1-99A5-C0EE-7B87-CF943A26130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8BA940-79AB-0D89-D86F-660C64FD707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7C5447-9D93-7FAD-C5F7-ABB9241087AB}"/>
              </a:ext>
            </a:extLst>
          </p:cNvPr>
          <p:cNvSpPr/>
          <p:nvPr/>
        </p:nvSpPr>
        <p:spPr>
          <a:xfrm>
            <a:off x="556144" y="1879045"/>
            <a:ext cx="63410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Entities can be 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Person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Location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Organization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Date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Product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Fruit</a:t>
            </a:r>
          </a:p>
          <a:p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2C62F-B789-0DBC-6FB7-E7A7BA6216AC}"/>
              </a:ext>
            </a:extLst>
          </p:cNvPr>
          <p:cNvSpPr/>
          <p:nvPr/>
        </p:nvSpPr>
        <p:spPr>
          <a:xfrm>
            <a:off x="3125972" y="3557532"/>
            <a:ext cx="80151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Sridhar wants to buy Apple phone in India on January 16, 2025.</a:t>
            </a:r>
          </a:p>
          <a:p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5290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B917-369C-BB55-5983-3849106B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FAA6A4-CEBE-028D-38B3-5583AE7C9336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46848D7-64E3-B70F-B8E8-B20FC8014C51}"/>
              </a:ext>
            </a:extLst>
          </p:cNvPr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Nested or embedded entity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CF077-EF45-1C48-B4D5-F78C394B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67</a:t>
            </a:fld>
            <a:endParaRPr lang="en-IN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1C7FA7A6-5020-5100-6EBF-F0F2DBE6D0A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7F539F-4181-B3DB-7A3A-4BC09F58BB6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0602DD-EB2F-A6FF-2A8C-A16BE10FCBEF}"/>
              </a:ext>
            </a:extLst>
          </p:cNvPr>
          <p:cNvSpPr/>
          <p:nvPr/>
        </p:nvSpPr>
        <p:spPr>
          <a:xfrm>
            <a:off x="556144" y="1879045"/>
            <a:ext cx="63410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Entities can be 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Person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Location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Organization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Date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Product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Fruit</a:t>
            </a:r>
          </a:p>
          <a:p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E008A-A6BF-3413-7503-E645FC89E21B}"/>
              </a:ext>
            </a:extLst>
          </p:cNvPr>
          <p:cNvSpPr/>
          <p:nvPr/>
        </p:nvSpPr>
        <p:spPr>
          <a:xfrm>
            <a:off x="3125972" y="3557532"/>
            <a:ext cx="80151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highlight>
                  <a:srgbClr val="FFFF00"/>
                </a:highlight>
              </a:rPr>
              <a:t>Sridhar</a:t>
            </a:r>
            <a:r>
              <a:rPr lang="en-US" sz="2400" dirty="0">
                <a:solidFill>
                  <a:schemeClr val="tx2"/>
                </a:solidFill>
              </a:rPr>
              <a:t> wants to buy </a:t>
            </a:r>
            <a:r>
              <a:rPr lang="en-US" sz="2400" dirty="0">
                <a:solidFill>
                  <a:schemeClr val="tx2"/>
                </a:solidFill>
                <a:highlight>
                  <a:srgbClr val="FFFF00"/>
                </a:highlight>
              </a:rPr>
              <a:t>Apple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  <a:highlight>
                  <a:srgbClr val="FFFF00"/>
                </a:highlight>
              </a:rPr>
              <a:t>phone</a:t>
            </a:r>
            <a:r>
              <a:rPr lang="en-US" sz="2400" dirty="0">
                <a:solidFill>
                  <a:schemeClr val="tx2"/>
                </a:solidFill>
              </a:rPr>
              <a:t> in </a:t>
            </a:r>
            <a:r>
              <a:rPr lang="en-US" sz="2400" dirty="0">
                <a:solidFill>
                  <a:schemeClr val="tx2"/>
                </a:solidFill>
                <a:highlight>
                  <a:srgbClr val="FFFF00"/>
                </a:highlight>
              </a:rPr>
              <a:t>India</a:t>
            </a:r>
            <a:r>
              <a:rPr lang="en-US" sz="2400" dirty="0">
                <a:solidFill>
                  <a:schemeClr val="tx2"/>
                </a:solidFill>
              </a:rPr>
              <a:t> on </a:t>
            </a:r>
            <a:r>
              <a:rPr lang="en-US" sz="2400" dirty="0">
                <a:solidFill>
                  <a:schemeClr val="tx2"/>
                </a:solidFill>
                <a:highlight>
                  <a:srgbClr val="FFFF00"/>
                </a:highlight>
              </a:rPr>
              <a:t>January 16, 2025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43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811A-2FC1-0C77-BD31-2E6C082F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6DF6489-D7A3-40AC-112A-543C900C9F3F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D25856-DCFF-7A6A-4374-83D050D31E24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71B449-2826-7977-8466-4D1865C32AA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CDF589-379E-0A5A-E263-6500CA2727EE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A50068-80A7-0452-01BA-6FF1BFF4A0D8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4D576D-9B28-A545-1BD0-2B01A87345A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6175C2-36E1-01FD-5B60-D8FD3FB0A51F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83248446-CE7F-0835-D6E8-CAE0E10E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9F8ED8-595B-56B2-E722-3B6812D733E9}"/>
              </a:ext>
            </a:extLst>
          </p:cNvPr>
          <p:cNvSpPr/>
          <p:nvPr/>
        </p:nvSpPr>
        <p:spPr>
          <a:xfrm>
            <a:off x="4731026" y="3615531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         Thank You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1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18212</TotalTime>
  <Words>4443</Words>
  <Application>Microsoft Office PowerPoint</Application>
  <PresentationFormat>Widescreen</PresentationFormat>
  <Paragraphs>537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Arial</vt:lpstr>
      <vt:lpstr>Calibri</vt:lpstr>
      <vt:lpstr>Calibri Light</vt:lpstr>
      <vt:lpstr>Candara</vt:lpstr>
      <vt:lpstr>Symbol</vt:lpstr>
      <vt:lpstr>Times</vt:lpstr>
      <vt:lpstr>Times New Roman</vt:lpstr>
      <vt:lpstr>Wingdings</vt:lpstr>
      <vt:lpstr>ヒラギノ角ゴ Pro W3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 based : Start with a dictionary</vt:lpstr>
      <vt:lpstr>Write rules to eliminate tags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MHR</dc:creator>
  <cp:lastModifiedBy>Dr Pooja Agarwal</cp:lastModifiedBy>
  <cp:revision>324</cp:revision>
  <dcterms:created xsi:type="dcterms:W3CDTF">2020-06-03T14:19:11Z</dcterms:created>
  <dcterms:modified xsi:type="dcterms:W3CDTF">2026-01-14T02:04:00Z</dcterms:modified>
</cp:coreProperties>
</file>