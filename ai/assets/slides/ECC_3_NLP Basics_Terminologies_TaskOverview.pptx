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comments/comment1.xml" ContentType="application/vnd.openxmlformats-officedocument.presentationml.comments+xml"/>
  <Override PartName="/ppt/ink/ink5.xml" ContentType="application/inkml+xml"/>
  <Override PartName="/ppt/ink/ink6.xml" ContentType="application/inkml+xml"/>
  <Override PartName="/ppt/ink/ink7.xml" ContentType="application/inkml+xml"/>
  <Override PartName="/ppt/ink/ink8.xml" ContentType="application/inkml+xml"/>
  <Override PartName="/ppt/comments/comment2.xml" ContentType="application/vnd.openxmlformats-officedocument.presentationml.comments+xml"/>
  <Override PartName="/ppt/ink/ink9.xml" ContentType="application/inkml+xml"/>
  <Override PartName="/ppt/ink/ink10.xml" ContentType="application/inkml+xml"/>
  <Override PartName="/ppt/ink/ink11.xml" ContentType="application/inkml+xml"/>
  <Override PartName="/ppt/ink/ink12.xml" ContentType="application/inkml+xml"/>
  <Override PartName="/ppt/comments/comment3.xml" ContentType="application/vnd.openxmlformats-officedocument.presentationml.comments+xml"/>
  <Override PartName="/ppt/ink/ink13.xml" ContentType="application/inkml+xml"/>
  <Override PartName="/ppt/ink/ink14.xml" ContentType="application/inkml+xml"/>
  <Override PartName="/ppt/ink/ink15.xml" ContentType="application/inkml+xml"/>
  <Override PartName="/ppt/ink/ink16.xml" ContentType="application/inkml+xml"/>
  <Override PartName="/ppt/comments/comment4.xml" ContentType="application/vnd.openxmlformats-officedocument.presentationml.comments+xml"/>
  <Override PartName="/ppt/ink/ink17.xml" ContentType="application/inkml+xml"/>
  <Override PartName="/ppt/ink/ink18.xml" ContentType="application/inkml+xml"/>
  <Override PartName="/ppt/ink/ink19.xml" ContentType="application/inkml+xml"/>
  <Override PartName="/ppt/ink/ink20.xml" ContentType="application/inkml+xml"/>
  <Override PartName="/ppt/comments/comment5.xml" ContentType="application/vnd.openxmlformats-officedocument.presentationml.comments+xml"/>
  <Override PartName="/ppt/ink/ink21.xml" ContentType="application/inkml+xml"/>
  <Override PartName="/ppt/ink/ink22.xml" ContentType="application/inkml+xml"/>
  <Override PartName="/ppt/ink/ink23.xml" ContentType="application/inkml+xml"/>
  <Override PartName="/ppt/ink/ink24.xml" ContentType="application/inkml+xml"/>
  <Override PartName="/ppt/comments/comment6.xml" ContentType="application/vnd.openxmlformats-officedocument.presentationml.comments+xml"/>
  <Override PartName="/ppt/ink/ink25.xml" ContentType="application/inkml+xml"/>
  <Override PartName="/ppt/ink/ink26.xml" ContentType="application/inkml+xml"/>
  <Override PartName="/ppt/ink/ink27.xml" ContentType="application/inkml+xml"/>
  <Override PartName="/ppt/ink/ink28.xml" ContentType="application/inkml+xml"/>
  <Override PartName="/ppt/comments/comment7.xml" ContentType="application/vnd.openxmlformats-officedocument.presentationml.comments+xml"/>
  <Override PartName="/ppt/ink/ink29.xml" ContentType="application/inkml+xml"/>
  <Override PartName="/ppt/ink/ink30.xml" ContentType="application/inkml+xml"/>
  <Override PartName="/ppt/ink/ink31.xml" ContentType="application/inkml+xml"/>
  <Override PartName="/ppt/ink/ink32.xml" ContentType="application/inkml+xml"/>
  <Override PartName="/ppt/comments/comment8.xml" ContentType="application/vnd.openxmlformats-officedocument.presentationml.comments+xml"/>
  <Override PartName="/ppt/ink/ink33.xml" ContentType="application/inkml+xml"/>
  <Override PartName="/ppt/ink/ink34.xml" ContentType="application/inkml+xml"/>
  <Override PartName="/ppt/ink/ink35.xml" ContentType="application/inkml+xml"/>
  <Override PartName="/ppt/ink/ink36.xml" ContentType="application/inkml+xml"/>
  <Override PartName="/ppt/comments/comment9.xml" ContentType="application/vnd.openxmlformats-officedocument.presentationml.comments+xml"/>
  <Override PartName="/ppt/ink/ink37.xml" ContentType="application/inkml+xml"/>
  <Override PartName="/ppt/ink/ink38.xml" ContentType="application/inkml+xml"/>
  <Override PartName="/ppt/ink/ink39.xml" ContentType="application/inkml+xml"/>
  <Override PartName="/ppt/ink/ink40.xml" ContentType="application/inkml+xml"/>
  <Override PartName="/ppt/comments/comment10.xml" ContentType="application/vnd.openxmlformats-officedocument.presentationml.comments+xml"/>
  <Override PartName="/ppt/ink/ink41.xml" ContentType="application/inkml+xml"/>
  <Override PartName="/ppt/ink/ink42.xml" ContentType="application/inkml+xml"/>
  <Override PartName="/ppt/ink/ink43.xml" ContentType="application/inkml+xml"/>
  <Override PartName="/ppt/ink/ink44.xml" ContentType="application/inkml+xml"/>
  <Override PartName="/ppt/comments/comment11.xml" ContentType="application/vnd.openxmlformats-officedocument.presentationml.comments+xml"/>
  <Override PartName="/ppt/ink/ink45.xml" ContentType="application/inkml+xml"/>
  <Override PartName="/ppt/ink/ink46.xml" ContentType="application/inkml+xml"/>
  <Override PartName="/ppt/ink/ink47.xml" ContentType="application/inkml+xml"/>
  <Override PartName="/ppt/ink/ink48.xml" ContentType="application/inkml+xml"/>
  <Override PartName="/ppt/comments/comment12.xml" ContentType="application/vnd.openxmlformats-officedocument.presentationml.comments+xml"/>
  <Override PartName="/ppt/ink/ink49.xml" ContentType="application/inkml+xml"/>
  <Override PartName="/ppt/ink/ink50.xml" ContentType="application/inkml+xml"/>
  <Override PartName="/ppt/ink/ink51.xml" ContentType="application/inkml+xml"/>
  <Override PartName="/ppt/ink/ink52.xml" ContentType="application/inkml+xml"/>
  <Override PartName="/ppt/comments/comment13.xml" ContentType="application/vnd.openxmlformats-officedocument.presentationml.comments+xml"/>
  <Override PartName="/ppt/ink/ink53.xml" ContentType="application/inkml+xml"/>
  <Override PartName="/ppt/ink/ink54.xml" ContentType="application/inkml+xml"/>
  <Override PartName="/ppt/ink/ink55.xml" ContentType="application/inkml+xml"/>
  <Override PartName="/ppt/ink/ink56.xml" ContentType="application/inkml+xml"/>
  <Override PartName="/ppt/comments/comment14.xml" ContentType="application/vnd.openxmlformats-officedocument.presentationml.comments+xml"/>
  <Override PartName="/ppt/ink/ink57.xml" ContentType="application/inkml+xml"/>
  <Override PartName="/ppt/ink/ink58.xml" ContentType="application/inkml+xml"/>
  <Override PartName="/ppt/ink/ink59.xml" ContentType="application/inkml+xml"/>
  <Override PartName="/ppt/ink/ink60.xml" ContentType="application/inkml+xml"/>
  <Override PartName="/ppt/comments/comment15.xml" ContentType="application/vnd.openxmlformats-officedocument.presentationml.comments+xml"/>
  <Override PartName="/ppt/ink/ink61.xml" ContentType="application/inkml+xml"/>
  <Override PartName="/ppt/ink/ink62.xml" ContentType="application/inkml+xml"/>
  <Override PartName="/ppt/ink/ink63.xml" ContentType="application/inkml+xml"/>
  <Override PartName="/ppt/ink/ink64.xml" ContentType="application/inkml+xml"/>
  <Override PartName="/ppt/comments/comment16.xml" ContentType="application/vnd.openxmlformats-officedocument.presentationml.comments+xml"/>
  <Override PartName="/ppt/ink/ink65.xml" ContentType="application/inkml+xml"/>
  <Override PartName="/ppt/ink/ink66.xml" ContentType="application/inkml+xml"/>
  <Override PartName="/ppt/ink/ink67.xml" ContentType="application/inkml+xml"/>
  <Override PartName="/ppt/ink/ink68.xml" ContentType="application/inkml+xml"/>
  <Override PartName="/ppt/comments/comment17.xml" ContentType="application/vnd.openxmlformats-officedocument.presentationml.comments+xml"/>
  <Override PartName="/ppt/ink/ink69.xml" ContentType="application/inkml+xml"/>
  <Override PartName="/ppt/ink/ink70.xml" ContentType="application/inkml+xml"/>
  <Override PartName="/ppt/ink/ink71.xml" ContentType="application/inkml+xml"/>
  <Override PartName="/ppt/ink/ink72.xml" ContentType="application/inkml+xml"/>
  <Override PartName="/ppt/comments/comment18.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606" r:id="rId2"/>
    <p:sldId id="607" r:id="rId3"/>
    <p:sldId id="471" r:id="rId4"/>
    <p:sldId id="390" r:id="rId5"/>
    <p:sldId id="731" r:id="rId6"/>
    <p:sldId id="732" r:id="rId7"/>
    <p:sldId id="737" r:id="rId8"/>
    <p:sldId id="738" r:id="rId9"/>
    <p:sldId id="739" r:id="rId10"/>
    <p:sldId id="740" r:id="rId11"/>
    <p:sldId id="741" r:id="rId12"/>
    <p:sldId id="736" r:id="rId13"/>
    <p:sldId id="743" r:id="rId14"/>
    <p:sldId id="747" r:id="rId15"/>
    <p:sldId id="748" r:id="rId16"/>
    <p:sldId id="749" r:id="rId17"/>
    <p:sldId id="735" r:id="rId18"/>
    <p:sldId id="733" r:id="rId19"/>
    <p:sldId id="750" r:id="rId20"/>
    <p:sldId id="751" r:id="rId21"/>
    <p:sldId id="752" r:id="rId22"/>
    <p:sldId id="68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sit" initials="p" lastIdx="19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9" autoAdjust="0"/>
    <p:restoredTop sz="94660"/>
  </p:normalViewPr>
  <p:slideViewPr>
    <p:cSldViewPr snapToGrid="0">
      <p:cViewPr varScale="1">
        <p:scale>
          <a:sx n="63" d="100"/>
          <a:sy n="63" d="100"/>
        </p:scale>
        <p:origin x="688"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6-01T13:54:17.085" idx="107">
    <p:pos x="16" y="394"/>
    <p:text>This is the normal slide to insert text, videos, etc</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0-06-01T13:54:17.085" idx="170">
    <p:pos x="16" y="394"/>
    <p:text>This is the normal slide to insert text, videos, etc</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20-06-01T13:54:17.085" idx="171">
    <p:pos x="16" y="394"/>
    <p:text>This is the normal slide to insert text, videos, etc</p:text>
  </p:cm>
</p:cmLst>
</file>

<file path=ppt/comments/comment4.xml><?xml version="1.0" encoding="utf-8"?>
<p:cmLst xmlns:a="http://schemas.openxmlformats.org/drawingml/2006/main" xmlns:r="http://schemas.openxmlformats.org/officeDocument/2006/relationships" xmlns:p="http://schemas.openxmlformats.org/presentationml/2006/main">
  <p:cm authorId="1" dt="2020-06-01T13:54:17.085" idx="177">
    <p:pos x="16" y="394"/>
    <p:text>This is the normal slide to insert text, videos, etc</p:text>
  </p:cm>
</p:cmLst>
</file>

<file path=ppt/comments/comment5.xml><?xml version="1.0" encoding="utf-8"?>
<p:cmLst xmlns:a="http://schemas.openxmlformats.org/drawingml/2006/main" xmlns:r="http://schemas.openxmlformats.org/officeDocument/2006/relationships" xmlns:p="http://schemas.openxmlformats.org/presentationml/2006/main">
  <p:cm authorId="1" dt="2020-06-01T13:54:17.085" idx="178">
    <p:pos x="16" y="394"/>
    <p:text>This is the normal slide to insert text, videos, etc</p:text>
  </p:cm>
</p:cmLst>
</file>

<file path=ppt/comments/comment6.xml><?xml version="1.0" encoding="utf-8"?>
<p:cmLst xmlns:a="http://schemas.openxmlformats.org/drawingml/2006/main" xmlns:r="http://schemas.openxmlformats.org/officeDocument/2006/relationships" xmlns:p="http://schemas.openxmlformats.org/presentationml/2006/main">
  <p:cm authorId="1" dt="2020-06-01T13:54:17.085" idx="179">
    <p:pos x="16" y="394"/>
    <p:text>This is the normal slide to insert text, videos, etc</p:text>
  </p:cm>
</p:cmLst>
</file>

<file path=ppt/comments/comment7.xml><?xml version="1.0" encoding="utf-8"?>
<p:cmLst xmlns:a="http://schemas.openxmlformats.org/drawingml/2006/main" xmlns:r="http://schemas.openxmlformats.org/officeDocument/2006/relationships" xmlns:p="http://schemas.openxmlformats.org/presentationml/2006/main">
  <p:cm authorId="1" dt="2020-06-01T13:54:17.085" idx="180">
    <p:pos x="16" y="394"/>
    <p:text>This is the normal slide to insert text, videos, etc</p:text>
  </p:cm>
</p:cmLst>
</file>

<file path=ppt/comments/comment8.xml><?xml version="1.0" encoding="utf-8"?>
<p:cmLst xmlns:a="http://schemas.openxmlformats.org/drawingml/2006/main" xmlns:r="http://schemas.openxmlformats.org/officeDocument/2006/relationships" xmlns:p="http://schemas.openxmlformats.org/presentationml/2006/main">
  <p:cm authorId="1" dt="2020-06-01T13:54:17.085" idx="181">
    <p:pos x="16" y="394"/>
    <p:text>This is the normal slide to insert text, videos, etc</p:text>
  </p:cm>
</p:cmLst>
</file>

<file path=ppt/comments/comment9.xml><?xml version="1.0" encoding="utf-8"?>
<p:cmLst xmlns:a="http://schemas.openxmlformats.org/drawingml/2006/main" xmlns:r="http://schemas.openxmlformats.org/officeDocument/2006/relationships" xmlns:p="http://schemas.openxmlformats.org/presentationml/2006/main">
  <p:cm authorId="1" dt="2020-06-01T13:54:17.085" idx="175">
    <p:pos x="16" y="394"/>
    <p:text>This is the normal slide to insert text, videos, etc</p:text>
  </p:cm>
</p:cmLst>
</file>

<file path=ppt/comments/comment10.xml><?xml version="1.0" encoding="utf-8"?>
<p:cmLst xmlns:a="http://schemas.openxmlformats.org/drawingml/2006/main" xmlns:r="http://schemas.openxmlformats.org/officeDocument/2006/relationships" xmlns:p="http://schemas.openxmlformats.org/presentationml/2006/main">
  <p:cm authorId="1" dt="2020-06-01T13:54:17.085" idx="183">
    <p:pos x="16" y="394"/>
    <p:text>This is the normal slide to insert text, videos, etc</p:text>
  </p:cm>
</p:cmLst>
</file>

<file path=ppt/comments/comment11.xml><?xml version="1.0" encoding="utf-8"?>
<p:cmLst xmlns:a="http://schemas.openxmlformats.org/drawingml/2006/main" xmlns:r="http://schemas.openxmlformats.org/officeDocument/2006/relationships" xmlns:p="http://schemas.openxmlformats.org/presentationml/2006/main">
  <p:cm authorId="1" dt="2020-06-01T13:54:17.085" idx="187">
    <p:pos x="16" y="394"/>
    <p:text>This is the normal slide to insert text, videos, etc</p:text>
  </p:cm>
</p:cmLst>
</file>

<file path=ppt/comments/comment12.xml><?xml version="1.0" encoding="utf-8"?>
<p:cmLst xmlns:a="http://schemas.openxmlformats.org/drawingml/2006/main" xmlns:r="http://schemas.openxmlformats.org/officeDocument/2006/relationships" xmlns:p="http://schemas.openxmlformats.org/presentationml/2006/main">
  <p:cm authorId="1" dt="2020-06-01T13:54:17.085" idx="188">
    <p:pos x="16" y="394"/>
    <p:text>This is the normal slide to insert text, videos, etc</p:text>
  </p:cm>
</p:cmLst>
</file>

<file path=ppt/comments/comment13.xml><?xml version="1.0" encoding="utf-8"?>
<p:cmLst xmlns:a="http://schemas.openxmlformats.org/drawingml/2006/main" xmlns:r="http://schemas.openxmlformats.org/officeDocument/2006/relationships" xmlns:p="http://schemas.openxmlformats.org/presentationml/2006/main">
  <p:cm authorId="1" dt="2020-06-01T13:54:17.085" idx="189">
    <p:pos x="16" y="394"/>
    <p:text>This is the normal slide to insert text, videos, etc</p:text>
  </p:cm>
</p:cmLst>
</file>

<file path=ppt/comments/comment14.xml><?xml version="1.0" encoding="utf-8"?>
<p:cmLst xmlns:a="http://schemas.openxmlformats.org/drawingml/2006/main" xmlns:r="http://schemas.openxmlformats.org/officeDocument/2006/relationships" xmlns:p="http://schemas.openxmlformats.org/presentationml/2006/main">
  <p:cm authorId="1" dt="2020-06-01T13:54:17.085" idx="176">
    <p:pos x="16" y="394"/>
    <p:text>This is the normal slide to insert text, videos, etc</p:text>
  </p:cm>
</p:cmLst>
</file>

<file path=ppt/comments/comment15.xml><?xml version="1.0" encoding="utf-8"?>
<p:cmLst xmlns:a="http://schemas.openxmlformats.org/drawingml/2006/main" xmlns:r="http://schemas.openxmlformats.org/officeDocument/2006/relationships" xmlns:p="http://schemas.openxmlformats.org/presentationml/2006/main">
  <p:cm authorId="1" dt="2020-06-01T13:54:17.085" idx="172">
    <p:pos x="16" y="394"/>
    <p:text>This is the normal slide to insert text, videos, etc</p:text>
  </p:cm>
</p:cmLst>
</file>

<file path=ppt/comments/comment16.xml><?xml version="1.0" encoding="utf-8"?>
<p:cmLst xmlns:a="http://schemas.openxmlformats.org/drawingml/2006/main" xmlns:r="http://schemas.openxmlformats.org/officeDocument/2006/relationships" xmlns:p="http://schemas.openxmlformats.org/presentationml/2006/main">
  <p:cm authorId="1" dt="2020-06-01T13:54:17.085" idx="190">
    <p:pos x="16" y="394"/>
    <p:text>This is the normal slide to insert text, videos, etc</p:text>
  </p:cm>
</p:cmLst>
</file>

<file path=ppt/comments/comment17.xml><?xml version="1.0" encoding="utf-8"?>
<p:cmLst xmlns:a="http://schemas.openxmlformats.org/drawingml/2006/main" xmlns:r="http://schemas.openxmlformats.org/officeDocument/2006/relationships" xmlns:p="http://schemas.openxmlformats.org/presentationml/2006/main">
  <p:cm authorId="1" dt="2020-06-01T13:54:17.085" idx="192">
    <p:pos x="16" y="394"/>
    <p:text>This is the normal slide to insert text, videos, etc</p:text>
  </p:cm>
</p:cmLst>
</file>

<file path=ppt/comments/comment18.xml><?xml version="1.0" encoding="utf-8"?>
<p:cmLst xmlns:a="http://schemas.openxmlformats.org/drawingml/2006/main" xmlns:r="http://schemas.openxmlformats.org/officeDocument/2006/relationships" xmlns:p="http://schemas.openxmlformats.org/presentationml/2006/main">
  <p:cm authorId="1" dt="2020-06-01T13:54:17.085" idx="193">
    <p:pos x="16" y="394"/>
    <p:text>This is the normal slide to insert text, videos, etc</p:text>
  </p:cm>
</p:cmLst>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4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5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5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5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5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5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5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5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5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5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5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6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6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6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6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6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6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6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6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6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ink/ink6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32.9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 96 216,'-5'-8'240,"5"3"-9,-1 3-11,-2-3-15,3 5-7,3-5-27,-3 5-15,-4-4-11,4 4-10,0-6-9,0 6-7,0 0-9,0-4-3,0 4-11,0 0-12,1-4-9,-1 4-6,8-2-7,-8 2-7,5-4-7,-4 3-13,3-2-13,0 1-26,1 0-29,0-1-40,4 0-23,-4-1-42,6-2-44,1 0-53,-4-1-126,1 2-391,4 0 173</inkml:trace>
</inkml:ink>
</file>

<file path=ppt/ink/ink7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0:49.6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 3 180,'0'0'236,"0"0"-41,0 0-46,-3-3-68,3 3-50,0 0-51,0 0-36,0 0-77,0 0-144,0 0 64</inkml:trace>
</inkml:ink>
</file>

<file path=ppt/ink/ink7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9.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11685 0 132,'0'0'236,"0"0"-25,0 0-36,0 0-68,0 0-84,0 0-171,0 0-159,0 0 70</inkml:trace>
  <inkml:trace contextRef="#ctx0" brushRef="#br0" timeOffset="805">11271 563 99,'0'0'286,"0"0"-21,0 0-30,-5 1-31,5-1-58,0 0-78,0 0-113,0 0-165,0 0-227,0 0 100</inkml:trace>
  <inkml:trace contextRef="#ctx0" brushRef="#br0" timeOffset="27117">7568 930 273,'7'-1'330,"-7"1"-31,0 0-30,2-6-49,-2 6-56,0 0-68,0-2-99,0 2-89,0 0-168,0 0-280,10-4 124</inkml:trace>
  <inkml:trace contextRef="#ctx0" brushRef="#br0" timeOffset="31881">11796 1327 195,'3'4'302,"-3"-4"-5,0 0-17,0 0-21,0 0-27,0 0-30,0 0-52,0 0-57,0 0-96,0 0-136,0 0-173,0 0-337,0 0 149</inkml:trace>
  <inkml:trace contextRef="#ctx0" brushRef="#br0" timeOffset="83060">0 224 142,'1'6'315,"2"-3"-35,-3-3-40,0 0-61,0 4-81,0-4-110,0 0-195,0 0-225,0 0 99</inkml:trace>
</inkml:ink>
</file>

<file path=ppt/ink/ink7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0-11-06T05:51:50.8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8280 8 26,'0'0'18,"0"0"-26,0 0-7,-13-8 3</inkml:trace>
  <inkml:trace contextRef="#ctx0" brushRef="#br0" timeOffset="68532">14 9520 81,'0'0'211,"0"0"-38,-9-1-37,9 1-50,-5-3-51,5 3-101,0 0-44,0 0-118,0 0 52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CD3830-85D1-4120-A46B-CD9B950C3BB9}" type="datetimeFigureOut">
              <a:rPr lang="en-IN" smtClean="0"/>
              <a:t>09-01-2026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3F3AB-41E1-4FEB-829F-210A55F37EFE}" type="slidenum">
              <a:rPr lang="en-IN" smtClean="0"/>
              <a:t>‹#›</a:t>
            </a:fld>
            <a:endParaRPr lang="en-IN"/>
          </a:p>
        </p:txBody>
      </p:sp>
    </p:spTree>
    <p:extLst>
      <p:ext uri="{BB962C8B-B14F-4D97-AF65-F5344CB8AC3E}">
        <p14:creationId xmlns:p14="http://schemas.microsoft.com/office/powerpoint/2010/main" val="3618736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FD0FAF20-943D-6D5B-EB55-42994CDC594A}"/>
            </a:ext>
          </a:extLst>
        </p:cNvPr>
        <p:cNvGrpSpPr/>
        <p:nvPr/>
      </p:nvGrpSpPr>
      <p:grpSpPr>
        <a:xfrm>
          <a:off x="0" y="0"/>
          <a:ext cx="0" cy="0"/>
          <a:chOff x="0" y="0"/>
          <a:chExt cx="0" cy="0"/>
        </a:xfrm>
      </p:grpSpPr>
      <p:sp>
        <p:nvSpPr>
          <p:cNvPr id="131" name="Google Shape;131;g3228949e6b4_2_98:notes">
            <a:extLst>
              <a:ext uri="{FF2B5EF4-FFF2-40B4-BE49-F238E27FC236}">
                <a16:creationId xmlns:a16="http://schemas.microsoft.com/office/drawing/2014/main" id="{34F18E50-8493-6570-0E07-D091FF04F3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228949e6b4_2_98:notes">
            <a:extLst>
              <a:ext uri="{FF2B5EF4-FFF2-40B4-BE49-F238E27FC236}">
                <a16:creationId xmlns:a16="http://schemas.microsoft.com/office/drawing/2014/main" id="{954DDAC6-91EA-6BC4-139B-63C67B3B54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26600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E7196-0A1D-43F9-96F8-6131A8C3E5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591A347-14E4-4DA6-8466-E20F5DD0C1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F25BB59-6C06-4608-B9C2-AFD556E0E88B}"/>
              </a:ext>
            </a:extLst>
          </p:cNvPr>
          <p:cNvSpPr>
            <a:spLocks noGrp="1"/>
          </p:cNvSpPr>
          <p:nvPr>
            <p:ph type="dt" sz="half" idx="10"/>
          </p:nvPr>
        </p:nvSpPr>
        <p:spPr/>
        <p:txBody>
          <a:bodyPr/>
          <a:lstStyle/>
          <a:p>
            <a:fld id="{72225D5B-60F4-47F1-97DF-38107AB8C824}" type="datetime1">
              <a:rPr lang="en-IN" smtClean="0"/>
              <a:t>09-01-2026</a:t>
            </a:fld>
            <a:endParaRPr lang="en-IN"/>
          </a:p>
        </p:txBody>
      </p:sp>
      <p:sp>
        <p:nvSpPr>
          <p:cNvPr id="5" name="Footer Placeholder 4">
            <a:extLst>
              <a:ext uri="{FF2B5EF4-FFF2-40B4-BE49-F238E27FC236}">
                <a16:creationId xmlns:a16="http://schemas.microsoft.com/office/drawing/2014/main" id="{DE024737-A7EA-405D-9C53-00DC763580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AFCA8F-5152-4E17-A634-AAC30C0A16CE}"/>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50938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97697-0E3B-45DE-993E-41D6192C54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F5D431-817D-468E-AC74-4AEFB8C24B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E66076-D71B-432E-B3DA-D6BFA8E70485}"/>
              </a:ext>
            </a:extLst>
          </p:cNvPr>
          <p:cNvSpPr>
            <a:spLocks noGrp="1"/>
          </p:cNvSpPr>
          <p:nvPr>
            <p:ph type="dt" sz="half" idx="10"/>
          </p:nvPr>
        </p:nvSpPr>
        <p:spPr/>
        <p:txBody>
          <a:bodyPr/>
          <a:lstStyle/>
          <a:p>
            <a:fld id="{A653B269-3C36-483D-9396-A3070A3EEBFC}" type="datetime1">
              <a:rPr lang="en-IN" smtClean="0"/>
              <a:t>09-01-2026</a:t>
            </a:fld>
            <a:endParaRPr lang="en-IN"/>
          </a:p>
        </p:txBody>
      </p:sp>
      <p:sp>
        <p:nvSpPr>
          <p:cNvPr id="5" name="Footer Placeholder 4">
            <a:extLst>
              <a:ext uri="{FF2B5EF4-FFF2-40B4-BE49-F238E27FC236}">
                <a16:creationId xmlns:a16="http://schemas.microsoft.com/office/drawing/2014/main" id="{86E9EAE1-A891-420F-AABF-E5D3570753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050AF0-4B82-4D90-9977-2702EFAD047E}"/>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3998037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76000-B1F3-49B4-8840-4F2FE09F31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F9AD8B6-0C53-47EB-9E27-9A8CFF9C0D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4A0F0A-5BC1-44A8-A937-DAAFBEA3CE4A}"/>
              </a:ext>
            </a:extLst>
          </p:cNvPr>
          <p:cNvSpPr>
            <a:spLocks noGrp="1"/>
          </p:cNvSpPr>
          <p:nvPr>
            <p:ph type="dt" sz="half" idx="10"/>
          </p:nvPr>
        </p:nvSpPr>
        <p:spPr/>
        <p:txBody>
          <a:bodyPr/>
          <a:lstStyle/>
          <a:p>
            <a:fld id="{D719002D-9AE5-44B1-9B10-FB085242BC49}" type="datetime1">
              <a:rPr lang="en-IN" smtClean="0"/>
              <a:t>09-01-2026</a:t>
            </a:fld>
            <a:endParaRPr lang="en-IN"/>
          </a:p>
        </p:txBody>
      </p:sp>
      <p:sp>
        <p:nvSpPr>
          <p:cNvPr id="5" name="Footer Placeholder 4">
            <a:extLst>
              <a:ext uri="{FF2B5EF4-FFF2-40B4-BE49-F238E27FC236}">
                <a16:creationId xmlns:a16="http://schemas.microsoft.com/office/drawing/2014/main" id="{D516B7DB-3DF3-4E87-84F1-6D3BB836F2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586888-F8BA-4159-BE04-8C9B0A74B0BB}"/>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891180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BC13-A691-4A44-8F09-DEAB94E6E2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0470BA-CF69-482F-86D7-B3B2B81039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6EF3F02-F9D9-4D4B-932D-10D3C70151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154D0B3-961E-4BAC-9CA4-08D89CF82A20}"/>
              </a:ext>
            </a:extLst>
          </p:cNvPr>
          <p:cNvSpPr>
            <a:spLocks noGrp="1"/>
          </p:cNvSpPr>
          <p:nvPr>
            <p:ph type="dt" sz="half" idx="10"/>
          </p:nvPr>
        </p:nvSpPr>
        <p:spPr/>
        <p:txBody>
          <a:bodyPr/>
          <a:lstStyle/>
          <a:p>
            <a:fld id="{548523B4-6842-4C37-A800-C33970BE139B}" type="datetime1">
              <a:rPr lang="en-IN" smtClean="0"/>
              <a:t>09-01-2026</a:t>
            </a:fld>
            <a:endParaRPr lang="en-IN"/>
          </a:p>
        </p:txBody>
      </p:sp>
      <p:sp>
        <p:nvSpPr>
          <p:cNvPr id="6" name="Footer Placeholder 5">
            <a:extLst>
              <a:ext uri="{FF2B5EF4-FFF2-40B4-BE49-F238E27FC236}">
                <a16:creationId xmlns:a16="http://schemas.microsoft.com/office/drawing/2014/main" id="{8DD4364F-C564-48E4-84D0-352B17CE69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B6F2F7-150E-4C49-B6B7-8E72E6E8E5A4}"/>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175150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61F13-E7B0-4450-891A-12D3F00317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070134-48F1-45F0-9C63-38634B426A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F6F59C-8B0A-4097-8A5D-BA9FB1FC2E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C0E4A01-83B3-465C-B056-C028FF594C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DF7CD2-C62B-450F-A438-929A17296D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13DBE79-A9B6-48AB-9F01-88AA6A05B5CE}"/>
              </a:ext>
            </a:extLst>
          </p:cNvPr>
          <p:cNvSpPr>
            <a:spLocks noGrp="1"/>
          </p:cNvSpPr>
          <p:nvPr>
            <p:ph type="dt" sz="half" idx="10"/>
          </p:nvPr>
        </p:nvSpPr>
        <p:spPr/>
        <p:txBody>
          <a:bodyPr/>
          <a:lstStyle/>
          <a:p>
            <a:fld id="{5D1BD90C-7828-4672-BF49-1995FC6B6F2E}" type="datetime1">
              <a:rPr lang="en-IN" smtClean="0"/>
              <a:t>09-01-2026</a:t>
            </a:fld>
            <a:endParaRPr lang="en-IN"/>
          </a:p>
        </p:txBody>
      </p:sp>
      <p:sp>
        <p:nvSpPr>
          <p:cNvPr id="8" name="Footer Placeholder 7">
            <a:extLst>
              <a:ext uri="{FF2B5EF4-FFF2-40B4-BE49-F238E27FC236}">
                <a16:creationId xmlns:a16="http://schemas.microsoft.com/office/drawing/2014/main" id="{FCA1A849-F61D-416C-82D9-FD2F0D5B297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D4E5968-BD8E-49EA-B1C0-883FDCD51EFD}"/>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4074283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5C0C5-C1DF-4B30-86BF-702058A0901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9980EB2-6319-452D-816A-655EE9C34746}"/>
              </a:ext>
            </a:extLst>
          </p:cNvPr>
          <p:cNvSpPr>
            <a:spLocks noGrp="1"/>
          </p:cNvSpPr>
          <p:nvPr>
            <p:ph type="dt" sz="half" idx="10"/>
          </p:nvPr>
        </p:nvSpPr>
        <p:spPr/>
        <p:txBody>
          <a:bodyPr/>
          <a:lstStyle/>
          <a:p>
            <a:fld id="{E8948D36-75F5-45C8-B989-D8905602C277}" type="datetime1">
              <a:rPr lang="en-IN" smtClean="0"/>
              <a:t>09-01-2026</a:t>
            </a:fld>
            <a:endParaRPr lang="en-IN"/>
          </a:p>
        </p:txBody>
      </p:sp>
      <p:sp>
        <p:nvSpPr>
          <p:cNvPr id="4" name="Footer Placeholder 3">
            <a:extLst>
              <a:ext uri="{FF2B5EF4-FFF2-40B4-BE49-F238E27FC236}">
                <a16:creationId xmlns:a16="http://schemas.microsoft.com/office/drawing/2014/main" id="{12847E02-77DD-4F7C-9461-431051F3087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5B48EC9-FFDF-4F14-A006-9ED08C221D7A}"/>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735135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AC4010-3CC3-4ED9-BC47-437A2B95829A}"/>
              </a:ext>
            </a:extLst>
          </p:cNvPr>
          <p:cNvSpPr>
            <a:spLocks noGrp="1"/>
          </p:cNvSpPr>
          <p:nvPr>
            <p:ph type="dt" sz="half" idx="10"/>
          </p:nvPr>
        </p:nvSpPr>
        <p:spPr/>
        <p:txBody>
          <a:bodyPr/>
          <a:lstStyle/>
          <a:p>
            <a:fld id="{A7DC3B91-B51D-491E-9A46-4F6FE91CE402}" type="datetime1">
              <a:rPr lang="en-IN" smtClean="0"/>
              <a:t>09-01-2026</a:t>
            </a:fld>
            <a:endParaRPr lang="en-IN"/>
          </a:p>
        </p:txBody>
      </p:sp>
      <p:sp>
        <p:nvSpPr>
          <p:cNvPr id="3" name="Footer Placeholder 2">
            <a:extLst>
              <a:ext uri="{FF2B5EF4-FFF2-40B4-BE49-F238E27FC236}">
                <a16:creationId xmlns:a16="http://schemas.microsoft.com/office/drawing/2014/main" id="{E80484C3-38E2-44A7-AD87-98DF739A72E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707CE2B-838A-454A-852B-8EAFFA5BCF9F}"/>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1180888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18C39-136A-490F-82E6-B74F16102D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C4E3FA5-A6D0-407B-9353-45807BDC70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665529D-8A1D-4CEC-ACF2-A9668B5DFA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1B61FA-7B4A-49EE-9F1B-8F14E749EEA0}"/>
              </a:ext>
            </a:extLst>
          </p:cNvPr>
          <p:cNvSpPr>
            <a:spLocks noGrp="1"/>
          </p:cNvSpPr>
          <p:nvPr>
            <p:ph type="dt" sz="half" idx="10"/>
          </p:nvPr>
        </p:nvSpPr>
        <p:spPr/>
        <p:txBody>
          <a:bodyPr/>
          <a:lstStyle/>
          <a:p>
            <a:fld id="{CA336345-3E21-4EBB-8437-B3131759110C}" type="datetime1">
              <a:rPr lang="en-IN" smtClean="0"/>
              <a:t>09-01-2026</a:t>
            </a:fld>
            <a:endParaRPr lang="en-IN"/>
          </a:p>
        </p:txBody>
      </p:sp>
      <p:sp>
        <p:nvSpPr>
          <p:cNvPr id="6" name="Footer Placeholder 5">
            <a:extLst>
              <a:ext uri="{FF2B5EF4-FFF2-40B4-BE49-F238E27FC236}">
                <a16:creationId xmlns:a16="http://schemas.microsoft.com/office/drawing/2014/main" id="{BB6BDBE7-EB71-426C-8E02-2F39733F7F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714907-13EA-4E79-8417-0EC5E502E486}"/>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3337483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C4529-7C3C-4D10-AD9C-86CB67D2BF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2173FF7-1E37-47DA-BCCB-AFDD0F6F84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0C43DAF-8DA8-48F8-B118-56B11692BF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DBE107-EEF1-4F60-8BFB-A0B8F32EFE52}"/>
              </a:ext>
            </a:extLst>
          </p:cNvPr>
          <p:cNvSpPr>
            <a:spLocks noGrp="1"/>
          </p:cNvSpPr>
          <p:nvPr>
            <p:ph type="dt" sz="half" idx="10"/>
          </p:nvPr>
        </p:nvSpPr>
        <p:spPr/>
        <p:txBody>
          <a:bodyPr/>
          <a:lstStyle/>
          <a:p>
            <a:fld id="{4059C83C-29EA-4B4B-B64D-AFECCD6272DB}" type="datetime1">
              <a:rPr lang="en-IN" smtClean="0"/>
              <a:t>09-01-2026</a:t>
            </a:fld>
            <a:endParaRPr lang="en-IN"/>
          </a:p>
        </p:txBody>
      </p:sp>
      <p:sp>
        <p:nvSpPr>
          <p:cNvPr id="6" name="Footer Placeholder 5">
            <a:extLst>
              <a:ext uri="{FF2B5EF4-FFF2-40B4-BE49-F238E27FC236}">
                <a16:creationId xmlns:a16="http://schemas.microsoft.com/office/drawing/2014/main" id="{3BB2FC9C-1AB4-400D-8A60-C7B3A80585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25E51E-1606-443F-8DDC-5BC7A3D910FC}"/>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805698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81B9E-9443-4F41-8CDB-8E6E4CF2707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37440A-C0A0-4620-8CB7-BC24F4E100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ECDE26-EE92-4514-B595-DD288D69BDDA}"/>
              </a:ext>
            </a:extLst>
          </p:cNvPr>
          <p:cNvSpPr>
            <a:spLocks noGrp="1"/>
          </p:cNvSpPr>
          <p:nvPr>
            <p:ph type="dt" sz="half" idx="10"/>
          </p:nvPr>
        </p:nvSpPr>
        <p:spPr/>
        <p:txBody>
          <a:bodyPr/>
          <a:lstStyle/>
          <a:p>
            <a:fld id="{8AD55DD2-246D-4D36-82D4-8AE838B18C1F}" type="datetime1">
              <a:rPr lang="en-IN" smtClean="0"/>
              <a:t>09-01-2026</a:t>
            </a:fld>
            <a:endParaRPr lang="en-IN"/>
          </a:p>
        </p:txBody>
      </p:sp>
      <p:sp>
        <p:nvSpPr>
          <p:cNvPr id="5" name="Footer Placeholder 4">
            <a:extLst>
              <a:ext uri="{FF2B5EF4-FFF2-40B4-BE49-F238E27FC236}">
                <a16:creationId xmlns:a16="http://schemas.microsoft.com/office/drawing/2014/main" id="{CAB18649-6317-4A86-BF87-6BCCFA208E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9FA2ED-B0E3-48EA-BF01-F14C24A36C7D}"/>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876270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195C72-B502-4011-AB72-4BBC7CCE94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A45A48-60F9-47B3-9E1A-0E76EE6ED6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C2F640-11BE-4566-9603-D1D7F7E96FC4}"/>
              </a:ext>
            </a:extLst>
          </p:cNvPr>
          <p:cNvSpPr>
            <a:spLocks noGrp="1"/>
          </p:cNvSpPr>
          <p:nvPr>
            <p:ph type="dt" sz="half" idx="10"/>
          </p:nvPr>
        </p:nvSpPr>
        <p:spPr/>
        <p:txBody>
          <a:bodyPr/>
          <a:lstStyle/>
          <a:p>
            <a:fld id="{2CE717C7-A10A-4DB0-A56B-2C771F1D3D41}" type="datetime1">
              <a:rPr lang="en-IN" smtClean="0"/>
              <a:t>09-01-2026</a:t>
            </a:fld>
            <a:endParaRPr lang="en-IN"/>
          </a:p>
        </p:txBody>
      </p:sp>
      <p:sp>
        <p:nvSpPr>
          <p:cNvPr id="5" name="Footer Placeholder 4">
            <a:extLst>
              <a:ext uri="{FF2B5EF4-FFF2-40B4-BE49-F238E27FC236}">
                <a16:creationId xmlns:a16="http://schemas.microsoft.com/office/drawing/2014/main" id="{BF45CB06-5043-4F88-9848-829BAD7A0D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693EAC-3ADD-4236-B7D3-0540B8D65BEC}"/>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910687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435DF9-745D-444C-9DD7-A6DD954688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A09DCF-D326-45B4-9E4E-070E325317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80EC5D-D4D0-42B9-9170-212F1B335C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C20137-03FE-479B-A65D-815EC44829E7}" type="datetime1">
              <a:rPr lang="en-IN" smtClean="0"/>
              <a:t>09-01-2026</a:t>
            </a:fld>
            <a:endParaRPr lang="en-IN"/>
          </a:p>
        </p:txBody>
      </p:sp>
      <p:sp>
        <p:nvSpPr>
          <p:cNvPr id="5" name="Footer Placeholder 4">
            <a:extLst>
              <a:ext uri="{FF2B5EF4-FFF2-40B4-BE49-F238E27FC236}">
                <a16:creationId xmlns:a16="http://schemas.microsoft.com/office/drawing/2014/main" id="{D77E3022-2659-46A1-A7BE-9894421E21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6EAFC63-250A-46C7-8FC2-85F3F3181D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7729C9-FBBD-4916-93BC-8B48DFD0D00A}" type="slidenum">
              <a:rPr lang="en-IN" smtClean="0"/>
              <a:pPr/>
              <a:t>‹#›</a:t>
            </a:fld>
            <a:endParaRPr lang="en-IN"/>
          </a:p>
        </p:txBody>
      </p:sp>
    </p:spTree>
    <p:extLst>
      <p:ext uri="{BB962C8B-B14F-4D97-AF65-F5344CB8AC3E}">
        <p14:creationId xmlns:p14="http://schemas.microsoft.com/office/powerpoint/2010/main" val="29214269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4.xml"/><Relationship Id="rId12" Type="http://schemas.openxmlformats.org/officeDocument/2006/relationships/image" Target="NULL"/><Relationship Id="rId17" Type="http://schemas.openxmlformats.org/officeDocument/2006/relationships/comments" Target="../comments/comment1.xml"/><Relationship Id="rId2" Type="http://schemas.openxmlformats.org/officeDocument/2006/relationships/customXml" Target="../ink/ink1.xml"/><Relationship Id="rId16" Type="http://schemas.openxmlformats.org/officeDocument/2006/relationships/image" Target="../media/image3.png"/><Relationship Id="rId1" Type="http://schemas.openxmlformats.org/officeDocument/2006/relationships/slideLayout" Target="../slideLayouts/slideLayout2.xml"/><Relationship Id="rId11" Type="http://schemas.openxmlformats.org/officeDocument/2006/relationships/customXml" Target="../ink/ink3.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2.xml"/><Relationship Id="rId14" Type="http://schemas.openxmlformats.org/officeDocument/2006/relationships/image" Target="NULL"/></Relationships>
</file>

<file path=ppt/slides/_rels/slide5.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8.xml"/><Relationship Id="rId12" Type="http://schemas.openxmlformats.org/officeDocument/2006/relationships/image" Target="NULL"/><Relationship Id="rId17" Type="http://schemas.openxmlformats.org/officeDocument/2006/relationships/comments" Target="../comments/comment2.xml"/><Relationship Id="rId2" Type="http://schemas.openxmlformats.org/officeDocument/2006/relationships/customXml" Target="../ink/ink5.xml"/><Relationship Id="rId16" Type="http://schemas.openxmlformats.org/officeDocument/2006/relationships/image" Target="../media/image4.png"/><Relationship Id="rId1" Type="http://schemas.openxmlformats.org/officeDocument/2006/relationships/slideLayout" Target="../slideLayouts/slideLayout2.xml"/><Relationship Id="rId11" Type="http://schemas.openxmlformats.org/officeDocument/2006/relationships/customXml" Target="../ink/ink7.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6.xml"/><Relationship Id="rId14" Type="http://schemas.openxmlformats.org/officeDocument/2006/relationships/image" Target="NULL"/></Relationships>
</file>

<file path=ppt/slides/_rels/slide6.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12.xml"/><Relationship Id="rId12" Type="http://schemas.openxmlformats.org/officeDocument/2006/relationships/image" Target="NULL"/><Relationship Id="rId17" Type="http://schemas.openxmlformats.org/officeDocument/2006/relationships/comments" Target="../comments/comment3.xml"/><Relationship Id="rId2" Type="http://schemas.openxmlformats.org/officeDocument/2006/relationships/customXml" Target="../ink/ink9.xml"/><Relationship Id="rId16" Type="http://schemas.openxmlformats.org/officeDocument/2006/relationships/image" Target="../media/image5.png"/><Relationship Id="rId1" Type="http://schemas.openxmlformats.org/officeDocument/2006/relationships/slideLayout" Target="../slideLayouts/slideLayout2.xml"/><Relationship Id="rId11" Type="http://schemas.openxmlformats.org/officeDocument/2006/relationships/customXml" Target="../ink/ink11.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10.xml"/><Relationship Id="rId14" Type="http://schemas.openxmlformats.org/officeDocument/2006/relationships/image" Target="NULL"/></Relationships>
</file>

<file path=ppt/slides/_rels/slide7.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16.xml"/><Relationship Id="rId18" Type="http://schemas.openxmlformats.org/officeDocument/2006/relationships/hyperlink" Target="https://www.geeksforgeeks.org/machine-learning/introduction-to-stemming/" TargetMode="External"/><Relationship Id="rId12" Type="http://schemas.openxmlformats.org/officeDocument/2006/relationships/image" Target="NULL"/><Relationship Id="rId17" Type="http://schemas.openxmlformats.org/officeDocument/2006/relationships/hyperlink" Target="https://www.geeksforgeeks.org/nlp/nlp-part-of-speech-default-tagging/" TargetMode="External"/><Relationship Id="rId2" Type="http://schemas.openxmlformats.org/officeDocument/2006/relationships/customXml" Target="../ink/ink13.xml"/><Relationship Id="rId16" Type="http://schemas.openxmlformats.org/officeDocument/2006/relationships/hyperlink" Target="https://www.geeksforgeeks.org/nlp/what-is-tokenization/" TargetMode="External"/><Relationship Id="rId20" Type="http://schemas.openxmlformats.org/officeDocument/2006/relationships/comments" Target="../comments/comment4.xml"/><Relationship Id="rId1" Type="http://schemas.openxmlformats.org/officeDocument/2006/relationships/slideLayout" Target="../slideLayouts/slideLayout2.xml"/><Relationship Id="rId11" Type="http://schemas.openxmlformats.org/officeDocument/2006/relationships/customXml" Target="../ink/ink15.xml"/><Relationship Id="rId15" Type="http://schemas.openxmlformats.org/officeDocument/2006/relationships/image" Target="../media/image1.png"/><Relationship Id="rId10" Type="http://schemas.openxmlformats.org/officeDocument/2006/relationships/image" Target="NULL"/><Relationship Id="rId19" Type="http://schemas.openxmlformats.org/officeDocument/2006/relationships/hyperlink" Target="https://www.geeksforgeeks.org/python/python-lemmatization-with-nltk/" TargetMode="External"/><Relationship Id="rId9" Type="http://schemas.openxmlformats.org/officeDocument/2006/relationships/customXml" Target="../ink/ink14.xml"/><Relationship Id="rId14" Type="http://schemas.openxmlformats.org/officeDocument/2006/relationships/image" Target="NULL"/></Relationships>
</file>

<file path=ppt/slides/_rels/slide8.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20.xml"/><Relationship Id="rId12" Type="http://schemas.openxmlformats.org/officeDocument/2006/relationships/image" Target="NULL"/><Relationship Id="rId2" Type="http://schemas.openxmlformats.org/officeDocument/2006/relationships/customXml" Target="../ink/ink17.xml"/><Relationship Id="rId16" Type="http://schemas.openxmlformats.org/officeDocument/2006/relationships/comments" Target="../comments/comment5.xml"/><Relationship Id="rId1" Type="http://schemas.openxmlformats.org/officeDocument/2006/relationships/slideLayout" Target="../slideLayouts/slideLayout2.xml"/><Relationship Id="rId11" Type="http://schemas.openxmlformats.org/officeDocument/2006/relationships/customXml" Target="../ink/ink19.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18.xml"/><Relationship Id="rId14" Type="http://schemas.openxmlformats.org/officeDocument/2006/relationships/image" Target="NULL"/></Relationships>
</file>

<file path=ppt/slides/_rels/slide9.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24.xml"/><Relationship Id="rId18" Type="http://schemas.openxmlformats.org/officeDocument/2006/relationships/comments" Target="../comments/comment6.xml"/><Relationship Id="rId12" Type="http://schemas.openxmlformats.org/officeDocument/2006/relationships/image" Target="NULL"/><Relationship Id="rId17" Type="http://schemas.openxmlformats.org/officeDocument/2006/relationships/hyperlink" Target="https://www.geeksforgeeks.org/machine-learning/word-sense-disambiguation-in-natural-language-processing/" TargetMode="External"/><Relationship Id="rId2" Type="http://schemas.openxmlformats.org/officeDocument/2006/relationships/customXml" Target="../ink/ink21.xml"/><Relationship Id="rId16" Type="http://schemas.openxmlformats.org/officeDocument/2006/relationships/hyperlink" Target="https://www.geeksforgeeks.org/nlp/named-entity-recognition/" TargetMode="External"/><Relationship Id="rId1" Type="http://schemas.openxmlformats.org/officeDocument/2006/relationships/slideLayout" Target="../slideLayouts/slideLayout2.xml"/><Relationship Id="rId11" Type="http://schemas.openxmlformats.org/officeDocument/2006/relationships/customXml" Target="../ink/ink23.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22.xml"/><Relationship Id="rId14" Type="http://schemas.openxmlformats.org/officeDocument/2006/relationships/image" Target="NULL"/></Relationships>
</file>

<file path=ppt/slides/_rels/slide10.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28.xml"/><Relationship Id="rId12" Type="http://schemas.openxmlformats.org/officeDocument/2006/relationships/image" Target="NULL"/><Relationship Id="rId2" Type="http://schemas.openxmlformats.org/officeDocument/2006/relationships/customXml" Target="../ink/ink25.xml"/><Relationship Id="rId16" Type="http://schemas.openxmlformats.org/officeDocument/2006/relationships/comments" Target="../comments/comment7.xml"/><Relationship Id="rId1" Type="http://schemas.openxmlformats.org/officeDocument/2006/relationships/slideLayout" Target="../slideLayouts/slideLayout2.xml"/><Relationship Id="rId11" Type="http://schemas.openxmlformats.org/officeDocument/2006/relationships/customXml" Target="../ink/ink27.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26.xml"/><Relationship Id="rId14" Type="http://schemas.openxmlformats.org/officeDocument/2006/relationships/image" Target="NULL"/></Relationships>
</file>

<file path=ppt/slides/_rels/slide11.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32.xml"/><Relationship Id="rId12" Type="http://schemas.openxmlformats.org/officeDocument/2006/relationships/image" Target="NULL"/><Relationship Id="rId2" Type="http://schemas.openxmlformats.org/officeDocument/2006/relationships/customXml" Target="../ink/ink29.xml"/><Relationship Id="rId16" Type="http://schemas.openxmlformats.org/officeDocument/2006/relationships/comments" Target="../comments/comment8.xml"/><Relationship Id="rId1" Type="http://schemas.openxmlformats.org/officeDocument/2006/relationships/slideLayout" Target="../slideLayouts/slideLayout2.xml"/><Relationship Id="rId11" Type="http://schemas.openxmlformats.org/officeDocument/2006/relationships/customXml" Target="../ink/ink31.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30.xml"/><Relationship Id="rId14" Type="http://schemas.openxmlformats.org/officeDocument/2006/relationships/image" Target="NULL"/></Relationships>
</file>

<file path=ppt/slides/_rels/slide12.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36.xml"/><Relationship Id="rId12" Type="http://schemas.openxmlformats.org/officeDocument/2006/relationships/image" Target="NULL"/><Relationship Id="rId17" Type="http://schemas.openxmlformats.org/officeDocument/2006/relationships/comments" Target="../comments/comment9.xml"/><Relationship Id="rId2" Type="http://schemas.openxmlformats.org/officeDocument/2006/relationships/customXml" Target="../ink/ink33.xml"/><Relationship Id="rId16" Type="http://schemas.openxmlformats.org/officeDocument/2006/relationships/image" Target="../media/image6.png"/><Relationship Id="rId1" Type="http://schemas.openxmlformats.org/officeDocument/2006/relationships/slideLayout" Target="../slideLayouts/slideLayout2.xml"/><Relationship Id="rId11" Type="http://schemas.openxmlformats.org/officeDocument/2006/relationships/customXml" Target="../ink/ink35.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34.xml"/><Relationship Id="rId14" Type="http://schemas.openxmlformats.org/officeDocument/2006/relationships/image" Target="NULL"/></Relationships>
</file>

<file path=ppt/slides/_rels/slide13.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40.xml"/><Relationship Id="rId12" Type="http://schemas.openxmlformats.org/officeDocument/2006/relationships/image" Target="NULL"/><Relationship Id="rId2" Type="http://schemas.openxmlformats.org/officeDocument/2006/relationships/customXml" Target="../ink/ink37.xml"/><Relationship Id="rId16" Type="http://schemas.openxmlformats.org/officeDocument/2006/relationships/comments" Target="../comments/comment10.xml"/><Relationship Id="rId1" Type="http://schemas.openxmlformats.org/officeDocument/2006/relationships/slideLayout" Target="../slideLayouts/slideLayout2.xml"/><Relationship Id="rId11" Type="http://schemas.openxmlformats.org/officeDocument/2006/relationships/customXml" Target="../ink/ink39.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38.xml"/><Relationship Id="rId14" Type="http://schemas.openxmlformats.org/officeDocument/2006/relationships/image" Target="NULL"/></Relationships>
</file>

<file path=ppt/slides/_rels/slide14.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44.xml"/><Relationship Id="rId12" Type="http://schemas.openxmlformats.org/officeDocument/2006/relationships/image" Target="NULL"/><Relationship Id="rId2" Type="http://schemas.openxmlformats.org/officeDocument/2006/relationships/customXml" Target="../ink/ink41.xml"/><Relationship Id="rId16" Type="http://schemas.openxmlformats.org/officeDocument/2006/relationships/comments" Target="../comments/comment11.xml"/><Relationship Id="rId1" Type="http://schemas.openxmlformats.org/officeDocument/2006/relationships/slideLayout" Target="../slideLayouts/slideLayout2.xml"/><Relationship Id="rId11" Type="http://schemas.openxmlformats.org/officeDocument/2006/relationships/customXml" Target="../ink/ink43.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42.xml"/><Relationship Id="rId14" Type="http://schemas.openxmlformats.org/officeDocument/2006/relationships/image" Target="NULL"/></Relationships>
</file>

<file path=ppt/slides/_rels/slide15.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48.xml"/><Relationship Id="rId12" Type="http://schemas.openxmlformats.org/officeDocument/2006/relationships/image" Target="NULL"/><Relationship Id="rId17" Type="http://schemas.openxmlformats.org/officeDocument/2006/relationships/comments" Target="../comments/comment12.xml"/><Relationship Id="rId2" Type="http://schemas.openxmlformats.org/officeDocument/2006/relationships/customXml" Target="../ink/ink45.xml"/><Relationship Id="rId16" Type="http://schemas.openxmlformats.org/officeDocument/2006/relationships/hyperlink" Target="https://www.geeksforgeeks.org/nlp/explanation-of-bert-model-nlp/" TargetMode="External"/><Relationship Id="rId1" Type="http://schemas.openxmlformats.org/officeDocument/2006/relationships/slideLayout" Target="../slideLayouts/slideLayout2.xml"/><Relationship Id="rId11" Type="http://schemas.openxmlformats.org/officeDocument/2006/relationships/customXml" Target="../ink/ink47.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46.xml"/><Relationship Id="rId14" Type="http://schemas.openxmlformats.org/officeDocument/2006/relationships/image" Target="NULL"/></Relationships>
</file>

<file path=ppt/slides/_rels/slide16.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52.xml"/><Relationship Id="rId12" Type="http://schemas.openxmlformats.org/officeDocument/2006/relationships/image" Target="NULL"/><Relationship Id="rId2" Type="http://schemas.openxmlformats.org/officeDocument/2006/relationships/customXml" Target="../ink/ink49.xml"/><Relationship Id="rId16" Type="http://schemas.openxmlformats.org/officeDocument/2006/relationships/comments" Target="../comments/comment13.xml"/><Relationship Id="rId1" Type="http://schemas.openxmlformats.org/officeDocument/2006/relationships/slideLayout" Target="../slideLayouts/slideLayout2.xml"/><Relationship Id="rId11" Type="http://schemas.openxmlformats.org/officeDocument/2006/relationships/customXml" Target="../ink/ink51.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50.xml"/><Relationship Id="rId14" Type="http://schemas.openxmlformats.org/officeDocument/2006/relationships/image" Target="NULL"/></Relationships>
</file>

<file path=ppt/slides/_rels/slide17.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56.xml"/><Relationship Id="rId12" Type="http://schemas.openxmlformats.org/officeDocument/2006/relationships/image" Target="NULL"/><Relationship Id="rId2" Type="http://schemas.openxmlformats.org/officeDocument/2006/relationships/customXml" Target="../ink/ink53.xml"/><Relationship Id="rId16" Type="http://schemas.openxmlformats.org/officeDocument/2006/relationships/comments" Target="../comments/comment14.xml"/><Relationship Id="rId1" Type="http://schemas.openxmlformats.org/officeDocument/2006/relationships/slideLayout" Target="../slideLayouts/slideLayout2.xml"/><Relationship Id="rId11" Type="http://schemas.openxmlformats.org/officeDocument/2006/relationships/customXml" Target="../ink/ink55.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54.xml"/><Relationship Id="rId14" Type="http://schemas.openxmlformats.org/officeDocument/2006/relationships/image" Target="NULL"/></Relationships>
</file>

<file path=ppt/slides/_rels/slide18.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60.xml"/><Relationship Id="rId12" Type="http://schemas.openxmlformats.org/officeDocument/2006/relationships/image" Target="NULL"/><Relationship Id="rId2" Type="http://schemas.openxmlformats.org/officeDocument/2006/relationships/customXml" Target="../ink/ink57.xml"/><Relationship Id="rId16" Type="http://schemas.openxmlformats.org/officeDocument/2006/relationships/comments" Target="../comments/comment15.xml"/><Relationship Id="rId1" Type="http://schemas.openxmlformats.org/officeDocument/2006/relationships/slideLayout" Target="../slideLayouts/slideLayout2.xml"/><Relationship Id="rId11" Type="http://schemas.openxmlformats.org/officeDocument/2006/relationships/customXml" Target="../ink/ink59.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58.xml"/><Relationship Id="rId14" Type="http://schemas.openxmlformats.org/officeDocument/2006/relationships/image" Target="NULL"/></Relationships>
</file>

<file path=ppt/slides/_rels/slide19.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64.xml"/><Relationship Id="rId12" Type="http://schemas.openxmlformats.org/officeDocument/2006/relationships/image" Target="NULL"/><Relationship Id="rId2" Type="http://schemas.openxmlformats.org/officeDocument/2006/relationships/customXml" Target="../ink/ink61.xml"/><Relationship Id="rId16" Type="http://schemas.openxmlformats.org/officeDocument/2006/relationships/comments" Target="../comments/comment16.xml"/><Relationship Id="rId1" Type="http://schemas.openxmlformats.org/officeDocument/2006/relationships/slideLayout" Target="../slideLayouts/slideLayout2.xml"/><Relationship Id="rId11" Type="http://schemas.openxmlformats.org/officeDocument/2006/relationships/customXml" Target="../ink/ink63.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62.xml"/><Relationship Id="rId14" Type="http://schemas.openxmlformats.org/officeDocument/2006/relationships/image" Target="NULL"/></Relationships>
</file>

<file path=ppt/slides/_rels/slide20.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68.xml"/><Relationship Id="rId12" Type="http://schemas.openxmlformats.org/officeDocument/2006/relationships/image" Target="NULL"/><Relationship Id="rId2" Type="http://schemas.openxmlformats.org/officeDocument/2006/relationships/customXml" Target="../ink/ink65.xml"/><Relationship Id="rId16" Type="http://schemas.openxmlformats.org/officeDocument/2006/relationships/comments" Target="../comments/comment17.xml"/><Relationship Id="rId1" Type="http://schemas.openxmlformats.org/officeDocument/2006/relationships/slideLayout" Target="../slideLayouts/slideLayout2.xml"/><Relationship Id="rId11" Type="http://schemas.openxmlformats.org/officeDocument/2006/relationships/customXml" Target="../ink/ink67.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66.xml"/><Relationship Id="rId14" Type="http://schemas.openxmlformats.org/officeDocument/2006/relationships/image" Target="NULL"/></Relationships>
</file>

<file path=ppt/slides/_rels/slide21.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72.xml"/><Relationship Id="rId12" Type="http://schemas.openxmlformats.org/officeDocument/2006/relationships/image" Target="NULL"/><Relationship Id="rId2" Type="http://schemas.openxmlformats.org/officeDocument/2006/relationships/customXml" Target="../ink/ink69.xml"/><Relationship Id="rId16" Type="http://schemas.openxmlformats.org/officeDocument/2006/relationships/comments" Target="../comments/comment18.xml"/><Relationship Id="rId1" Type="http://schemas.openxmlformats.org/officeDocument/2006/relationships/slideLayout" Target="../slideLayouts/slideLayout2.xml"/><Relationship Id="rId11" Type="http://schemas.openxmlformats.org/officeDocument/2006/relationships/customXml" Target="../ink/ink71.xml"/><Relationship Id="rId15" Type="http://schemas.openxmlformats.org/officeDocument/2006/relationships/image" Target="../media/image1.png"/><Relationship Id="rId10" Type="http://schemas.openxmlformats.org/officeDocument/2006/relationships/image" Target="NULL"/><Relationship Id="rId9" Type="http://schemas.openxmlformats.org/officeDocument/2006/relationships/customXml" Target="../ink/ink70.xml"/><Relationship Id="rId14" Type="http://schemas.openxmlformats.org/officeDocument/2006/relationships/image" Target="NUL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884D8-88AA-506C-A995-4816CF45C31A}"/>
            </a:ext>
          </a:extLst>
        </p:cNvPr>
        <p:cNvGrpSpPr/>
        <p:nvPr/>
      </p:nvGrpSpPr>
      <p:grpSpPr>
        <a:xfrm>
          <a:off x="0" y="0"/>
          <a:ext cx="0" cy="0"/>
          <a:chOff x="0" y="0"/>
          <a:chExt cx="0" cy="0"/>
        </a:xfrm>
      </p:grpSpPr>
      <p:sp>
        <p:nvSpPr>
          <p:cNvPr id="2051" name="Rectangle 13">
            <a:extLst>
              <a:ext uri="{FF2B5EF4-FFF2-40B4-BE49-F238E27FC236}">
                <a16:creationId xmlns:a16="http://schemas.microsoft.com/office/drawing/2014/main" id="{93EDC3FF-C190-C8EA-7DEC-7D397F52961F}"/>
              </a:ext>
            </a:extLst>
          </p:cNvPr>
          <p:cNvSpPr>
            <a:spLocks noChangeArrowheads="1"/>
          </p:cNvSpPr>
          <p:nvPr/>
        </p:nvSpPr>
        <p:spPr bwMode="auto">
          <a:xfrm>
            <a:off x="4641850" y="4384675"/>
            <a:ext cx="74961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400" b="1" dirty="0">
                <a:latin typeface="Arial" panose="020B0604020202020204" pitchFamily="34" charset="0"/>
              </a:rPr>
              <a:t>Dr. Pooja Agarwal</a:t>
            </a:r>
          </a:p>
        </p:txBody>
      </p:sp>
      <p:sp>
        <p:nvSpPr>
          <p:cNvPr id="2052" name="Rectangle 14">
            <a:extLst>
              <a:ext uri="{FF2B5EF4-FFF2-40B4-BE49-F238E27FC236}">
                <a16:creationId xmlns:a16="http://schemas.microsoft.com/office/drawing/2014/main" id="{E126F1CE-3265-D2D3-A8ED-FB29F4A96952}"/>
              </a:ext>
            </a:extLst>
          </p:cNvPr>
          <p:cNvSpPr>
            <a:spLocks noChangeArrowheads="1"/>
          </p:cNvSpPr>
          <p:nvPr/>
        </p:nvSpPr>
        <p:spPr bwMode="auto">
          <a:xfrm>
            <a:off x="4641850" y="4846638"/>
            <a:ext cx="7496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400">
                <a:latin typeface="Arial" panose="020B0604020202020204" pitchFamily="34" charset="0"/>
              </a:rPr>
              <a:t>Dept. of CSE, PES University, Bangalore</a:t>
            </a:r>
          </a:p>
        </p:txBody>
      </p:sp>
      <p:grpSp>
        <p:nvGrpSpPr>
          <p:cNvPr id="20" name="Group 19">
            <a:extLst>
              <a:ext uri="{FF2B5EF4-FFF2-40B4-BE49-F238E27FC236}">
                <a16:creationId xmlns:a16="http://schemas.microsoft.com/office/drawing/2014/main" id="{75A5893B-36D7-B39F-6574-0BEF4B614DA0}"/>
              </a:ext>
            </a:extLst>
          </p:cNvPr>
          <p:cNvGrpSpPr/>
          <p:nvPr/>
        </p:nvGrpSpPr>
        <p:grpSpPr>
          <a:xfrm>
            <a:off x="313844" y="5489699"/>
            <a:ext cx="1066895" cy="1078155"/>
            <a:chOff x="313844" y="5489699"/>
            <a:chExt cx="1066895" cy="1078155"/>
          </a:xfrm>
          <a:solidFill>
            <a:schemeClr val="accent2">
              <a:lumMod val="75000"/>
            </a:schemeClr>
          </a:solidFill>
        </p:grpSpPr>
        <p:sp>
          <p:nvSpPr>
            <p:cNvPr id="24" name="Rectangle 23">
              <a:extLst>
                <a:ext uri="{FF2B5EF4-FFF2-40B4-BE49-F238E27FC236}">
                  <a16:creationId xmlns:a16="http://schemas.microsoft.com/office/drawing/2014/main" id="{B357EE55-932E-282C-F262-08B6A35DE8A3}"/>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25" name="Rectangle 24">
              <a:extLst>
                <a:ext uri="{FF2B5EF4-FFF2-40B4-BE49-F238E27FC236}">
                  <a16:creationId xmlns:a16="http://schemas.microsoft.com/office/drawing/2014/main" id="{BED1F7A9-6D4B-6583-A540-C61464640517}"/>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grpSp>
      <p:cxnSp>
        <p:nvCxnSpPr>
          <p:cNvPr id="11" name="Straight Connector 10">
            <a:extLst>
              <a:ext uri="{FF2B5EF4-FFF2-40B4-BE49-F238E27FC236}">
                <a16:creationId xmlns:a16="http://schemas.microsoft.com/office/drawing/2014/main" id="{0FD2D032-4BDF-904C-4128-8AC3A456DDE2}"/>
              </a:ext>
            </a:extLst>
          </p:cNvPr>
          <p:cNvCxnSpPr/>
          <p:nvPr/>
        </p:nvCxnSpPr>
        <p:spPr>
          <a:xfrm flipV="1">
            <a:off x="4889500" y="4384675"/>
            <a:ext cx="4581525"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F7FCCEBE-CF5C-2002-9968-7EA6E810D44D}"/>
              </a:ext>
            </a:extLst>
          </p:cNvPr>
          <p:cNvGrpSpPr/>
          <p:nvPr/>
        </p:nvGrpSpPr>
        <p:grpSpPr>
          <a:xfrm rot="10800000">
            <a:off x="10855702" y="266068"/>
            <a:ext cx="1066895" cy="1078155"/>
            <a:chOff x="313844" y="5489699"/>
            <a:chExt cx="1066895" cy="1078155"/>
          </a:xfrm>
          <a:solidFill>
            <a:schemeClr val="accent2">
              <a:lumMod val="75000"/>
            </a:schemeClr>
          </a:solidFill>
        </p:grpSpPr>
        <p:sp>
          <p:nvSpPr>
            <p:cNvPr id="17" name="Rectangle 16">
              <a:extLst>
                <a:ext uri="{FF2B5EF4-FFF2-40B4-BE49-F238E27FC236}">
                  <a16:creationId xmlns:a16="http://schemas.microsoft.com/office/drawing/2014/main" id="{3F0BEC23-062A-FD79-274A-8A4CCCDFE8C1}"/>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8" name="Rectangle 17">
              <a:extLst>
                <a:ext uri="{FF2B5EF4-FFF2-40B4-BE49-F238E27FC236}">
                  <a16:creationId xmlns:a16="http://schemas.microsoft.com/office/drawing/2014/main" id="{AAE9A012-124A-AB39-5001-C490129B421D}"/>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grpSp>
      <p:pic>
        <p:nvPicPr>
          <p:cNvPr id="2056" name="object 5">
            <a:extLst>
              <a:ext uri="{FF2B5EF4-FFF2-40B4-BE49-F238E27FC236}">
                <a16:creationId xmlns:a16="http://schemas.microsoft.com/office/drawing/2014/main" id="{3E2B4B40-4943-37DE-2983-E6D43431E0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1275" y="1787525"/>
            <a:ext cx="2374900" cy="365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4105DE2F-FA5D-ECAD-E530-C3EA137ADC55}"/>
              </a:ext>
            </a:extLst>
          </p:cNvPr>
          <p:cNvSpPr/>
          <p:nvPr/>
        </p:nvSpPr>
        <p:spPr>
          <a:xfrm>
            <a:off x="6096000" y="1730266"/>
            <a:ext cx="2181225" cy="646331"/>
          </a:xfrm>
          <a:prstGeom prst="rect">
            <a:avLst/>
          </a:prstGeom>
        </p:spPr>
        <p:txBody>
          <a:bodyPr wrap="square">
            <a:spAutoFit/>
          </a:bodyPr>
          <a:lstStyle/>
          <a:p>
            <a:r>
              <a:rPr lang="en-IN" sz="3600" b="1" u="sng" dirty="0">
                <a:solidFill>
                  <a:srgbClr val="FF0000"/>
                </a:solidFill>
              </a:rPr>
              <a:t>Unit 1</a:t>
            </a:r>
          </a:p>
        </p:txBody>
      </p:sp>
      <p:sp>
        <p:nvSpPr>
          <p:cNvPr id="4" name="Rectangle 3">
            <a:extLst>
              <a:ext uri="{FF2B5EF4-FFF2-40B4-BE49-F238E27FC236}">
                <a16:creationId xmlns:a16="http://schemas.microsoft.com/office/drawing/2014/main" id="{81B971A3-32DB-BD1A-6B28-A37F3C620372}"/>
              </a:ext>
            </a:extLst>
          </p:cNvPr>
          <p:cNvSpPr/>
          <p:nvPr/>
        </p:nvSpPr>
        <p:spPr>
          <a:xfrm>
            <a:off x="3995795" y="3615085"/>
            <a:ext cx="7977766" cy="584775"/>
          </a:xfrm>
          <a:prstGeom prst="rect">
            <a:avLst/>
          </a:prstGeom>
        </p:spPr>
        <p:txBody>
          <a:bodyPr wrap="square">
            <a:spAutoFit/>
          </a:bodyPr>
          <a:lstStyle/>
          <a:p>
            <a:pPr>
              <a:buClr>
                <a:schemeClr val="dk1"/>
              </a:buClr>
              <a:buSzPts val="1100"/>
            </a:pPr>
            <a:r>
              <a:rPr lang="en-US" sz="3200" b="1" dirty="0">
                <a:solidFill>
                  <a:srgbClr val="C55A11"/>
                </a:solidFill>
                <a:latin typeface="Calibri"/>
                <a:ea typeface="Calibri"/>
                <a:cs typeface="Calibri"/>
                <a:sym typeface="Calibri"/>
              </a:rPr>
              <a:t>NLP Basics, Terminologies and Task Overview</a:t>
            </a:r>
            <a:endParaRPr lang="en-US" sz="2400" dirty="0"/>
          </a:p>
        </p:txBody>
      </p:sp>
      <p:sp>
        <p:nvSpPr>
          <p:cNvPr id="5" name="Rectangle 4">
            <a:extLst>
              <a:ext uri="{FF2B5EF4-FFF2-40B4-BE49-F238E27FC236}">
                <a16:creationId xmlns:a16="http://schemas.microsoft.com/office/drawing/2014/main" id="{1C2AC26A-E62F-8101-6EC5-6B9CB1FE6B7D}"/>
              </a:ext>
            </a:extLst>
          </p:cNvPr>
          <p:cNvSpPr/>
          <p:nvPr/>
        </p:nvSpPr>
        <p:spPr>
          <a:xfrm>
            <a:off x="2567536" y="503881"/>
            <a:ext cx="7497214" cy="707886"/>
          </a:xfrm>
          <a:prstGeom prst="rect">
            <a:avLst/>
          </a:prstGeom>
        </p:spPr>
        <p:txBody>
          <a:bodyPr wrap="square">
            <a:spAutoFit/>
          </a:bodyPr>
          <a:lstStyle/>
          <a:p>
            <a:r>
              <a:rPr lang="en-US" sz="4000" b="1" dirty="0" err="1">
                <a:solidFill>
                  <a:schemeClr val="accent2">
                    <a:lumMod val="75000"/>
                  </a:schemeClr>
                </a:solidFill>
              </a:rPr>
              <a:t>GenerativeAI</a:t>
            </a:r>
            <a:r>
              <a:rPr lang="en-US" sz="4000" b="1" dirty="0">
                <a:solidFill>
                  <a:schemeClr val="accent2">
                    <a:lumMod val="75000"/>
                  </a:schemeClr>
                </a:solidFill>
              </a:rPr>
              <a:t> and Its Applications</a:t>
            </a:r>
          </a:p>
        </p:txBody>
      </p:sp>
      <p:sp>
        <p:nvSpPr>
          <p:cNvPr id="135" name="Google Shape;135;p21">
            <a:extLst>
              <a:ext uri="{FF2B5EF4-FFF2-40B4-BE49-F238E27FC236}">
                <a16:creationId xmlns:a16="http://schemas.microsoft.com/office/drawing/2014/main" id="{67F86042-2C35-03EC-2220-3972DA3DDCCA}"/>
              </a:ext>
            </a:extLst>
          </p:cNvPr>
          <p:cNvSpPr/>
          <p:nvPr/>
        </p:nvSpPr>
        <p:spPr>
          <a:xfrm>
            <a:off x="6316143" y="2640500"/>
            <a:ext cx="2612000" cy="835200"/>
          </a:xfrm>
          <a:prstGeom prst="rect">
            <a:avLst/>
          </a:prstGeom>
          <a:noFill/>
          <a:ln>
            <a:noFill/>
          </a:ln>
        </p:spPr>
        <p:txBody>
          <a:bodyPr spcFirstLastPara="1" wrap="square" lIns="121900" tIns="60933" rIns="121900" bIns="60933" anchor="t" anchorCtr="0">
            <a:noAutofit/>
          </a:bodyPr>
          <a:lstStyle/>
          <a:p>
            <a:pPr>
              <a:buClr>
                <a:srgbClr val="000000"/>
              </a:buClr>
              <a:buSzPts val="3600"/>
            </a:pPr>
            <a:endParaRPr sz="1867" dirty="0">
              <a:solidFill>
                <a:srgbClr val="000000"/>
              </a:solidFill>
              <a:latin typeface="Arial"/>
              <a:ea typeface="Arial"/>
              <a:cs typeface="Arial"/>
              <a:sym typeface="Arial"/>
            </a:endParaRPr>
          </a:p>
          <a:p>
            <a:pPr>
              <a:buClr>
                <a:srgbClr val="000000"/>
              </a:buClr>
              <a:buSzPts val="3600"/>
            </a:pPr>
            <a:r>
              <a:rPr lang="en-GB" sz="2667" b="1" dirty="0">
                <a:solidFill>
                  <a:srgbClr val="2F5496"/>
                </a:solidFill>
                <a:latin typeface="Calibri"/>
                <a:ea typeface="Calibri"/>
                <a:cs typeface="Calibri"/>
                <a:sym typeface="Calibri"/>
              </a:rPr>
              <a:t>(UE23CS342BA4)</a:t>
            </a:r>
            <a:endParaRPr sz="2667" b="1" dirty="0">
              <a:solidFill>
                <a:srgbClr val="2F5496"/>
              </a:solidFill>
              <a:latin typeface="Calibri"/>
              <a:ea typeface="Calibri"/>
              <a:cs typeface="Calibri"/>
              <a:sym typeface="Calibri"/>
            </a:endParaRPr>
          </a:p>
        </p:txBody>
      </p:sp>
    </p:spTree>
    <p:extLst>
      <p:ext uri="{BB962C8B-B14F-4D97-AF65-F5344CB8AC3E}">
        <p14:creationId xmlns:p14="http://schemas.microsoft.com/office/powerpoint/2010/main" val="206714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45B4DC6B-8399-4A01-0583-8CDBBAD224FF}"/>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C0774D66-BD6C-1C5C-A17D-ABE50FF83244}"/>
              </a:ext>
            </a:extLst>
          </p:cNvPr>
          <p:cNvSpPr/>
          <p:nvPr/>
        </p:nvSpPr>
        <p:spPr>
          <a:xfrm>
            <a:off x="693900" y="1887267"/>
            <a:ext cx="7792000" cy="729200"/>
          </a:xfrm>
          <a:prstGeom prst="rect">
            <a:avLst/>
          </a:prstGeom>
          <a:noFill/>
          <a:ln>
            <a:noFill/>
          </a:ln>
        </p:spPr>
        <p:txBody>
          <a:bodyPr spcFirstLastPara="1" wrap="square" lIns="121900" tIns="60933" rIns="121900" bIns="60933" anchor="t" anchorCtr="0">
            <a:noAutofit/>
          </a:bodyPr>
          <a:lstStyle/>
          <a:p>
            <a:pPr>
              <a:buClr>
                <a:srgbClr val="000000"/>
              </a:buClr>
              <a:buSzPts val="3600"/>
            </a:pPr>
            <a:r>
              <a:rPr lang="en-GB" sz="3733" b="1" dirty="0">
                <a:latin typeface="Calibri"/>
                <a:ea typeface="Calibri"/>
                <a:cs typeface="Calibri"/>
                <a:sym typeface="Calibri"/>
              </a:rPr>
              <a:t>Generative AI and its Applications</a:t>
            </a:r>
            <a:endParaRPr sz="800" dirty="0">
              <a:solidFill>
                <a:srgbClr val="000000"/>
              </a:solidFill>
              <a:latin typeface="Arial"/>
              <a:ea typeface="Arial"/>
              <a:cs typeface="Arial"/>
              <a:sym typeface="Arial"/>
            </a:endParaRPr>
          </a:p>
        </p:txBody>
      </p:sp>
      <p:cxnSp>
        <p:nvCxnSpPr>
          <p:cNvPr id="141" name="Google Shape;141;p21">
            <a:extLst>
              <a:ext uri="{FF2B5EF4-FFF2-40B4-BE49-F238E27FC236}">
                <a16:creationId xmlns:a16="http://schemas.microsoft.com/office/drawing/2014/main" id="{3E684A38-8B94-C6B2-5ABA-D43D749E0B98}"/>
              </a:ext>
            </a:extLst>
          </p:cNvPr>
          <p:cNvCxnSpPr/>
          <p:nvPr/>
        </p:nvCxnSpPr>
        <p:spPr>
          <a:xfrm rot="10800000" flipH="1">
            <a:off x="71481" y="2555167"/>
            <a:ext cx="8214800" cy="61200"/>
          </a:xfrm>
          <a:prstGeom prst="straightConnector1">
            <a:avLst/>
          </a:prstGeom>
          <a:noFill/>
          <a:ln w="38100" cap="flat" cmpd="sng">
            <a:solidFill>
              <a:srgbClr val="DFA267"/>
            </a:solidFill>
            <a:prstDash val="solid"/>
            <a:miter lim="800000"/>
            <a:headEnd type="none" w="sm" len="sm"/>
            <a:tailEnd type="none" w="sm" len="sm"/>
          </a:ln>
        </p:spPr>
      </p:cxnSp>
      <p:sp>
        <p:nvSpPr>
          <p:cNvPr id="143" name="Google Shape;143;p21">
            <a:extLst>
              <a:ext uri="{FF2B5EF4-FFF2-40B4-BE49-F238E27FC236}">
                <a16:creationId xmlns:a16="http://schemas.microsoft.com/office/drawing/2014/main" id="{D0027974-4BB1-9BC5-9AB2-B1CA1B2FF39C}"/>
              </a:ext>
            </a:extLst>
          </p:cNvPr>
          <p:cNvSpPr txBox="1"/>
          <p:nvPr/>
        </p:nvSpPr>
        <p:spPr>
          <a:xfrm>
            <a:off x="693900" y="3247067"/>
            <a:ext cx="9207600" cy="738623"/>
          </a:xfrm>
          <a:prstGeom prst="rect">
            <a:avLst/>
          </a:prstGeom>
          <a:noFill/>
          <a:ln>
            <a:noFill/>
          </a:ln>
        </p:spPr>
        <p:txBody>
          <a:bodyPr spcFirstLastPara="1" wrap="square" lIns="121900" tIns="121900" rIns="121900" bIns="121900" anchor="t" anchorCtr="0">
            <a:spAutoFit/>
          </a:bodyPr>
          <a:lstStyle/>
          <a:p>
            <a:pPr>
              <a:buClr>
                <a:schemeClr val="dk1"/>
              </a:buClr>
              <a:buSzPts val="1100"/>
            </a:pPr>
            <a:r>
              <a:rPr lang="en-GB" sz="3200" b="1" dirty="0">
                <a:solidFill>
                  <a:srgbClr val="C55A11"/>
                </a:solidFill>
                <a:latin typeface="Calibri"/>
                <a:ea typeface="Calibri"/>
                <a:cs typeface="Calibri"/>
                <a:sym typeface="Calibri"/>
              </a:rPr>
              <a:t>NLP Basics, </a:t>
            </a:r>
            <a:r>
              <a:rPr lang="en-US" sz="3200" b="1" dirty="0">
                <a:solidFill>
                  <a:srgbClr val="C55A11"/>
                </a:solidFill>
                <a:ea typeface="Calibri"/>
                <a:cs typeface="Calibri"/>
                <a:sym typeface="Calibri"/>
              </a:rPr>
              <a:t>Terminologies and Task Overview</a:t>
            </a:r>
            <a:endParaRPr sz="2400" dirty="0"/>
          </a:p>
        </p:txBody>
      </p:sp>
      <p:sp>
        <p:nvSpPr>
          <p:cNvPr id="2" name="object 4">
            <a:extLst>
              <a:ext uri="{FF2B5EF4-FFF2-40B4-BE49-F238E27FC236}">
                <a16:creationId xmlns:a16="http://schemas.microsoft.com/office/drawing/2014/main" id="{364C0D01-8E70-CA60-CC1F-3C76BDEDCB9A}"/>
              </a:ext>
            </a:extLst>
          </p:cNvPr>
          <p:cNvSpPr/>
          <p:nvPr/>
        </p:nvSpPr>
        <p:spPr>
          <a:xfrm>
            <a:off x="10408068" y="252240"/>
            <a:ext cx="839610" cy="1554611"/>
          </a:xfrm>
          <a:prstGeom prst="rect">
            <a:avLst/>
          </a:prstGeom>
          <a:blipFill>
            <a:blip r:embed="rId3" cstate="print"/>
            <a:stretch>
              <a:fillRect/>
            </a:stretch>
          </a:blipFill>
        </p:spPr>
        <p:txBody>
          <a:bodyPr wrap="square" lIns="0" tIns="0" rIns="0" bIns="0" rtlCol="0"/>
          <a:lstStyle/>
          <a:p>
            <a:endParaRPr sz="1350"/>
          </a:p>
        </p:txBody>
      </p:sp>
    </p:spTree>
    <p:extLst>
      <p:ext uri="{BB962C8B-B14F-4D97-AF65-F5344CB8AC3E}">
        <p14:creationId xmlns:p14="http://schemas.microsoft.com/office/powerpoint/2010/main" val="4246699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8308" y="1209922"/>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339182" y="637847"/>
            <a:ext cx="7999758" cy="461665"/>
          </a:xfrm>
          <a:prstGeom prst="rect">
            <a:avLst/>
          </a:prstGeom>
        </p:spPr>
        <p:txBody>
          <a:bodyPr wrap="square">
            <a:spAutoFit/>
          </a:bodyPr>
          <a:lstStyle/>
          <a:p>
            <a:r>
              <a:rPr lang="en-IN" sz="2400" b="1" dirty="0">
                <a:solidFill>
                  <a:schemeClr val="accent1"/>
                </a:solidFill>
              </a:rPr>
              <a:t>Acknowledgement</a:t>
            </a:r>
          </a:p>
        </p:txBody>
      </p:sp>
      <p:sp>
        <p:nvSpPr>
          <p:cNvPr id="11" name="Rectangle 10"/>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3" name="TextBox 2">
            <a:extLst>
              <a:ext uri="{FF2B5EF4-FFF2-40B4-BE49-F238E27FC236}">
                <a16:creationId xmlns:a16="http://schemas.microsoft.com/office/drawing/2014/main" id="{47203435-562F-6B36-6764-2B23A3388569}"/>
              </a:ext>
            </a:extLst>
          </p:cNvPr>
          <p:cNvSpPr txBox="1"/>
          <p:nvPr/>
        </p:nvSpPr>
        <p:spPr>
          <a:xfrm>
            <a:off x="618877" y="2214438"/>
            <a:ext cx="9580880" cy="1015663"/>
          </a:xfrm>
          <a:prstGeom prst="rect">
            <a:avLst/>
          </a:prstGeom>
          <a:noFill/>
        </p:spPr>
        <p:txBody>
          <a:bodyPr wrap="square" rtlCol="0">
            <a:spAutoFit/>
          </a:bodyPr>
          <a:lstStyle/>
          <a:p>
            <a:pPr algn="just"/>
            <a:r>
              <a:rPr lang="en-IN" sz="2000" dirty="0"/>
              <a:t>The slides are prepared from  various resources from the Universities from abroad and India. Also, some material is taken from reliable resources from internet throughout this course.</a:t>
            </a:r>
          </a:p>
        </p:txBody>
      </p:sp>
      <p:sp>
        <p:nvSpPr>
          <p:cNvPr id="4" name="object 4">
            <a:extLst>
              <a:ext uri="{FF2B5EF4-FFF2-40B4-BE49-F238E27FC236}">
                <a16:creationId xmlns:a16="http://schemas.microsoft.com/office/drawing/2014/main" id="{162AAB39-893C-D3AB-EF7A-F1898677FE1E}"/>
              </a:ext>
            </a:extLst>
          </p:cNvPr>
          <p:cNvSpPr/>
          <p:nvPr/>
        </p:nvSpPr>
        <p:spPr>
          <a:xfrm>
            <a:off x="10408068" y="252240"/>
            <a:ext cx="839610" cy="1554611"/>
          </a:xfrm>
          <a:prstGeom prst="rect">
            <a:avLst/>
          </a:prstGeom>
          <a:blipFill>
            <a:blip r:embed="rId2" cstate="print"/>
            <a:stretch>
              <a:fillRect/>
            </a:stretch>
          </a:blipFill>
        </p:spPr>
        <p:txBody>
          <a:bodyPr wrap="square" lIns="0" tIns="0" rIns="0" bIns="0" rtlCol="0"/>
          <a:lstStyle/>
          <a:p>
            <a:endParaRPr sz="13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697028" y="691688"/>
            <a:ext cx="7332487" cy="461665"/>
          </a:xfrm>
          <a:prstGeom prst="rect">
            <a:avLst/>
          </a:prstGeom>
        </p:spPr>
        <p:txBody>
          <a:bodyPr wrap="square">
            <a:spAutoFit/>
          </a:bodyPr>
          <a:lstStyle/>
          <a:p>
            <a:r>
              <a:rPr lang="en-IN" sz="2400" b="1" dirty="0">
                <a:solidFill>
                  <a:schemeClr val="accent1"/>
                </a:solidFill>
              </a:rPr>
              <a:t>What is NLP</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729118" y="1454722"/>
            <a:ext cx="7827053" cy="923330"/>
          </a:xfrm>
          <a:prstGeom prst="rect">
            <a:avLst/>
          </a:prstGeom>
        </p:spPr>
        <p:txBody>
          <a:bodyPr wrap="square">
            <a:spAutoFit/>
          </a:bodyPr>
          <a:lstStyle/>
          <a:p>
            <a:pPr algn="just"/>
            <a:endParaRPr lang="en-IN" dirty="0"/>
          </a:p>
          <a:p>
            <a:endParaRPr lang="en-US" dirty="0"/>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F7B31CD4-4006-88E4-B92D-F50C09A9B610}"/>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5CC1FF5C-385F-7CAD-C8E0-195F8C5AA3A8}"/>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6" name="TextBox 5">
            <a:extLst>
              <a:ext uri="{FF2B5EF4-FFF2-40B4-BE49-F238E27FC236}">
                <a16:creationId xmlns:a16="http://schemas.microsoft.com/office/drawing/2014/main" id="{B981098A-EFA4-9FF9-2028-5646B2EBBC3B}"/>
              </a:ext>
            </a:extLst>
          </p:cNvPr>
          <p:cNvSpPr txBox="1"/>
          <p:nvPr/>
        </p:nvSpPr>
        <p:spPr>
          <a:xfrm>
            <a:off x="619760" y="1808336"/>
            <a:ext cx="9296400" cy="1446550"/>
          </a:xfrm>
          <a:prstGeom prst="rect">
            <a:avLst/>
          </a:prstGeom>
          <a:noFill/>
        </p:spPr>
        <p:txBody>
          <a:bodyPr wrap="square">
            <a:spAutoFit/>
          </a:bodyPr>
          <a:lstStyle/>
          <a:p>
            <a:r>
              <a:rPr lang="en-US" sz="2200" b="0" i="0" dirty="0">
                <a:solidFill>
                  <a:srgbClr val="273239"/>
                </a:solidFill>
                <a:effectLst/>
                <a:latin typeface="Times New Roman" panose="02020603050405020304" pitchFamily="18" charset="0"/>
                <a:cs typeface="Times New Roman" panose="02020603050405020304" pitchFamily="18" charset="0"/>
              </a:rPr>
              <a:t>Natural Language Processing (NLP) is a branch of Artificial Intelligence (AI) that helps machines to understand and process human languages either in text or audio form. It is used across a variety of applications from speech recognition to language translation and text summarization.</a:t>
            </a:r>
            <a:endParaRPr lang="en-IN" sz="22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BBB45392-C0F2-A75B-C4DF-B9F640DF55E1}"/>
              </a:ext>
            </a:extLst>
          </p:cNvPr>
          <p:cNvPicPr>
            <a:picLocks noChangeAspect="1"/>
          </p:cNvPicPr>
          <p:nvPr/>
        </p:nvPicPr>
        <p:blipFill>
          <a:blip r:embed="rId16"/>
          <a:stretch>
            <a:fillRect/>
          </a:stretch>
        </p:blipFill>
        <p:spPr>
          <a:xfrm>
            <a:off x="3143250" y="3238281"/>
            <a:ext cx="6952215" cy="3367479"/>
          </a:xfrm>
          <a:prstGeom prst="rect">
            <a:avLst/>
          </a:prstGeom>
        </p:spPr>
      </p:pic>
    </p:spTree>
    <p:extLst>
      <p:ext uri="{BB962C8B-B14F-4D97-AF65-F5344CB8AC3E}">
        <p14:creationId xmlns:p14="http://schemas.microsoft.com/office/powerpoint/2010/main" val="2877082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C3972-19B7-A16C-26B0-7ACBBE261BFF}"/>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2DFB7042-790A-B131-679A-0632B14B1BB7}"/>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NLP Components</a:t>
            </a:r>
          </a:p>
        </p:txBody>
      </p:sp>
      <p:cxnSp>
        <p:nvCxnSpPr>
          <p:cNvPr id="8" name="Straight Connector 7">
            <a:extLst>
              <a:ext uri="{FF2B5EF4-FFF2-40B4-BE49-F238E27FC236}">
                <a16:creationId xmlns:a16="http://schemas.microsoft.com/office/drawing/2014/main" id="{FBA9C00C-AE28-7B9A-6F57-529F13EBE8E3}"/>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6C492DB-B616-F578-3EEB-AF0C8DA338EF}"/>
              </a:ext>
            </a:extLst>
          </p:cNvPr>
          <p:cNvSpPr/>
          <p:nvPr/>
        </p:nvSpPr>
        <p:spPr>
          <a:xfrm>
            <a:off x="729118" y="1454722"/>
            <a:ext cx="7827053" cy="923330"/>
          </a:xfrm>
          <a:prstGeom prst="rect">
            <a:avLst/>
          </a:prstGeom>
        </p:spPr>
        <p:txBody>
          <a:bodyPr wrap="square">
            <a:spAutoFit/>
          </a:bodyPr>
          <a:lstStyle/>
          <a:p>
            <a:pPr algn="just"/>
            <a:endParaRPr lang="en-IN" dirty="0"/>
          </a:p>
          <a:p>
            <a:endParaRPr lang="en-US" dirty="0"/>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4FEB15A1-311A-B762-11B3-32929E08FEE4}"/>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ABB20491-BDA9-508A-8839-33048CFD9A94}"/>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CA0C8565-BC25-1BB7-8742-1964949FD79D}"/>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1344717F-3F87-4372-AF92-DC1337068B24}"/>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CD91703E-2589-02BC-F566-940F7D68044F}"/>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68078901-93DA-73B6-EE82-3AA9B95F2330}"/>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pic>
        <p:nvPicPr>
          <p:cNvPr id="7" name="Picture 6">
            <a:extLst>
              <a:ext uri="{FF2B5EF4-FFF2-40B4-BE49-F238E27FC236}">
                <a16:creationId xmlns:a16="http://schemas.microsoft.com/office/drawing/2014/main" id="{36C19C09-0C76-1539-CB35-8188A5BBDA88}"/>
              </a:ext>
            </a:extLst>
          </p:cNvPr>
          <p:cNvPicPr>
            <a:picLocks noChangeAspect="1"/>
          </p:cNvPicPr>
          <p:nvPr/>
        </p:nvPicPr>
        <p:blipFill>
          <a:blip r:embed="rId16"/>
          <a:stretch>
            <a:fillRect/>
          </a:stretch>
        </p:blipFill>
        <p:spPr>
          <a:xfrm>
            <a:off x="994166" y="1916387"/>
            <a:ext cx="8049748" cy="3791479"/>
          </a:xfrm>
          <a:prstGeom prst="rect">
            <a:avLst/>
          </a:prstGeom>
        </p:spPr>
      </p:pic>
    </p:spTree>
    <p:extLst>
      <p:ext uri="{BB962C8B-B14F-4D97-AF65-F5344CB8AC3E}">
        <p14:creationId xmlns:p14="http://schemas.microsoft.com/office/powerpoint/2010/main" val="13184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392DF-8121-E892-E35B-ECE4F2358B63}"/>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E84615A7-7ACA-3770-12AD-124E15E09EA4}"/>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Phases of NLP</a:t>
            </a:r>
          </a:p>
        </p:txBody>
      </p:sp>
      <p:cxnSp>
        <p:nvCxnSpPr>
          <p:cNvPr id="8" name="Straight Connector 7">
            <a:extLst>
              <a:ext uri="{FF2B5EF4-FFF2-40B4-BE49-F238E27FC236}">
                <a16:creationId xmlns:a16="http://schemas.microsoft.com/office/drawing/2014/main" id="{F103D849-BF34-81BB-99C8-8902E2BA5F71}"/>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BEC05296-ABE3-CCE4-4A0C-5A3EFF90AE80}"/>
              </a:ext>
            </a:extLst>
          </p:cNvPr>
          <p:cNvSpPr/>
          <p:nvPr/>
        </p:nvSpPr>
        <p:spPr>
          <a:xfrm>
            <a:off x="729118" y="1454722"/>
            <a:ext cx="7827053" cy="923330"/>
          </a:xfrm>
          <a:prstGeom prst="rect">
            <a:avLst/>
          </a:prstGeom>
        </p:spPr>
        <p:txBody>
          <a:bodyPr wrap="square">
            <a:spAutoFit/>
          </a:bodyPr>
          <a:lstStyle/>
          <a:p>
            <a:pPr algn="just"/>
            <a:endParaRPr lang="en-IN" dirty="0"/>
          </a:p>
          <a:p>
            <a:endParaRPr lang="en-US" dirty="0"/>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8414A448-7B57-DE0A-C4FD-1FE3FCFEB951}"/>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6373DF21-A4CA-8F3E-8250-71D5D23CC3BC}"/>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C2DA16DB-8B95-77A4-040B-1699969B39BD}"/>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B5C247DC-8A11-30E3-36E3-8B6BCE5E6C05}"/>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2B0A1478-4692-3FCA-3F19-E4D87099BF5C}"/>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4DC3D596-9ADA-CF90-3A5F-A8FBFCD7FF05}"/>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6" name="TextBox 5">
            <a:extLst>
              <a:ext uri="{FF2B5EF4-FFF2-40B4-BE49-F238E27FC236}">
                <a16:creationId xmlns:a16="http://schemas.microsoft.com/office/drawing/2014/main" id="{92704617-3F4B-79D8-C75C-5D234A9FC4D3}"/>
              </a:ext>
            </a:extLst>
          </p:cNvPr>
          <p:cNvSpPr txBox="1"/>
          <p:nvPr/>
        </p:nvSpPr>
        <p:spPr>
          <a:xfrm>
            <a:off x="550231" y="1406803"/>
            <a:ext cx="8446972" cy="646331"/>
          </a:xfrm>
          <a:prstGeom prst="rect">
            <a:avLst/>
          </a:prstGeom>
          <a:noFill/>
        </p:spPr>
        <p:txBody>
          <a:bodyPr wrap="square">
            <a:spAutoFit/>
          </a:bodyPr>
          <a:lstStyle/>
          <a:p>
            <a:r>
              <a:rPr lang="en-US" dirty="0"/>
              <a:t>NLP involves a series of phases that work together to process language, and each phase helps in understanding structure and meaning of human language. </a:t>
            </a:r>
          </a:p>
        </p:txBody>
      </p:sp>
      <p:pic>
        <p:nvPicPr>
          <p:cNvPr id="10" name="Picture 9">
            <a:extLst>
              <a:ext uri="{FF2B5EF4-FFF2-40B4-BE49-F238E27FC236}">
                <a16:creationId xmlns:a16="http://schemas.microsoft.com/office/drawing/2014/main" id="{DB7A89B6-CC9F-61CB-C5ED-FBE9CC5B7BAC}"/>
              </a:ext>
            </a:extLst>
          </p:cNvPr>
          <p:cNvPicPr>
            <a:picLocks noChangeAspect="1"/>
          </p:cNvPicPr>
          <p:nvPr/>
        </p:nvPicPr>
        <p:blipFill>
          <a:blip r:embed="rId16"/>
          <a:stretch>
            <a:fillRect/>
          </a:stretch>
        </p:blipFill>
        <p:spPr>
          <a:xfrm>
            <a:off x="865190" y="2297277"/>
            <a:ext cx="9059539" cy="3572374"/>
          </a:xfrm>
          <a:prstGeom prst="rect">
            <a:avLst/>
          </a:prstGeom>
        </p:spPr>
      </p:pic>
      <p:sp>
        <p:nvSpPr>
          <p:cNvPr id="12" name="TextBox 11">
            <a:extLst>
              <a:ext uri="{FF2B5EF4-FFF2-40B4-BE49-F238E27FC236}">
                <a16:creationId xmlns:a16="http://schemas.microsoft.com/office/drawing/2014/main" id="{F0EF8553-D76E-5D9A-B641-D876467F7517}"/>
              </a:ext>
            </a:extLst>
          </p:cNvPr>
          <p:cNvSpPr txBox="1"/>
          <p:nvPr/>
        </p:nvSpPr>
        <p:spPr>
          <a:xfrm>
            <a:off x="3658485" y="2283966"/>
            <a:ext cx="3742746" cy="646331"/>
          </a:xfrm>
          <a:prstGeom prst="rect">
            <a:avLst/>
          </a:prstGeom>
          <a:noFill/>
        </p:spPr>
        <p:txBody>
          <a:bodyPr wrap="square">
            <a:spAutoFit/>
          </a:bodyPr>
          <a:lstStyle/>
          <a:p>
            <a:r>
              <a:rPr lang="en-US" dirty="0"/>
              <a:t>The arrangement of words in a sentence to make grammatical sense. </a:t>
            </a:r>
          </a:p>
        </p:txBody>
      </p:sp>
      <p:sp>
        <p:nvSpPr>
          <p:cNvPr id="14" name="TextBox 13">
            <a:extLst>
              <a:ext uri="{FF2B5EF4-FFF2-40B4-BE49-F238E27FC236}">
                <a16:creationId xmlns:a16="http://schemas.microsoft.com/office/drawing/2014/main" id="{96CB1C08-0D13-3B94-7F8E-A1EC194C9022}"/>
              </a:ext>
            </a:extLst>
          </p:cNvPr>
          <p:cNvSpPr txBox="1"/>
          <p:nvPr/>
        </p:nvSpPr>
        <p:spPr>
          <a:xfrm>
            <a:off x="7478713" y="3845997"/>
            <a:ext cx="6096000" cy="369332"/>
          </a:xfrm>
          <a:prstGeom prst="rect">
            <a:avLst/>
          </a:prstGeom>
          <a:noFill/>
        </p:spPr>
        <p:txBody>
          <a:bodyPr wrap="square">
            <a:spAutoFit/>
          </a:bodyPr>
          <a:lstStyle/>
          <a:p>
            <a:r>
              <a:rPr lang="en-US" dirty="0"/>
              <a:t>The meaning conveyed by a text. </a:t>
            </a:r>
          </a:p>
        </p:txBody>
      </p:sp>
      <p:sp>
        <p:nvSpPr>
          <p:cNvPr id="16" name="TextBox 15">
            <a:extLst>
              <a:ext uri="{FF2B5EF4-FFF2-40B4-BE49-F238E27FC236}">
                <a16:creationId xmlns:a16="http://schemas.microsoft.com/office/drawing/2014/main" id="{9A9C979F-2934-3A42-1F48-FC673D281CBC}"/>
              </a:ext>
            </a:extLst>
          </p:cNvPr>
          <p:cNvSpPr txBox="1"/>
          <p:nvPr/>
        </p:nvSpPr>
        <p:spPr>
          <a:xfrm>
            <a:off x="2846135" y="5607705"/>
            <a:ext cx="2683723" cy="646331"/>
          </a:xfrm>
          <a:prstGeom prst="rect">
            <a:avLst/>
          </a:prstGeom>
          <a:noFill/>
        </p:spPr>
        <p:txBody>
          <a:bodyPr wrap="square">
            <a:spAutoFit/>
          </a:bodyPr>
          <a:lstStyle/>
          <a:p>
            <a:r>
              <a:rPr lang="en-US" dirty="0"/>
              <a:t>The context in which a sentence is used. </a:t>
            </a:r>
          </a:p>
        </p:txBody>
      </p:sp>
      <p:sp>
        <p:nvSpPr>
          <p:cNvPr id="18" name="TextBox 17">
            <a:extLst>
              <a:ext uri="{FF2B5EF4-FFF2-40B4-BE49-F238E27FC236}">
                <a16:creationId xmlns:a16="http://schemas.microsoft.com/office/drawing/2014/main" id="{F8F3C9F2-2B19-A4AD-9D02-762313A9FAFD}"/>
              </a:ext>
            </a:extLst>
          </p:cNvPr>
          <p:cNvSpPr txBox="1"/>
          <p:nvPr/>
        </p:nvSpPr>
        <p:spPr>
          <a:xfrm>
            <a:off x="6169447" y="5513630"/>
            <a:ext cx="3096474" cy="646331"/>
          </a:xfrm>
          <a:prstGeom prst="rect">
            <a:avLst/>
          </a:prstGeom>
          <a:noFill/>
        </p:spPr>
        <p:txBody>
          <a:bodyPr wrap="square">
            <a:spAutoFit/>
          </a:bodyPr>
          <a:lstStyle/>
          <a:p>
            <a:r>
              <a:rPr lang="en-US" dirty="0"/>
              <a:t> The structure and coherence of a series of sentences.</a:t>
            </a:r>
          </a:p>
        </p:txBody>
      </p:sp>
      <p:sp>
        <p:nvSpPr>
          <p:cNvPr id="20" name="TextBox 19">
            <a:extLst>
              <a:ext uri="{FF2B5EF4-FFF2-40B4-BE49-F238E27FC236}">
                <a16:creationId xmlns:a16="http://schemas.microsoft.com/office/drawing/2014/main" id="{3B0A9C20-4C82-9508-DB2C-C2855CACFFFF}"/>
              </a:ext>
            </a:extLst>
          </p:cNvPr>
          <p:cNvSpPr txBox="1"/>
          <p:nvPr/>
        </p:nvSpPr>
        <p:spPr>
          <a:xfrm>
            <a:off x="1092650" y="3869492"/>
            <a:ext cx="2828475" cy="646331"/>
          </a:xfrm>
          <a:prstGeom prst="rect">
            <a:avLst/>
          </a:prstGeom>
          <a:noFill/>
        </p:spPr>
        <p:txBody>
          <a:bodyPr wrap="square">
            <a:spAutoFit/>
          </a:bodyPr>
          <a:lstStyle/>
          <a:p>
            <a:r>
              <a:rPr lang="en-US" dirty="0"/>
              <a:t>identifying and processing words (or lexemes) in a text</a:t>
            </a:r>
            <a:endParaRPr lang="en-IN" dirty="0"/>
          </a:p>
        </p:txBody>
      </p:sp>
    </p:spTree>
    <p:extLst>
      <p:ext uri="{BB962C8B-B14F-4D97-AF65-F5344CB8AC3E}">
        <p14:creationId xmlns:p14="http://schemas.microsoft.com/office/powerpoint/2010/main" val="3475067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73951-B706-179A-2D3D-B71C61EEA063}"/>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2F15FAE8-EF3D-FFCF-CB6A-FBCE5D0DF6C8}"/>
              </a:ext>
            </a:extLst>
          </p:cNvPr>
          <p:cNvSpPr/>
          <p:nvPr/>
        </p:nvSpPr>
        <p:spPr>
          <a:xfrm>
            <a:off x="697028" y="691688"/>
            <a:ext cx="9168332" cy="461665"/>
          </a:xfrm>
          <a:prstGeom prst="rect">
            <a:avLst/>
          </a:prstGeom>
        </p:spPr>
        <p:txBody>
          <a:bodyPr wrap="square">
            <a:spAutoFit/>
          </a:bodyPr>
          <a:lstStyle/>
          <a:p>
            <a:r>
              <a:rPr lang="en-IN" sz="2400" dirty="0">
                <a:solidFill>
                  <a:schemeClr val="accent1"/>
                </a:solidFill>
              </a:rPr>
              <a:t>Phases of NLP(</a:t>
            </a:r>
            <a:r>
              <a:rPr lang="en-US" sz="2400" b="1" dirty="0"/>
              <a:t>Lexical and Morphological Analysis</a:t>
            </a:r>
            <a:r>
              <a:rPr lang="en-IN" sz="2400" dirty="0">
                <a:solidFill>
                  <a:schemeClr val="accent1"/>
                </a:solidFill>
              </a:rPr>
              <a:t>)</a:t>
            </a:r>
          </a:p>
        </p:txBody>
      </p:sp>
      <p:cxnSp>
        <p:nvCxnSpPr>
          <p:cNvPr id="8" name="Straight Connector 7">
            <a:extLst>
              <a:ext uri="{FF2B5EF4-FFF2-40B4-BE49-F238E27FC236}">
                <a16:creationId xmlns:a16="http://schemas.microsoft.com/office/drawing/2014/main" id="{0330CB28-87EE-E80C-4912-920AAFA0492A}"/>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EDF90CC-48FF-D2CF-FB18-D3B929D7F456}"/>
              </a:ext>
            </a:extLst>
          </p:cNvPr>
          <p:cNvSpPr/>
          <p:nvPr/>
        </p:nvSpPr>
        <p:spPr>
          <a:xfrm>
            <a:off x="729118" y="1454722"/>
            <a:ext cx="7827053" cy="923330"/>
          </a:xfrm>
          <a:prstGeom prst="rect">
            <a:avLst/>
          </a:prstGeom>
        </p:spPr>
        <p:txBody>
          <a:bodyPr wrap="square">
            <a:spAutoFit/>
          </a:bodyPr>
          <a:lstStyle/>
          <a:p>
            <a:pPr algn="just"/>
            <a:endParaRPr lang="en-IN" dirty="0"/>
          </a:p>
          <a:p>
            <a:endParaRPr lang="en-US" dirty="0"/>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2C249145-4930-A94A-1D74-8605B9643C8C}"/>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73DECFE0-3241-1379-D8B3-4E69AE96AF08}"/>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A8E7F3BF-A373-EAA5-5BE7-487A56EB7B5F}"/>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87041DC4-36BD-C0A1-E359-ABB2565049F1}"/>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8D37EDFD-E1C6-1533-8C2F-FBFC4B2A272F}"/>
              </a:ext>
            </a:extLst>
          </p:cNvPr>
          <p:cNvPicPr/>
          <p:nvPr/>
        </p:nvPicPr>
        <p:blipFill>
          <a:blip r:embed="rId15" cstate="print"/>
          <a:stretch>
            <a:fillRect/>
          </a:stretch>
        </p:blipFill>
        <p:spPr>
          <a:xfrm>
            <a:off x="11253612" y="31095"/>
            <a:ext cx="870585" cy="1378458"/>
          </a:xfrm>
          <a:prstGeom prst="rect">
            <a:avLst/>
          </a:prstGeom>
        </p:spPr>
      </p:pic>
      <p:sp>
        <p:nvSpPr>
          <p:cNvPr id="4" name="Rectangle 3">
            <a:extLst>
              <a:ext uri="{FF2B5EF4-FFF2-40B4-BE49-F238E27FC236}">
                <a16:creationId xmlns:a16="http://schemas.microsoft.com/office/drawing/2014/main" id="{697E62FB-7C9C-2CAD-C450-54748A01C6BE}"/>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6" name="TextBox 5">
            <a:extLst>
              <a:ext uri="{FF2B5EF4-FFF2-40B4-BE49-F238E27FC236}">
                <a16:creationId xmlns:a16="http://schemas.microsoft.com/office/drawing/2014/main" id="{B18FB2AC-3EFF-8823-223F-FEDE2724E901}"/>
              </a:ext>
            </a:extLst>
          </p:cNvPr>
          <p:cNvSpPr txBox="1"/>
          <p:nvPr/>
        </p:nvSpPr>
        <p:spPr>
          <a:xfrm>
            <a:off x="225110" y="1392961"/>
            <a:ext cx="6175690" cy="5078313"/>
          </a:xfrm>
          <a:prstGeom prst="rect">
            <a:avLst/>
          </a:prstGeom>
          <a:noFill/>
        </p:spPr>
        <p:txBody>
          <a:bodyPr wrap="square">
            <a:spAutoFit/>
          </a:bodyPr>
          <a:lstStyle/>
          <a:p>
            <a:pPr fontAlgn="base"/>
            <a:r>
              <a:rPr lang="en-US" b="1" dirty="0"/>
              <a:t>Lexical Analysis</a:t>
            </a:r>
          </a:p>
          <a:p>
            <a:pPr fontAlgn="base"/>
            <a:r>
              <a:rPr lang="en-US" dirty="0"/>
              <a:t>It breaks down the input text into individual tokens that are meaningful units of language such as words or phrases.</a:t>
            </a:r>
          </a:p>
          <a:p>
            <a:pPr fontAlgn="base"/>
            <a:r>
              <a:rPr lang="en-US" b="1" dirty="0"/>
              <a:t>Key tasks in Lexical analysis:</a:t>
            </a:r>
            <a:endParaRPr lang="en-US" dirty="0"/>
          </a:p>
          <a:p>
            <a:pPr fontAlgn="base"/>
            <a:r>
              <a:rPr lang="en-US" b="1" u="sng" dirty="0">
                <a:hlinkClick r:id="rId16"/>
              </a:rPr>
              <a:t>Tokenization</a:t>
            </a:r>
            <a:r>
              <a:rPr lang="en-US" dirty="0"/>
              <a:t>: Process of dividing a text into smaller chunks called tokens. For example the sentence "I love programming" would be tokenized into ["I", "love", "programming"].</a:t>
            </a:r>
          </a:p>
          <a:p>
            <a:pPr fontAlgn="base"/>
            <a:r>
              <a:rPr lang="en-US" b="1" u="sng" dirty="0">
                <a:hlinkClick r:id="rId17"/>
              </a:rPr>
              <a:t>Part-of-Speech Tagging</a:t>
            </a:r>
            <a:r>
              <a:rPr lang="en-US" b="1" dirty="0"/>
              <a:t>: </a:t>
            </a:r>
            <a:r>
              <a:rPr lang="en-US" dirty="0"/>
              <a:t>Assigning parts of speech such as noun, verb, adjective to each token in the sentence. This helps us to understand grammatical roles of words in the context.</a:t>
            </a:r>
          </a:p>
          <a:p>
            <a:pPr fontAlgn="base"/>
            <a:endParaRPr lang="en-US" dirty="0"/>
          </a:p>
          <a:p>
            <a:pPr fontAlgn="base"/>
            <a:r>
              <a:rPr lang="en-US" b="1" dirty="0"/>
              <a:t>Consider the sentence: "</a:t>
            </a:r>
            <a:r>
              <a:rPr lang="en-US" dirty="0"/>
              <a:t>I am reading a book."</a:t>
            </a:r>
          </a:p>
          <a:p>
            <a:pPr fontAlgn="base"/>
            <a:r>
              <a:rPr lang="en-US" b="1" dirty="0"/>
              <a:t>Tokenization:</a:t>
            </a:r>
            <a:r>
              <a:rPr lang="en-US" dirty="0"/>
              <a:t> Sentence is broken down into individual tokens or words: ["I", "am", "reading", "a", "book"]</a:t>
            </a:r>
          </a:p>
          <a:p>
            <a:pPr fontAlgn="base"/>
            <a:r>
              <a:rPr lang="en-US" b="1" dirty="0"/>
              <a:t>Part-of-Speech Tagging:</a:t>
            </a:r>
            <a:r>
              <a:rPr lang="en-US" dirty="0"/>
              <a:t> Each token is assigned a part of speech: ["I" → Pronoun (PRP), "am" → Verb (VBP), "reading" → Verb (VBG), "a" → Article (DT), "book" → Noun (NN)]</a:t>
            </a:r>
          </a:p>
          <a:p>
            <a:pPr fontAlgn="base"/>
            <a:endParaRPr lang="en-US" dirty="0"/>
          </a:p>
        </p:txBody>
      </p:sp>
      <p:sp>
        <p:nvSpPr>
          <p:cNvPr id="7" name="TextBox 6">
            <a:extLst>
              <a:ext uri="{FF2B5EF4-FFF2-40B4-BE49-F238E27FC236}">
                <a16:creationId xmlns:a16="http://schemas.microsoft.com/office/drawing/2014/main" id="{8A6C3148-BF1F-C465-E3FF-E43E5AC41A20}"/>
              </a:ext>
            </a:extLst>
          </p:cNvPr>
          <p:cNvSpPr txBox="1"/>
          <p:nvPr/>
        </p:nvSpPr>
        <p:spPr>
          <a:xfrm>
            <a:off x="6564448" y="1514450"/>
            <a:ext cx="5215820" cy="4352474"/>
          </a:xfrm>
          <a:prstGeom prst="rect">
            <a:avLst/>
          </a:prstGeom>
          <a:noFill/>
        </p:spPr>
        <p:txBody>
          <a:bodyPr wrap="square">
            <a:spAutoFit/>
          </a:bodyPr>
          <a:lstStyle/>
          <a:p>
            <a:pPr algn="l" fontAlgn="base">
              <a:lnSpc>
                <a:spcPts val="2100"/>
              </a:lnSpc>
              <a:spcBef>
                <a:spcPts val="1800"/>
              </a:spcBef>
              <a:spcAft>
                <a:spcPts val="1800"/>
              </a:spcAft>
              <a:buNone/>
            </a:pPr>
            <a:r>
              <a:rPr lang="en-US" b="1" dirty="0"/>
              <a:t>Morphological Analysis</a:t>
            </a:r>
          </a:p>
          <a:p>
            <a:pPr algn="l" rtl="0" fontAlgn="base">
              <a:spcAft>
                <a:spcPts val="750"/>
              </a:spcAft>
              <a:buNone/>
            </a:pPr>
            <a:r>
              <a:rPr lang="en-US" b="0" i="0" dirty="0">
                <a:solidFill>
                  <a:srgbClr val="273239"/>
                </a:solidFill>
                <a:effectLst/>
              </a:rPr>
              <a:t>It deals with </a:t>
            </a:r>
            <a:r>
              <a:rPr lang="en-US" b="1" i="0" dirty="0">
                <a:solidFill>
                  <a:srgbClr val="273239"/>
                </a:solidFill>
                <a:effectLst/>
              </a:rPr>
              <a:t>morphemes </a:t>
            </a:r>
            <a:r>
              <a:rPr lang="en-US" b="0" i="0" dirty="0">
                <a:solidFill>
                  <a:srgbClr val="273239"/>
                </a:solidFill>
                <a:effectLst/>
              </a:rPr>
              <a:t>which are the smallest units of meaning in a word. It is important to understand the structure of words and their parts by identifying </a:t>
            </a:r>
            <a:r>
              <a:rPr lang="en-US" b="1" i="0" dirty="0">
                <a:solidFill>
                  <a:srgbClr val="273239"/>
                </a:solidFill>
                <a:effectLst/>
              </a:rPr>
              <a:t>free morphemes </a:t>
            </a:r>
            <a:r>
              <a:rPr lang="en-US" b="0" i="0" dirty="0">
                <a:solidFill>
                  <a:srgbClr val="273239"/>
                </a:solidFill>
                <a:effectLst/>
              </a:rPr>
              <a:t>(independent words like "cat") and </a:t>
            </a:r>
            <a:r>
              <a:rPr lang="en-US" b="1" i="0" dirty="0">
                <a:solidFill>
                  <a:srgbClr val="273239"/>
                </a:solidFill>
                <a:effectLst/>
              </a:rPr>
              <a:t>bound morphemes </a:t>
            </a:r>
            <a:r>
              <a:rPr lang="en-US" b="0" i="0" dirty="0">
                <a:solidFill>
                  <a:srgbClr val="273239"/>
                </a:solidFill>
                <a:effectLst/>
              </a:rPr>
              <a:t>(like prefixes or suffixes e.g. "un-" or "-</a:t>
            </a:r>
            <a:r>
              <a:rPr lang="en-US" b="0" i="0" dirty="0" err="1">
                <a:solidFill>
                  <a:srgbClr val="273239"/>
                </a:solidFill>
                <a:effectLst/>
              </a:rPr>
              <a:t>ing</a:t>
            </a:r>
            <a:r>
              <a:rPr lang="en-US" b="0" i="0" dirty="0">
                <a:solidFill>
                  <a:srgbClr val="273239"/>
                </a:solidFill>
                <a:effectLst/>
              </a:rPr>
              <a:t>").</a:t>
            </a:r>
          </a:p>
          <a:p>
            <a:pPr algn="l" rtl="0" fontAlgn="base">
              <a:spcAft>
                <a:spcPts val="750"/>
              </a:spcAft>
              <a:buNone/>
            </a:pPr>
            <a:r>
              <a:rPr lang="en-US" b="1" i="0" dirty="0">
                <a:solidFill>
                  <a:srgbClr val="273239"/>
                </a:solidFill>
                <a:effectLst/>
              </a:rPr>
              <a:t>Key tasks in morphological analysis:</a:t>
            </a:r>
            <a:endParaRPr lang="en-US" b="0" i="0" dirty="0">
              <a:solidFill>
                <a:srgbClr val="273239"/>
              </a:solidFill>
              <a:effectLst/>
            </a:endParaRPr>
          </a:p>
          <a:p>
            <a:pPr algn="l" fontAlgn="base">
              <a:spcAft>
                <a:spcPts val="1800"/>
              </a:spcAft>
              <a:buFont typeface="+mj-lt"/>
              <a:buAutoNum type="arabicPeriod"/>
            </a:pPr>
            <a:r>
              <a:rPr lang="en-US" b="1" i="0" u="sng" dirty="0">
                <a:solidFill>
                  <a:srgbClr val="357960"/>
                </a:solidFill>
                <a:effectLst/>
                <a:hlinkClick r:id="rId18"/>
              </a:rPr>
              <a:t>Stemming</a:t>
            </a:r>
            <a:r>
              <a:rPr lang="en-US" b="0" i="0" dirty="0">
                <a:solidFill>
                  <a:srgbClr val="273239"/>
                </a:solidFill>
                <a:effectLst/>
              </a:rPr>
              <a:t>: Reducing words to their root form like "running" to "run".</a:t>
            </a:r>
          </a:p>
          <a:p>
            <a:pPr algn="l" fontAlgn="base">
              <a:spcAft>
                <a:spcPts val="1800"/>
              </a:spcAft>
              <a:buFont typeface="+mj-lt"/>
              <a:buAutoNum type="arabicPeriod" startAt="2"/>
            </a:pPr>
            <a:r>
              <a:rPr lang="en-US" b="1" i="0" u="sng" dirty="0">
                <a:solidFill>
                  <a:srgbClr val="357960"/>
                </a:solidFill>
                <a:effectLst/>
                <a:hlinkClick r:id="rId19"/>
              </a:rPr>
              <a:t>Lemmatization</a:t>
            </a:r>
            <a:r>
              <a:rPr lang="en-US" b="0" i="0" dirty="0">
                <a:solidFill>
                  <a:srgbClr val="273239"/>
                </a:solidFill>
                <a:effectLst/>
              </a:rPr>
              <a:t>: Converting words to their base or dictionary form considering the context like "better" becomes "good".</a:t>
            </a:r>
          </a:p>
        </p:txBody>
      </p:sp>
    </p:spTree>
    <p:extLst>
      <p:ext uri="{BB962C8B-B14F-4D97-AF65-F5344CB8AC3E}">
        <p14:creationId xmlns:p14="http://schemas.microsoft.com/office/powerpoint/2010/main" val="1677891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67BC3-D2CE-952E-C9B1-E8B438AF4A01}"/>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E04AF010-7CDE-F70B-7573-4EE40043A6EE}"/>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Phases of NLP </a:t>
            </a:r>
            <a:r>
              <a:rPr lang="en-IN" sz="2400" b="1" dirty="0"/>
              <a:t>(Syntactic Analysis (Parsing))</a:t>
            </a:r>
          </a:p>
        </p:txBody>
      </p:sp>
      <p:cxnSp>
        <p:nvCxnSpPr>
          <p:cNvPr id="8" name="Straight Connector 7">
            <a:extLst>
              <a:ext uri="{FF2B5EF4-FFF2-40B4-BE49-F238E27FC236}">
                <a16:creationId xmlns:a16="http://schemas.microsoft.com/office/drawing/2014/main" id="{A79722ED-4027-24AA-9D36-A248447AB812}"/>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9E799A2B-E796-FB53-36BC-03EC3EE3D681}"/>
              </a:ext>
            </a:extLst>
          </p:cNvPr>
          <p:cNvSpPr/>
          <p:nvPr/>
        </p:nvSpPr>
        <p:spPr>
          <a:xfrm>
            <a:off x="729118" y="1454722"/>
            <a:ext cx="7827053" cy="923330"/>
          </a:xfrm>
          <a:prstGeom prst="rect">
            <a:avLst/>
          </a:prstGeom>
        </p:spPr>
        <p:txBody>
          <a:bodyPr wrap="square">
            <a:spAutoFit/>
          </a:bodyPr>
          <a:lstStyle/>
          <a:p>
            <a:pPr algn="just"/>
            <a:endParaRPr lang="en-IN" dirty="0"/>
          </a:p>
          <a:p>
            <a:endParaRPr lang="en-US" dirty="0"/>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A35A3819-0204-9836-9FDC-DC44748EDFD0}"/>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51F1EC30-4D68-67AE-8EA2-EFBA2171813B}"/>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9F71F4ED-9D08-1805-1567-F833B799E3F9}"/>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BD036DD4-7B63-B1B9-6880-A8791F76DE43}"/>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AF3B90AA-8E15-3153-27D3-38939D32B835}"/>
              </a:ext>
            </a:extLst>
          </p:cNvPr>
          <p:cNvPicPr/>
          <p:nvPr/>
        </p:nvPicPr>
        <p:blipFill>
          <a:blip r:embed="rId15" cstate="print"/>
          <a:stretch>
            <a:fillRect/>
          </a:stretch>
        </p:blipFill>
        <p:spPr>
          <a:xfrm>
            <a:off x="10950509" y="194755"/>
            <a:ext cx="870585" cy="1378458"/>
          </a:xfrm>
          <a:prstGeom prst="rect">
            <a:avLst/>
          </a:prstGeom>
        </p:spPr>
      </p:pic>
      <p:sp>
        <p:nvSpPr>
          <p:cNvPr id="4" name="Rectangle 3">
            <a:extLst>
              <a:ext uri="{FF2B5EF4-FFF2-40B4-BE49-F238E27FC236}">
                <a16:creationId xmlns:a16="http://schemas.microsoft.com/office/drawing/2014/main" id="{669B0D10-B255-AFEE-8802-67CF81210DF4}"/>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6" name="TextBox 5">
            <a:extLst>
              <a:ext uri="{FF2B5EF4-FFF2-40B4-BE49-F238E27FC236}">
                <a16:creationId xmlns:a16="http://schemas.microsoft.com/office/drawing/2014/main" id="{2FE808A2-B486-FB69-27FC-3F26C6A13B75}"/>
              </a:ext>
            </a:extLst>
          </p:cNvPr>
          <p:cNvSpPr txBox="1"/>
          <p:nvPr/>
        </p:nvSpPr>
        <p:spPr>
          <a:xfrm>
            <a:off x="550230" y="1406803"/>
            <a:ext cx="10605449" cy="4247317"/>
          </a:xfrm>
          <a:prstGeom prst="rect">
            <a:avLst/>
          </a:prstGeom>
          <a:noFill/>
        </p:spPr>
        <p:txBody>
          <a:bodyPr wrap="square">
            <a:spAutoFit/>
          </a:bodyPr>
          <a:lstStyle/>
          <a:p>
            <a:pPr fontAlgn="base"/>
            <a:r>
              <a:rPr lang="en-US" b="1" dirty="0"/>
              <a:t>Syntactic Analysis</a:t>
            </a:r>
            <a:r>
              <a:rPr lang="en-US" dirty="0"/>
              <a:t> helps in understanding how words in a sentence are arranged according to grammar rules.</a:t>
            </a:r>
          </a:p>
          <a:p>
            <a:pPr fontAlgn="base"/>
            <a:endParaRPr lang="en-US" dirty="0"/>
          </a:p>
          <a:p>
            <a:pPr fontAlgn="base"/>
            <a:r>
              <a:rPr lang="en-US" dirty="0"/>
              <a:t>It breaks the sentence into parts like the subject, verb and object and shows how these parts are connected. This helps machines understand the relationships between words in the sentence.</a:t>
            </a:r>
          </a:p>
          <a:p>
            <a:pPr fontAlgn="base"/>
            <a:endParaRPr lang="en-US" dirty="0"/>
          </a:p>
          <a:p>
            <a:pPr fontAlgn="base"/>
            <a:r>
              <a:rPr lang="en-US" b="1" dirty="0"/>
              <a:t>Key components of syntactic analysis include:</a:t>
            </a:r>
          </a:p>
          <a:p>
            <a:pPr fontAlgn="base"/>
            <a:endParaRPr lang="en-US" b="1" dirty="0"/>
          </a:p>
          <a:p>
            <a:pPr fontAlgn="base"/>
            <a:r>
              <a:rPr lang="en-US" b="1" dirty="0"/>
              <a:t>POS Tagging</a:t>
            </a:r>
            <a:r>
              <a:rPr lang="en-US" dirty="0"/>
              <a:t>: Assigning parts of speech (noun, verb, adjective) to words in a sentence as discussed earlier.</a:t>
            </a:r>
          </a:p>
          <a:p>
            <a:pPr fontAlgn="base"/>
            <a:r>
              <a:rPr lang="en-US" b="1" dirty="0"/>
              <a:t>Ambiguity Resolution</a:t>
            </a:r>
            <a:r>
              <a:rPr lang="en-US" dirty="0"/>
              <a:t>: Handling words that have multiple meanings (</a:t>
            </a:r>
            <a:r>
              <a:rPr lang="en-US" dirty="0" err="1"/>
              <a:t>e.g</a:t>
            </a:r>
            <a:r>
              <a:rPr lang="en-US" dirty="0"/>
              <a:t> "book" can be a noun or a verb).</a:t>
            </a:r>
          </a:p>
          <a:p>
            <a:pPr fontAlgn="base"/>
            <a:endParaRPr lang="en-US" dirty="0"/>
          </a:p>
          <a:p>
            <a:pPr fontAlgn="base"/>
            <a:endParaRPr lang="en-US" dirty="0"/>
          </a:p>
          <a:p>
            <a:pPr fontAlgn="base"/>
            <a:r>
              <a:rPr lang="en-US" dirty="0"/>
              <a:t>Consider the following sentences:</a:t>
            </a:r>
          </a:p>
          <a:p>
            <a:pPr fontAlgn="base"/>
            <a:r>
              <a:rPr lang="en-US" dirty="0"/>
              <a:t>Correct Syntax: "John eats an apple."</a:t>
            </a:r>
          </a:p>
          <a:p>
            <a:pPr fontAlgn="base"/>
            <a:r>
              <a:rPr lang="en-US" dirty="0"/>
              <a:t>Incorrect Syntax: "Apple eats John an."</a:t>
            </a:r>
          </a:p>
          <a:p>
            <a:pPr fontAlgn="base"/>
            <a:endParaRPr lang="en-US" dirty="0"/>
          </a:p>
        </p:txBody>
      </p:sp>
    </p:spTree>
    <p:extLst>
      <p:ext uri="{BB962C8B-B14F-4D97-AF65-F5344CB8AC3E}">
        <p14:creationId xmlns:p14="http://schemas.microsoft.com/office/powerpoint/2010/main" val="3210447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348A0-B9F2-B422-E56E-1BF6F424A48B}"/>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0FC882F8-A752-9C96-E8D5-BA5436CBC6D7}"/>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Phases of NLP </a:t>
            </a:r>
            <a:r>
              <a:rPr lang="en-IN" sz="2400" b="1" dirty="0"/>
              <a:t>(Semantic Analysis)</a:t>
            </a:r>
          </a:p>
        </p:txBody>
      </p:sp>
      <p:cxnSp>
        <p:nvCxnSpPr>
          <p:cNvPr id="8" name="Straight Connector 7">
            <a:extLst>
              <a:ext uri="{FF2B5EF4-FFF2-40B4-BE49-F238E27FC236}">
                <a16:creationId xmlns:a16="http://schemas.microsoft.com/office/drawing/2014/main" id="{E12E4FE8-44F4-29AC-BCAF-182C6F7A6755}"/>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DE8FA087-60EB-15BB-7F57-ED2630EF97D0}"/>
              </a:ext>
            </a:extLst>
          </p:cNvPr>
          <p:cNvSpPr/>
          <p:nvPr/>
        </p:nvSpPr>
        <p:spPr>
          <a:xfrm>
            <a:off x="729118" y="1454722"/>
            <a:ext cx="7827053" cy="923330"/>
          </a:xfrm>
          <a:prstGeom prst="rect">
            <a:avLst/>
          </a:prstGeom>
        </p:spPr>
        <p:txBody>
          <a:bodyPr wrap="square">
            <a:spAutoFit/>
          </a:bodyPr>
          <a:lstStyle/>
          <a:p>
            <a:pPr algn="just"/>
            <a:endParaRPr lang="en-IN" dirty="0"/>
          </a:p>
          <a:p>
            <a:endParaRPr lang="en-US" dirty="0"/>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240D3CF4-4F6E-7C7E-C20E-FAEBE1181B77}"/>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0842764E-F14F-0499-C5F3-DA2721082B43}"/>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B30961D1-348E-F142-31EC-8A61D5D7DD8C}"/>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79899290-2786-EB7B-D120-4C39C5EEE0BE}"/>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1ACADF36-B6C2-439F-FBC1-8FB1AD449368}"/>
              </a:ext>
            </a:extLst>
          </p:cNvPr>
          <p:cNvPicPr/>
          <p:nvPr/>
        </p:nvPicPr>
        <p:blipFill>
          <a:blip r:embed="rId15" cstate="print"/>
          <a:stretch>
            <a:fillRect/>
          </a:stretch>
        </p:blipFill>
        <p:spPr>
          <a:xfrm>
            <a:off x="10950509" y="194755"/>
            <a:ext cx="870585" cy="1378458"/>
          </a:xfrm>
          <a:prstGeom prst="rect">
            <a:avLst/>
          </a:prstGeom>
        </p:spPr>
      </p:pic>
      <p:sp>
        <p:nvSpPr>
          <p:cNvPr id="4" name="Rectangle 3">
            <a:extLst>
              <a:ext uri="{FF2B5EF4-FFF2-40B4-BE49-F238E27FC236}">
                <a16:creationId xmlns:a16="http://schemas.microsoft.com/office/drawing/2014/main" id="{6508A199-20C3-81B1-BA57-4B643E6D7B95}"/>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6" name="TextBox 5">
            <a:extLst>
              <a:ext uri="{FF2B5EF4-FFF2-40B4-BE49-F238E27FC236}">
                <a16:creationId xmlns:a16="http://schemas.microsoft.com/office/drawing/2014/main" id="{4508EE02-83E9-E41A-2785-305638FA740B}"/>
              </a:ext>
            </a:extLst>
          </p:cNvPr>
          <p:cNvSpPr txBox="1"/>
          <p:nvPr/>
        </p:nvSpPr>
        <p:spPr>
          <a:xfrm>
            <a:off x="550230" y="1406803"/>
            <a:ext cx="10605449" cy="4801314"/>
          </a:xfrm>
          <a:prstGeom prst="rect">
            <a:avLst/>
          </a:prstGeom>
          <a:noFill/>
        </p:spPr>
        <p:txBody>
          <a:bodyPr wrap="square">
            <a:spAutoFit/>
          </a:bodyPr>
          <a:lstStyle/>
          <a:p>
            <a:pPr fontAlgn="base"/>
            <a:r>
              <a:rPr lang="en-US" b="1" dirty="0"/>
              <a:t>Semantic Analysis</a:t>
            </a:r>
            <a:r>
              <a:rPr lang="en-US" dirty="0"/>
              <a:t> focuses on understanding meaning behind words and sentences. It ensures that the text is not only grammatically correct but also logically coherent and contextually relevant. </a:t>
            </a:r>
          </a:p>
          <a:p>
            <a:pPr fontAlgn="base"/>
            <a:endParaRPr lang="en-US" dirty="0"/>
          </a:p>
          <a:p>
            <a:pPr fontAlgn="base"/>
            <a:r>
              <a:rPr lang="en-US" b="1" dirty="0"/>
              <a:t>Key Tasks in Semantic Analysis</a:t>
            </a:r>
          </a:p>
          <a:p>
            <a:pPr fontAlgn="base"/>
            <a:endParaRPr lang="en-US" dirty="0"/>
          </a:p>
          <a:p>
            <a:pPr fontAlgn="base"/>
            <a:r>
              <a:rPr lang="en-US" b="1" dirty="0">
                <a:hlinkClick r:id="rId16">
                  <a:extLst>
                    <a:ext uri="{A12FA001-AC4F-418D-AE19-62706E023703}">
                      <ahyp:hlinkClr xmlns:ahyp="http://schemas.microsoft.com/office/drawing/2018/hyperlinkcolor" val="tx"/>
                    </a:ext>
                  </a:extLst>
                </a:hlinkClick>
              </a:rPr>
              <a:t>Named Entity Recognition (NER)</a:t>
            </a:r>
            <a:r>
              <a:rPr lang="en-US" b="1" dirty="0"/>
              <a:t>: </a:t>
            </a:r>
            <a:r>
              <a:rPr lang="en-US" dirty="0"/>
              <a:t>It identifies and classifies entities such as names of people, locations, organizations, dates and more. These entities provide important meaning in the text and help in understanding the context. </a:t>
            </a:r>
          </a:p>
          <a:p>
            <a:pPr fontAlgn="base"/>
            <a:r>
              <a:rPr lang="en-US" b="1" dirty="0"/>
              <a:t>For example </a:t>
            </a:r>
            <a:r>
              <a:rPr lang="en-US" dirty="0"/>
              <a:t>in the sentence "Tesla announced its new electric vehicle in California," NER would identify "Tesla" as an organization and "California" as a location.</a:t>
            </a:r>
          </a:p>
          <a:p>
            <a:pPr fontAlgn="base"/>
            <a:endParaRPr lang="en-US" dirty="0"/>
          </a:p>
          <a:p>
            <a:pPr fontAlgn="base"/>
            <a:r>
              <a:rPr lang="en-US" b="1" dirty="0">
                <a:hlinkClick r:id="rId17">
                  <a:extLst>
                    <a:ext uri="{A12FA001-AC4F-418D-AE19-62706E023703}">
                      <ahyp:hlinkClr xmlns:ahyp="http://schemas.microsoft.com/office/drawing/2018/hyperlinkcolor" val="tx"/>
                    </a:ext>
                  </a:extLst>
                </a:hlinkClick>
              </a:rPr>
              <a:t>Word Sense Disambiguation (WSD)</a:t>
            </a:r>
            <a:r>
              <a:rPr lang="en-US" b="1" dirty="0"/>
              <a:t>: </a:t>
            </a:r>
            <a:r>
              <a:rPr lang="en-US" dirty="0"/>
              <a:t>Many words have multiple meanings depending on the context in which they are used. It identifies the correct meaning of a word based on its surrounding text. </a:t>
            </a:r>
          </a:p>
          <a:p>
            <a:pPr fontAlgn="base"/>
            <a:endParaRPr lang="en-US" dirty="0"/>
          </a:p>
          <a:p>
            <a:pPr fontAlgn="base"/>
            <a:r>
              <a:rPr lang="en-US" b="1" dirty="0"/>
              <a:t>For example</a:t>
            </a:r>
            <a:r>
              <a:rPr lang="en-US" dirty="0"/>
              <a:t> word "bank" can refer to a financial institution or the side of a river. It uses context to identify which meaning applies in a given sentence which ensures that interpretation is accurate.</a:t>
            </a:r>
          </a:p>
          <a:p>
            <a:pPr fontAlgn="base"/>
            <a:endParaRPr lang="en-US" dirty="0"/>
          </a:p>
        </p:txBody>
      </p:sp>
    </p:spTree>
    <p:extLst>
      <p:ext uri="{BB962C8B-B14F-4D97-AF65-F5344CB8AC3E}">
        <p14:creationId xmlns:p14="http://schemas.microsoft.com/office/powerpoint/2010/main" val="1887000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4F09A-DE74-0BB2-D5C3-705A50DEB446}"/>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6A03BE8E-E002-24C4-8C2C-B6C8DDCE0CC6}"/>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Phases of NLP </a:t>
            </a:r>
            <a:r>
              <a:rPr lang="en-IN" sz="2400" b="1" dirty="0"/>
              <a:t>(Discourse Integration)</a:t>
            </a:r>
          </a:p>
        </p:txBody>
      </p:sp>
      <p:cxnSp>
        <p:nvCxnSpPr>
          <p:cNvPr id="8" name="Straight Connector 7">
            <a:extLst>
              <a:ext uri="{FF2B5EF4-FFF2-40B4-BE49-F238E27FC236}">
                <a16:creationId xmlns:a16="http://schemas.microsoft.com/office/drawing/2014/main" id="{97436212-0875-199D-062B-7E6A41D09843}"/>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BC8E0CF9-1C16-247A-DFAA-C1EADE95D8DC}"/>
              </a:ext>
            </a:extLst>
          </p:cNvPr>
          <p:cNvSpPr/>
          <p:nvPr/>
        </p:nvSpPr>
        <p:spPr>
          <a:xfrm>
            <a:off x="729118" y="1454722"/>
            <a:ext cx="7827053" cy="923330"/>
          </a:xfrm>
          <a:prstGeom prst="rect">
            <a:avLst/>
          </a:prstGeom>
        </p:spPr>
        <p:txBody>
          <a:bodyPr wrap="square">
            <a:spAutoFit/>
          </a:bodyPr>
          <a:lstStyle/>
          <a:p>
            <a:pPr algn="just"/>
            <a:endParaRPr lang="en-IN" dirty="0"/>
          </a:p>
          <a:p>
            <a:endParaRPr lang="en-US" dirty="0"/>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651DC52C-C90F-9ED7-91EE-68661BA0E17B}"/>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AB3983C3-033A-153A-AAD2-6A5926B07D85}"/>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A76500B4-3F78-1B52-FB97-6D1A47F7FA4F}"/>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5E6C6664-95FD-BF6D-E483-E183F0691A69}"/>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E38A2C41-1CA5-560D-ADCD-BB40A2927C8C}"/>
              </a:ext>
            </a:extLst>
          </p:cNvPr>
          <p:cNvPicPr/>
          <p:nvPr/>
        </p:nvPicPr>
        <p:blipFill>
          <a:blip r:embed="rId15" cstate="print"/>
          <a:stretch>
            <a:fillRect/>
          </a:stretch>
        </p:blipFill>
        <p:spPr>
          <a:xfrm>
            <a:off x="10950509" y="194755"/>
            <a:ext cx="870585" cy="1378458"/>
          </a:xfrm>
          <a:prstGeom prst="rect">
            <a:avLst/>
          </a:prstGeom>
        </p:spPr>
      </p:pic>
      <p:sp>
        <p:nvSpPr>
          <p:cNvPr id="4" name="Rectangle 3">
            <a:extLst>
              <a:ext uri="{FF2B5EF4-FFF2-40B4-BE49-F238E27FC236}">
                <a16:creationId xmlns:a16="http://schemas.microsoft.com/office/drawing/2014/main" id="{84B3272A-BF19-9F08-51EA-884482568CA6}"/>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6" name="TextBox 5">
            <a:extLst>
              <a:ext uri="{FF2B5EF4-FFF2-40B4-BE49-F238E27FC236}">
                <a16:creationId xmlns:a16="http://schemas.microsoft.com/office/drawing/2014/main" id="{5CB7D737-86E4-DAEE-FDDC-D1587DE62886}"/>
              </a:ext>
            </a:extLst>
          </p:cNvPr>
          <p:cNvSpPr txBox="1"/>
          <p:nvPr/>
        </p:nvSpPr>
        <p:spPr>
          <a:xfrm>
            <a:off x="550230" y="1406803"/>
            <a:ext cx="10605449" cy="5355312"/>
          </a:xfrm>
          <a:prstGeom prst="rect">
            <a:avLst/>
          </a:prstGeom>
          <a:noFill/>
        </p:spPr>
        <p:txBody>
          <a:bodyPr wrap="square">
            <a:spAutoFit/>
          </a:bodyPr>
          <a:lstStyle/>
          <a:p>
            <a:pPr fontAlgn="base"/>
            <a:r>
              <a:rPr lang="en-US" dirty="0"/>
              <a:t>It is the process of understanding how individual sentences or segments of text connect and relate to each other within a broader context. </a:t>
            </a:r>
          </a:p>
          <a:p>
            <a:pPr fontAlgn="base"/>
            <a:endParaRPr lang="en-US" dirty="0"/>
          </a:p>
          <a:p>
            <a:pPr fontAlgn="base"/>
            <a:r>
              <a:rPr lang="en-US" dirty="0"/>
              <a:t>This phase ensures that the meaning of a text is consistent and coherent across multiple sentences or paragraphs. </a:t>
            </a:r>
          </a:p>
          <a:p>
            <a:pPr fontAlgn="base"/>
            <a:endParaRPr lang="en-US" dirty="0"/>
          </a:p>
          <a:p>
            <a:pPr fontAlgn="base"/>
            <a:r>
              <a:rPr lang="en-US" dirty="0"/>
              <a:t>It is important for understanding long or complex texts where meaning focuses on previous statements.</a:t>
            </a:r>
          </a:p>
          <a:p>
            <a:pPr fontAlgn="base"/>
            <a:endParaRPr lang="en-US" dirty="0"/>
          </a:p>
          <a:p>
            <a:pPr fontAlgn="base"/>
            <a:r>
              <a:rPr lang="en-US" b="1" dirty="0"/>
              <a:t>Key aspects of discourse integration:</a:t>
            </a:r>
          </a:p>
          <a:p>
            <a:br>
              <a:rPr lang="en-US" dirty="0"/>
            </a:br>
            <a:r>
              <a:rPr lang="en-US" b="1" dirty="0"/>
              <a:t>Anaphora Resolution</a:t>
            </a:r>
            <a:r>
              <a:rPr lang="en-US" dirty="0"/>
              <a:t>: Anaphora refers to the use of pronouns or other references that depend on earlier parts of the text. For example in the sentence "Taylor went to the store. She bought groceries" pronoun "She" refers back to "Taylor." It ensures that references like these are correctly understood by linking them to their antecedents.</a:t>
            </a:r>
          </a:p>
          <a:p>
            <a:pPr fontAlgn="base"/>
            <a:r>
              <a:rPr lang="en-US" b="1" dirty="0"/>
              <a:t>Contextual References</a:t>
            </a:r>
            <a:r>
              <a:rPr lang="en-US" dirty="0"/>
              <a:t>: Many words or phrases can only be fully understood when considered in the context of following sentences. It helps in interpreting how certain words or phrases focuses on context. For example "</a:t>
            </a:r>
            <a:r>
              <a:rPr lang="en-US" b="1" dirty="0"/>
              <a:t>It was a great day</a:t>
            </a:r>
            <a:r>
              <a:rPr lang="en-US" dirty="0"/>
              <a:t>" is clearer when you know what event or situation is being discussed.</a:t>
            </a:r>
          </a:p>
          <a:p>
            <a:pPr fontAlgn="base"/>
            <a:endParaRPr lang="en-US" dirty="0"/>
          </a:p>
          <a:p>
            <a:pPr fontAlgn="base"/>
            <a:r>
              <a:rPr lang="en-US" dirty="0"/>
              <a:t>"</a:t>
            </a:r>
            <a:r>
              <a:rPr lang="en-US" b="1" dirty="0"/>
              <a:t>This is unfair!" </a:t>
            </a:r>
            <a:r>
              <a:rPr lang="en-US" dirty="0"/>
              <a:t>helps in understand what "this" refers to </a:t>
            </a:r>
          </a:p>
        </p:txBody>
      </p:sp>
    </p:spTree>
    <p:extLst>
      <p:ext uri="{BB962C8B-B14F-4D97-AF65-F5344CB8AC3E}">
        <p14:creationId xmlns:p14="http://schemas.microsoft.com/office/powerpoint/2010/main" val="3150516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24373-CA4C-9E29-C462-A8CE6093E24A}"/>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362D38E5-9EC9-98C9-A718-CD80A88D7798}"/>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Phases of NLP </a:t>
            </a:r>
            <a:r>
              <a:rPr lang="en-IN" sz="2400" b="1" dirty="0"/>
              <a:t>(Pragmatic Analysis)</a:t>
            </a:r>
          </a:p>
        </p:txBody>
      </p:sp>
      <p:cxnSp>
        <p:nvCxnSpPr>
          <p:cNvPr id="8" name="Straight Connector 7">
            <a:extLst>
              <a:ext uri="{FF2B5EF4-FFF2-40B4-BE49-F238E27FC236}">
                <a16:creationId xmlns:a16="http://schemas.microsoft.com/office/drawing/2014/main" id="{A98F2C50-F029-9447-E4CD-DC3199BF1164}"/>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E3ECB756-2BD0-7C08-9083-C97C06EC696A}"/>
              </a:ext>
            </a:extLst>
          </p:cNvPr>
          <p:cNvSpPr/>
          <p:nvPr/>
        </p:nvSpPr>
        <p:spPr>
          <a:xfrm>
            <a:off x="729118" y="1454722"/>
            <a:ext cx="7827053" cy="923330"/>
          </a:xfrm>
          <a:prstGeom prst="rect">
            <a:avLst/>
          </a:prstGeom>
        </p:spPr>
        <p:txBody>
          <a:bodyPr wrap="square">
            <a:spAutoFit/>
          </a:bodyPr>
          <a:lstStyle/>
          <a:p>
            <a:pPr algn="just"/>
            <a:endParaRPr lang="en-IN" dirty="0"/>
          </a:p>
          <a:p>
            <a:endParaRPr lang="en-US" dirty="0"/>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061ADB33-1B71-F1AB-C464-A61FE34E66F1}"/>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DB0121FC-F20F-FFF1-74DF-EDB93215A05B}"/>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0C894301-6ADD-83EF-5F89-C4726552FE1C}"/>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67D3EC65-181A-917A-77D3-7CBF564FAD5B}"/>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280D11C8-9542-110E-FF6F-6C911BB2BBCC}"/>
              </a:ext>
            </a:extLst>
          </p:cNvPr>
          <p:cNvPicPr/>
          <p:nvPr/>
        </p:nvPicPr>
        <p:blipFill>
          <a:blip r:embed="rId15" cstate="print"/>
          <a:stretch>
            <a:fillRect/>
          </a:stretch>
        </p:blipFill>
        <p:spPr>
          <a:xfrm>
            <a:off x="10950509" y="194755"/>
            <a:ext cx="870585" cy="1378458"/>
          </a:xfrm>
          <a:prstGeom prst="rect">
            <a:avLst/>
          </a:prstGeom>
        </p:spPr>
      </p:pic>
      <p:sp>
        <p:nvSpPr>
          <p:cNvPr id="4" name="Rectangle 3">
            <a:extLst>
              <a:ext uri="{FF2B5EF4-FFF2-40B4-BE49-F238E27FC236}">
                <a16:creationId xmlns:a16="http://schemas.microsoft.com/office/drawing/2014/main" id="{3DFD980A-52E5-4E57-96F6-6F13917AFA10}"/>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6" name="TextBox 5">
            <a:extLst>
              <a:ext uri="{FF2B5EF4-FFF2-40B4-BE49-F238E27FC236}">
                <a16:creationId xmlns:a16="http://schemas.microsoft.com/office/drawing/2014/main" id="{BD2F30D5-C1A6-96F7-7D26-5799808BA9DB}"/>
              </a:ext>
            </a:extLst>
          </p:cNvPr>
          <p:cNvSpPr txBox="1"/>
          <p:nvPr/>
        </p:nvSpPr>
        <p:spPr>
          <a:xfrm>
            <a:off x="550230" y="1406803"/>
            <a:ext cx="10605449" cy="2862322"/>
          </a:xfrm>
          <a:prstGeom prst="rect">
            <a:avLst/>
          </a:prstGeom>
          <a:noFill/>
        </p:spPr>
        <p:txBody>
          <a:bodyPr wrap="square">
            <a:spAutoFit/>
          </a:bodyPr>
          <a:lstStyle/>
          <a:p>
            <a:pPr fontAlgn="base"/>
            <a:r>
              <a:rPr lang="en-US" dirty="0"/>
              <a:t>Pragmatic analysis helps in understanding the deeper meaning behind words and sentences by looking beyond their literal meanings.  It considers the speaker's or writer's intentions, tone and context of the communication.</a:t>
            </a:r>
          </a:p>
          <a:p>
            <a:pPr fontAlgn="base"/>
            <a:endParaRPr lang="en-US" dirty="0"/>
          </a:p>
          <a:p>
            <a:pPr fontAlgn="base"/>
            <a:r>
              <a:rPr lang="en-US" b="1" dirty="0"/>
              <a:t>"Hello! What time is it?" </a:t>
            </a:r>
            <a:r>
              <a:rPr lang="en-US" dirty="0"/>
              <a:t>here it might be a straightforward request for the current time but it could also imply concern about being late.</a:t>
            </a:r>
          </a:p>
          <a:p>
            <a:pPr fontAlgn="base"/>
            <a:endParaRPr lang="en-US" dirty="0"/>
          </a:p>
          <a:p>
            <a:pPr fontAlgn="base"/>
            <a:endParaRPr lang="en-US" dirty="0"/>
          </a:p>
          <a:p>
            <a:pPr fontAlgn="base"/>
            <a:r>
              <a:rPr lang="en-US" b="1" dirty="0"/>
              <a:t>For example </a:t>
            </a:r>
            <a:r>
              <a:rPr lang="en-US" dirty="0"/>
              <a:t>"I’m falling for you" means "I like you" not literally falling. It helps to interpret these non-literal meanings.</a:t>
            </a:r>
          </a:p>
          <a:p>
            <a:pPr fontAlgn="base"/>
            <a:endParaRPr lang="en-US" dirty="0"/>
          </a:p>
        </p:txBody>
      </p:sp>
    </p:spTree>
    <p:extLst>
      <p:ext uri="{BB962C8B-B14F-4D97-AF65-F5344CB8AC3E}">
        <p14:creationId xmlns:p14="http://schemas.microsoft.com/office/powerpoint/2010/main" val="2159732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B3EAA-4A35-9E1C-EC2B-00FFBB5526F2}"/>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05ED7E2B-E111-0B33-E33D-F09138A4F1A8}"/>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How NLP Works</a:t>
            </a:r>
          </a:p>
        </p:txBody>
      </p:sp>
      <p:cxnSp>
        <p:nvCxnSpPr>
          <p:cNvPr id="8" name="Straight Connector 7">
            <a:extLst>
              <a:ext uri="{FF2B5EF4-FFF2-40B4-BE49-F238E27FC236}">
                <a16:creationId xmlns:a16="http://schemas.microsoft.com/office/drawing/2014/main" id="{3C5D1A99-1097-115D-1374-74611C0F04AF}"/>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EAE3CA0D-D6DF-A435-DE0B-31FD5B194BF7}"/>
              </a:ext>
            </a:extLst>
          </p:cNvPr>
          <p:cNvSpPr/>
          <p:nvPr/>
        </p:nvSpPr>
        <p:spPr>
          <a:xfrm>
            <a:off x="729118" y="1454722"/>
            <a:ext cx="7827053" cy="923330"/>
          </a:xfrm>
          <a:prstGeom prst="rect">
            <a:avLst/>
          </a:prstGeom>
        </p:spPr>
        <p:txBody>
          <a:bodyPr wrap="square">
            <a:spAutoFit/>
          </a:bodyPr>
          <a:lstStyle/>
          <a:p>
            <a:pPr algn="just"/>
            <a:endParaRPr lang="en-IN" dirty="0"/>
          </a:p>
          <a:p>
            <a:endParaRPr lang="en-US" dirty="0"/>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05D5A274-207F-331D-CA6B-27EFDEC41807}"/>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BD8C32B8-C4CD-F813-3FC5-83E7C9EC6E8A}"/>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40E5C39E-CA12-1182-F176-53616CB796F1}"/>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D5886B45-F893-6D39-D4D2-6B59A8FF9982}"/>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CDDE65CD-8F78-176B-30A0-156166EAFAC4}"/>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776E26B6-0473-6E20-A438-001344A3A9DD}"/>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pic>
        <p:nvPicPr>
          <p:cNvPr id="7" name="Picture 6">
            <a:extLst>
              <a:ext uri="{FF2B5EF4-FFF2-40B4-BE49-F238E27FC236}">
                <a16:creationId xmlns:a16="http://schemas.microsoft.com/office/drawing/2014/main" id="{907128AE-42D2-D3C0-EB33-B06A2DE1B3DF}"/>
              </a:ext>
            </a:extLst>
          </p:cNvPr>
          <p:cNvPicPr>
            <a:picLocks noChangeAspect="1"/>
          </p:cNvPicPr>
          <p:nvPr/>
        </p:nvPicPr>
        <p:blipFill>
          <a:blip r:embed="rId16"/>
          <a:stretch>
            <a:fillRect/>
          </a:stretch>
        </p:blipFill>
        <p:spPr>
          <a:xfrm>
            <a:off x="881708" y="1913754"/>
            <a:ext cx="8945223" cy="4410691"/>
          </a:xfrm>
          <a:prstGeom prst="rect">
            <a:avLst/>
          </a:prstGeom>
        </p:spPr>
      </p:pic>
    </p:spTree>
    <p:extLst>
      <p:ext uri="{BB962C8B-B14F-4D97-AF65-F5344CB8AC3E}">
        <p14:creationId xmlns:p14="http://schemas.microsoft.com/office/powerpoint/2010/main" val="2615702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18892-342C-ECB2-EDCF-5EA4E5D4AF27}"/>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C6AB7DFB-B962-76DD-00CD-DBF6618E6D4C}"/>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How NLP Works</a:t>
            </a:r>
          </a:p>
        </p:txBody>
      </p:sp>
      <p:cxnSp>
        <p:nvCxnSpPr>
          <p:cNvPr id="8" name="Straight Connector 7">
            <a:extLst>
              <a:ext uri="{FF2B5EF4-FFF2-40B4-BE49-F238E27FC236}">
                <a16:creationId xmlns:a16="http://schemas.microsoft.com/office/drawing/2014/main" id="{9BDEABE2-7177-D585-BDDD-1F2563424D07}"/>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ADCB09F2-6B8B-C0CA-D962-34F98D0E12C6}"/>
              </a:ext>
            </a:extLst>
          </p:cNvPr>
          <p:cNvSpPr/>
          <p:nvPr/>
        </p:nvSpPr>
        <p:spPr>
          <a:xfrm>
            <a:off x="729118" y="1454722"/>
            <a:ext cx="7827053" cy="923330"/>
          </a:xfrm>
          <a:prstGeom prst="rect">
            <a:avLst/>
          </a:prstGeom>
        </p:spPr>
        <p:txBody>
          <a:bodyPr wrap="square">
            <a:spAutoFit/>
          </a:bodyPr>
          <a:lstStyle/>
          <a:p>
            <a:pPr algn="just"/>
            <a:endParaRPr lang="en-IN" dirty="0"/>
          </a:p>
          <a:p>
            <a:endParaRPr lang="en-US" dirty="0"/>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A1548B43-D9F2-829E-DF18-94CDDF9F87AB}"/>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77DBC799-30A8-8BD7-4209-571B055BCEC5}"/>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3634DDD4-FC94-C8DD-9A5E-FEBA12F45D22}"/>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3D4C9FAE-BC7E-72E6-C81F-4E7B8E1A4EFD}"/>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79326F40-E9FE-79EF-3F8C-5F89582863F9}"/>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B8032781-F10F-22A4-D1A3-0627A6B75C98}"/>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6" name="TextBox 5">
            <a:extLst>
              <a:ext uri="{FF2B5EF4-FFF2-40B4-BE49-F238E27FC236}">
                <a16:creationId xmlns:a16="http://schemas.microsoft.com/office/drawing/2014/main" id="{CA3FF35F-A007-73C0-C3B9-1A9C2F8397A1}"/>
              </a:ext>
            </a:extLst>
          </p:cNvPr>
          <p:cNvSpPr txBox="1"/>
          <p:nvPr/>
        </p:nvSpPr>
        <p:spPr>
          <a:xfrm>
            <a:off x="463664" y="1392091"/>
            <a:ext cx="11271135" cy="4247317"/>
          </a:xfrm>
          <a:prstGeom prst="rect">
            <a:avLst/>
          </a:prstGeom>
          <a:noFill/>
        </p:spPr>
        <p:txBody>
          <a:bodyPr wrap="square">
            <a:spAutoFit/>
          </a:bodyPr>
          <a:lstStyle/>
          <a:p>
            <a:pPr fontAlgn="base"/>
            <a:r>
              <a:rPr lang="en-US" b="1" u="sng" dirty="0"/>
              <a:t>Text Input and Data Collection</a:t>
            </a:r>
          </a:p>
          <a:p>
            <a:pPr fontAlgn="base"/>
            <a:r>
              <a:rPr lang="en-US" b="1" dirty="0"/>
              <a:t>Data Collection: </a:t>
            </a:r>
            <a:r>
              <a:rPr lang="en-US" dirty="0"/>
              <a:t>Gathering text data from various sources such as websites, books, social media or proprietary databases.</a:t>
            </a:r>
          </a:p>
          <a:p>
            <a:pPr fontAlgn="base"/>
            <a:endParaRPr lang="en-US" dirty="0"/>
          </a:p>
          <a:p>
            <a:pPr fontAlgn="base"/>
            <a:r>
              <a:rPr lang="en-US" b="1" dirty="0"/>
              <a:t>Data Storage: </a:t>
            </a:r>
            <a:r>
              <a:rPr lang="en-US" dirty="0"/>
              <a:t>Storing the collected text data in a structured format, such as a database or a collection of documents.</a:t>
            </a:r>
          </a:p>
          <a:p>
            <a:pPr fontAlgn="base"/>
            <a:endParaRPr lang="en-US" dirty="0">
              <a:solidFill>
                <a:srgbClr val="273239"/>
              </a:solidFill>
              <a:latin typeface="Nunito" pitchFamily="2" charset="0"/>
            </a:endParaRPr>
          </a:p>
          <a:p>
            <a:pPr fontAlgn="base"/>
            <a:r>
              <a:rPr lang="en-US" b="1" u="sng" dirty="0"/>
              <a:t>Text Preprocessing</a:t>
            </a:r>
          </a:p>
          <a:p>
            <a:pPr fontAlgn="base"/>
            <a:r>
              <a:rPr lang="en-US" dirty="0"/>
              <a:t>Preprocessing is crucial to clean and prepare the raw text data for analysis. Common preprocessing steps include:</a:t>
            </a:r>
          </a:p>
          <a:p>
            <a:pPr fontAlgn="base"/>
            <a:r>
              <a:rPr lang="en-US" b="1" dirty="0"/>
              <a:t>Tokenization: </a:t>
            </a:r>
            <a:r>
              <a:rPr lang="en-US" dirty="0"/>
              <a:t>Splitting text into smaller units like words or sentences.</a:t>
            </a:r>
          </a:p>
          <a:p>
            <a:pPr fontAlgn="base"/>
            <a:r>
              <a:rPr lang="en-US" b="1" dirty="0" err="1"/>
              <a:t>Stopword</a:t>
            </a:r>
            <a:r>
              <a:rPr lang="en-US" b="1" dirty="0"/>
              <a:t> Removal: </a:t>
            </a:r>
            <a:r>
              <a:rPr lang="en-US" dirty="0"/>
              <a:t>Removing common words that do not contribute significant meaning, such as "and," "the," "is."</a:t>
            </a:r>
          </a:p>
          <a:p>
            <a:pPr fontAlgn="base"/>
            <a:r>
              <a:rPr lang="en-US" b="1" dirty="0"/>
              <a:t>Stemming and Lemmatizations:</a:t>
            </a:r>
            <a:r>
              <a:rPr lang="en-US" dirty="0"/>
              <a:t> Reducing words to their base or root forms. Stemming cuts off suffixes, while lemmatization considers the context and converts words to their meaningful base form.</a:t>
            </a:r>
          </a:p>
          <a:p>
            <a:pPr fontAlgn="base"/>
            <a:r>
              <a:rPr lang="en-US" b="1" dirty="0"/>
              <a:t>Text Normalization: </a:t>
            </a:r>
            <a:r>
              <a:rPr lang="en-US" dirty="0"/>
              <a:t>Standardizing text format, including correcting spelling errors, expanding contractions and handling special characters.</a:t>
            </a:r>
          </a:p>
          <a:p>
            <a:pPr fontAlgn="base"/>
            <a:endParaRPr lang="en-US" dirty="0">
              <a:solidFill>
                <a:srgbClr val="273239"/>
              </a:solidFill>
              <a:latin typeface="Nunito" pitchFamily="2" charset="0"/>
            </a:endParaRPr>
          </a:p>
        </p:txBody>
      </p:sp>
    </p:spTree>
    <p:extLst>
      <p:ext uri="{BB962C8B-B14F-4D97-AF65-F5344CB8AC3E}">
        <p14:creationId xmlns:p14="http://schemas.microsoft.com/office/powerpoint/2010/main" val="3938903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2AC7B-530C-C270-BD3A-F5AC3A991EE4}"/>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19F764C2-8241-C81C-D604-566DC8AEC546}"/>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How NLP Works</a:t>
            </a:r>
          </a:p>
        </p:txBody>
      </p:sp>
      <p:cxnSp>
        <p:nvCxnSpPr>
          <p:cNvPr id="8" name="Straight Connector 7">
            <a:extLst>
              <a:ext uri="{FF2B5EF4-FFF2-40B4-BE49-F238E27FC236}">
                <a16:creationId xmlns:a16="http://schemas.microsoft.com/office/drawing/2014/main" id="{1866A458-C156-B5A1-5FFF-529EF32B60C2}"/>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9402BA98-CDCE-C27A-D630-3475D62D0D61}"/>
              </a:ext>
            </a:extLst>
          </p:cNvPr>
          <p:cNvSpPr/>
          <p:nvPr/>
        </p:nvSpPr>
        <p:spPr>
          <a:xfrm>
            <a:off x="729118" y="1454722"/>
            <a:ext cx="7827053" cy="923330"/>
          </a:xfrm>
          <a:prstGeom prst="rect">
            <a:avLst/>
          </a:prstGeom>
        </p:spPr>
        <p:txBody>
          <a:bodyPr wrap="square">
            <a:spAutoFit/>
          </a:bodyPr>
          <a:lstStyle/>
          <a:p>
            <a:pPr algn="just"/>
            <a:endParaRPr lang="en-IN" dirty="0"/>
          </a:p>
          <a:p>
            <a:endParaRPr lang="en-US" dirty="0"/>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364E5537-8BF7-DE1C-B65D-2D64791758AA}"/>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E51C1E99-6281-FE68-A514-E906FE27D9AB}"/>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1CA19386-0C38-79F0-A719-D2D16EF7A0EE}"/>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A10ADBFC-F7BB-8BBF-708D-9BAFC6769E9F}"/>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E8436106-6FA9-638B-A0AE-CBD28BBA12A3}"/>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B4183CF4-2D18-CA82-4C8F-242D8A8B2704}"/>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6" name="TextBox 5">
            <a:extLst>
              <a:ext uri="{FF2B5EF4-FFF2-40B4-BE49-F238E27FC236}">
                <a16:creationId xmlns:a16="http://schemas.microsoft.com/office/drawing/2014/main" id="{727C349E-407F-B741-E486-B453F6DC8CD6}"/>
              </a:ext>
            </a:extLst>
          </p:cNvPr>
          <p:cNvSpPr txBox="1"/>
          <p:nvPr/>
        </p:nvSpPr>
        <p:spPr>
          <a:xfrm>
            <a:off x="463664" y="1392091"/>
            <a:ext cx="11271135" cy="4801314"/>
          </a:xfrm>
          <a:prstGeom prst="rect">
            <a:avLst/>
          </a:prstGeom>
          <a:noFill/>
        </p:spPr>
        <p:txBody>
          <a:bodyPr wrap="square">
            <a:spAutoFit/>
          </a:bodyPr>
          <a:lstStyle/>
          <a:p>
            <a:pPr fontAlgn="base"/>
            <a:r>
              <a:rPr lang="en-US" b="1" u="sng" dirty="0"/>
              <a:t>Text Representation</a:t>
            </a:r>
          </a:p>
          <a:p>
            <a:pPr fontAlgn="base"/>
            <a:endParaRPr lang="en-US" b="1" u="sng" dirty="0"/>
          </a:p>
          <a:p>
            <a:pPr fontAlgn="base"/>
            <a:r>
              <a:rPr lang="en-US" b="1" dirty="0"/>
              <a:t>Bag of Words: </a:t>
            </a:r>
            <a:r>
              <a:rPr lang="en-US" dirty="0"/>
              <a:t>Representing text as a collection of words, ignoring grammar and word order but keeping track of word frequency.</a:t>
            </a:r>
          </a:p>
          <a:p>
            <a:pPr fontAlgn="base"/>
            <a:r>
              <a:rPr lang="en-US" b="1" dirty="0"/>
              <a:t>Term Frequency – Inverse Document Frequency (TF-IDF): </a:t>
            </a:r>
            <a:r>
              <a:rPr lang="en-US" dirty="0"/>
              <a:t>A statistic that reflects the importance of a word in a document relative to a collection of documents.</a:t>
            </a:r>
          </a:p>
          <a:p>
            <a:pPr fontAlgn="base"/>
            <a:r>
              <a:rPr lang="en-US" b="1" dirty="0"/>
              <a:t>Word Embedding: </a:t>
            </a:r>
            <a:r>
              <a:rPr lang="en-US" dirty="0"/>
              <a:t>Using dense vector representations of words where semantically similar words are closer together in the vector space (e.g., Word2Vec, </a:t>
            </a:r>
            <a:r>
              <a:rPr lang="en-US" dirty="0" err="1"/>
              <a:t>GloVe</a:t>
            </a:r>
            <a:r>
              <a:rPr lang="en-US" dirty="0"/>
              <a:t>).</a:t>
            </a:r>
          </a:p>
          <a:p>
            <a:pPr fontAlgn="base"/>
            <a:endParaRPr lang="en-US" dirty="0">
              <a:solidFill>
                <a:srgbClr val="273239"/>
              </a:solidFill>
              <a:latin typeface="Nunito" pitchFamily="2" charset="0"/>
            </a:endParaRPr>
          </a:p>
          <a:p>
            <a:pPr fontAlgn="base"/>
            <a:r>
              <a:rPr lang="en-US" b="1" u="sng" dirty="0"/>
              <a:t>Feature Selection</a:t>
            </a:r>
          </a:p>
          <a:p>
            <a:pPr fontAlgn="base"/>
            <a:endParaRPr lang="en-US" b="1" u="sng" dirty="0"/>
          </a:p>
          <a:p>
            <a:pPr fontAlgn="base"/>
            <a:r>
              <a:rPr lang="en-US" dirty="0"/>
              <a:t>Extracting meaningful features from the text data that can be used for various NLP tasks.</a:t>
            </a:r>
          </a:p>
          <a:p>
            <a:pPr fontAlgn="base"/>
            <a:endParaRPr lang="en-US" dirty="0"/>
          </a:p>
          <a:p>
            <a:pPr fontAlgn="base"/>
            <a:r>
              <a:rPr lang="en-US" b="1" dirty="0"/>
              <a:t>N-grams: </a:t>
            </a:r>
            <a:r>
              <a:rPr lang="en-US" dirty="0"/>
              <a:t>Capturing sequences of N words to preserve some context and word order.</a:t>
            </a:r>
          </a:p>
          <a:p>
            <a:pPr fontAlgn="base"/>
            <a:r>
              <a:rPr lang="en-US" b="1" dirty="0"/>
              <a:t>Syntactic Features</a:t>
            </a:r>
            <a:r>
              <a:rPr lang="en-US" dirty="0"/>
              <a:t>: Using parts of speech tags, syntactic dependencies and parse trees.</a:t>
            </a:r>
          </a:p>
          <a:p>
            <a:pPr fontAlgn="base"/>
            <a:r>
              <a:rPr lang="en-US" b="1" dirty="0"/>
              <a:t>Semantic Features</a:t>
            </a:r>
            <a:r>
              <a:rPr lang="en-US" dirty="0"/>
              <a:t>: Leveraging word embeddings and other representations to capture word meaning and context.</a:t>
            </a:r>
          </a:p>
          <a:p>
            <a:pPr fontAlgn="base"/>
            <a:endParaRPr lang="en-US" dirty="0">
              <a:solidFill>
                <a:srgbClr val="273239"/>
              </a:solidFill>
              <a:latin typeface="Nunito" pitchFamily="2" charset="0"/>
            </a:endParaRPr>
          </a:p>
        </p:txBody>
      </p:sp>
    </p:spTree>
    <p:extLst>
      <p:ext uri="{BB962C8B-B14F-4D97-AF65-F5344CB8AC3E}">
        <p14:creationId xmlns:p14="http://schemas.microsoft.com/office/powerpoint/2010/main" val="974833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54960-32B3-7B69-9092-EF5C84FA9C5F}"/>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B74A822C-F16A-C1ED-8011-D73279C5F069}"/>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How NLP Works</a:t>
            </a:r>
          </a:p>
        </p:txBody>
      </p:sp>
      <p:cxnSp>
        <p:nvCxnSpPr>
          <p:cNvPr id="8" name="Straight Connector 7">
            <a:extLst>
              <a:ext uri="{FF2B5EF4-FFF2-40B4-BE49-F238E27FC236}">
                <a16:creationId xmlns:a16="http://schemas.microsoft.com/office/drawing/2014/main" id="{02BC883A-5DE0-3C0E-F7BD-B6F9E301A727}"/>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AF96AA30-26B8-6786-0296-DBC429F00BB0}"/>
              </a:ext>
            </a:extLst>
          </p:cNvPr>
          <p:cNvSpPr/>
          <p:nvPr/>
        </p:nvSpPr>
        <p:spPr>
          <a:xfrm>
            <a:off x="729118" y="1454722"/>
            <a:ext cx="7827053" cy="923330"/>
          </a:xfrm>
          <a:prstGeom prst="rect">
            <a:avLst/>
          </a:prstGeom>
        </p:spPr>
        <p:txBody>
          <a:bodyPr wrap="square">
            <a:spAutoFit/>
          </a:bodyPr>
          <a:lstStyle/>
          <a:p>
            <a:pPr algn="just"/>
            <a:endParaRPr lang="en-IN" dirty="0"/>
          </a:p>
          <a:p>
            <a:endParaRPr lang="en-US" dirty="0"/>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A8CF673D-EA7D-B485-5B46-2EDF99D6F27D}"/>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76E587A1-C2B1-C0C2-EEAD-57A901E86E6A}"/>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40F03786-4DBD-5B68-C688-A8EC5F2FD435}"/>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6FB43A29-78AF-8833-DC0D-4686705A6CE4}"/>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AF04D7AA-EF15-C0CA-2234-0C37D87D8662}"/>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128C4047-01A8-57E1-2142-79D0699FA47C}"/>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6" name="TextBox 5">
            <a:extLst>
              <a:ext uri="{FF2B5EF4-FFF2-40B4-BE49-F238E27FC236}">
                <a16:creationId xmlns:a16="http://schemas.microsoft.com/office/drawing/2014/main" id="{8F674AD4-81E4-ECA3-6CDF-E9B814DC2EE6}"/>
              </a:ext>
            </a:extLst>
          </p:cNvPr>
          <p:cNvSpPr txBox="1"/>
          <p:nvPr/>
        </p:nvSpPr>
        <p:spPr>
          <a:xfrm>
            <a:off x="463664" y="1392091"/>
            <a:ext cx="11271135" cy="4801314"/>
          </a:xfrm>
          <a:prstGeom prst="rect">
            <a:avLst/>
          </a:prstGeom>
          <a:noFill/>
        </p:spPr>
        <p:txBody>
          <a:bodyPr wrap="square">
            <a:spAutoFit/>
          </a:bodyPr>
          <a:lstStyle/>
          <a:p>
            <a:pPr fontAlgn="base"/>
            <a:r>
              <a:rPr lang="en-US" b="1" u="sng" dirty="0"/>
              <a:t>Model Selection and Training</a:t>
            </a:r>
          </a:p>
          <a:p>
            <a:pPr fontAlgn="base"/>
            <a:endParaRPr lang="en-US" b="1" u="sng" dirty="0"/>
          </a:p>
          <a:p>
            <a:pPr fontAlgn="base"/>
            <a:r>
              <a:rPr lang="en-IN" i="1" dirty="0"/>
              <a:t>Selecting and training a machine learning or deep learning model to perform specific NLP tasks.</a:t>
            </a:r>
          </a:p>
          <a:p>
            <a:pPr fontAlgn="base"/>
            <a:r>
              <a:rPr lang="en-IN" b="1" dirty="0"/>
              <a:t>Supervised Learning: </a:t>
            </a:r>
            <a:r>
              <a:rPr lang="en-IN" dirty="0"/>
              <a:t>Using </a:t>
            </a:r>
            <a:r>
              <a:rPr lang="en-IN" dirty="0" err="1"/>
              <a:t>labeled</a:t>
            </a:r>
            <a:r>
              <a:rPr lang="en-IN" dirty="0"/>
              <a:t> data to train models like Support Vector Machines (SVM), Random Forests or deep learning models like Convolutional Neural Networks (CNNs) and Recurrent Neural Networks (RNNs).</a:t>
            </a:r>
          </a:p>
          <a:p>
            <a:pPr fontAlgn="base"/>
            <a:r>
              <a:rPr lang="en-IN" b="1" dirty="0"/>
              <a:t>Unsupervised Learning: </a:t>
            </a:r>
            <a:r>
              <a:rPr lang="en-IN" dirty="0"/>
              <a:t>Applying techniques like clustering or topic </a:t>
            </a:r>
            <a:r>
              <a:rPr lang="en-IN" dirty="0" err="1"/>
              <a:t>modeling</a:t>
            </a:r>
            <a:r>
              <a:rPr lang="en-IN" dirty="0"/>
              <a:t> (e.g., Latent Dirichlet Allocation) on </a:t>
            </a:r>
            <a:r>
              <a:rPr lang="en-IN" dirty="0" err="1"/>
              <a:t>unlabeled</a:t>
            </a:r>
            <a:r>
              <a:rPr lang="en-IN" dirty="0"/>
              <a:t> data.</a:t>
            </a:r>
          </a:p>
          <a:p>
            <a:pPr fontAlgn="base"/>
            <a:r>
              <a:rPr lang="en-IN" b="1" dirty="0"/>
              <a:t>Pre-trained Models: </a:t>
            </a:r>
            <a:r>
              <a:rPr lang="en-IN" dirty="0"/>
              <a:t>Utilizing pre-trained language models such as</a:t>
            </a:r>
            <a:r>
              <a:rPr lang="en-IN" u="sng" dirty="0">
                <a:hlinkClick r:id="rId16"/>
              </a:rPr>
              <a:t> BERT,</a:t>
            </a:r>
            <a:r>
              <a:rPr lang="en-IN" dirty="0"/>
              <a:t> GPT or transformer-based models that have been trained on large corpora.</a:t>
            </a:r>
          </a:p>
          <a:p>
            <a:pPr fontAlgn="base"/>
            <a:endParaRPr lang="en-US" dirty="0">
              <a:solidFill>
                <a:srgbClr val="273239"/>
              </a:solidFill>
              <a:latin typeface="Nunito" pitchFamily="2" charset="0"/>
            </a:endParaRPr>
          </a:p>
          <a:p>
            <a:pPr fontAlgn="base"/>
            <a:r>
              <a:rPr lang="en-US" b="1" u="sng" dirty="0"/>
              <a:t>Model </a:t>
            </a:r>
            <a:r>
              <a:rPr lang="en-IN" b="1" u="sng" dirty="0"/>
              <a:t>Deployment and Inference</a:t>
            </a:r>
          </a:p>
          <a:p>
            <a:pPr fontAlgn="base"/>
            <a:r>
              <a:rPr lang="en-US" i="1" dirty="0"/>
              <a:t>Deploying the trained model and using it to make predictions or extract insights from new text data.</a:t>
            </a:r>
          </a:p>
          <a:p>
            <a:pPr fontAlgn="base"/>
            <a:r>
              <a:rPr lang="en-US" b="1" dirty="0"/>
              <a:t>Text Classification: </a:t>
            </a:r>
            <a:r>
              <a:rPr lang="en-US" dirty="0"/>
              <a:t>Categorizing text into predefined classes (e.g., spam detection, sentiment analysis).</a:t>
            </a:r>
          </a:p>
          <a:p>
            <a:pPr fontAlgn="base"/>
            <a:r>
              <a:rPr lang="en-US" b="1" dirty="0"/>
              <a:t>NER: </a:t>
            </a:r>
            <a:r>
              <a:rPr lang="en-US" dirty="0"/>
              <a:t>Identifying and classifying entities in the text.</a:t>
            </a:r>
          </a:p>
          <a:p>
            <a:pPr fontAlgn="base"/>
            <a:r>
              <a:rPr lang="en-US" b="1" dirty="0"/>
              <a:t>Machine Translation: </a:t>
            </a:r>
            <a:r>
              <a:rPr lang="en-US" dirty="0"/>
              <a:t>Translating text from one language to another.</a:t>
            </a:r>
          </a:p>
          <a:p>
            <a:pPr fontAlgn="base"/>
            <a:r>
              <a:rPr lang="en-US" b="1" dirty="0"/>
              <a:t>Question Answering: </a:t>
            </a:r>
            <a:r>
              <a:rPr lang="en-US" dirty="0"/>
              <a:t>Providing answers to questions based on the context provided by text data.</a:t>
            </a:r>
          </a:p>
          <a:p>
            <a:pPr fontAlgn="base"/>
            <a:endParaRPr lang="en-US" dirty="0">
              <a:solidFill>
                <a:srgbClr val="273239"/>
              </a:solidFill>
              <a:latin typeface="Nunito" pitchFamily="2" charset="0"/>
            </a:endParaRPr>
          </a:p>
        </p:txBody>
      </p:sp>
    </p:spTree>
    <p:extLst>
      <p:ext uri="{BB962C8B-B14F-4D97-AF65-F5344CB8AC3E}">
        <p14:creationId xmlns:p14="http://schemas.microsoft.com/office/powerpoint/2010/main" val="54259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BECDD-892E-A0AE-9833-5DB1308E649A}"/>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290356BE-1033-F929-1A60-34D229D5014E}"/>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How NLP Works</a:t>
            </a:r>
          </a:p>
        </p:txBody>
      </p:sp>
      <p:cxnSp>
        <p:nvCxnSpPr>
          <p:cNvPr id="8" name="Straight Connector 7">
            <a:extLst>
              <a:ext uri="{FF2B5EF4-FFF2-40B4-BE49-F238E27FC236}">
                <a16:creationId xmlns:a16="http://schemas.microsoft.com/office/drawing/2014/main" id="{C10FBF59-B6B6-54FE-0E4D-EEF58A0C3E64}"/>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C54D1E0F-7922-4E19-9244-87924B8EDAFB}"/>
              </a:ext>
            </a:extLst>
          </p:cNvPr>
          <p:cNvSpPr/>
          <p:nvPr/>
        </p:nvSpPr>
        <p:spPr>
          <a:xfrm>
            <a:off x="729118" y="1454722"/>
            <a:ext cx="7827053" cy="923330"/>
          </a:xfrm>
          <a:prstGeom prst="rect">
            <a:avLst/>
          </a:prstGeom>
        </p:spPr>
        <p:txBody>
          <a:bodyPr wrap="square">
            <a:spAutoFit/>
          </a:bodyPr>
          <a:lstStyle/>
          <a:p>
            <a:pPr algn="just"/>
            <a:endParaRPr lang="en-IN" dirty="0"/>
          </a:p>
          <a:p>
            <a:endParaRPr lang="en-US" dirty="0"/>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E9B8F2C4-71C5-E93A-B08D-758D09571C6F}"/>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CC526687-7EF3-6A76-8030-18F77692B229}"/>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68CAC9F1-7E42-048B-9037-9F95E37CD5F3}"/>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E0B8B688-8998-DF38-FFAB-71565675CDB5}"/>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EBA7201D-B5A5-6D49-1413-F6DD38E4C6D8}"/>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6A4FE826-3B37-38DD-E338-3017AE694B55}"/>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6" name="TextBox 5">
            <a:extLst>
              <a:ext uri="{FF2B5EF4-FFF2-40B4-BE49-F238E27FC236}">
                <a16:creationId xmlns:a16="http://schemas.microsoft.com/office/drawing/2014/main" id="{FCBB8DA6-13A8-001D-B9DE-37810EAC2B7A}"/>
              </a:ext>
            </a:extLst>
          </p:cNvPr>
          <p:cNvSpPr txBox="1"/>
          <p:nvPr/>
        </p:nvSpPr>
        <p:spPr>
          <a:xfrm>
            <a:off x="463664" y="1392091"/>
            <a:ext cx="11271135" cy="1754326"/>
          </a:xfrm>
          <a:prstGeom prst="rect">
            <a:avLst/>
          </a:prstGeom>
          <a:noFill/>
        </p:spPr>
        <p:txBody>
          <a:bodyPr wrap="square">
            <a:spAutoFit/>
          </a:bodyPr>
          <a:lstStyle/>
          <a:p>
            <a:pPr fontAlgn="base"/>
            <a:r>
              <a:rPr lang="en-US" b="1" u="sng" dirty="0"/>
              <a:t>Evaluation and Optimization</a:t>
            </a:r>
          </a:p>
          <a:p>
            <a:pPr fontAlgn="base"/>
            <a:endParaRPr lang="en-US" b="1" u="sng" dirty="0"/>
          </a:p>
          <a:p>
            <a:pPr fontAlgn="base"/>
            <a:r>
              <a:rPr lang="en-IN" i="1" dirty="0"/>
              <a:t>Using metrics such as accuracy, precision, recall, F1-score and others.</a:t>
            </a:r>
          </a:p>
          <a:p>
            <a:pPr fontAlgn="base"/>
            <a:r>
              <a:rPr lang="en-IN" b="1" dirty="0"/>
              <a:t>Hyperparameter Tunning: </a:t>
            </a:r>
            <a:r>
              <a:rPr lang="en-IN" dirty="0"/>
              <a:t>Adjusting model parameters to improve performance.</a:t>
            </a:r>
          </a:p>
          <a:p>
            <a:pPr fontAlgn="base"/>
            <a:r>
              <a:rPr lang="en-IN" b="1" dirty="0"/>
              <a:t>Error Analysis</a:t>
            </a:r>
            <a:r>
              <a:rPr lang="en-IN" dirty="0"/>
              <a:t>: </a:t>
            </a:r>
            <a:r>
              <a:rPr lang="en-IN" dirty="0" err="1"/>
              <a:t>Analyzing</a:t>
            </a:r>
            <a:r>
              <a:rPr lang="en-IN" dirty="0"/>
              <a:t> errors to understand model weaknesses and improve robustness.</a:t>
            </a:r>
          </a:p>
          <a:p>
            <a:pPr fontAlgn="base"/>
            <a:endParaRPr lang="en-US" dirty="0">
              <a:solidFill>
                <a:srgbClr val="273239"/>
              </a:solidFill>
              <a:latin typeface="Nunito" pitchFamily="2" charset="0"/>
            </a:endParaRPr>
          </a:p>
        </p:txBody>
      </p:sp>
    </p:spTree>
    <p:extLst>
      <p:ext uri="{BB962C8B-B14F-4D97-AF65-F5344CB8AC3E}">
        <p14:creationId xmlns:p14="http://schemas.microsoft.com/office/powerpoint/2010/main" val="37875444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2E6B7-559C-E60E-F1F0-A766ADF13632}"/>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44B94AB3-78E0-2CAE-65D9-392E3E23AB10}"/>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Text Representation and Embedding Techniques</a:t>
            </a:r>
          </a:p>
        </p:txBody>
      </p:sp>
      <p:cxnSp>
        <p:nvCxnSpPr>
          <p:cNvPr id="8" name="Straight Connector 7">
            <a:extLst>
              <a:ext uri="{FF2B5EF4-FFF2-40B4-BE49-F238E27FC236}">
                <a16:creationId xmlns:a16="http://schemas.microsoft.com/office/drawing/2014/main" id="{5CA98F0E-FAD2-70E2-B9F3-7AD37CC4D427}"/>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44356422-A44C-42CD-21EB-DE949D9FB7CA}"/>
              </a:ext>
            </a:extLst>
          </p:cNvPr>
          <p:cNvSpPr/>
          <p:nvPr/>
        </p:nvSpPr>
        <p:spPr>
          <a:xfrm>
            <a:off x="729118" y="1454722"/>
            <a:ext cx="7827053" cy="923330"/>
          </a:xfrm>
          <a:prstGeom prst="rect">
            <a:avLst/>
          </a:prstGeom>
        </p:spPr>
        <p:txBody>
          <a:bodyPr wrap="square">
            <a:spAutoFit/>
          </a:bodyPr>
          <a:lstStyle/>
          <a:p>
            <a:pPr algn="just"/>
            <a:endParaRPr lang="en-IN" dirty="0"/>
          </a:p>
          <a:p>
            <a:endParaRPr lang="en-US" dirty="0"/>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C101F1C3-BFDB-BFD4-ECE1-A4436CD6562F}"/>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BB3D33AB-DE9D-1FAF-A015-B1123479848C}"/>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5F7BA35E-C6F2-78DA-1F30-72721BC18D3D}"/>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76292B81-964B-A159-BC83-EFA6C333550A}"/>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BDB525DC-84EA-BCD9-3C0A-6C30926F1621}"/>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28AE094B-E6DF-B623-9432-40C5378185B0}"/>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6" name="TextBox 5">
            <a:extLst>
              <a:ext uri="{FF2B5EF4-FFF2-40B4-BE49-F238E27FC236}">
                <a16:creationId xmlns:a16="http://schemas.microsoft.com/office/drawing/2014/main" id="{396F5CDB-0319-F658-7966-872B5F540757}"/>
              </a:ext>
            </a:extLst>
          </p:cNvPr>
          <p:cNvSpPr txBox="1"/>
          <p:nvPr/>
        </p:nvSpPr>
        <p:spPr>
          <a:xfrm>
            <a:off x="268666" y="2057040"/>
            <a:ext cx="5908614" cy="3416320"/>
          </a:xfrm>
          <a:prstGeom prst="rect">
            <a:avLst/>
          </a:prstGeom>
          <a:noFill/>
        </p:spPr>
        <p:txBody>
          <a:bodyPr wrap="square">
            <a:spAutoFit/>
          </a:bodyPr>
          <a:lstStyle/>
          <a:p>
            <a:pPr fontAlgn="base"/>
            <a:r>
              <a:rPr lang="en-US" b="1" dirty="0"/>
              <a:t>Text Representation Techniques</a:t>
            </a:r>
          </a:p>
          <a:p>
            <a:pPr fontAlgn="base"/>
            <a:r>
              <a:rPr lang="en-US" dirty="0"/>
              <a:t>It converts textual data into numerical vectors that are processed by the following methods:</a:t>
            </a:r>
          </a:p>
          <a:p>
            <a:pPr fontAlgn="base"/>
            <a:endParaRPr lang="en-US" dirty="0"/>
          </a:p>
          <a:p>
            <a:pPr marL="285750" indent="-285750" fontAlgn="base">
              <a:buFont typeface="Wingdings" panose="05000000000000000000" pitchFamily="2" charset="2"/>
              <a:buChar char="Ø"/>
            </a:pPr>
            <a:r>
              <a:rPr lang="en-US" dirty="0"/>
              <a:t>One-Hot Encoding</a:t>
            </a:r>
          </a:p>
          <a:p>
            <a:pPr marL="285750" indent="-285750" fontAlgn="base">
              <a:buFont typeface="Wingdings" panose="05000000000000000000" pitchFamily="2" charset="2"/>
              <a:buChar char="Ø"/>
            </a:pPr>
            <a:r>
              <a:rPr lang="en-US" dirty="0"/>
              <a:t>Bag of Words (</a:t>
            </a:r>
            <a:r>
              <a:rPr lang="en-US" dirty="0" err="1"/>
              <a:t>BoW</a:t>
            </a:r>
            <a:r>
              <a:rPr lang="en-US" dirty="0"/>
              <a:t>)</a:t>
            </a:r>
          </a:p>
          <a:p>
            <a:pPr marL="285750" indent="-285750" fontAlgn="base">
              <a:buFont typeface="Wingdings" panose="05000000000000000000" pitchFamily="2" charset="2"/>
              <a:buChar char="Ø"/>
            </a:pPr>
            <a:r>
              <a:rPr lang="en-US" dirty="0"/>
              <a:t>Term Frequency- Inverse Document Frequency (TF-IDF)</a:t>
            </a:r>
          </a:p>
          <a:p>
            <a:pPr marL="285750" indent="-285750" fontAlgn="base">
              <a:buFont typeface="Wingdings" panose="05000000000000000000" pitchFamily="2" charset="2"/>
              <a:buChar char="Ø"/>
            </a:pPr>
            <a:r>
              <a:rPr lang="en-US" dirty="0"/>
              <a:t>N-Gram Language Modelling</a:t>
            </a:r>
          </a:p>
          <a:p>
            <a:pPr marL="285750" indent="-285750" fontAlgn="base">
              <a:buFont typeface="Wingdings" panose="05000000000000000000" pitchFamily="2" charset="2"/>
              <a:buChar char="Ø"/>
            </a:pPr>
            <a:r>
              <a:rPr lang="en-US" dirty="0"/>
              <a:t>Latent Semantic Analysis (LSA)</a:t>
            </a:r>
          </a:p>
          <a:p>
            <a:pPr marL="285750" indent="-285750" fontAlgn="base">
              <a:buFont typeface="Wingdings" panose="05000000000000000000" pitchFamily="2" charset="2"/>
              <a:buChar char="Ø"/>
            </a:pPr>
            <a:r>
              <a:rPr lang="en-US" dirty="0"/>
              <a:t>Latent Dirichlet Allocation (LDA)</a:t>
            </a:r>
          </a:p>
          <a:p>
            <a:pPr fontAlgn="base"/>
            <a:endParaRPr lang="en-US" dirty="0"/>
          </a:p>
          <a:p>
            <a:endParaRPr lang="en-US" b="0" i="0" dirty="0">
              <a:solidFill>
                <a:srgbClr val="273239"/>
              </a:solidFill>
              <a:effectLst/>
              <a:latin typeface="Nunito" pitchFamily="2" charset="0"/>
            </a:endParaRPr>
          </a:p>
        </p:txBody>
      </p:sp>
      <p:sp>
        <p:nvSpPr>
          <p:cNvPr id="7" name="TextBox 6">
            <a:extLst>
              <a:ext uri="{FF2B5EF4-FFF2-40B4-BE49-F238E27FC236}">
                <a16:creationId xmlns:a16="http://schemas.microsoft.com/office/drawing/2014/main" id="{07A91B3D-A579-8423-7D23-FF9E03DD1CD0}"/>
              </a:ext>
            </a:extLst>
          </p:cNvPr>
          <p:cNvSpPr txBox="1"/>
          <p:nvPr/>
        </p:nvSpPr>
        <p:spPr>
          <a:xfrm>
            <a:off x="5957569" y="1938549"/>
            <a:ext cx="6398961" cy="2949525"/>
          </a:xfrm>
          <a:prstGeom prst="rect">
            <a:avLst/>
          </a:prstGeom>
          <a:noFill/>
        </p:spPr>
        <p:txBody>
          <a:bodyPr wrap="square">
            <a:spAutoFit/>
          </a:bodyPr>
          <a:lstStyle/>
          <a:p>
            <a:pPr fontAlgn="base">
              <a:spcBef>
                <a:spcPts val="1800"/>
              </a:spcBef>
              <a:spcAft>
                <a:spcPts val="1800"/>
              </a:spcAft>
              <a:buNone/>
            </a:pPr>
            <a:r>
              <a:rPr lang="en-IN" b="1" dirty="0"/>
              <a:t>Text Embedding Techniques</a:t>
            </a:r>
          </a:p>
          <a:p>
            <a:pPr fontAlgn="base">
              <a:spcAft>
                <a:spcPts val="750"/>
              </a:spcAft>
            </a:pPr>
            <a:r>
              <a:rPr lang="en-IN" dirty="0"/>
              <a:t>It refers to methods that create dense vector representations of text, capturing semantic meaning including advanced approaches like:</a:t>
            </a:r>
          </a:p>
          <a:p>
            <a:pPr fontAlgn="base">
              <a:spcAft>
                <a:spcPts val="750"/>
              </a:spcAft>
            </a:pPr>
            <a:r>
              <a:rPr lang="en-IN" dirty="0"/>
              <a:t>Word Embedding: Word2Vec (</a:t>
            </a:r>
            <a:r>
              <a:rPr lang="en-IN" dirty="0" err="1"/>
              <a:t>SkipGram</a:t>
            </a:r>
            <a:r>
              <a:rPr lang="en-IN" dirty="0"/>
              <a:t>, </a:t>
            </a:r>
            <a:r>
              <a:rPr lang="en-IN" dirty="0" err="1"/>
              <a:t>CBoW</a:t>
            </a:r>
            <a:r>
              <a:rPr lang="en-IN" dirty="0"/>
              <a:t>), Glove, </a:t>
            </a:r>
            <a:r>
              <a:rPr lang="en-IN" dirty="0" err="1"/>
              <a:t>FastText</a:t>
            </a:r>
            <a:endParaRPr lang="en-IN" dirty="0"/>
          </a:p>
          <a:p>
            <a:pPr fontAlgn="base">
              <a:spcAft>
                <a:spcPts val="750"/>
              </a:spcAft>
            </a:pPr>
            <a:r>
              <a:rPr lang="en-IN" dirty="0"/>
              <a:t>Pre-Trained Embedding: ELMO, BERT</a:t>
            </a:r>
          </a:p>
          <a:p>
            <a:pPr fontAlgn="base">
              <a:spcAft>
                <a:spcPts val="750"/>
              </a:spcAft>
            </a:pPr>
            <a:r>
              <a:rPr lang="en-IN" dirty="0"/>
              <a:t>Document Embedding: Doc2Vec</a:t>
            </a:r>
          </a:p>
          <a:p>
            <a:pPr fontAlgn="base">
              <a:spcAft>
                <a:spcPts val="750"/>
              </a:spcAft>
            </a:pPr>
            <a:r>
              <a:rPr lang="en-IN" dirty="0"/>
              <a:t>Advanced Embedding: </a:t>
            </a:r>
            <a:r>
              <a:rPr lang="en-IN" dirty="0" err="1"/>
              <a:t>RoBERTa</a:t>
            </a:r>
            <a:r>
              <a:rPr lang="en-IN" dirty="0"/>
              <a:t>, </a:t>
            </a:r>
            <a:r>
              <a:rPr lang="en-IN" dirty="0" err="1"/>
              <a:t>DistillBERT</a:t>
            </a:r>
            <a:endParaRPr lang="en-IN" dirty="0"/>
          </a:p>
        </p:txBody>
      </p:sp>
    </p:spTree>
    <p:extLst>
      <p:ext uri="{BB962C8B-B14F-4D97-AF65-F5344CB8AC3E}">
        <p14:creationId xmlns:p14="http://schemas.microsoft.com/office/powerpoint/2010/main" val="957181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331BB-CF43-D3B3-2695-E357F8B21DCC}"/>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9828EA59-EA58-3BA2-6DA8-1D6131E3616A}"/>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Libraries of NLP</a:t>
            </a:r>
          </a:p>
        </p:txBody>
      </p:sp>
      <p:cxnSp>
        <p:nvCxnSpPr>
          <p:cNvPr id="8" name="Straight Connector 7">
            <a:extLst>
              <a:ext uri="{FF2B5EF4-FFF2-40B4-BE49-F238E27FC236}">
                <a16:creationId xmlns:a16="http://schemas.microsoft.com/office/drawing/2014/main" id="{A0D2C635-24AD-CC3E-EB91-2CBB528F3016}"/>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829E4B4B-54F3-E013-4288-49B212B33E34}"/>
              </a:ext>
            </a:extLst>
          </p:cNvPr>
          <p:cNvSpPr/>
          <p:nvPr/>
        </p:nvSpPr>
        <p:spPr>
          <a:xfrm>
            <a:off x="729118" y="1454722"/>
            <a:ext cx="7827053" cy="923330"/>
          </a:xfrm>
          <a:prstGeom prst="rect">
            <a:avLst/>
          </a:prstGeom>
        </p:spPr>
        <p:txBody>
          <a:bodyPr wrap="square">
            <a:spAutoFit/>
          </a:bodyPr>
          <a:lstStyle/>
          <a:p>
            <a:pPr algn="just"/>
            <a:endParaRPr lang="en-IN" dirty="0"/>
          </a:p>
          <a:p>
            <a:endParaRPr lang="en-US" dirty="0"/>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F2E615DB-7913-826C-2EC3-5F313C8182FC}"/>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9048E1E0-E183-FB9C-08AA-F129E9099BB3}"/>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837E39A6-BCEA-F73A-42B3-81FFDEA0C317}"/>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E116F0C5-8729-145D-E6CF-FCCB891DA6AA}"/>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92529267-1E97-2258-0105-A084B0595DDF}"/>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D6CDF2BE-5FDB-8B3B-5A45-BE650CEFFBBD}"/>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6" name="TextBox 5">
            <a:extLst>
              <a:ext uri="{FF2B5EF4-FFF2-40B4-BE49-F238E27FC236}">
                <a16:creationId xmlns:a16="http://schemas.microsoft.com/office/drawing/2014/main" id="{609B6A75-D5BF-BA7F-1E48-836612AA4215}"/>
              </a:ext>
            </a:extLst>
          </p:cNvPr>
          <p:cNvSpPr txBox="1"/>
          <p:nvPr/>
        </p:nvSpPr>
        <p:spPr>
          <a:xfrm>
            <a:off x="1170782" y="1838199"/>
            <a:ext cx="6096000" cy="2267287"/>
          </a:xfrm>
          <a:prstGeom prst="rect">
            <a:avLst/>
          </a:prstGeom>
          <a:noFill/>
        </p:spPr>
        <p:txBody>
          <a:bodyPr wrap="square">
            <a:spAutoFit/>
          </a:bodyPr>
          <a:lstStyle/>
          <a:p>
            <a:pPr algn="l" rtl="0" fontAlgn="base">
              <a:spcAft>
                <a:spcPts val="750"/>
              </a:spcAft>
              <a:buNone/>
            </a:pPr>
            <a:r>
              <a:rPr lang="en-US" b="1" i="0" dirty="0">
                <a:solidFill>
                  <a:srgbClr val="273239"/>
                </a:solidFill>
                <a:effectLst/>
                <a:latin typeface="Nunito" pitchFamily="2" charset="0"/>
              </a:rPr>
              <a:t>Some of Natural language processing libraries include:</a:t>
            </a:r>
          </a:p>
          <a:p>
            <a:pPr marL="285750" indent="-285750" algn="l" rtl="0" fontAlgn="base">
              <a:spcAft>
                <a:spcPts val="750"/>
              </a:spcAft>
              <a:buFont typeface="Wingdings" panose="05000000000000000000" pitchFamily="2" charset="2"/>
              <a:buChar char="Ø"/>
            </a:pPr>
            <a:r>
              <a:rPr lang="en-US" b="0" i="0" dirty="0">
                <a:solidFill>
                  <a:srgbClr val="273239"/>
                </a:solidFill>
                <a:effectLst/>
                <a:latin typeface="Nunito" pitchFamily="2" charset="0"/>
              </a:rPr>
              <a:t>NLTK</a:t>
            </a:r>
          </a:p>
          <a:p>
            <a:pPr marL="285750" indent="-285750" algn="l" rtl="0" fontAlgn="base">
              <a:spcAft>
                <a:spcPts val="750"/>
              </a:spcAft>
              <a:buFont typeface="Wingdings" panose="05000000000000000000" pitchFamily="2" charset="2"/>
              <a:buChar char="Ø"/>
            </a:pPr>
            <a:r>
              <a:rPr lang="en-US" dirty="0" err="1">
                <a:solidFill>
                  <a:srgbClr val="273239"/>
                </a:solidFill>
                <a:latin typeface="Nunito" pitchFamily="2" charset="0"/>
              </a:rPr>
              <a:t>SpaCy</a:t>
            </a:r>
            <a:endParaRPr lang="en-US" dirty="0">
              <a:solidFill>
                <a:srgbClr val="273239"/>
              </a:solidFill>
              <a:latin typeface="Nunito" pitchFamily="2" charset="0"/>
            </a:endParaRPr>
          </a:p>
          <a:p>
            <a:pPr marL="285750" indent="-285750" algn="l" rtl="0" fontAlgn="base">
              <a:spcAft>
                <a:spcPts val="750"/>
              </a:spcAft>
              <a:buFont typeface="Wingdings" panose="05000000000000000000" pitchFamily="2" charset="2"/>
              <a:buChar char="Ø"/>
            </a:pPr>
            <a:r>
              <a:rPr lang="en-US" b="0" i="0" dirty="0" err="1">
                <a:solidFill>
                  <a:srgbClr val="273239"/>
                </a:solidFill>
                <a:effectLst/>
                <a:latin typeface="Nunito" pitchFamily="2" charset="0"/>
              </a:rPr>
              <a:t>TextBlob</a:t>
            </a:r>
            <a:endParaRPr lang="en-US" b="0" i="0" dirty="0">
              <a:solidFill>
                <a:srgbClr val="273239"/>
              </a:solidFill>
              <a:effectLst/>
              <a:latin typeface="Nunito" pitchFamily="2" charset="0"/>
            </a:endParaRPr>
          </a:p>
          <a:p>
            <a:pPr marL="285750" indent="-285750" algn="l" rtl="0" fontAlgn="base">
              <a:spcAft>
                <a:spcPts val="750"/>
              </a:spcAft>
              <a:buFont typeface="Wingdings" panose="05000000000000000000" pitchFamily="2" charset="2"/>
              <a:buChar char="Ø"/>
            </a:pPr>
            <a:r>
              <a:rPr lang="en-US" dirty="0">
                <a:solidFill>
                  <a:srgbClr val="273239"/>
                </a:solidFill>
                <a:latin typeface="Nunito" pitchFamily="2" charset="0"/>
              </a:rPr>
              <a:t>Transformers (by Hugging face)</a:t>
            </a:r>
          </a:p>
          <a:p>
            <a:pPr marL="285750" indent="-285750" algn="l" rtl="0" fontAlgn="base">
              <a:spcAft>
                <a:spcPts val="750"/>
              </a:spcAft>
              <a:buFont typeface="Wingdings" panose="05000000000000000000" pitchFamily="2" charset="2"/>
              <a:buChar char="Ø"/>
            </a:pPr>
            <a:r>
              <a:rPr lang="en-US" b="0" i="0" dirty="0" err="1">
                <a:solidFill>
                  <a:srgbClr val="273239"/>
                </a:solidFill>
                <a:effectLst/>
                <a:latin typeface="Nunito" pitchFamily="2" charset="0"/>
              </a:rPr>
              <a:t>Gensim</a:t>
            </a:r>
            <a:endParaRPr lang="en-US" b="0" i="0" dirty="0">
              <a:solidFill>
                <a:srgbClr val="273239"/>
              </a:solidFill>
              <a:effectLst/>
              <a:latin typeface="Nunito" pitchFamily="2" charset="0"/>
            </a:endParaRPr>
          </a:p>
        </p:txBody>
      </p:sp>
    </p:spTree>
    <p:extLst>
      <p:ext uri="{BB962C8B-B14F-4D97-AF65-F5344CB8AC3E}">
        <p14:creationId xmlns:p14="http://schemas.microsoft.com/office/powerpoint/2010/main" val="1717731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28CC7-8198-69FC-429F-05464D8EEB0D}"/>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C95CCD49-D913-FE53-5255-F48B06FADEE3}"/>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Applications of NLP</a:t>
            </a:r>
          </a:p>
        </p:txBody>
      </p:sp>
      <p:cxnSp>
        <p:nvCxnSpPr>
          <p:cNvPr id="8" name="Straight Connector 7">
            <a:extLst>
              <a:ext uri="{FF2B5EF4-FFF2-40B4-BE49-F238E27FC236}">
                <a16:creationId xmlns:a16="http://schemas.microsoft.com/office/drawing/2014/main" id="{56C1C594-864D-2098-6143-8E7B4378E63C}"/>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7113ABEB-02AC-4EC8-E7C9-6C4B9B3560C0}"/>
              </a:ext>
            </a:extLst>
          </p:cNvPr>
          <p:cNvSpPr/>
          <p:nvPr/>
        </p:nvSpPr>
        <p:spPr>
          <a:xfrm>
            <a:off x="729118" y="1454722"/>
            <a:ext cx="7827053" cy="923330"/>
          </a:xfrm>
          <a:prstGeom prst="rect">
            <a:avLst/>
          </a:prstGeom>
        </p:spPr>
        <p:txBody>
          <a:bodyPr wrap="square">
            <a:spAutoFit/>
          </a:bodyPr>
          <a:lstStyle/>
          <a:p>
            <a:pPr algn="just"/>
            <a:endParaRPr lang="en-IN" dirty="0"/>
          </a:p>
          <a:p>
            <a:endParaRPr lang="en-US" dirty="0"/>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2A2D1244-8D97-38B1-21CE-396935B23435}"/>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526D87CE-41DF-B257-14B4-008E231FDCA8}"/>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2F2F9436-F44C-6AED-1599-3ECC64D48E63}"/>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1DF15B03-B28D-EEDA-8385-822B46B2BD80}"/>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1FE958A6-8734-384E-7392-6ACDF435B38F}"/>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D4B00E26-F7B5-338D-77FF-23E27784830E}"/>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6" name="TextBox 5">
            <a:extLst>
              <a:ext uri="{FF2B5EF4-FFF2-40B4-BE49-F238E27FC236}">
                <a16:creationId xmlns:a16="http://schemas.microsoft.com/office/drawing/2014/main" id="{BF183578-8EB3-EC74-79FD-2A98244BE29E}"/>
              </a:ext>
            </a:extLst>
          </p:cNvPr>
          <p:cNvSpPr txBox="1"/>
          <p:nvPr/>
        </p:nvSpPr>
        <p:spPr>
          <a:xfrm>
            <a:off x="3048000" y="1646461"/>
            <a:ext cx="6096000" cy="369332"/>
          </a:xfrm>
          <a:prstGeom prst="rect">
            <a:avLst/>
          </a:prstGeom>
          <a:noFill/>
        </p:spPr>
        <p:txBody>
          <a:bodyPr wrap="square">
            <a:spAutoFit/>
          </a:bodyPr>
          <a:lstStyle/>
          <a:p>
            <a:pPr fontAlgn="base"/>
            <a:r>
              <a:rPr lang="en-US" b="0" i="0" dirty="0">
                <a:solidFill>
                  <a:srgbClr val="273239"/>
                </a:solidFill>
                <a:effectLst/>
                <a:latin typeface="Nunito" pitchFamily="2" charset="0"/>
              </a:rPr>
              <a:t>c</a:t>
            </a:r>
          </a:p>
        </p:txBody>
      </p:sp>
      <p:sp>
        <p:nvSpPr>
          <p:cNvPr id="7" name="TextBox 6">
            <a:extLst>
              <a:ext uri="{FF2B5EF4-FFF2-40B4-BE49-F238E27FC236}">
                <a16:creationId xmlns:a16="http://schemas.microsoft.com/office/drawing/2014/main" id="{5FF3925C-172C-F234-506B-6B46E5FA6771}"/>
              </a:ext>
            </a:extLst>
          </p:cNvPr>
          <p:cNvSpPr txBox="1"/>
          <p:nvPr/>
        </p:nvSpPr>
        <p:spPr>
          <a:xfrm>
            <a:off x="393111" y="1403310"/>
            <a:ext cx="10182361" cy="5601533"/>
          </a:xfrm>
          <a:prstGeom prst="rect">
            <a:avLst/>
          </a:prstGeom>
          <a:noFill/>
        </p:spPr>
        <p:txBody>
          <a:bodyPr wrap="square">
            <a:spAutoFit/>
          </a:bodyPr>
          <a:lstStyle/>
          <a:p>
            <a:pPr algn="l" fontAlgn="base">
              <a:spcBef>
                <a:spcPts val="1800"/>
              </a:spcBef>
              <a:spcAft>
                <a:spcPts val="1800"/>
              </a:spcAft>
              <a:buNone/>
            </a:pPr>
            <a:r>
              <a:rPr lang="en-US" sz="2200" b="1" i="0" u="sng" dirty="0">
                <a:solidFill>
                  <a:srgbClr val="273239"/>
                </a:solidFill>
                <a:effectLst/>
                <a:latin typeface="Times New Roman" panose="02020603050405020304" pitchFamily="18" charset="0"/>
                <a:cs typeface="Times New Roman" panose="02020603050405020304" pitchFamily="18" charset="0"/>
              </a:rPr>
              <a:t>Text Classification in NLP</a:t>
            </a:r>
          </a:p>
          <a:p>
            <a:pPr marL="342900" indent="-342900" algn="l" fontAlgn="base">
              <a:spcAft>
                <a:spcPts val="1800"/>
              </a:spcAft>
              <a:buFont typeface="Wingdings" panose="05000000000000000000" pitchFamily="2" charset="2"/>
              <a:buChar char="Ø"/>
            </a:pPr>
            <a:r>
              <a:rPr lang="en-US" sz="2200" b="1" i="0" dirty="0">
                <a:solidFill>
                  <a:srgbClr val="273239"/>
                </a:solidFill>
                <a:effectLst/>
                <a:latin typeface="Times New Roman" panose="02020603050405020304" pitchFamily="18" charset="0"/>
                <a:cs typeface="Times New Roman" panose="02020603050405020304" pitchFamily="18" charset="0"/>
              </a:rPr>
              <a:t>Semantic Analysis: </a:t>
            </a:r>
            <a:r>
              <a:rPr lang="en-US" sz="2200" b="0" i="0" dirty="0">
                <a:solidFill>
                  <a:srgbClr val="273239"/>
                </a:solidFill>
                <a:effectLst/>
                <a:latin typeface="Times New Roman" panose="02020603050405020304" pitchFamily="18" charset="0"/>
                <a:cs typeface="Times New Roman" panose="02020603050405020304" pitchFamily="18" charset="0"/>
              </a:rPr>
              <a:t>Determining the sentiment or emotional tone expressed in a text (e.g., positive, negative, neutral).</a:t>
            </a:r>
          </a:p>
          <a:p>
            <a:pPr marL="342900" indent="-342900" algn="l" fontAlgn="base">
              <a:spcAft>
                <a:spcPts val="1800"/>
              </a:spcAft>
              <a:buFont typeface="Wingdings" panose="05000000000000000000" pitchFamily="2" charset="2"/>
              <a:buChar char="Ø"/>
            </a:pPr>
            <a:r>
              <a:rPr lang="en-US" sz="2200" b="1" i="0" dirty="0">
                <a:effectLst/>
                <a:latin typeface="Times New Roman" panose="02020603050405020304" pitchFamily="18" charset="0"/>
                <a:cs typeface="Times New Roman" panose="02020603050405020304" pitchFamily="18" charset="0"/>
              </a:rPr>
              <a:t>Topic Modelling: </a:t>
            </a:r>
            <a:r>
              <a:rPr lang="en-US" sz="2200" b="0" i="0" dirty="0">
                <a:solidFill>
                  <a:srgbClr val="273239"/>
                </a:solidFill>
                <a:effectLst/>
                <a:latin typeface="Times New Roman" panose="02020603050405020304" pitchFamily="18" charset="0"/>
                <a:cs typeface="Times New Roman" panose="02020603050405020304" pitchFamily="18" charset="0"/>
              </a:rPr>
              <a:t>Identifying topics or themes within a large collection of documents.</a:t>
            </a:r>
          </a:p>
          <a:p>
            <a:pPr marL="342900" indent="-342900" algn="l" fontAlgn="base">
              <a:spcAft>
                <a:spcPts val="1800"/>
              </a:spcAft>
              <a:buFont typeface="Wingdings" panose="05000000000000000000" pitchFamily="2" charset="2"/>
              <a:buChar char="Ø"/>
            </a:pPr>
            <a:r>
              <a:rPr lang="en-US" sz="2200" b="1" i="0" dirty="0">
                <a:solidFill>
                  <a:srgbClr val="273239"/>
                </a:solidFill>
                <a:effectLst/>
                <a:latin typeface="Times New Roman" panose="02020603050405020304" pitchFamily="18" charset="0"/>
                <a:cs typeface="Times New Roman" panose="02020603050405020304" pitchFamily="18" charset="0"/>
              </a:rPr>
              <a:t>Spam Detection: </a:t>
            </a:r>
            <a:r>
              <a:rPr lang="en-US" sz="2200" b="0" i="0" dirty="0">
                <a:solidFill>
                  <a:srgbClr val="273239"/>
                </a:solidFill>
                <a:effectLst/>
                <a:latin typeface="Times New Roman" panose="02020603050405020304" pitchFamily="18" charset="0"/>
                <a:cs typeface="Times New Roman" panose="02020603050405020304" pitchFamily="18" charset="0"/>
              </a:rPr>
              <a:t>Classifying text as spam or not spam.</a:t>
            </a:r>
          </a:p>
          <a:p>
            <a:pPr fontAlgn="base">
              <a:spcAft>
                <a:spcPts val="1800"/>
              </a:spcAft>
            </a:pPr>
            <a:r>
              <a:rPr lang="en-US" sz="2200" b="1" u="sng" dirty="0">
                <a:solidFill>
                  <a:srgbClr val="273239"/>
                </a:solidFill>
                <a:latin typeface="Times New Roman" panose="02020603050405020304" pitchFamily="18" charset="0"/>
                <a:cs typeface="Times New Roman" panose="02020603050405020304" pitchFamily="18" charset="0"/>
              </a:rPr>
              <a:t>Language Generation</a:t>
            </a:r>
          </a:p>
          <a:p>
            <a:pPr marL="342900" indent="-342900" fontAlgn="base">
              <a:spcAft>
                <a:spcPts val="1800"/>
              </a:spcAft>
              <a:buFont typeface="Wingdings" panose="05000000000000000000" pitchFamily="2" charset="2"/>
              <a:buChar char="Ø"/>
            </a:pPr>
            <a:r>
              <a:rPr lang="en-US" sz="2200" b="1" dirty="0">
                <a:solidFill>
                  <a:srgbClr val="273239"/>
                </a:solidFill>
                <a:latin typeface="Times New Roman" panose="02020603050405020304" pitchFamily="18" charset="0"/>
                <a:cs typeface="Times New Roman" panose="02020603050405020304" pitchFamily="18" charset="0"/>
              </a:rPr>
              <a:t>Machine Translation: </a:t>
            </a:r>
            <a:r>
              <a:rPr lang="en-US" sz="2200" dirty="0">
                <a:solidFill>
                  <a:srgbClr val="273239"/>
                </a:solidFill>
                <a:latin typeface="Times New Roman" panose="02020603050405020304" pitchFamily="18" charset="0"/>
                <a:cs typeface="Times New Roman" panose="02020603050405020304" pitchFamily="18" charset="0"/>
              </a:rPr>
              <a:t>Translating text from one language to another.</a:t>
            </a:r>
          </a:p>
          <a:p>
            <a:pPr marL="342900" indent="-342900" fontAlgn="base">
              <a:spcAft>
                <a:spcPts val="1800"/>
              </a:spcAft>
              <a:buFont typeface="Wingdings" panose="05000000000000000000" pitchFamily="2" charset="2"/>
              <a:buChar char="Ø"/>
            </a:pPr>
            <a:r>
              <a:rPr lang="en-US" sz="2200" b="1" dirty="0">
                <a:solidFill>
                  <a:srgbClr val="273239"/>
                </a:solidFill>
                <a:latin typeface="Times New Roman" panose="02020603050405020304" pitchFamily="18" charset="0"/>
                <a:cs typeface="Times New Roman" panose="02020603050405020304" pitchFamily="18" charset="0"/>
              </a:rPr>
              <a:t>Text Summarization: </a:t>
            </a:r>
            <a:r>
              <a:rPr lang="en-US" sz="2200" dirty="0">
                <a:solidFill>
                  <a:srgbClr val="273239"/>
                </a:solidFill>
                <a:latin typeface="Times New Roman" panose="02020603050405020304" pitchFamily="18" charset="0"/>
                <a:cs typeface="Times New Roman" panose="02020603050405020304" pitchFamily="18" charset="0"/>
              </a:rPr>
              <a:t>Producing a concise summary of a larger text.</a:t>
            </a:r>
          </a:p>
          <a:p>
            <a:pPr marL="342900" indent="-342900" fontAlgn="base">
              <a:spcAft>
                <a:spcPts val="1800"/>
              </a:spcAft>
              <a:buFont typeface="Wingdings" panose="05000000000000000000" pitchFamily="2" charset="2"/>
              <a:buChar char="Ø"/>
            </a:pPr>
            <a:r>
              <a:rPr lang="en-US" sz="2200" b="1" dirty="0">
                <a:solidFill>
                  <a:srgbClr val="273239"/>
                </a:solidFill>
                <a:latin typeface="Times New Roman" panose="02020603050405020304" pitchFamily="18" charset="0"/>
                <a:cs typeface="Times New Roman" panose="02020603050405020304" pitchFamily="18" charset="0"/>
              </a:rPr>
              <a:t>Text Generation: </a:t>
            </a:r>
            <a:r>
              <a:rPr lang="en-US" sz="2200" dirty="0">
                <a:solidFill>
                  <a:srgbClr val="273239"/>
                </a:solidFill>
                <a:latin typeface="Times New Roman" panose="02020603050405020304" pitchFamily="18" charset="0"/>
                <a:cs typeface="Times New Roman" panose="02020603050405020304" pitchFamily="18" charset="0"/>
              </a:rPr>
              <a:t>Automatically generating coherent and contextually relevant text.</a:t>
            </a:r>
          </a:p>
          <a:p>
            <a:pPr algn="l" fontAlgn="base">
              <a:spcAft>
                <a:spcPts val="1800"/>
              </a:spcAft>
              <a:buFont typeface="Arial" panose="020B0604020202020204" pitchFamily="34" charset="0"/>
              <a:buChar char="•"/>
            </a:pPr>
            <a:endParaRPr lang="en-US" b="0" i="0" dirty="0">
              <a:solidFill>
                <a:srgbClr val="273239"/>
              </a:solidFill>
              <a:effectLst/>
              <a:latin typeface="Nunito" pitchFamily="2" charset="0"/>
            </a:endParaRPr>
          </a:p>
        </p:txBody>
      </p:sp>
    </p:spTree>
    <p:extLst>
      <p:ext uri="{BB962C8B-B14F-4D97-AF65-F5344CB8AC3E}">
        <p14:creationId xmlns:p14="http://schemas.microsoft.com/office/powerpoint/2010/main" val="1703873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7B79D-4AC3-1450-EDA0-EAE812E12114}"/>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1404FEA3-5CDA-4A7A-C7B3-D1144170845E}"/>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Applications of NLP</a:t>
            </a:r>
          </a:p>
        </p:txBody>
      </p:sp>
      <p:cxnSp>
        <p:nvCxnSpPr>
          <p:cNvPr id="8" name="Straight Connector 7">
            <a:extLst>
              <a:ext uri="{FF2B5EF4-FFF2-40B4-BE49-F238E27FC236}">
                <a16:creationId xmlns:a16="http://schemas.microsoft.com/office/drawing/2014/main" id="{6E951B7F-EFD1-D110-D3F9-ECEC12A14507}"/>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392F95EA-6317-6C7E-390A-0DC478C4BA7E}"/>
              </a:ext>
            </a:extLst>
          </p:cNvPr>
          <p:cNvSpPr/>
          <p:nvPr/>
        </p:nvSpPr>
        <p:spPr>
          <a:xfrm>
            <a:off x="729118" y="1454722"/>
            <a:ext cx="7827053" cy="923330"/>
          </a:xfrm>
          <a:prstGeom prst="rect">
            <a:avLst/>
          </a:prstGeom>
        </p:spPr>
        <p:txBody>
          <a:bodyPr wrap="square">
            <a:spAutoFit/>
          </a:bodyPr>
          <a:lstStyle/>
          <a:p>
            <a:pPr algn="just"/>
            <a:endParaRPr lang="en-IN" dirty="0"/>
          </a:p>
          <a:p>
            <a:endParaRPr lang="en-US" dirty="0"/>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C66E23AA-AE68-0B6A-D248-92FE5CF7D43B}"/>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6E1E6F20-CB07-B436-BA5D-8C11F7C2BA65}"/>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C322FEEC-84CB-9B1F-80F4-0B7649BA9DD9}"/>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49597193-BA9C-7385-26A7-E4BF42470100}"/>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948D30CF-94BC-7DBD-DAFE-F00D75507FCC}"/>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24335369-0181-33F3-89A5-A0A112E21927}"/>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7" name="TextBox 6">
            <a:extLst>
              <a:ext uri="{FF2B5EF4-FFF2-40B4-BE49-F238E27FC236}">
                <a16:creationId xmlns:a16="http://schemas.microsoft.com/office/drawing/2014/main" id="{B149115E-7178-EF9C-7EF7-F13101BA1322}"/>
              </a:ext>
            </a:extLst>
          </p:cNvPr>
          <p:cNvSpPr txBox="1"/>
          <p:nvPr/>
        </p:nvSpPr>
        <p:spPr>
          <a:xfrm>
            <a:off x="474391" y="1451975"/>
            <a:ext cx="10182361" cy="4524315"/>
          </a:xfrm>
          <a:prstGeom prst="rect">
            <a:avLst/>
          </a:prstGeom>
          <a:noFill/>
        </p:spPr>
        <p:txBody>
          <a:bodyPr wrap="square">
            <a:spAutoFit/>
          </a:bodyPr>
          <a:lstStyle/>
          <a:p>
            <a:pPr algn="l" fontAlgn="base">
              <a:spcBef>
                <a:spcPts val="1800"/>
              </a:spcBef>
              <a:spcAft>
                <a:spcPts val="1800"/>
              </a:spcAft>
              <a:buNone/>
            </a:pPr>
            <a:r>
              <a:rPr lang="en-US" sz="2200" b="1" i="0" u="sng" dirty="0">
                <a:solidFill>
                  <a:srgbClr val="273239"/>
                </a:solidFill>
                <a:effectLst/>
                <a:latin typeface="Times New Roman" panose="02020603050405020304" pitchFamily="18" charset="0"/>
                <a:cs typeface="Times New Roman" panose="02020603050405020304" pitchFamily="18" charset="0"/>
              </a:rPr>
              <a:t>Speech Processing </a:t>
            </a:r>
          </a:p>
          <a:p>
            <a:pPr marL="342900" indent="-342900" fontAlgn="base">
              <a:spcAft>
                <a:spcPts val="1800"/>
              </a:spcAft>
              <a:buFont typeface="Wingdings" panose="05000000000000000000" pitchFamily="2" charset="2"/>
              <a:buChar char="Ø"/>
            </a:pPr>
            <a:r>
              <a:rPr lang="en-US" sz="2200" b="1" i="0" dirty="0">
                <a:solidFill>
                  <a:srgbClr val="273239"/>
                </a:solidFill>
                <a:effectLst/>
                <a:latin typeface="Times New Roman" panose="02020603050405020304" pitchFamily="18" charset="0"/>
                <a:cs typeface="Times New Roman" panose="02020603050405020304" pitchFamily="18" charset="0"/>
              </a:rPr>
              <a:t>Speech Recognition: </a:t>
            </a:r>
            <a:r>
              <a:rPr lang="en-US" sz="2200" dirty="0">
                <a:latin typeface="Times New Roman" panose="02020603050405020304" pitchFamily="18" charset="0"/>
                <a:cs typeface="Times New Roman" panose="02020603050405020304" pitchFamily="18" charset="0"/>
              </a:rPr>
              <a:t>Converting spoken language into text.</a:t>
            </a:r>
          </a:p>
          <a:p>
            <a:pPr marL="342900" indent="-342900" fontAlgn="base">
              <a:spcAft>
                <a:spcPts val="1800"/>
              </a:spcAft>
              <a:buFont typeface="Wingdings" panose="05000000000000000000" pitchFamily="2" charset="2"/>
              <a:buChar char="Ø"/>
            </a:pPr>
            <a:r>
              <a:rPr lang="en-US" sz="2200" b="1" i="0" dirty="0">
                <a:effectLst/>
                <a:latin typeface="Times New Roman" panose="02020603050405020304" pitchFamily="18" charset="0"/>
                <a:cs typeface="Times New Roman" panose="02020603050405020304" pitchFamily="18" charset="0"/>
              </a:rPr>
              <a:t>Text-to-Speech Synthesis: </a:t>
            </a:r>
            <a:r>
              <a:rPr lang="en-US" sz="2200" b="0" i="0" dirty="0">
                <a:solidFill>
                  <a:srgbClr val="273239"/>
                </a:solidFill>
                <a:effectLst/>
                <a:latin typeface="Times New Roman" panose="02020603050405020304" pitchFamily="18" charset="0"/>
                <a:cs typeface="Times New Roman" panose="02020603050405020304" pitchFamily="18" charset="0"/>
              </a:rPr>
              <a:t>Converting Written Text into Spoken Language</a:t>
            </a:r>
          </a:p>
          <a:p>
            <a:pPr marL="342900" indent="-342900" fontAlgn="base">
              <a:spcAft>
                <a:spcPts val="1800"/>
              </a:spcAft>
              <a:buFont typeface="Wingdings" panose="05000000000000000000" pitchFamily="2" charset="2"/>
              <a:buChar char="Ø"/>
            </a:pPr>
            <a:endParaRPr lang="en-US" sz="2200" u="sng" dirty="0">
              <a:solidFill>
                <a:srgbClr val="273239"/>
              </a:solidFill>
              <a:latin typeface="Times New Roman" panose="02020603050405020304" pitchFamily="18" charset="0"/>
              <a:cs typeface="Times New Roman" panose="02020603050405020304" pitchFamily="18" charset="0"/>
            </a:endParaRPr>
          </a:p>
          <a:p>
            <a:pPr fontAlgn="base">
              <a:spcAft>
                <a:spcPts val="1800"/>
              </a:spcAft>
            </a:pPr>
            <a:r>
              <a:rPr lang="en-US" sz="2200" b="1" u="sng" dirty="0">
                <a:solidFill>
                  <a:srgbClr val="273239"/>
                </a:solidFill>
                <a:latin typeface="Times New Roman" panose="02020603050405020304" pitchFamily="18" charset="0"/>
                <a:cs typeface="Times New Roman" panose="02020603050405020304" pitchFamily="18" charset="0"/>
              </a:rPr>
              <a:t>Question Answering</a:t>
            </a:r>
          </a:p>
          <a:p>
            <a:pPr marL="342900" indent="-342900" fontAlgn="base">
              <a:spcAft>
                <a:spcPts val="1800"/>
              </a:spcAft>
              <a:buFont typeface="Wingdings" panose="05000000000000000000" pitchFamily="2" charset="2"/>
              <a:buChar char="Ø"/>
            </a:pPr>
            <a:r>
              <a:rPr lang="en-US" sz="2200" b="1" dirty="0">
                <a:solidFill>
                  <a:srgbClr val="273239"/>
                </a:solidFill>
                <a:latin typeface="Times New Roman" panose="02020603050405020304" pitchFamily="18" charset="0"/>
                <a:cs typeface="Times New Roman" panose="02020603050405020304" pitchFamily="18" charset="0"/>
              </a:rPr>
              <a:t>Retrieval Based QA: </a:t>
            </a:r>
            <a:r>
              <a:rPr lang="en-US" sz="2200" dirty="0">
                <a:latin typeface="Times New Roman" panose="02020603050405020304" pitchFamily="18" charset="0"/>
                <a:cs typeface="Times New Roman" panose="02020603050405020304" pitchFamily="18" charset="0"/>
              </a:rPr>
              <a:t>Finding and returning the most relevant text passage in response to a query.</a:t>
            </a:r>
          </a:p>
          <a:p>
            <a:pPr marL="342900" indent="-342900" fontAlgn="base">
              <a:spcAft>
                <a:spcPts val="1800"/>
              </a:spcAft>
              <a:buFont typeface="Wingdings" panose="05000000000000000000" pitchFamily="2" charset="2"/>
              <a:buChar char="Ø"/>
            </a:pPr>
            <a:r>
              <a:rPr lang="en-US" sz="2200" b="1" dirty="0">
                <a:solidFill>
                  <a:srgbClr val="273239"/>
                </a:solidFill>
                <a:latin typeface="Times New Roman" panose="02020603050405020304" pitchFamily="18" charset="0"/>
                <a:cs typeface="Times New Roman" panose="02020603050405020304" pitchFamily="18" charset="0"/>
              </a:rPr>
              <a:t>Generative QA: </a:t>
            </a:r>
            <a:r>
              <a:rPr lang="en-US" sz="2200" dirty="0">
                <a:latin typeface="Times New Roman" panose="02020603050405020304" pitchFamily="18" charset="0"/>
                <a:cs typeface="Times New Roman" panose="02020603050405020304" pitchFamily="18" charset="0"/>
              </a:rPr>
              <a:t>Generating an answer based on the information available in a text corpus.</a:t>
            </a:r>
          </a:p>
        </p:txBody>
      </p:sp>
    </p:spTree>
    <p:extLst>
      <p:ext uri="{BB962C8B-B14F-4D97-AF65-F5344CB8AC3E}">
        <p14:creationId xmlns:p14="http://schemas.microsoft.com/office/powerpoint/2010/main" val="17051638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8F89D-6F52-B038-86D3-F4430AAF8AD7}"/>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8F5F1BB4-7E95-A2FE-F07C-7F2A6360706E}"/>
              </a:ext>
            </a:extLst>
          </p:cNvPr>
          <p:cNvSpPr/>
          <p:nvPr/>
        </p:nvSpPr>
        <p:spPr>
          <a:xfrm>
            <a:off x="697028" y="691688"/>
            <a:ext cx="7332487" cy="461665"/>
          </a:xfrm>
          <a:prstGeom prst="rect">
            <a:avLst/>
          </a:prstGeom>
        </p:spPr>
        <p:txBody>
          <a:bodyPr wrap="square">
            <a:spAutoFit/>
          </a:bodyPr>
          <a:lstStyle/>
          <a:p>
            <a:r>
              <a:rPr lang="en-IN" sz="2400" dirty="0">
                <a:solidFill>
                  <a:schemeClr val="accent1"/>
                </a:solidFill>
              </a:rPr>
              <a:t>Applications of NLP</a:t>
            </a:r>
          </a:p>
        </p:txBody>
      </p:sp>
      <p:cxnSp>
        <p:nvCxnSpPr>
          <p:cNvPr id="8" name="Straight Connector 7">
            <a:extLst>
              <a:ext uri="{FF2B5EF4-FFF2-40B4-BE49-F238E27FC236}">
                <a16:creationId xmlns:a16="http://schemas.microsoft.com/office/drawing/2014/main" id="{A296D0EA-6550-0575-1482-C0E5221C4451}"/>
              </a:ext>
            </a:extLst>
          </p:cNvPr>
          <p:cNvCxnSpPr>
            <a:cxnSpLocks/>
          </p:cNvCxnSpPr>
          <p:nvPr/>
        </p:nvCxnSpPr>
        <p:spPr>
          <a:xfrm>
            <a:off x="150147" y="1250295"/>
            <a:ext cx="8300052"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D183AEB1-3FF0-BD23-07BB-16FECA15EE06}"/>
              </a:ext>
            </a:extLst>
          </p:cNvPr>
          <p:cNvSpPr/>
          <p:nvPr/>
        </p:nvSpPr>
        <p:spPr>
          <a:xfrm>
            <a:off x="729118" y="1454722"/>
            <a:ext cx="7827053" cy="923330"/>
          </a:xfrm>
          <a:prstGeom prst="rect">
            <a:avLst/>
          </a:prstGeom>
        </p:spPr>
        <p:txBody>
          <a:bodyPr wrap="square">
            <a:spAutoFit/>
          </a:bodyPr>
          <a:lstStyle/>
          <a:p>
            <a:pPr algn="just"/>
            <a:endParaRPr lang="en-IN" dirty="0"/>
          </a:p>
          <a:p>
            <a:endParaRPr lang="en-US" dirty="0"/>
          </a:p>
          <a:p>
            <a:endParaRPr lang="en-US" dirty="0"/>
          </a:p>
        </p:txBody>
      </p:sp>
      <mc:AlternateContent xmlns:mc="http://schemas.openxmlformats.org/markup-compatibility/2006" xmlns:p14="http://schemas.microsoft.com/office/powerpoint/2010/main">
        <mc:Choice Requires="p14">
          <p:contentPart p14:bwMode="auto" r:id="rId2">
            <p14:nvContentPartPr>
              <p14:cNvPr id="57346" name="Ink 2">
                <a:extLst>
                  <a:ext uri="{FF2B5EF4-FFF2-40B4-BE49-F238E27FC236}">
                    <a16:creationId xmlns:a16="http://schemas.microsoft.com/office/drawing/2014/main" id="{0908B649-4004-2265-D1C7-205E27F8F61E}"/>
                  </a:ext>
                </a:extLst>
              </p14:cNvPr>
              <p14:cNvContentPartPr>
                <a14:cpLocks xmlns:a14="http://schemas.microsoft.com/office/drawing/2010/main" noRot="1" noChangeAspect="1" noEditPoints="1" noChangeArrowheads="1" noChangeShapeType="1"/>
              </p14:cNvContentPartPr>
              <p14:nvPr/>
            </p14:nvContentPartPr>
            <p14:xfrm>
              <a:off x="3106738" y="781050"/>
              <a:ext cx="36512" cy="34925"/>
            </p14:xfrm>
          </p:contentPart>
        </mc:Choice>
        <mc:Fallback xmlns="">
          <p:pic>
            <p:nvPicPr>
              <p:cNvPr id="57346" name="Ink 2"/>
              <p:cNvPicPr>
                <a:picLocks noRot="1" noChangeAspect="1" noEditPoints="1" noChangeArrowheads="1" noChangeShapeType="1"/>
              </p:cNvPicPr>
              <p:nvPr/>
            </p:nvPicPr>
            <p:blipFill>
              <a:blip r:embed="rId8"/>
              <a:stretch>
                <a:fillRect/>
              </a:stretch>
            </p:blipFill>
            <p:spPr>
              <a:xfrm>
                <a:off x="3099869" y="777810"/>
                <a:ext cx="46634" cy="410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347" name="Ink 3">
                <a:extLst>
                  <a:ext uri="{FF2B5EF4-FFF2-40B4-BE49-F238E27FC236}">
                    <a16:creationId xmlns:a16="http://schemas.microsoft.com/office/drawing/2014/main" id="{7C8BAE06-FE99-9577-A4F5-9E3A7CAD7F3A}"/>
                  </a:ext>
                </a:extLst>
              </p14:cNvPr>
              <p14:cNvContentPartPr>
                <a14:cpLocks xmlns:a14="http://schemas.microsoft.com/office/drawing/2010/main" noRot="1" noChangeAspect="1" noEditPoints="1" noChangeArrowheads="1" noChangeShapeType="1"/>
              </p14:cNvContentPartPr>
              <p14:nvPr/>
            </p14:nvContentPartPr>
            <p14:xfrm>
              <a:off x="6400800" y="369888"/>
              <a:ext cx="1588" cy="1587"/>
            </p14:xfrm>
          </p:contentPart>
        </mc:Choice>
        <mc:Fallback xmlns="">
          <p:pic>
            <p:nvPicPr>
              <p:cNvPr id="57347" name="Ink 3"/>
              <p:cNvPicPr>
                <a:picLocks noRot="1" noChangeAspect="1" noEditPoints="1" noChangeArrowheads="1" noChangeShapeType="1"/>
              </p:cNvPicPr>
              <p:nvPr/>
            </p:nvPicPr>
            <p:blipFill>
              <a:blip r:embed="rId10"/>
              <a:stretch>
                <a:fillRect/>
              </a:stretch>
            </p:blipFill>
            <p:spPr>
              <a:xfrm>
                <a:off x="6396433" y="365524"/>
                <a:ext cx="9925" cy="991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7348" name="Ink 4">
                <a:extLst>
                  <a:ext uri="{FF2B5EF4-FFF2-40B4-BE49-F238E27FC236}">
                    <a16:creationId xmlns:a16="http://schemas.microsoft.com/office/drawing/2014/main" id="{4AEE148B-A991-763D-3D6E-1637DA7DFECE}"/>
                  </a:ext>
                </a:extLst>
              </p14:cNvPr>
              <p14:cNvContentPartPr>
                <a14:cpLocks xmlns:a14="http://schemas.microsoft.com/office/drawing/2010/main" noRot="1" noChangeAspect="1" noEditPoints="1" noChangeArrowheads="1" noChangeShapeType="1"/>
              </p14:cNvContentPartPr>
              <p14:nvPr/>
            </p14:nvContentPartPr>
            <p14:xfrm>
              <a:off x="3921125" y="1093788"/>
              <a:ext cx="4248150" cy="479425"/>
            </p14:xfrm>
          </p:contentPart>
        </mc:Choice>
        <mc:Fallback xmlns="">
          <p:pic>
            <p:nvPicPr>
              <p:cNvPr id="57348" name="Ink 4"/>
              <p:cNvPicPr>
                <a:picLocks noRot="1" noChangeAspect="1" noEditPoints="1" noChangeArrowheads="1" noChangeShapeType="1"/>
              </p:cNvPicPr>
              <p:nvPr/>
            </p:nvPicPr>
            <p:blipFill>
              <a:blip r:embed="rId12"/>
              <a:stretch>
                <a:fillRect/>
              </a:stretch>
            </p:blipFill>
            <p:spPr>
              <a:xfrm>
                <a:off x="3917885" y="1089829"/>
                <a:ext cx="4257150" cy="48914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349" name="Ink 5">
                <a:extLst>
                  <a:ext uri="{FF2B5EF4-FFF2-40B4-BE49-F238E27FC236}">
                    <a16:creationId xmlns:a16="http://schemas.microsoft.com/office/drawing/2014/main" id="{E66D3A14-32C4-3B6A-418D-299E9347947D}"/>
                  </a:ext>
                </a:extLst>
              </p14:cNvPr>
              <p14:cNvContentPartPr>
                <a14:cpLocks xmlns:a14="http://schemas.microsoft.com/office/drawing/2010/main" noRot="1" noChangeAspect="1" noEditPoints="1" noChangeArrowheads="1" noChangeShapeType="1"/>
              </p14:cNvContentPartPr>
              <p14:nvPr/>
            </p14:nvContentPartPr>
            <p14:xfrm>
              <a:off x="4497388" y="487363"/>
              <a:ext cx="2981325" cy="3427412"/>
            </p14:xfrm>
          </p:contentPart>
        </mc:Choice>
        <mc:Fallback xmlns="">
          <p:pic>
            <p:nvPicPr>
              <p:cNvPr id="57349" name="Ink 5"/>
              <p:cNvPicPr>
                <a:picLocks noRot="1" noChangeAspect="1" noEditPoints="1" noChangeArrowheads="1" noChangeShapeType="1"/>
              </p:cNvPicPr>
              <p:nvPr/>
            </p:nvPicPr>
            <p:blipFill>
              <a:blip r:embed="rId14"/>
              <a:stretch>
                <a:fillRect/>
              </a:stretch>
            </p:blipFill>
            <p:spPr>
              <a:xfrm>
                <a:off x="4493788" y="484843"/>
                <a:ext cx="2987445" cy="3433172"/>
              </a:xfrm>
              <a:prstGeom prst="rect">
                <a:avLst/>
              </a:prstGeom>
            </p:spPr>
          </p:pic>
        </mc:Fallback>
      </mc:AlternateContent>
      <p:pic>
        <p:nvPicPr>
          <p:cNvPr id="3" name="object 5">
            <a:extLst>
              <a:ext uri="{FF2B5EF4-FFF2-40B4-BE49-F238E27FC236}">
                <a16:creationId xmlns:a16="http://schemas.microsoft.com/office/drawing/2014/main" id="{C140792C-383C-01B1-B45B-34A92284BB5B}"/>
              </a:ext>
            </a:extLst>
          </p:cNvPr>
          <p:cNvPicPr/>
          <p:nvPr/>
        </p:nvPicPr>
        <p:blipFill>
          <a:blip r:embed="rId15" cstate="print"/>
          <a:stretch>
            <a:fillRect/>
          </a:stretch>
        </p:blipFill>
        <p:spPr>
          <a:xfrm>
            <a:off x="10502264" y="253745"/>
            <a:ext cx="870585" cy="1378458"/>
          </a:xfrm>
          <a:prstGeom prst="rect">
            <a:avLst/>
          </a:prstGeom>
        </p:spPr>
      </p:pic>
      <p:sp>
        <p:nvSpPr>
          <p:cNvPr id="4" name="Rectangle 3">
            <a:extLst>
              <a:ext uri="{FF2B5EF4-FFF2-40B4-BE49-F238E27FC236}">
                <a16:creationId xmlns:a16="http://schemas.microsoft.com/office/drawing/2014/main" id="{259E0A57-CED8-3921-AC28-E66CCF715659}"/>
              </a:ext>
            </a:extLst>
          </p:cNvPr>
          <p:cNvSpPr/>
          <p:nvPr/>
        </p:nvSpPr>
        <p:spPr>
          <a:xfrm>
            <a:off x="393111" y="252240"/>
            <a:ext cx="7497214" cy="461665"/>
          </a:xfrm>
          <a:prstGeom prst="rect">
            <a:avLst/>
          </a:prstGeom>
        </p:spPr>
        <p:txBody>
          <a:bodyPr wrap="square">
            <a:spAutoFit/>
          </a:bodyPr>
          <a:lstStyle/>
          <a:p>
            <a:r>
              <a:rPr lang="en-US" sz="2400" b="1" dirty="0" err="1">
                <a:solidFill>
                  <a:schemeClr val="accent2">
                    <a:lumMod val="75000"/>
                  </a:schemeClr>
                </a:solidFill>
              </a:rPr>
              <a:t>GenerativeAI</a:t>
            </a:r>
            <a:r>
              <a:rPr lang="en-US" sz="2400" b="1" dirty="0">
                <a:solidFill>
                  <a:schemeClr val="accent2">
                    <a:lumMod val="75000"/>
                  </a:schemeClr>
                </a:solidFill>
              </a:rPr>
              <a:t> and Its Applications</a:t>
            </a:r>
          </a:p>
        </p:txBody>
      </p:sp>
      <p:sp>
        <p:nvSpPr>
          <p:cNvPr id="7" name="TextBox 6">
            <a:extLst>
              <a:ext uri="{FF2B5EF4-FFF2-40B4-BE49-F238E27FC236}">
                <a16:creationId xmlns:a16="http://schemas.microsoft.com/office/drawing/2014/main" id="{CC543F8C-6AF8-4B8F-E4AB-4B77CF54C78A}"/>
              </a:ext>
            </a:extLst>
          </p:cNvPr>
          <p:cNvSpPr txBox="1"/>
          <p:nvPr/>
        </p:nvSpPr>
        <p:spPr>
          <a:xfrm>
            <a:off x="474391" y="1451975"/>
            <a:ext cx="10182361" cy="5432256"/>
          </a:xfrm>
          <a:prstGeom prst="rect">
            <a:avLst/>
          </a:prstGeom>
          <a:noFill/>
        </p:spPr>
        <p:txBody>
          <a:bodyPr wrap="square">
            <a:spAutoFit/>
          </a:bodyPr>
          <a:lstStyle/>
          <a:p>
            <a:pPr algn="l" fontAlgn="base">
              <a:spcBef>
                <a:spcPts val="1800"/>
              </a:spcBef>
              <a:spcAft>
                <a:spcPts val="1800"/>
              </a:spcAft>
              <a:buNone/>
            </a:pPr>
            <a:r>
              <a:rPr lang="en-US" sz="2200" b="1" i="0" u="sng" dirty="0">
                <a:solidFill>
                  <a:srgbClr val="273239"/>
                </a:solidFill>
                <a:effectLst/>
                <a:latin typeface="Times New Roman" panose="02020603050405020304" pitchFamily="18" charset="0"/>
                <a:cs typeface="Times New Roman" panose="02020603050405020304" pitchFamily="18" charset="0"/>
              </a:rPr>
              <a:t>Dialogue Systems</a:t>
            </a:r>
          </a:p>
          <a:p>
            <a:pPr marL="342900" indent="-342900" fontAlgn="base">
              <a:spcAft>
                <a:spcPts val="1800"/>
              </a:spcAft>
              <a:buFont typeface="Wingdings" panose="05000000000000000000" pitchFamily="2" charset="2"/>
              <a:buChar char="Ø"/>
            </a:pPr>
            <a:r>
              <a:rPr lang="en-US" sz="2200" b="1" i="0" dirty="0">
                <a:solidFill>
                  <a:srgbClr val="273239"/>
                </a:solidFill>
                <a:effectLst/>
                <a:latin typeface="Times New Roman" panose="02020603050405020304" pitchFamily="18" charset="0"/>
                <a:cs typeface="Times New Roman" panose="02020603050405020304" pitchFamily="18" charset="0"/>
              </a:rPr>
              <a:t>Chatbot and Virtual Assistants: </a:t>
            </a:r>
            <a:r>
              <a:rPr lang="en-US" sz="2200" dirty="0">
                <a:latin typeface="Times New Roman" panose="02020603050405020304" pitchFamily="18" charset="0"/>
                <a:cs typeface="Times New Roman" panose="02020603050405020304" pitchFamily="18" charset="0"/>
              </a:rPr>
              <a:t>Enabling systems to engage in conversations with users, providing responses and performing tasks based on user input.</a:t>
            </a:r>
            <a:endParaRPr lang="en-US" sz="2200" u="sng" dirty="0">
              <a:solidFill>
                <a:srgbClr val="273239"/>
              </a:solidFill>
              <a:latin typeface="Times New Roman" panose="02020603050405020304" pitchFamily="18" charset="0"/>
              <a:cs typeface="Times New Roman" panose="02020603050405020304" pitchFamily="18" charset="0"/>
            </a:endParaRPr>
          </a:p>
          <a:p>
            <a:pPr fontAlgn="base">
              <a:spcAft>
                <a:spcPts val="1800"/>
              </a:spcAft>
            </a:pPr>
            <a:r>
              <a:rPr lang="en-US" sz="2200" b="1" u="sng" dirty="0">
                <a:solidFill>
                  <a:srgbClr val="273239"/>
                </a:solidFill>
                <a:latin typeface="Times New Roman" panose="02020603050405020304" pitchFamily="18" charset="0"/>
                <a:cs typeface="Times New Roman" panose="02020603050405020304" pitchFamily="18" charset="0"/>
              </a:rPr>
              <a:t>Sentiment and Emotion Analysis</a:t>
            </a:r>
          </a:p>
          <a:p>
            <a:pPr marL="342900" indent="-342900" fontAlgn="base">
              <a:spcAft>
                <a:spcPts val="1800"/>
              </a:spcAft>
              <a:buFont typeface="Wingdings" panose="05000000000000000000" pitchFamily="2" charset="2"/>
              <a:buChar char="Ø"/>
            </a:pPr>
            <a:r>
              <a:rPr lang="en-US" sz="2200" b="1" dirty="0">
                <a:solidFill>
                  <a:srgbClr val="273239"/>
                </a:solidFill>
                <a:latin typeface="Times New Roman" panose="02020603050405020304" pitchFamily="18" charset="0"/>
                <a:cs typeface="Times New Roman" panose="02020603050405020304" pitchFamily="18" charset="0"/>
              </a:rPr>
              <a:t>Emotion Detection: </a:t>
            </a:r>
            <a:r>
              <a:rPr lang="en-US" sz="2200" dirty="0">
                <a:latin typeface="Times New Roman" panose="02020603050405020304" pitchFamily="18" charset="0"/>
                <a:cs typeface="Times New Roman" panose="02020603050405020304" pitchFamily="18" charset="0"/>
              </a:rPr>
              <a:t>Identifying and categorizing emotions expressed in text.</a:t>
            </a:r>
          </a:p>
          <a:p>
            <a:pPr marL="342900" indent="-342900" fontAlgn="base">
              <a:spcAft>
                <a:spcPts val="1800"/>
              </a:spcAft>
              <a:buFont typeface="Wingdings" panose="05000000000000000000" pitchFamily="2" charset="2"/>
              <a:buChar char="Ø"/>
            </a:pPr>
            <a:r>
              <a:rPr lang="en-US" sz="2200" b="1" dirty="0">
                <a:solidFill>
                  <a:srgbClr val="273239"/>
                </a:solidFill>
                <a:latin typeface="Times New Roman" panose="02020603050405020304" pitchFamily="18" charset="0"/>
                <a:cs typeface="Times New Roman" panose="02020603050405020304" pitchFamily="18" charset="0"/>
              </a:rPr>
              <a:t>Opinion Mining: </a:t>
            </a:r>
            <a:r>
              <a:rPr lang="en-US" sz="2200" dirty="0">
                <a:latin typeface="Times New Roman" panose="02020603050405020304" pitchFamily="18" charset="0"/>
                <a:cs typeface="Times New Roman" panose="02020603050405020304" pitchFamily="18" charset="0"/>
              </a:rPr>
              <a:t>Analyzing opinions or reviews to understand public sentiment toward products, services or topics.</a:t>
            </a:r>
          </a:p>
          <a:p>
            <a:pPr marL="342900" indent="-342900" fontAlgn="base">
              <a:spcAft>
                <a:spcPts val="1800"/>
              </a:spcAft>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fontAlgn="base">
              <a:spcAft>
                <a:spcPts val="1800"/>
              </a:spcAft>
            </a:pPr>
            <a:r>
              <a:rPr lang="en-US" sz="2200" b="1" u="sng" dirty="0">
                <a:solidFill>
                  <a:srgbClr val="273239"/>
                </a:solidFill>
                <a:latin typeface="Times New Roman" panose="02020603050405020304" pitchFamily="18" charset="0"/>
                <a:cs typeface="Times New Roman" panose="02020603050405020304" pitchFamily="18" charset="0"/>
              </a:rPr>
              <a:t>Multilingual NLP</a:t>
            </a:r>
            <a:r>
              <a:rPr lang="en-US" b="1" dirty="0"/>
              <a:t>:</a:t>
            </a:r>
            <a:r>
              <a:rPr lang="en-US" dirty="0"/>
              <a:t> </a:t>
            </a:r>
            <a:r>
              <a:rPr lang="en-US" sz="2200" dirty="0">
                <a:latin typeface="Times New Roman" panose="02020603050405020304" pitchFamily="18" charset="0"/>
                <a:cs typeface="Times New Roman" panose="02020603050405020304" pitchFamily="18" charset="0"/>
              </a:rPr>
              <a:t>Expanding NLP to support more languages, including regional and minority languages, broadens accessibility.</a:t>
            </a:r>
          </a:p>
          <a:p>
            <a:pPr marL="342900" indent="-342900" fontAlgn="base">
              <a:spcAft>
                <a:spcPts val="1800"/>
              </a:spcAft>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07457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B811A-2FC1-0C77-BD31-2E6C082F4ED3}"/>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86DF6489-D7A3-40AC-112A-543C900C9F3F}"/>
              </a:ext>
            </a:extLst>
          </p:cNvPr>
          <p:cNvGrpSpPr/>
          <p:nvPr/>
        </p:nvGrpSpPr>
        <p:grpSpPr>
          <a:xfrm>
            <a:off x="313844" y="5489699"/>
            <a:ext cx="1066895" cy="1078155"/>
            <a:chOff x="313844" y="5489699"/>
            <a:chExt cx="1066895" cy="1078155"/>
          </a:xfrm>
          <a:solidFill>
            <a:schemeClr val="accent2">
              <a:lumMod val="75000"/>
            </a:schemeClr>
          </a:solidFill>
        </p:grpSpPr>
        <p:sp>
          <p:nvSpPr>
            <p:cNvPr id="24" name="Rectangle 23">
              <a:extLst>
                <a:ext uri="{FF2B5EF4-FFF2-40B4-BE49-F238E27FC236}">
                  <a16:creationId xmlns:a16="http://schemas.microsoft.com/office/drawing/2014/main" id="{E6D25856-DCFF-7A6A-4374-83D050D31E24}"/>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25" name="Rectangle 24">
              <a:extLst>
                <a:ext uri="{FF2B5EF4-FFF2-40B4-BE49-F238E27FC236}">
                  <a16:creationId xmlns:a16="http://schemas.microsoft.com/office/drawing/2014/main" id="{CA71B449-2826-7977-8466-4D1865C32AA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grpSp>
      <p:cxnSp>
        <p:nvCxnSpPr>
          <p:cNvPr id="11" name="Straight Connector 10">
            <a:extLst>
              <a:ext uri="{FF2B5EF4-FFF2-40B4-BE49-F238E27FC236}">
                <a16:creationId xmlns:a16="http://schemas.microsoft.com/office/drawing/2014/main" id="{F9CDF589-379E-0A5A-E263-6500CA2727EE}"/>
              </a:ext>
            </a:extLst>
          </p:cNvPr>
          <p:cNvCxnSpPr/>
          <p:nvPr/>
        </p:nvCxnSpPr>
        <p:spPr>
          <a:xfrm flipV="1">
            <a:off x="4889500" y="4384675"/>
            <a:ext cx="4581525"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22A50068-80A7-0452-01BA-6FF1BFF4A0D8}"/>
              </a:ext>
            </a:extLst>
          </p:cNvPr>
          <p:cNvGrpSpPr/>
          <p:nvPr/>
        </p:nvGrpSpPr>
        <p:grpSpPr>
          <a:xfrm rot="10800000">
            <a:off x="10855702" y="266068"/>
            <a:ext cx="1066895" cy="1078155"/>
            <a:chOff x="313844" y="5489699"/>
            <a:chExt cx="1066895" cy="1078155"/>
          </a:xfrm>
          <a:solidFill>
            <a:schemeClr val="accent2">
              <a:lumMod val="75000"/>
            </a:schemeClr>
          </a:solidFill>
        </p:grpSpPr>
        <p:sp>
          <p:nvSpPr>
            <p:cNvPr id="17" name="Rectangle 16">
              <a:extLst>
                <a:ext uri="{FF2B5EF4-FFF2-40B4-BE49-F238E27FC236}">
                  <a16:creationId xmlns:a16="http://schemas.microsoft.com/office/drawing/2014/main" id="{0B4D576D-9B28-A545-1BD0-2B01A87345AC}"/>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8" name="Rectangle 17">
              <a:extLst>
                <a:ext uri="{FF2B5EF4-FFF2-40B4-BE49-F238E27FC236}">
                  <a16:creationId xmlns:a16="http://schemas.microsoft.com/office/drawing/2014/main" id="{4D6175C2-36E1-01FD-5B60-D8FD3FB0A51F}"/>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grpSp>
      <p:pic>
        <p:nvPicPr>
          <p:cNvPr id="2056" name="object 5">
            <a:extLst>
              <a:ext uri="{FF2B5EF4-FFF2-40B4-BE49-F238E27FC236}">
                <a16:creationId xmlns:a16="http://schemas.microsoft.com/office/drawing/2014/main" id="{83248446-CE7F-0835-D6E8-CAE0E10E0F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1275" y="1787525"/>
            <a:ext cx="2374900" cy="365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C79F8ED8-595B-56B2-E722-3B6812D733E9}"/>
              </a:ext>
            </a:extLst>
          </p:cNvPr>
          <p:cNvSpPr/>
          <p:nvPr/>
        </p:nvSpPr>
        <p:spPr>
          <a:xfrm>
            <a:off x="4731026" y="3615531"/>
            <a:ext cx="6149699" cy="584775"/>
          </a:xfrm>
          <a:prstGeom prst="rect">
            <a:avLst/>
          </a:prstGeom>
        </p:spPr>
        <p:txBody>
          <a:bodyPr wrap="square">
            <a:spAutoFit/>
          </a:bodyPr>
          <a:lstStyle/>
          <a:p>
            <a:r>
              <a:rPr lang="en-US" sz="3200" b="1" dirty="0">
                <a:solidFill>
                  <a:schemeClr val="accent1">
                    <a:lumMod val="75000"/>
                  </a:schemeClr>
                </a:solidFill>
              </a:rPr>
              <a:t>          Thank You</a:t>
            </a:r>
            <a:endParaRPr lang="en-IN" sz="3200" b="1" dirty="0">
              <a:solidFill>
                <a:schemeClr val="accent1">
                  <a:lumMod val="75000"/>
                </a:schemeClr>
              </a:solidFill>
            </a:endParaRPr>
          </a:p>
        </p:txBody>
      </p:sp>
    </p:spTree>
    <p:extLst>
      <p:ext uri="{BB962C8B-B14F-4D97-AF65-F5344CB8AC3E}">
        <p14:creationId xmlns:p14="http://schemas.microsoft.com/office/powerpoint/2010/main" val="38765120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18439</TotalTime>
  <Words>2106</Words>
  <Application>Microsoft Office PowerPoint</Application>
  <PresentationFormat>Widescreen</PresentationFormat>
  <Paragraphs>214</Paragraphs>
  <Slides>22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Calibri Light</vt:lpstr>
      <vt:lpstr>Nunito</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MHR</dc:creator>
  <cp:lastModifiedBy>Dr Pooja Agarwal</cp:lastModifiedBy>
  <cp:revision>356</cp:revision>
  <dcterms:created xsi:type="dcterms:W3CDTF">2020-06-03T14:19:11Z</dcterms:created>
  <dcterms:modified xsi:type="dcterms:W3CDTF">2026-01-09T05:17:29Z</dcterms:modified>
</cp:coreProperties>
</file>