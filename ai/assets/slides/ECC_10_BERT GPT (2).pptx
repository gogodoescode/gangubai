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ink/ink2.xml" ContentType="application/inkml+xml"/>
  <Override PartName="/ppt/notesSlides/notesSlide45.xml" ContentType="application/vnd.openxmlformats-officedocument.presentationml.notesSlide+xml"/>
  <Override PartName="/ppt/ink/ink3.xml" ContentType="application/inkml+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54"/>
  </p:notesMasterIdLst>
  <p:sldIdLst>
    <p:sldId id="256" r:id="rId2"/>
    <p:sldId id="257" r:id="rId3"/>
    <p:sldId id="922" r:id="rId4"/>
    <p:sldId id="332" r:id="rId5"/>
    <p:sldId id="261" r:id="rId6"/>
    <p:sldId id="262" r:id="rId7"/>
    <p:sldId id="265" r:id="rId8"/>
    <p:sldId id="333" r:id="rId9"/>
    <p:sldId id="334" r:id="rId10"/>
    <p:sldId id="338" r:id="rId11"/>
    <p:sldId id="259" r:id="rId12"/>
    <p:sldId id="335" r:id="rId13"/>
    <p:sldId id="952" r:id="rId14"/>
    <p:sldId id="337" r:id="rId15"/>
    <p:sldId id="341" r:id="rId16"/>
    <p:sldId id="339" r:id="rId17"/>
    <p:sldId id="340" r:id="rId18"/>
    <p:sldId id="962" r:id="rId19"/>
    <p:sldId id="301" r:id="rId20"/>
    <p:sldId id="960" r:id="rId21"/>
    <p:sldId id="961" r:id="rId22"/>
    <p:sldId id="963" r:id="rId23"/>
    <p:sldId id="964" r:id="rId24"/>
    <p:sldId id="965" r:id="rId25"/>
    <p:sldId id="966" r:id="rId26"/>
    <p:sldId id="967" r:id="rId27"/>
    <p:sldId id="336" r:id="rId28"/>
    <p:sldId id="968" r:id="rId29"/>
    <p:sldId id="299" r:id="rId30"/>
    <p:sldId id="260" r:id="rId31"/>
    <p:sldId id="343" r:id="rId32"/>
    <p:sldId id="294" r:id="rId33"/>
    <p:sldId id="305" r:id="rId34"/>
    <p:sldId id="306" r:id="rId35"/>
    <p:sldId id="307" r:id="rId36"/>
    <p:sldId id="957" r:id="rId37"/>
    <p:sldId id="958" r:id="rId38"/>
    <p:sldId id="959" r:id="rId39"/>
    <p:sldId id="969" r:id="rId40"/>
    <p:sldId id="344" r:id="rId41"/>
    <p:sldId id="345" r:id="rId42"/>
    <p:sldId id="346" r:id="rId43"/>
    <p:sldId id="347" r:id="rId44"/>
    <p:sldId id="348" r:id="rId45"/>
    <p:sldId id="349" r:id="rId46"/>
    <p:sldId id="350" r:id="rId47"/>
    <p:sldId id="351" r:id="rId48"/>
    <p:sldId id="352" r:id="rId49"/>
    <p:sldId id="353" r:id="rId50"/>
    <p:sldId id="354" r:id="rId51"/>
    <p:sldId id="970" r:id="rId52"/>
    <p:sldId id="981" r:id="rId5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13" autoAdjust="0"/>
    <p:restoredTop sz="94660"/>
  </p:normalViewPr>
  <p:slideViewPr>
    <p:cSldViewPr snapToGrid="0">
      <p:cViewPr varScale="1">
        <p:scale>
          <a:sx n="78" d="100"/>
          <a:sy n="78" d="100"/>
        </p:scale>
        <p:origin x="968"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ink/ink1.xml><?xml version="1.0" encoding="utf-8"?>
<inkml:ink xmlns:inkml="http://www.w3.org/2003/InkML">
  <inkml:definitions>
    <inkml:context xml:id="ctx0">
      <inkml:inkSource xml:id="inkSrc0">
        <inkml:traceFormat>
          <inkml:channel name="X" type="integer" max="18176" units="cm"/>
          <inkml:channel name="Y" type="integer" max="10240" units="cm"/>
          <inkml:channel name="F" type="integer" max="4096" units="dev"/>
          <inkml:channel name="T" type="integer" max="2.14748E9" units="dev"/>
        </inkml:traceFormat>
        <inkml:channelProperties>
          <inkml:channelProperty channel="X" name="resolution" value="584.43732" units="1/cm"/>
          <inkml:channelProperty channel="Y" name="resolution" value="585.14288" units="1/cm"/>
          <inkml:channelProperty channel="F" name="resolution" value="0" units="1/dev"/>
          <inkml:channelProperty channel="T" name="resolution" value="1" units="1/dev"/>
        </inkml:channelProperties>
      </inkml:inkSource>
      <inkml:timestamp xml:id="ts0" timeString="2025-01-29T03:48:40.879"/>
    </inkml:context>
    <inkml:brush xml:id="br0">
      <inkml:brushProperty name="width" value="0.05292" units="cm"/>
      <inkml:brushProperty name="height" value="0.05292" units="cm"/>
      <inkml:brushProperty name="color" value="#FF0000"/>
    </inkml:brush>
  </inkml:definitions>
  <inkml:trace contextRef="#ctx0" brushRef="#br0">6038 12959 12 0,'0'0'0'15,"0"0"0"-15,0 0 0 0,0 0 0 0,0 0 0 0,0 0 0 16,0-1 0-16,0 1-10 0</inkml:trace>
  <inkml:trace contextRef="#ctx0" brushRef="#br0" timeOffset="634.91">6316 12822 815 0,'0'0'0'0,"0"2"0"0,-2-2 0 16,0 3 0-16,2-1 1 0,-4 3-1 0,3 2 0 16,-4 1 0-16,1 2 2 0,-1 2-2 0,1 4 0 0,-2 2 2 15,2 3 1-15,-2 0-3 0,3-2 0 0,-1-2 2 16,1-3 1-16,-1 1-3 0,4 2 0 0,0 1 1 15,0 2 1-15,0-2-2 0,0-3 0 0,0-15-624 0</inkml:trace>
  <inkml:trace contextRef="#ctx0" brushRef="#br0" timeOffset="37499.64">11597 6824 263 0,'0'0'0'16,"0"0"0"-16,0 0 0 0,0 0 6 0,0 0 1 16,0 0-7-16,0 0 0 0,0 0 15 0,0 0 2 15,0 0-17-15,0 0 0 0,0 0 19 0,0 0 0 16,0 0-19-16,0 0 0 0,0 0 13 0,0 0 0 0,0 0-13 15,0 0 0-15,0 0 11 0,0 0 1 0,0 0-12 16,0 0 0-16,0 0 15 0,0 2 1 0,0-2-16 16,3 2 0-16,-3-2 12 0,7 5 2 0,-7-5-14 15,10 1 0-15,-10-1 13 0,10 4 2 0,-10-4-15 16,10 4 0-16,-10-4 17 0,11 2-1 0,-11-2-16 16,12 3 0-16,-12-3 22 0,20 2 0 0,-5-2-22 15,2 0 0-15,5 0 29 0,4 0 2 0,0 0-31 16,3 0 0-16,2 0 42 0,1 0 2 0,5-1-44 15,0 2 0-15,5-1 48 0,3-1 2 0,-2 1-50 16,5 0 0-16,-2-1 48 0,1-2 0 0,4 1-48 0,-1 2 0 16,5 0 41-16,0 0-1 0,-4 0-40 0,-1-2 0 15,3-3 38-15,-2 3 0 0,-3-3-38 0,1 3 0 16,0 0 31-16,2 1 0 0,-11 1-31 0,2 0 0 16,-7-3 26-16,-3 2 1 0,-3-2-27 0,-5 3 0 15,-3 0 20-15,-1-2 1 0,-2 2-21 0,-3 2 0 0,-5-2 19 16,1-2 0-16,-4 2-19 0,0 0 0 0,-7 0 16 15,0 0 1-15,3 0-17 0,-3 0 0 16,0 0 16-16,0 0 1 0,0 0-17 0,0 0 0 0,0 0 15 16,0 0 2-16,0 0-17 0,0 0 0 0,0 0 17 0,0 0 0 15,0 0-17-15,1 0 0 0,2 0 19 0,-3 0 1 16,6 2-20-16,4-1 0 0,11 5 19 16,1-5 0-16,2 8-19 0,-1 0 0 0,3 5 15 0,0 2 1 15,-26-16-1133-15</inkml:trace>
  <inkml:trace contextRef="#ctx0" brushRef="#br0" timeOffset="38300.01">15143 6814 577 0,'0'0'0'16,"0"0"0"-16,-3-1 0 0,3 1-5 0,-3-3-1 15,3 3 6-15,-3 0 0 0,3 0-2 0,-4-4 1 0,4 4 1 16,-14-5 0-16,14 5-1 0,-25-6 0 0,10 5 1 16,-1-1 0-16,-2 2-3 0,1 0 2 0,3 2 1 15,2-1 0-15,1-2-1 0,4-1 0 0,0 2 1 16,0 0 0-16,0 0 1 0,1 0 1 0,-1 0-2 16,2 2 0-16,-1-1 13 0,2 0-1 0,0-1-12 15,1 0 0-15,3 0 25 0,-3 0 1 0,2 0-26 16,-2 0 0-16,1 0 29 0,1 0 1 0,2 0-30 15,4 3 0-15,0-3 30 0,4 2 1 0,7-1-31 16,8 0 0-16,8-1 23 0,6 0 2 0,4 0-25 16,4 0 0-16,1 0 21 0,2-1 1 0,4-2-22 15,5 0 0-15,3-1 17 0,1-1 1 0,1 2-18 0,2-1 0 16,4 1 15-16,1 1 1 0,5 0-16 0,-2-1 0 16,4-4 12-16,2 1 2 0,-3 2-14 0,-5 0 0 15,0 1 10-15,-5-2 0 0,-3 0-10 0,-3 1 0 0,-4 0 9 16,-3 0 1-16,-4-3-10 0,-4 0 0 0,-8 0 8 15,-3 3 0-15,-6-2-8 0,-4 6 0 0,-8-3 7 16,-3 3 1-16,-5 0-8 0,-2-1 0 0,-3 1 6 16,-3-4 1-16,0 1-7 0,0 2 0 0,0-1 6 15,0 2 1-15,-2 0-7 0,-2 0 0 0,-1-4 9 16,-1 1 1-16,-2 0-10 0,-5-4 0 0,-5 2 16 0,-3 1 0 16,4-1-16-16,-1 3 0 0,7 2 24 0,1-3 1 15,2 3-25-15,1 0 0 0,1 3 30 0,3-3 1 16,0 1-31-16,1 2 0 0,-1-2 30 0,1 1 0 15,2 0-30-15,-2 3 0 0,0-3 27 0,1 5 0 16,4 0-27-16,2 6 0 0,6 1 19 0,5 5 0 0,2-5-19 16,7 3 0-16,-1 0 14 0,8 0-1 0,-32-17-1043 15</inkml:trace>
</inkml:ink>
</file>

<file path=ppt/ink/ink2.xml><?xml version="1.0" encoding="utf-8"?>
<inkml:ink xmlns:inkml="http://www.w3.org/2003/InkML">
  <inkml:definitions>
    <inkml:context xml:id="ctx0">
      <inkml:inkSource xml:id="inkSrc0">
        <inkml:traceFormat>
          <inkml:channel name="X" type="integer" max="18176" units="cm"/>
          <inkml:channel name="Y" type="integer" max="10240" units="cm"/>
          <inkml:channel name="F" type="integer" max="4096" units="dev"/>
          <inkml:channel name="T" type="integer" max="2.14748E9" units="dev"/>
        </inkml:traceFormat>
        <inkml:channelProperties>
          <inkml:channelProperty channel="X" name="resolution" value="584.43732" units="1/cm"/>
          <inkml:channelProperty channel="Y" name="resolution" value="585.14288" units="1/cm"/>
          <inkml:channelProperty channel="F" name="resolution" value="0" units="1/dev"/>
          <inkml:channelProperty channel="T" name="resolution" value="1" units="1/dev"/>
        </inkml:channelProperties>
      </inkml:inkSource>
      <inkml:timestamp xml:id="ts0" timeString="2025-01-29T04:30:36.610"/>
    </inkml:context>
    <inkml:brush xml:id="br0">
      <inkml:brushProperty name="width" value="0.05292" units="cm"/>
      <inkml:brushProperty name="height" value="0.05292" units="cm"/>
      <inkml:brushProperty name="color" value="#FF0000"/>
    </inkml:brush>
  </inkml:definitions>
  <inkml:trace contextRef="#ctx0" brushRef="#br0">5268 8073 49 0,'0'0'0'0,"0"0"0"0,-4-4 0 0,4 4 0 16,-1-4 0-16,1 4 0 0,0-3 0 0,0 3 0 16,0-3 1-16,0 3-1 0,0-3 0 15,0 3 7-15,0-1-1 0,0 1-6 0,0 3 0 0,0-3 0 16,0 0 2-16,0 0-2 0,0 0 0 0,0 0 6 16,4 0 1-16,-4 0-7 0,1 0 0 0,-1 0 12 15,0 0 2-15,0 0-14 0,5 0 0 0,-5 0 16 0,1 0-1 16,-1 0-15-16,6 0 0 0,-6 0 16 0,8 0 0 15,-8 0-16-15,11-3 0 0,-11 3 15 0,13-6 2 16,-13 6-17-16,15-3 0 0,-15 3 16 0,18-1 1 16,-18 1-17-16,16 1 0 0,-16-1 17 0,18 0-1 15,-18 0-16-15,24 0 0 0,-5 0 17 0,2 0 1 0,1 0-18 16,4 0 0-16,-1 0 15 0,7 0 1 0,-1 2-16 16,6 1 0-16,4 1 13 0,5 3 2 0,3 0-15 15,3 0 0-15,-52-7-270 0</inkml:trace>
</inkml:ink>
</file>

<file path=ppt/ink/ink3.xml><?xml version="1.0" encoding="utf-8"?>
<inkml:ink xmlns:inkml="http://www.w3.org/2003/InkML">
  <inkml:definitions>
    <inkml:context xml:id="ctx0">
      <inkml:inkSource xml:id="inkSrc0">
        <inkml:traceFormat>
          <inkml:channel name="X" type="integer" max="18176" units="cm"/>
          <inkml:channel name="Y" type="integer" max="10240" units="cm"/>
          <inkml:channel name="F" type="integer" max="4096" units="dev"/>
          <inkml:channel name="T" type="integer" max="2.14748E9" units="dev"/>
        </inkml:traceFormat>
        <inkml:channelProperties>
          <inkml:channelProperty channel="X" name="resolution" value="584.43732" units="1/cm"/>
          <inkml:channelProperty channel="Y" name="resolution" value="585.14288" units="1/cm"/>
          <inkml:channelProperty channel="F" name="resolution" value="0" units="1/dev"/>
          <inkml:channelProperty channel="T" name="resolution" value="1" units="1/dev"/>
        </inkml:channelProperties>
      </inkml:inkSource>
      <inkml:timestamp xml:id="ts0" timeString="2025-01-29T04:31:04.477"/>
    </inkml:context>
    <inkml:brush xml:id="br0">
      <inkml:brushProperty name="width" value="0.05292" units="cm"/>
      <inkml:brushProperty name="height" value="0.05292" units="cm"/>
      <inkml:brushProperty name="color" value="#FF0000"/>
    </inkml:brush>
  </inkml:definitions>
  <inkml:trace contextRef="#ctx0" brushRef="#br0">5506 6445 175 0,'0'0'0'15,"0"0"0"-15,0 0 0 0,0 0 3 0,0 0 0 16,0 0-3-16,0 0 0 0,0 0 13 0,0 0-1 0,0 0-12 15,0 0 0-15,0 0 19 0,0 0 0 0,0 0-19 16,0 0 0-16,0 0 10 0,-1-2 0 0,1 2-10 16,-3-2 0-16,3 2 13 0,-2-2 0 0,2 2-13 15,-4-4 0-15,4 4 16 0,-1-3 0 0,1 3-16 16,-3-3 0-16,3 3 14 0,3-2 1 0,-3 2-15 16,0-2 0-16,0 2 13 0,1-4 1 0,-1 4-14 15,0-3 0-15,0 3 18 0,3-3 1 0,-3 3-19 16,1 0 0-16,-1 0 18 0,2 0 1 0,-2 0-19 15,3 0 0-15,-3 0 19 0,4 0 0 0,-4 0-19 16,5 0 0-16,-5 0 17 0,10 0 0 0,-10 0-17 0,11 3 0 16,-11-3 12-16,23 3 0 0,-8-2-12 15,-4 2 0-15,2-1 15 0,1 0 1 0,1 0-16 0,-1-1 0 16,0 2 13-16,-1-3 2 0,3 0-15 0,-2 0 0 16,2 0 14-16,-2 1 1 0,1-1-15 0,3 0 0 15,-2 3 15-15,-2-3 1 0,1-3-16 0,0 2 0 0,5 1 14 16,2 0 0-16,-1 0-14 0,2 0 0 0,2-3 13 15,-1 3 0-15,5 0-13 0,-4-1 0 0,3 1 16 16,3-4-1-16,1 2-15 0,-1-2 0 0,1 1 17 16,1 2 0-16,2-3-17 0,0 1 0 0,1 0 15 0,-2 2 0 15,0 1-15-15,1-3 0 0,-2 1 14 0,1 2 1 16,-1-2-15-16,-2 0 0 0,1 1 12 0,-1 1 0 16,1 0-12-16,-1 0 0 0,1 1 11 0,1 3 1 15,-2-2-12-15,1 1 0 0,-5-3 9 0,1 0 0 0,0 1-9 16,1 2 0-16,0 0 10 0,1-1 1 0,0 0-11 15,0 1 0-15,1 2 8 0,1-5 1 0,-2 4-9 16,-3-2 0-16,1-2 8 0,0 0 1 0,1 1-9 16,1 2 0-16,-3-3 6 0,4 0 1 0,1 0-7 15,-1 1 0-15,4 2 6 0,1-3-1 0,-2 0-5 16,-3 0 0-16,4 2 5 0,1-1 0 0,-1-1-5 16,7 0 0-16,-3 1 4 0,4 1 0 0,1-2-4 15,0-2 0-15,1 0 6 0,1 0-1 0,0-1-5 16,0 2 0-16,0-2 6 0,1 3 1 0,0 0-7 15,2 0 0-15,0-1 5 0,1-1 1 0,1-2-6 16,2 1 0-16,0 1 5 0,0-1 0 0,0 1-5 16,0-2 0-16,2 1 2 0,-2 1 2 0,0-1-4 0,0 1 0 15,0-3 2-15,1 5 0 0,0 0-2 0,0-3 0 16,-1 3 2-16,0 3 1 0,5-3-3 0,-3 0 0 16,1-3 1-16,4-1 1 0,-4 3-2 0,0-1 0 0,-3 2 1 15,0 2 1-15,-2-1-2 0,0 2 0 0,-3-3 3 16,1 1-1-16,1 2-2 0,1-2 0 0,-3 1 2 15,1 0 0-15,-5-2-2 0,2 2 0 0,-3-2 2 16,-1-2 0-16,-1 2-2 0,-1 2 0 0,-4 1 1 16,2-2 1-16,-3 0-2 0,1-1 0 0,-6 3 1 0,-2 1 2 15,-2-1-3-15,1-1 0 0,-1-4 0 0,-2 4 1 16,-3-1-1-16,1-1 0 0,-2-1 0 0,-2-1 1 16,-1 1-1-16,0-1 0 0,-5 0 0 0,1-1 1 15,-2 1-1-15,-4 2 0 0,-1 2 0 0,-5-2 1 16,0 0-1-16,1 0 0 0,-1 0 1 0,-1 0 0 15,0 0-1-15,0 0 0 0,0 0 1 0,0 0 2 16,0 0-3-16,0 0 0 0,0 0 1 0,0 0 1 16,0 0-2-16,0 0 0 0,0 0 2 0,0 0 0 0,0 0-2 15,0 0 0-15,-1 0 4 0,-3 0 0 0,-1-2-4 16,4 0 0-16,-3-1 5 0,1 1 0 0,0 2-5 16,-1-2 0-16,-3 0 6 0,0 1 1 0,1 1-7 15,2 0 0-15,-1 0 7 0,-4 0-1 0,1 0-6 16,1 0 0-16,1 0 6 0,2 0-1 0,0 0-5 15,0 0 0-15,0-3 5 0,-1 2 1 0,3-3-6 16,-3 2 0-16,3 1 4 0,-1 1 1 0,0 0-5 16,2 0 0-16,-4 0 3 0,3 0 0 0,-1-2-3 0,0 1 0 15,0-3 4-15,-1 2 0 0,4 2-4 16,-7 0 0-16,4 2 3 0,-4-1 1 0,4-1-4 0,-1 0 0 16,0 0 3-16,3 0 1 0,-2 0-4 0,2 0 0 15,-4 0 2-15,1 0 1 0,3 0-3 0,-2 0 0 16,0 0 2-16,0 3 1 0,2-3-3 0,1 0 0 0,-3 0 2 15,2 0 0-15,-1 0-2 0,1 0 0 0,0 0 1 16,-1 0 0-16,2 0-1 0,0 0 0 0,0 0 2 16,0 0-1-16,0 0-1 0,0 0 0 0,0 0 0 15,0 0 1-15,0 0-1 0,0 0 0 0,0 0 0 0,0 1 1 16,0 1-1-16,0-1 0 0,-3 1 0 0,1 2 0 16,2-4-926-16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228949e6b4_2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228949e6b4_2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228949e6b4_2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228949e6b4_2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228949e6b4_2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228949e6b4_2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g3228949e6b4_6_1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4" name="Google Shape;854;g3228949e6b4_6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8850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75352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80822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531008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g3228949e6b4_6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8" name="Google Shape;868;g3228949e6b4_6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479319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5"/>
        <p:cNvGrpSpPr/>
        <p:nvPr/>
      </p:nvGrpSpPr>
      <p:grpSpPr>
        <a:xfrm>
          <a:off x="0" y="0"/>
          <a:ext cx="0" cy="0"/>
          <a:chOff x="0" y="0"/>
          <a:chExt cx="0" cy="0"/>
        </a:xfrm>
      </p:grpSpPr>
      <p:sp>
        <p:nvSpPr>
          <p:cNvPr id="876" name="Google Shape;876;g3228949e6b4_6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7" name="Google Shape;877;g3228949e6b4_6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26334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3228949e6b4_6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2" name="Google Shape;912;g3228949e6b4_6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051764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09493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g3288fe26c03_1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6" name="Google Shape;886;g3288fe26c03_1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46340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a:extLst>
            <a:ext uri="{FF2B5EF4-FFF2-40B4-BE49-F238E27FC236}">
              <a16:creationId xmlns:a16="http://schemas.microsoft.com/office/drawing/2014/main" id="{2257D923-CD6C-74A9-F96A-966C93C577C6}"/>
            </a:ext>
          </a:extLst>
        </p:cNvPr>
        <p:cNvGrpSpPr/>
        <p:nvPr/>
      </p:nvGrpSpPr>
      <p:grpSpPr>
        <a:xfrm>
          <a:off x="0" y="0"/>
          <a:ext cx="0" cy="0"/>
          <a:chOff x="0" y="0"/>
          <a:chExt cx="0" cy="0"/>
        </a:xfrm>
      </p:grpSpPr>
      <p:sp>
        <p:nvSpPr>
          <p:cNvPr id="885" name="Google Shape;885;g3288fe26c03_1_43:notes">
            <a:extLst>
              <a:ext uri="{FF2B5EF4-FFF2-40B4-BE49-F238E27FC236}">
                <a16:creationId xmlns:a16="http://schemas.microsoft.com/office/drawing/2014/main" id="{1CF82B19-1C36-C6AE-E079-D0E9601774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6" name="Google Shape;886;g3288fe26c03_1_43:notes">
            <a:extLst>
              <a:ext uri="{FF2B5EF4-FFF2-40B4-BE49-F238E27FC236}">
                <a16:creationId xmlns:a16="http://schemas.microsoft.com/office/drawing/2014/main" id="{E3DDD2A8-7F27-23C5-301E-D830E874D0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592249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2"/>
        <p:cNvGrpSpPr/>
        <p:nvPr/>
      </p:nvGrpSpPr>
      <p:grpSpPr>
        <a:xfrm>
          <a:off x="0" y="0"/>
          <a:ext cx="0" cy="0"/>
          <a:chOff x="0" y="0"/>
          <a:chExt cx="0" cy="0"/>
        </a:xfrm>
      </p:grpSpPr>
      <p:sp>
        <p:nvSpPr>
          <p:cNvPr id="903" name="Google Shape;903;g3288fe26c03_1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4" name="Google Shape;904;g3288fe26c03_1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609883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g3288fe26c03_1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7" name="Google Shape;937;g3288fe26c03_1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949640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3288fe26c03_1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0" name="Google Shape;920;g3288fe26c03_1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0266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g3288fe26c03_1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9" name="Google Shape;929;g3288fe26c03_1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66839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a:extLst>
            <a:ext uri="{FF2B5EF4-FFF2-40B4-BE49-F238E27FC236}">
              <a16:creationId xmlns:a16="http://schemas.microsoft.com/office/drawing/2014/main" id="{17819392-C53D-BE25-EAC8-96BB81343922}"/>
            </a:ext>
          </a:extLst>
        </p:cNvPr>
        <p:cNvGrpSpPr/>
        <p:nvPr/>
      </p:nvGrpSpPr>
      <p:grpSpPr>
        <a:xfrm>
          <a:off x="0" y="0"/>
          <a:ext cx="0" cy="0"/>
          <a:chOff x="0" y="0"/>
          <a:chExt cx="0" cy="0"/>
        </a:xfrm>
      </p:grpSpPr>
      <p:sp>
        <p:nvSpPr>
          <p:cNvPr id="928" name="Google Shape;928;g3288fe26c03_1_69:notes">
            <a:extLst>
              <a:ext uri="{FF2B5EF4-FFF2-40B4-BE49-F238E27FC236}">
                <a16:creationId xmlns:a16="http://schemas.microsoft.com/office/drawing/2014/main" id="{A37CE3A6-C88A-932A-4D1E-A49D96D677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9" name="Google Shape;929;g3288fe26c03_1_69:notes">
            <a:extLst>
              <a:ext uri="{FF2B5EF4-FFF2-40B4-BE49-F238E27FC236}">
                <a16:creationId xmlns:a16="http://schemas.microsoft.com/office/drawing/2014/main" id="{B678BFDA-DEBE-9AF5-F385-F449724032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750805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cdccce66ef_0_8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2" name="Google Shape;302;gcdccce66ef_0_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36047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a:extLst>
            <a:ext uri="{FF2B5EF4-FFF2-40B4-BE49-F238E27FC236}">
              <a16:creationId xmlns:a16="http://schemas.microsoft.com/office/drawing/2014/main" id="{D0F4923C-7D30-14C8-5977-77CB960DD0D7}"/>
            </a:ext>
          </a:extLst>
        </p:cNvPr>
        <p:cNvGrpSpPr/>
        <p:nvPr/>
      </p:nvGrpSpPr>
      <p:grpSpPr>
        <a:xfrm>
          <a:off x="0" y="0"/>
          <a:ext cx="0" cy="0"/>
          <a:chOff x="0" y="0"/>
          <a:chExt cx="0" cy="0"/>
        </a:xfrm>
      </p:grpSpPr>
      <p:sp>
        <p:nvSpPr>
          <p:cNvPr id="928" name="Google Shape;928;g3288fe26c03_1_69:notes">
            <a:extLst>
              <a:ext uri="{FF2B5EF4-FFF2-40B4-BE49-F238E27FC236}">
                <a16:creationId xmlns:a16="http://schemas.microsoft.com/office/drawing/2014/main" id="{9973EF66-16E1-B9AD-53D6-FDCA0A34FA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9" name="Google Shape;929;g3288fe26c03_1_69:notes">
            <a:extLst>
              <a:ext uri="{FF2B5EF4-FFF2-40B4-BE49-F238E27FC236}">
                <a16:creationId xmlns:a16="http://schemas.microsoft.com/office/drawing/2014/main" id="{5B617A2A-9151-89D5-41D8-BF8D49196E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5768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a:extLst>
            <a:ext uri="{FF2B5EF4-FFF2-40B4-BE49-F238E27FC236}">
              <a16:creationId xmlns:a16="http://schemas.microsoft.com/office/drawing/2014/main" id="{09968E76-8240-B179-260C-162A13163F92}"/>
            </a:ext>
          </a:extLst>
        </p:cNvPr>
        <p:cNvGrpSpPr/>
        <p:nvPr/>
      </p:nvGrpSpPr>
      <p:grpSpPr>
        <a:xfrm>
          <a:off x="0" y="0"/>
          <a:ext cx="0" cy="0"/>
          <a:chOff x="0" y="0"/>
          <a:chExt cx="0" cy="0"/>
        </a:xfrm>
      </p:grpSpPr>
      <p:sp>
        <p:nvSpPr>
          <p:cNvPr id="928" name="Google Shape;928;g3288fe26c03_1_69:notes">
            <a:extLst>
              <a:ext uri="{FF2B5EF4-FFF2-40B4-BE49-F238E27FC236}">
                <a16:creationId xmlns:a16="http://schemas.microsoft.com/office/drawing/2014/main" id="{A008AEA8-6EA2-842B-FC32-CBA6FBE890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9" name="Google Shape;929;g3288fe26c03_1_69:notes">
            <a:extLst>
              <a:ext uri="{FF2B5EF4-FFF2-40B4-BE49-F238E27FC236}">
                <a16:creationId xmlns:a16="http://schemas.microsoft.com/office/drawing/2014/main" id="{6C5C674D-EF4F-FC28-8551-19BF5E1592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92036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a:extLst>
            <a:ext uri="{FF2B5EF4-FFF2-40B4-BE49-F238E27FC236}">
              <a16:creationId xmlns:a16="http://schemas.microsoft.com/office/drawing/2014/main" id="{B9EB67C2-86D0-EC91-9C02-7B394F462000}"/>
            </a:ext>
          </a:extLst>
        </p:cNvPr>
        <p:cNvGrpSpPr/>
        <p:nvPr/>
      </p:nvGrpSpPr>
      <p:grpSpPr>
        <a:xfrm>
          <a:off x="0" y="0"/>
          <a:ext cx="0" cy="0"/>
          <a:chOff x="0" y="0"/>
          <a:chExt cx="0" cy="0"/>
        </a:xfrm>
      </p:grpSpPr>
      <p:sp>
        <p:nvSpPr>
          <p:cNvPr id="928" name="Google Shape;928;g3288fe26c03_1_69:notes">
            <a:extLst>
              <a:ext uri="{FF2B5EF4-FFF2-40B4-BE49-F238E27FC236}">
                <a16:creationId xmlns:a16="http://schemas.microsoft.com/office/drawing/2014/main" id="{D115F6B5-DBEB-C707-DC84-80D4A21F98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9" name="Google Shape;929;g3288fe26c03_1_69:notes">
            <a:extLst>
              <a:ext uri="{FF2B5EF4-FFF2-40B4-BE49-F238E27FC236}">
                <a16:creationId xmlns:a16="http://schemas.microsoft.com/office/drawing/2014/main" id="{B233F2AD-E865-7B68-E63B-3346F17A772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580642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a:extLst>
            <a:ext uri="{FF2B5EF4-FFF2-40B4-BE49-F238E27FC236}">
              <a16:creationId xmlns:a16="http://schemas.microsoft.com/office/drawing/2014/main" id="{4519664A-011F-A8EF-4AFA-782F2928331C}"/>
            </a:ext>
          </a:extLst>
        </p:cNvPr>
        <p:cNvGrpSpPr/>
        <p:nvPr/>
      </p:nvGrpSpPr>
      <p:grpSpPr>
        <a:xfrm>
          <a:off x="0" y="0"/>
          <a:ext cx="0" cy="0"/>
          <a:chOff x="0" y="0"/>
          <a:chExt cx="0" cy="0"/>
        </a:xfrm>
      </p:grpSpPr>
      <p:sp>
        <p:nvSpPr>
          <p:cNvPr id="928" name="Google Shape;928;g3288fe26c03_1_69:notes">
            <a:extLst>
              <a:ext uri="{FF2B5EF4-FFF2-40B4-BE49-F238E27FC236}">
                <a16:creationId xmlns:a16="http://schemas.microsoft.com/office/drawing/2014/main" id="{372F9ECA-967A-E092-F0ED-0A08DDBE66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9" name="Google Shape;929;g3288fe26c03_1_69:notes">
            <a:extLst>
              <a:ext uri="{FF2B5EF4-FFF2-40B4-BE49-F238E27FC236}">
                <a16:creationId xmlns:a16="http://schemas.microsoft.com/office/drawing/2014/main" id="{4EC26649-C340-0A4F-6C2F-5A4F9ADA791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29580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a:extLst>
            <a:ext uri="{FF2B5EF4-FFF2-40B4-BE49-F238E27FC236}">
              <a16:creationId xmlns:a16="http://schemas.microsoft.com/office/drawing/2014/main" id="{6BDBDEC4-42D8-7311-7BDF-2369AD31A5CF}"/>
            </a:ext>
          </a:extLst>
        </p:cNvPr>
        <p:cNvGrpSpPr/>
        <p:nvPr/>
      </p:nvGrpSpPr>
      <p:grpSpPr>
        <a:xfrm>
          <a:off x="0" y="0"/>
          <a:ext cx="0" cy="0"/>
          <a:chOff x="0" y="0"/>
          <a:chExt cx="0" cy="0"/>
        </a:xfrm>
      </p:grpSpPr>
      <p:sp>
        <p:nvSpPr>
          <p:cNvPr id="928" name="Google Shape;928;g3288fe26c03_1_69:notes">
            <a:extLst>
              <a:ext uri="{FF2B5EF4-FFF2-40B4-BE49-F238E27FC236}">
                <a16:creationId xmlns:a16="http://schemas.microsoft.com/office/drawing/2014/main" id="{0FD39DE8-E32B-A106-D307-0C0A05732C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9" name="Google Shape;929;g3288fe26c03_1_69:notes">
            <a:extLst>
              <a:ext uri="{FF2B5EF4-FFF2-40B4-BE49-F238E27FC236}">
                <a16:creationId xmlns:a16="http://schemas.microsoft.com/office/drawing/2014/main" id="{00E767A8-7D9B-669B-1823-905D84D8C3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43200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a:extLst>
            <a:ext uri="{FF2B5EF4-FFF2-40B4-BE49-F238E27FC236}">
              <a16:creationId xmlns:a16="http://schemas.microsoft.com/office/drawing/2014/main" id="{0A4DE3F5-255F-ACA0-A81B-6DC7CC494C4A}"/>
            </a:ext>
          </a:extLst>
        </p:cNvPr>
        <p:cNvGrpSpPr/>
        <p:nvPr/>
      </p:nvGrpSpPr>
      <p:grpSpPr>
        <a:xfrm>
          <a:off x="0" y="0"/>
          <a:ext cx="0" cy="0"/>
          <a:chOff x="0" y="0"/>
          <a:chExt cx="0" cy="0"/>
        </a:xfrm>
      </p:grpSpPr>
      <p:sp>
        <p:nvSpPr>
          <p:cNvPr id="928" name="Google Shape;928;g3288fe26c03_1_69:notes">
            <a:extLst>
              <a:ext uri="{FF2B5EF4-FFF2-40B4-BE49-F238E27FC236}">
                <a16:creationId xmlns:a16="http://schemas.microsoft.com/office/drawing/2014/main" id="{5AF5D66C-5565-5B1D-220E-30A640396C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9" name="Google Shape;929;g3288fe26c03_1_69:notes">
            <a:extLst>
              <a:ext uri="{FF2B5EF4-FFF2-40B4-BE49-F238E27FC236}">
                <a16:creationId xmlns:a16="http://schemas.microsoft.com/office/drawing/2014/main" id="{98D3EC72-7CD3-5BD7-BBBB-EDD753E81F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07715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a:extLst>
            <a:ext uri="{FF2B5EF4-FFF2-40B4-BE49-F238E27FC236}">
              <a16:creationId xmlns:a16="http://schemas.microsoft.com/office/drawing/2014/main" id="{CD60E794-02F1-9852-C9E6-F60DDEFD60E8}"/>
            </a:ext>
          </a:extLst>
        </p:cNvPr>
        <p:cNvGrpSpPr/>
        <p:nvPr/>
      </p:nvGrpSpPr>
      <p:grpSpPr>
        <a:xfrm>
          <a:off x="0" y="0"/>
          <a:ext cx="0" cy="0"/>
          <a:chOff x="0" y="0"/>
          <a:chExt cx="0" cy="0"/>
        </a:xfrm>
      </p:grpSpPr>
      <p:sp>
        <p:nvSpPr>
          <p:cNvPr id="928" name="Google Shape;928;g3288fe26c03_1_69:notes">
            <a:extLst>
              <a:ext uri="{FF2B5EF4-FFF2-40B4-BE49-F238E27FC236}">
                <a16:creationId xmlns:a16="http://schemas.microsoft.com/office/drawing/2014/main" id="{C5C5BFA5-61CD-41D7-FC9F-822B8EC321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9" name="Google Shape;929;g3288fe26c03_1_69:notes">
            <a:extLst>
              <a:ext uri="{FF2B5EF4-FFF2-40B4-BE49-F238E27FC236}">
                <a16:creationId xmlns:a16="http://schemas.microsoft.com/office/drawing/2014/main" id="{8E1943E5-F5FD-29F5-B9D4-2BEB98270E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7641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3288fe26c03_1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4" name="Google Shape;894;g3288fe26c03_1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35990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a:extLst>
            <a:ext uri="{FF2B5EF4-FFF2-40B4-BE49-F238E27FC236}">
              <a16:creationId xmlns:a16="http://schemas.microsoft.com/office/drawing/2014/main" id="{0345F64C-959C-5E50-5A88-1BF8F3C4BDEB}"/>
            </a:ext>
          </a:extLst>
        </p:cNvPr>
        <p:cNvGrpSpPr/>
        <p:nvPr/>
      </p:nvGrpSpPr>
      <p:grpSpPr>
        <a:xfrm>
          <a:off x="0" y="0"/>
          <a:ext cx="0" cy="0"/>
          <a:chOff x="0" y="0"/>
          <a:chExt cx="0" cy="0"/>
        </a:xfrm>
      </p:grpSpPr>
      <p:sp>
        <p:nvSpPr>
          <p:cNvPr id="893" name="Google Shape;893;g3288fe26c03_1_60:notes">
            <a:extLst>
              <a:ext uri="{FF2B5EF4-FFF2-40B4-BE49-F238E27FC236}">
                <a16:creationId xmlns:a16="http://schemas.microsoft.com/office/drawing/2014/main" id="{3D003671-E764-AA43-6FA0-4CF71D6989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4" name="Google Shape;894;g3288fe26c03_1_60:notes">
            <a:extLst>
              <a:ext uri="{FF2B5EF4-FFF2-40B4-BE49-F238E27FC236}">
                <a16:creationId xmlns:a16="http://schemas.microsoft.com/office/drawing/2014/main" id="{D59A6C07-CE64-D70E-8AC9-BAECF29CEE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544791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cdccce66ef_0_8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2" name="Google Shape;302;gcdccce66ef_0_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070923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3047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g3288fe26c03_1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9" name="Google Shape;959;g3288fe26c03_1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816859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47755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285179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11579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050203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a:extLst>
            <a:ext uri="{FF2B5EF4-FFF2-40B4-BE49-F238E27FC236}">
              <a16:creationId xmlns:a16="http://schemas.microsoft.com/office/drawing/2014/main" id="{E0BDB52E-63CB-8E0F-44DA-A8E5F88D3499}"/>
            </a:ext>
          </a:extLst>
        </p:cNvPr>
        <p:cNvGrpSpPr/>
        <p:nvPr/>
      </p:nvGrpSpPr>
      <p:grpSpPr>
        <a:xfrm>
          <a:off x="0" y="0"/>
          <a:ext cx="0" cy="0"/>
          <a:chOff x="0" y="0"/>
          <a:chExt cx="0" cy="0"/>
        </a:xfrm>
      </p:grpSpPr>
      <p:sp>
        <p:nvSpPr>
          <p:cNvPr id="114" name="Google Shape;114;p3:notes">
            <a:extLst>
              <a:ext uri="{FF2B5EF4-FFF2-40B4-BE49-F238E27FC236}">
                <a16:creationId xmlns:a16="http://schemas.microsoft.com/office/drawing/2014/main" id="{427825C4-16C9-B8DD-E476-5420E0DAD38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3:notes">
            <a:extLst>
              <a:ext uri="{FF2B5EF4-FFF2-40B4-BE49-F238E27FC236}">
                <a16:creationId xmlns:a16="http://schemas.microsoft.com/office/drawing/2014/main" id="{6A2C95EC-EF5F-69D5-A94A-3C632BD45B6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548563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a:extLst>
            <a:ext uri="{FF2B5EF4-FFF2-40B4-BE49-F238E27FC236}">
              <a16:creationId xmlns:a16="http://schemas.microsoft.com/office/drawing/2014/main" id="{98651111-360D-756D-7310-84A9AA089FC3}"/>
            </a:ext>
          </a:extLst>
        </p:cNvPr>
        <p:cNvGrpSpPr/>
        <p:nvPr/>
      </p:nvGrpSpPr>
      <p:grpSpPr>
        <a:xfrm>
          <a:off x="0" y="0"/>
          <a:ext cx="0" cy="0"/>
          <a:chOff x="0" y="0"/>
          <a:chExt cx="0" cy="0"/>
        </a:xfrm>
      </p:grpSpPr>
      <p:sp>
        <p:nvSpPr>
          <p:cNvPr id="114" name="Google Shape;114;p3:notes">
            <a:extLst>
              <a:ext uri="{FF2B5EF4-FFF2-40B4-BE49-F238E27FC236}">
                <a16:creationId xmlns:a16="http://schemas.microsoft.com/office/drawing/2014/main" id="{01D26DC8-26F1-1395-E7D7-6021F3C254A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3:notes">
            <a:extLst>
              <a:ext uri="{FF2B5EF4-FFF2-40B4-BE49-F238E27FC236}">
                <a16:creationId xmlns:a16="http://schemas.microsoft.com/office/drawing/2014/main" id="{B1DE13EE-2AC5-CC58-71AE-9DF5085E2AB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8695779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a:extLst>
            <a:ext uri="{FF2B5EF4-FFF2-40B4-BE49-F238E27FC236}">
              <a16:creationId xmlns:a16="http://schemas.microsoft.com/office/drawing/2014/main" id="{4ECCDF7A-E720-D1A7-5A7F-0ABC15E31872}"/>
            </a:ext>
          </a:extLst>
        </p:cNvPr>
        <p:cNvGrpSpPr/>
        <p:nvPr/>
      </p:nvGrpSpPr>
      <p:grpSpPr>
        <a:xfrm>
          <a:off x="0" y="0"/>
          <a:ext cx="0" cy="0"/>
          <a:chOff x="0" y="0"/>
          <a:chExt cx="0" cy="0"/>
        </a:xfrm>
      </p:grpSpPr>
      <p:sp>
        <p:nvSpPr>
          <p:cNvPr id="114" name="Google Shape;114;p3:notes">
            <a:extLst>
              <a:ext uri="{FF2B5EF4-FFF2-40B4-BE49-F238E27FC236}">
                <a16:creationId xmlns:a16="http://schemas.microsoft.com/office/drawing/2014/main" id="{7D98946D-BA5E-42D4-033B-841E9A80EFA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3:notes">
            <a:extLst>
              <a:ext uri="{FF2B5EF4-FFF2-40B4-BE49-F238E27FC236}">
                <a16:creationId xmlns:a16="http://schemas.microsoft.com/office/drawing/2014/main" id="{B337E1F1-D199-3FC1-1F89-3F7DEA70A99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2661048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a:extLst>
            <a:ext uri="{FF2B5EF4-FFF2-40B4-BE49-F238E27FC236}">
              <a16:creationId xmlns:a16="http://schemas.microsoft.com/office/drawing/2014/main" id="{92086430-1F0D-76AF-56A7-B051444E179F}"/>
            </a:ext>
          </a:extLst>
        </p:cNvPr>
        <p:cNvGrpSpPr/>
        <p:nvPr/>
      </p:nvGrpSpPr>
      <p:grpSpPr>
        <a:xfrm>
          <a:off x="0" y="0"/>
          <a:ext cx="0" cy="0"/>
          <a:chOff x="0" y="0"/>
          <a:chExt cx="0" cy="0"/>
        </a:xfrm>
      </p:grpSpPr>
      <p:sp>
        <p:nvSpPr>
          <p:cNvPr id="114" name="Google Shape;114;p3:notes">
            <a:extLst>
              <a:ext uri="{FF2B5EF4-FFF2-40B4-BE49-F238E27FC236}">
                <a16:creationId xmlns:a16="http://schemas.microsoft.com/office/drawing/2014/main" id="{7050A856-ED56-DA4D-35A2-F8F03D0B5B2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3:notes">
            <a:extLst>
              <a:ext uri="{FF2B5EF4-FFF2-40B4-BE49-F238E27FC236}">
                <a16:creationId xmlns:a16="http://schemas.microsoft.com/office/drawing/2014/main" id="{012834BB-5269-2909-CECC-6079E5AAB9A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157553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1"/>
        <p:cNvGrpSpPr/>
        <p:nvPr/>
      </p:nvGrpSpPr>
      <p:grpSpPr>
        <a:xfrm>
          <a:off x="0" y="0"/>
          <a:ext cx="0" cy="0"/>
          <a:chOff x="0" y="0"/>
          <a:chExt cx="0" cy="0"/>
        </a:xfrm>
      </p:grpSpPr>
      <p:sp>
        <p:nvSpPr>
          <p:cNvPr id="972" name="Google Shape;972;g3288fe26c03_1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3" name="Google Shape;973;g3288fe26c03_1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575534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2"/>
        <p:cNvGrpSpPr/>
        <p:nvPr/>
      </p:nvGrpSpPr>
      <p:grpSpPr>
        <a:xfrm>
          <a:off x="0" y="0"/>
          <a:ext cx="0" cy="0"/>
          <a:chOff x="0" y="0"/>
          <a:chExt cx="0" cy="0"/>
        </a:xfrm>
      </p:grpSpPr>
      <p:sp>
        <p:nvSpPr>
          <p:cNvPr id="983" name="Google Shape;983;g3288fe26c03_1_2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4" name="Google Shape;984;g3288fe26c03_1_2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44722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2"/>
        <p:cNvGrpSpPr/>
        <p:nvPr/>
      </p:nvGrpSpPr>
      <p:grpSpPr>
        <a:xfrm>
          <a:off x="0" y="0"/>
          <a:ext cx="0" cy="0"/>
          <a:chOff x="0" y="0"/>
          <a:chExt cx="0" cy="0"/>
        </a:xfrm>
      </p:grpSpPr>
      <p:sp>
        <p:nvSpPr>
          <p:cNvPr id="993" name="Google Shape;993;g3288fe26c03_1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4" name="Google Shape;994;g3288fe26c03_1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35697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1"/>
        <p:cNvGrpSpPr/>
        <p:nvPr/>
      </p:nvGrpSpPr>
      <p:grpSpPr>
        <a:xfrm>
          <a:off x="0" y="0"/>
          <a:ext cx="0" cy="0"/>
          <a:chOff x="0" y="0"/>
          <a:chExt cx="0" cy="0"/>
        </a:xfrm>
      </p:grpSpPr>
      <p:sp>
        <p:nvSpPr>
          <p:cNvPr id="1002" name="Google Shape;1002;g3228949e6b4_2_1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3" name="Google Shape;1003;g3228949e6b4_2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6141047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9"/>
        <p:cNvGrpSpPr/>
        <p:nvPr/>
      </p:nvGrpSpPr>
      <p:grpSpPr>
        <a:xfrm>
          <a:off x="0" y="0"/>
          <a:ext cx="0" cy="0"/>
          <a:chOff x="0" y="0"/>
          <a:chExt cx="0" cy="0"/>
        </a:xfrm>
      </p:grpSpPr>
      <p:sp>
        <p:nvSpPr>
          <p:cNvPr id="1010" name="Google Shape;1010;g3228949e6b4_3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1" name="Google Shape;1011;g3228949e6b4_3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6141040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8"/>
        <p:cNvGrpSpPr/>
        <p:nvPr/>
      </p:nvGrpSpPr>
      <p:grpSpPr>
        <a:xfrm>
          <a:off x="0" y="0"/>
          <a:ext cx="0" cy="0"/>
          <a:chOff x="0" y="0"/>
          <a:chExt cx="0" cy="0"/>
        </a:xfrm>
      </p:grpSpPr>
      <p:sp>
        <p:nvSpPr>
          <p:cNvPr id="1019" name="Google Shape;1019;g3228949e6b4_3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0" name="Google Shape;1020;g3228949e6b4_3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7631907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8"/>
        <p:cNvGrpSpPr/>
        <p:nvPr/>
      </p:nvGrpSpPr>
      <p:grpSpPr>
        <a:xfrm>
          <a:off x="0" y="0"/>
          <a:ext cx="0" cy="0"/>
          <a:chOff x="0" y="0"/>
          <a:chExt cx="0" cy="0"/>
        </a:xfrm>
      </p:grpSpPr>
      <p:sp>
        <p:nvSpPr>
          <p:cNvPr id="1029" name="Google Shape;1029;g3228949e6b4_3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0" name="Google Shape;1030;g3228949e6b4_3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004021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8"/>
        <p:cNvGrpSpPr/>
        <p:nvPr/>
      </p:nvGrpSpPr>
      <p:grpSpPr>
        <a:xfrm>
          <a:off x="0" y="0"/>
          <a:ext cx="0" cy="0"/>
          <a:chOff x="0" y="0"/>
          <a:chExt cx="0" cy="0"/>
        </a:xfrm>
      </p:grpSpPr>
      <p:sp>
        <p:nvSpPr>
          <p:cNvPr id="1039" name="Google Shape;1039;g3288fe26c03_1_3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0" name="Google Shape;1040;g3288fe26c03_1_3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8838354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7"/>
        <p:cNvGrpSpPr/>
        <p:nvPr/>
      </p:nvGrpSpPr>
      <p:grpSpPr>
        <a:xfrm>
          <a:off x="0" y="0"/>
          <a:ext cx="0" cy="0"/>
          <a:chOff x="0" y="0"/>
          <a:chExt cx="0" cy="0"/>
        </a:xfrm>
      </p:grpSpPr>
      <p:sp>
        <p:nvSpPr>
          <p:cNvPr id="1048" name="Google Shape;1048;g3288fe26c03_1_3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9" name="Google Shape;1049;g3288fe26c03_1_3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2992681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5"/>
        <p:cNvGrpSpPr/>
        <p:nvPr/>
      </p:nvGrpSpPr>
      <p:grpSpPr>
        <a:xfrm>
          <a:off x="0" y="0"/>
          <a:ext cx="0" cy="0"/>
          <a:chOff x="0" y="0"/>
          <a:chExt cx="0" cy="0"/>
        </a:xfrm>
      </p:grpSpPr>
      <p:sp>
        <p:nvSpPr>
          <p:cNvPr id="1056" name="Google Shape;1056;g3288fe26c03_1_3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7" name="Google Shape;1057;g3288fe26c03_1_3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1805030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5"/>
        <p:cNvGrpSpPr/>
        <p:nvPr/>
      </p:nvGrpSpPr>
      <p:grpSpPr>
        <a:xfrm>
          <a:off x="0" y="0"/>
          <a:ext cx="0" cy="0"/>
          <a:chOff x="0" y="0"/>
          <a:chExt cx="0" cy="0"/>
        </a:xfrm>
      </p:grpSpPr>
      <p:sp>
        <p:nvSpPr>
          <p:cNvPr id="1066" name="Google Shape;1066;g3288fe26c03_1_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7" name="Google Shape;1067;g3288fe26c03_1_3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174833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5">
          <a:extLst>
            <a:ext uri="{FF2B5EF4-FFF2-40B4-BE49-F238E27FC236}">
              <a16:creationId xmlns:a16="http://schemas.microsoft.com/office/drawing/2014/main" id="{ED4D0344-249C-FA27-257C-7357409CBF87}"/>
            </a:ext>
          </a:extLst>
        </p:cNvPr>
        <p:cNvGrpSpPr/>
        <p:nvPr/>
      </p:nvGrpSpPr>
      <p:grpSpPr>
        <a:xfrm>
          <a:off x="0" y="0"/>
          <a:ext cx="0" cy="0"/>
          <a:chOff x="0" y="0"/>
          <a:chExt cx="0" cy="0"/>
        </a:xfrm>
      </p:grpSpPr>
      <p:sp>
        <p:nvSpPr>
          <p:cNvPr id="1066" name="Google Shape;1066;g3288fe26c03_1_345:notes">
            <a:extLst>
              <a:ext uri="{FF2B5EF4-FFF2-40B4-BE49-F238E27FC236}">
                <a16:creationId xmlns:a16="http://schemas.microsoft.com/office/drawing/2014/main" id="{7B4C0550-8397-CBB1-4855-76819967387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7" name="Google Shape;1067;g3288fe26c03_1_345:notes">
            <a:extLst>
              <a:ext uri="{FF2B5EF4-FFF2-40B4-BE49-F238E27FC236}">
                <a16:creationId xmlns:a16="http://schemas.microsoft.com/office/drawing/2014/main" id="{09A29C1D-932F-5E17-E97B-F1651F7EF0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789154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B82B2CEF-BD9A-1FB8-212B-3A28B023A736}"/>
            </a:ext>
          </a:extLst>
        </p:cNvPr>
        <p:cNvGrpSpPr/>
        <p:nvPr/>
      </p:nvGrpSpPr>
      <p:grpSpPr>
        <a:xfrm>
          <a:off x="0" y="0"/>
          <a:ext cx="0" cy="0"/>
          <a:chOff x="0" y="0"/>
          <a:chExt cx="0" cy="0"/>
        </a:xfrm>
      </p:grpSpPr>
      <p:sp>
        <p:nvSpPr>
          <p:cNvPr id="51" name="Google Shape;51;g3228949e6b4_2_17:notes">
            <a:extLst>
              <a:ext uri="{FF2B5EF4-FFF2-40B4-BE49-F238E27FC236}">
                <a16:creationId xmlns:a16="http://schemas.microsoft.com/office/drawing/2014/main" id="{9108A00B-CFF0-B5B8-7BEB-2342AF74D5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228949e6b4_2_17:notes">
            <a:extLst>
              <a:ext uri="{FF2B5EF4-FFF2-40B4-BE49-F238E27FC236}">
                <a16:creationId xmlns:a16="http://schemas.microsoft.com/office/drawing/2014/main" id="{254A3C84-4C82-C4EF-EF3D-B08DA24FEF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55546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0697723-E498-4D64-BBB6-490ED1364AC9}" type="datetimeFigureOut">
              <a:rPr lang="en-IN" smtClean="0"/>
              <a:t>22-01-2026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30BA08-B69C-4752-B2CF-0C56A0BACDE6}" type="slidenum">
              <a:rPr lang="en-IN" smtClean="0"/>
              <a:t>‹#›</a:t>
            </a:fld>
            <a:endParaRPr lang="en-IN"/>
          </a:p>
        </p:txBody>
      </p:sp>
    </p:spTree>
    <p:extLst>
      <p:ext uri="{BB962C8B-B14F-4D97-AF65-F5344CB8AC3E}">
        <p14:creationId xmlns:p14="http://schemas.microsoft.com/office/powerpoint/2010/main" val="42225505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6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hyperlink" Target="https://nlp.stanford.edu/software/tagger.shtml" TargetMode="External"/><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2.jp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customXml" Target="../ink/ink1.xml"/><Relationship Id="rId4" Type="http://schemas.openxmlformats.org/officeDocument/2006/relationships/image" Target="../media/image2.jp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0.xml"/><Relationship Id="rId4" Type="http://schemas.openxmlformats.org/officeDocument/2006/relationships/image" Target="../media/image2.jpg"/></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hyperlink" Target="https://www.manning.com/books/build-a-large-language-model-from-scratch"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www.manning.com/books/build-a-large-language-model-from-scratch" TargetMode="External"/><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jpg"/></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10.xml"/><Relationship Id="rId4" Type="http://schemas.openxmlformats.org/officeDocument/2006/relationships/image" Target="../media/image2.jpg"/></Relationships>
</file>

<file path=ppt/slides/_rels/slide30.xml.rels><?xml version="1.0" encoding="UTF-8" standalone="yes"?>
<Relationships xmlns="http://schemas.openxmlformats.org/package/2006/relationships"><Relationship Id="rId3" Type="http://schemas.openxmlformats.org/officeDocument/2006/relationships/hyperlink" Target="https://www.microsoft.com/en-us/research/blog/towards-universal-language-embeddings/" TargetMode="External"/><Relationship Id="rId2" Type="http://schemas.openxmlformats.org/officeDocument/2006/relationships/notesSlide" Target="../notesSlides/notesSlide30.xml"/><Relationship Id="rId1" Type="http://schemas.openxmlformats.org/officeDocument/2006/relationships/slideLayout" Target="../slideLayouts/slideLayout10.xml"/><Relationship Id="rId5" Type="http://schemas.openxmlformats.org/officeDocument/2006/relationships/image" Target="../media/image2.jpg"/><Relationship Id="rId4" Type="http://schemas.openxmlformats.org/officeDocument/2006/relationships/hyperlink" Target="https://ai.facebook.com/blog/roberta-an-optimized-method-for-pretraining-self-supervised-nlp-systems/"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10.xml"/><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3.xml"/><Relationship Id="rId1" Type="http://schemas.openxmlformats.org/officeDocument/2006/relationships/slideLayout" Target="../slideLayouts/slideLayout10.xml"/><Relationship Id="rId4" Type="http://schemas.openxmlformats.org/officeDocument/2006/relationships/hyperlink" Target="https://s3-us-west-2.amazonaws.com/openai-assets/research-covers/language-unsupervised/language_understanding_paper.pdf"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10.xml"/><Relationship Id="rId4" Type="http://schemas.openxmlformats.org/officeDocument/2006/relationships/image" Target="../media/image14.png"/></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10.xml"/><Relationship Id="rId5" Type="http://schemas.openxmlformats.org/officeDocument/2006/relationships/image" Target="../media/image15.png"/><Relationship Id="rId4" Type="http://schemas.openxmlformats.org/officeDocument/2006/relationships/hyperlink" Target="https://lilianweng.github.io/lil-log/2019/01/31/generalized-language-models.html#elmo"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7.xml"/><Relationship Id="rId1" Type="http://schemas.openxmlformats.org/officeDocument/2006/relationships/slideLayout" Target="../slideLayouts/slideLayout10.xml"/><Relationship Id="rId4" Type="http://schemas.openxmlformats.org/officeDocument/2006/relationships/image" Target="../media/image16.png"/></Relationships>
</file>

<file path=ppt/slides/_rels/slide3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8.xml"/><Relationship Id="rId1" Type="http://schemas.openxmlformats.org/officeDocument/2006/relationships/slideLayout" Target="../slideLayouts/slideLayout10.xml"/><Relationship Id="rId5" Type="http://schemas.openxmlformats.org/officeDocument/2006/relationships/image" Target="../media/image18.png"/><Relationship Id="rId4" Type="http://schemas.openxmlformats.org/officeDocument/2006/relationships/image" Target="../media/image17.png"/></Relationships>
</file>

<file path=ppt/slides/_rels/slide3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9.xml"/><Relationship Id="rId1" Type="http://schemas.openxmlformats.org/officeDocument/2006/relationships/slideLayout" Target="../slideLayouts/slideLayout10.xml"/><Relationship Id="rId4" Type="http://schemas.openxmlformats.org/officeDocument/2006/relationships/image" Target="../media/image19.png"/></Relationships>
</file>

<file path=ppt/slides/_rels/slide40.xml.rels><?xml version="1.0" encoding="UTF-8" standalone="yes"?>
<Relationships xmlns="http://schemas.openxmlformats.org/package/2006/relationships"><Relationship Id="rId3" Type="http://schemas.openxmlformats.org/officeDocument/2006/relationships/hyperlink" Target="https://www.manning.com/books/build-a-large-language-model-from-scratch" TargetMode="External"/><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2.jpg"/><Relationship Id="rId5" Type="http://schemas.openxmlformats.org/officeDocument/2006/relationships/image" Target="../media/image21.png"/><Relationship Id="rId4" Type="http://schemas.openxmlformats.org/officeDocument/2006/relationships/image" Target="../media/image20.png"/></Relationships>
</file>

<file path=ppt/slides/_rels/slide41.xml.rels><?xml version="1.0" encoding="UTF-8" standalone="yes"?>
<Relationships xmlns="http://schemas.openxmlformats.org/package/2006/relationships"><Relationship Id="rId3" Type="http://schemas.openxmlformats.org/officeDocument/2006/relationships/hyperlink" Target="https://www.manning.com/books/build-a-large-language-model-from-scratch" TargetMode="External"/><Relationship Id="rId2" Type="http://schemas.openxmlformats.org/officeDocument/2006/relationships/notesSlide" Target="../notesSlides/notesSlide41.xm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image" Target="../media/image22.png"/></Relationships>
</file>

<file path=ppt/slides/_rels/slide42.xml.rels><?xml version="1.0" encoding="UTF-8" standalone="yes"?>
<Relationships xmlns="http://schemas.openxmlformats.org/package/2006/relationships"><Relationship Id="rId3" Type="http://schemas.openxmlformats.org/officeDocument/2006/relationships/hyperlink" Target="https://www.gptfrontier.com/a-deep-dive-into-gpts-transformer-architecture-understanding-self-attention-mechanisms/" TargetMode="External"/><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43.xml.rels><?xml version="1.0" encoding="UTF-8" standalone="yes"?>
<Relationships xmlns="http://schemas.openxmlformats.org/package/2006/relationships"><Relationship Id="rId3" Type="http://schemas.openxmlformats.org/officeDocument/2006/relationships/hyperlink" Target="https://www.manning.com/books/build-a-large-language-model-from-scratch" TargetMode="External"/><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44.xml.rels><?xml version="1.0" encoding="UTF-8" standalone="yes"?>
<Relationships xmlns="http://schemas.openxmlformats.org/package/2006/relationships"><Relationship Id="rId3" Type="http://schemas.openxmlformats.org/officeDocument/2006/relationships/hyperlink" Target="https://www.manning.com/books/build-a-large-language-model-from-scratch" TargetMode="External"/><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customXml" Target="../ink/ink2.xml"/><Relationship Id="rId4" Type="http://schemas.openxmlformats.org/officeDocument/2006/relationships/image" Target="../media/image2.jpg"/></Relationships>
</file>

<file path=ppt/slides/_rels/slide45.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41.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customXml" Target="../ink/ink3.xml"/><Relationship Id="rId5" Type="http://schemas.openxmlformats.org/officeDocument/2006/relationships/image" Target="../media/image2.jpg"/><Relationship Id="rId4" Type="http://schemas.openxmlformats.org/officeDocument/2006/relationships/hyperlink" Target="https://www.manning.com/books/build-a-large-language-model-from-scratch" TargetMode="External"/></Relationships>
</file>

<file path=ppt/slides/_rels/slide4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6.xm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hyperlink" Target="https://www.manning.com/books/build-a-large-language-model-from-scratch" TargetMode="External"/></Relationships>
</file>

<file path=ppt/slides/_rels/slide47.xml.rels><?xml version="1.0" encoding="UTF-8" standalone="yes"?>
<Relationships xmlns="http://schemas.openxmlformats.org/package/2006/relationships"><Relationship Id="rId3" Type="http://schemas.openxmlformats.org/officeDocument/2006/relationships/hyperlink" Target="https://www.gptfrontier.com/a-deep-dive-into-gpts-transformer-architecture-understanding-self-attention-mechanisms/" TargetMode="External"/><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4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hyperlink" Target="https://www.manning.com/books/build-a-large-language-model-from-scratch" TargetMode="External"/><Relationship Id="rId2" Type="http://schemas.openxmlformats.org/officeDocument/2006/relationships/notesSlide" Target="../notesSlides/notesSlide49.xm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image" Target="../media/image25.png"/></Relationships>
</file>

<file path=ppt/slides/_rels/slide5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5" name="Google Shape;55;p13"/>
          <p:cNvSpPr/>
          <p:nvPr/>
        </p:nvSpPr>
        <p:spPr>
          <a:xfrm>
            <a:off x="2989062" y="1363677"/>
            <a:ext cx="5590500" cy="721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r>
              <a:rPr lang="en-GB" sz="3000" b="1" dirty="0">
                <a:solidFill>
                  <a:srgbClr val="C55A11"/>
                </a:solidFill>
                <a:latin typeface="Calibri"/>
                <a:ea typeface="Calibri"/>
                <a:cs typeface="Calibri"/>
                <a:sym typeface="Calibri"/>
              </a:rPr>
              <a:t>Generative AI and its Applications </a:t>
            </a:r>
            <a:endParaRPr sz="3000" b="0" i="0" u="none" strike="noStrike" cap="none" dirty="0">
              <a:solidFill>
                <a:srgbClr val="000000"/>
              </a:solidFill>
              <a:latin typeface="Arial"/>
              <a:ea typeface="Arial"/>
              <a:cs typeface="Arial"/>
              <a:sym typeface="Arial"/>
            </a:endParaRPr>
          </a:p>
        </p:txBody>
      </p:sp>
      <p:sp>
        <p:nvSpPr>
          <p:cNvPr id="56" name="Google Shape;56;p13"/>
          <p:cNvSpPr/>
          <p:nvPr/>
        </p:nvSpPr>
        <p:spPr>
          <a:xfrm>
            <a:off x="2989061" y="2201232"/>
            <a:ext cx="6154951" cy="527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r>
              <a:rPr lang="en-GB" sz="2400" b="1" dirty="0">
                <a:solidFill>
                  <a:srgbClr val="2F5496"/>
                </a:solidFill>
                <a:latin typeface="Calibri"/>
                <a:ea typeface="Calibri"/>
                <a:cs typeface="Calibri"/>
                <a:sym typeface="Calibri"/>
              </a:rPr>
              <a:t>BERT and GPT</a:t>
            </a:r>
            <a:endParaRPr sz="2400" b="0" i="0" u="none" strike="noStrike" cap="none" dirty="0">
              <a:solidFill>
                <a:srgbClr val="000000"/>
              </a:solidFill>
              <a:latin typeface="Arial"/>
              <a:ea typeface="Arial"/>
              <a:cs typeface="Arial"/>
              <a:sym typeface="Arial"/>
            </a:endParaRPr>
          </a:p>
        </p:txBody>
      </p:sp>
      <p:sp>
        <p:nvSpPr>
          <p:cNvPr id="57" name="Google Shape;57;p13"/>
          <p:cNvSpPr/>
          <p:nvPr/>
        </p:nvSpPr>
        <p:spPr>
          <a:xfrm>
            <a:off x="2989062" y="3015824"/>
            <a:ext cx="5590500" cy="527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GB" sz="2400" b="1">
                <a:latin typeface="Calibri"/>
                <a:ea typeface="Calibri"/>
                <a:cs typeface="Calibri"/>
                <a:sym typeface="Calibri"/>
              </a:rPr>
              <a:t>Dr. Pooja Agarwal</a:t>
            </a:r>
            <a:endParaRPr sz="2400" b="1" i="0" u="none" strike="noStrike" cap="none">
              <a:solidFill>
                <a:srgbClr val="000000"/>
              </a:solidFill>
              <a:latin typeface="Calibri"/>
              <a:ea typeface="Calibri"/>
              <a:cs typeface="Calibri"/>
              <a:sym typeface="Calibri"/>
            </a:endParaRPr>
          </a:p>
        </p:txBody>
      </p:sp>
      <p:sp>
        <p:nvSpPr>
          <p:cNvPr id="58" name="Google Shape;58;p13"/>
          <p:cNvSpPr/>
          <p:nvPr/>
        </p:nvSpPr>
        <p:spPr>
          <a:xfrm>
            <a:off x="2989062" y="3468103"/>
            <a:ext cx="5590500" cy="970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GB" sz="2400" b="0" i="0" u="none" strike="noStrike" cap="none">
                <a:solidFill>
                  <a:srgbClr val="000000"/>
                </a:solidFill>
                <a:latin typeface="Calibri"/>
                <a:ea typeface="Calibri"/>
                <a:cs typeface="Calibri"/>
                <a:sym typeface="Calibri"/>
              </a:rPr>
              <a:t>Department of Computer Science and Engineering</a:t>
            </a:r>
            <a:endParaRPr sz="2400" b="0" i="0" u="none" strike="noStrike" cap="none">
              <a:solidFill>
                <a:srgbClr val="000000"/>
              </a:solidFill>
              <a:latin typeface="Calibri"/>
              <a:ea typeface="Calibri"/>
              <a:cs typeface="Calibri"/>
              <a:sym typeface="Calibri"/>
            </a:endParaRPr>
          </a:p>
        </p:txBody>
      </p:sp>
      <p:cxnSp>
        <p:nvCxnSpPr>
          <p:cNvPr id="59" name="Google Shape;59;p13"/>
          <p:cNvCxnSpPr/>
          <p:nvPr/>
        </p:nvCxnSpPr>
        <p:spPr>
          <a:xfrm>
            <a:off x="2989061" y="2794009"/>
            <a:ext cx="3416100" cy="0"/>
          </a:xfrm>
          <a:prstGeom prst="straightConnector1">
            <a:avLst/>
          </a:prstGeom>
          <a:noFill/>
          <a:ln w="38100" cap="flat" cmpd="sng">
            <a:solidFill>
              <a:srgbClr val="C55A11"/>
            </a:solidFill>
            <a:prstDash val="solid"/>
            <a:miter lim="800000"/>
            <a:headEnd type="none" w="sm" len="sm"/>
            <a:tailEnd type="none" w="sm" len="sm"/>
          </a:ln>
        </p:spPr>
      </p:cxnSp>
      <p:pic>
        <p:nvPicPr>
          <p:cNvPr id="2" name="object 6">
            <a:extLst>
              <a:ext uri="{FF2B5EF4-FFF2-40B4-BE49-F238E27FC236}">
                <a16:creationId xmlns:a16="http://schemas.microsoft.com/office/drawing/2014/main" id="{A6497DD2-3107-61B6-C794-CD0962D4BBC5}"/>
              </a:ext>
            </a:extLst>
          </p:cNvPr>
          <p:cNvPicPr/>
          <p:nvPr/>
        </p:nvPicPr>
        <p:blipFill>
          <a:blip r:embed="rId3" cstate="print"/>
          <a:stretch>
            <a:fillRect/>
          </a:stretch>
        </p:blipFill>
        <p:spPr>
          <a:xfrm>
            <a:off x="616883" y="772992"/>
            <a:ext cx="1942934" cy="35975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4"/>
          <p:cNvSpPr/>
          <p:nvPr/>
        </p:nvSpPr>
        <p:spPr>
          <a:xfrm>
            <a:off x="520425" y="1415450"/>
            <a:ext cx="5844000" cy="54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r>
              <a:rPr lang="en-GB" sz="2800" b="1">
                <a:latin typeface="Calibri"/>
                <a:ea typeface="Calibri"/>
                <a:cs typeface="Calibri"/>
                <a:sym typeface="Calibri"/>
              </a:rPr>
              <a:t>Generative AI and its Applications</a:t>
            </a:r>
            <a:endParaRPr sz="600" b="0" i="0" u="none" strike="noStrike" cap="none">
              <a:solidFill>
                <a:srgbClr val="000000"/>
              </a:solidFill>
              <a:latin typeface="Arial"/>
              <a:ea typeface="Arial"/>
              <a:cs typeface="Arial"/>
              <a:sym typeface="Arial"/>
            </a:endParaRPr>
          </a:p>
        </p:txBody>
      </p:sp>
      <p:sp>
        <p:nvSpPr>
          <p:cNvPr id="65" name="Google Shape;65;p14"/>
          <p:cNvSpPr/>
          <p:nvPr/>
        </p:nvSpPr>
        <p:spPr>
          <a:xfrm>
            <a:off x="520425" y="1761875"/>
            <a:ext cx="1959000" cy="626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600"/>
              <a:buFont typeface="Arial"/>
              <a:buNone/>
            </a:pPr>
            <a:r>
              <a:rPr lang="en-GB" sz="2000" b="1" i="0" u="none" strike="noStrike" cap="none">
                <a:solidFill>
                  <a:srgbClr val="2F5496"/>
                </a:solidFill>
                <a:latin typeface="Calibri"/>
                <a:ea typeface="Calibri"/>
                <a:cs typeface="Calibri"/>
                <a:sym typeface="Calibri"/>
              </a:rPr>
              <a:t>(</a:t>
            </a:r>
            <a:r>
              <a:rPr lang="en-GB" sz="2000" b="1">
                <a:solidFill>
                  <a:srgbClr val="2F5496"/>
                </a:solidFill>
                <a:latin typeface="Calibri"/>
                <a:ea typeface="Calibri"/>
                <a:cs typeface="Calibri"/>
                <a:sym typeface="Calibri"/>
              </a:rPr>
              <a:t>UE23CS342BA4</a:t>
            </a:r>
            <a:r>
              <a:rPr lang="en-GB" sz="2000" b="1" i="0" u="none" strike="noStrike" cap="none">
                <a:solidFill>
                  <a:srgbClr val="2F5496"/>
                </a:solidFill>
                <a:latin typeface="Calibri"/>
                <a:ea typeface="Calibri"/>
                <a:cs typeface="Calibri"/>
                <a:sym typeface="Calibri"/>
              </a:rPr>
              <a:t>)</a:t>
            </a:r>
            <a:endParaRPr sz="2000" b="1" i="0" u="none" strike="noStrike" cap="none" dirty="0">
              <a:solidFill>
                <a:srgbClr val="2F5496"/>
              </a:solidFill>
              <a:latin typeface="Calibri"/>
              <a:ea typeface="Calibri"/>
              <a:cs typeface="Calibri"/>
              <a:sym typeface="Calibri"/>
            </a:endParaRPr>
          </a:p>
        </p:txBody>
      </p:sp>
      <p:grpSp>
        <p:nvGrpSpPr>
          <p:cNvPr id="68" name="Google Shape;68;p14"/>
          <p:cNvGrpSpPr/>
          <p:nvPr/>
        </p:nvGrpSpPr>
        <p:grpSpPr>
          <a:xfrm>
            <a:off x="298326" y="4213338"/>
            <a:ext cx="831571" cy="722759"/>
            <a:chOff x="313939" y="5489794"/>
            <a:chExt cx="1066800" cy="1077941"/>
          </a:xfrm>
        </p:grpSpPr>
        <p:sp>
          <p:nvSpPr>
            <p:cNvPr id="69" name="Google Shape;69;p14"/>
            <p:cNvSpPr/>
            <p:nvPr/>
          </p:nvSpPr>
          <p:spPr>
            <a:xfrm rot="5400000">
              <a:off x="824539" y="6011535"/>
              <a:ext cx="45600" cy="1066800"/>
            </a:xfrm>
            <a:prstGeom prst="rect">
              <a:avLst/>
            </a:prstGeom>
            <a:solidFill>
              <a:srgbClr val="F4B08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a:solidFill>
                  <a:srgbClr val="FFFFFF"/>
                </a:solidFill>
                <a:latin typeface="Calibri"/>
                <a:ea typeface="Calibri"/>
                <a:cs typeface="Calibri"/>
                <a:sym typeface="Calibri"/>
              </a:endParaRPr>
            </a:p>
          </p:txBody>
        </p:sp>
        <p:sp>
          <p:nvSpPr>
            <p:cNvPr id="70" name="Google Shape;70;p14"/>
            <p:cNvSpPr/>
            <p:nvPr/>
          </p:nvSpPr>
          <p:spPr>
            <a:xfrm rot="10800000">
              <a:off x="313963" y="5489794"/>
              <a:ext cx="45600" cy="1066800"/>
            </a:xfrm>
            <a:prstGeom prst="rect">
              <a:avLst/>
            </a:prstGeom>
            <a:solidFill>
              <a:srgbClr val="F4B08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a:solidFill>
                  <a:srgbClr val="FFFFFF"/>
                </a:solidFill>
                <a:latin typeface="Calibri"/>
                <a:ea typeface="Calibri"/>
                <a:cs typeface="Calibri"/>
                <a:sym typeface="Calibri"/>
              </a:endParaRPr>
            </a:p>
          </p:txBody>
        </p:sp>
      </p:grpSp>
      <p:cxnSp>
        <p:nvCxnSpPr>
          <p:cNvPr id="71" name="Google Shape;71;p14"/>
          <p:cNvCxnSpPr/>
          <p:nvPr/>
        </p:nvCxnSpPr>
        <p:spPr>
          <a:xfrm rot="10800000" flipH="1">
            <a:off x="53611" y="1916375"/>
            <a:ext cx="6161100" cy="45900"/>
          </a:xfrm>
          <a:prstGeom prst="straightConnector1">
            <a:avLst/>
          </a:prstGeom>
          <a:noFill/>
          <a:ln w="38100" cap="flat" cmpd="sng">
            <a:solidFill>
              <a:srgbClr val="DFA267"/>
            </a:solidFill>
            <a:prstDash val="solid"/>
            <a:miter lim="800000"/>
            <a:headEnd type="none" w="sm" len="sm"/>
            <a:tailEnd type="none" w="sm" len="sm"/>
          </a:ln>
        </p:spPr>
      </p:cxnSp>
      <p:sp>
        <p:nvSpPr>
          <p:cNvPr id="73" name="Google Shape;73;p14"/>
          <p:cNvSpPr txBox="1"/>
          <p:nvPr/>
        </p:nvSpPr>
        <p:spPr>
          <a:xfrm>
            <a:off x="520425" y="2608167"/>
            <a:ext cx="6905700" cy="207746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b="1" dirty="0">
                <a:latin typeface="Calibri"/>
                <a:ea typeface="Calibri"/>
                <a:cs typeface="Calibri"/>
                <a:sym typeface="Calibri"/>
              </a:rPr>
              <a:t>We have covered:</a:t>
            </a:r>
          </a:p>
          <a:p>
            <a:pPr marL="0" lvl="0" indent="0" algn="l" rtl="0">
              <a:spcBef>
                <a:spcPts val="0"/>
              </a:spcBef>
              <a:spcAft>
                <a:spcPts val="0"/>
              </a:spcAft>
              <a:buNone/>
            </a:pPr>
            <a:r>
              <a:rPr lang="en-GB" dirty="0">
                <a:solidFill>
                  <a:srgbClr val="FF0000"/>
                </a:solidFill>
                <a:latin typeface="Calibri"/>
                <a:ea typeface="Calibri"/>
                <a:cs typeface="Calibri"/>
                <a:sym typeface="Calibri"/>
              </a:rPr>
              <a:t>LLM Basics and evolution</a:t>
            </a:r>
            <a:endParaRPr dirty="0">
              <a:solidFill>
                <a:srgbClr val="FF0000"/>
              </a:solidFill>
              <a:latin typeface="Calibri"/>
              <a:ea typeface="Calibri"/>
              <a:cs typeface="Calibri"/>
              <a:sym typeface="Calibri"/>
            </a:endParaRPr>
          </a:p>
          <a:p>
            <a:pPr marL="0" lvl="0" indent="0" algn="l" rtl="0">
              <a:spcBef>
                <a:spcPts val="0"/>
              </a:spcBef>
              <a:spcAft>
                <a:spcPts val="0"/>
              </a:spcAft>
              <a:buNone/>
            </a:pPr>
            <a:r>
              <a:rPr lang="en-GB" dirty="0">
                <a:solidFill>
                  <a:srgbClr val="FF0000"/>
                </a:solidFill>
                <a:latin typeface="Calibri"/>
                <a:ea typeface="Calibri"/>
                <a:cs typeface="Calibri"/>
                <a:sym typeface="Calibri"/>
              </a:rPr>
              <a:t>NLP: Word Embeddings</a:t>
            </a:r>
            <a:endParaRPr dirty="0">
              <a:solidFill>
                <a:srgbClr val="FF0000"/>
              </a:solidFill>
              <a:latin typeface="Calibri"/>
              <a:ea typeface="Calibri"/>
              <a:cs typeface="Calibri"/>
              <a:sym typeface="Calibri"/>
            </a:endParaRPr>
          </a:p>
          <a:p>
            <a:pPr marL="0" lvl="0" indent="0" algn="l" rtl="0">
              <a:spcBef>
                <a:spcPts val="0"/>
              </a:spcBef>
              <a:spcAft>
                <a:spcPts val="0"/>
              </a:spcAft>
              <a:buNone/>
            </a:pPr>
            <a:r>
              <a:rPr lang="en-GB" dirty="0">
                <a:solidFill>
                  <a:srgbClr val="FF0000"/>
                </a:solidFill>
                <a:latin typeface="Calibri"/>
                <a:ea typeface="Calibri"/>
                <a:cs typeface="Calibri"/>
                <a:sym typeface="Calibri"/>
              </a:rPr>
              <a:t>POS and NER</a:t>
            </a:r>
            <a:endParaRPr dirty="0">
              <a:solidFill>
                <a:srgbClr val="FF0000"/>
              </a:solidFill>
              <a:latin typeface="Calibri"/>
              <a:ea typeface="Calibri"/>
              <a:cs typeface="Calibri"/>
              <a:sym typeface="Calibri"/>
            </a:endParaRPr>
          </a:p>
          <a:p>
            <a:pPr marL="0" lvl="0" indent="0" algn="l" rtl="0">
              <a:spcBef>
                <a:spcPts val="0"/>
              </a:spcBef>
              <a:spcAft>
                <a:spcPts val="0"/>
              </a:spcAft>
              <a:buNone/>
            </a:pPr>
            <a:r>
              <a:rPr lang="en-GB" dirty="0">
                <a:solidFill>
                  <a:srgbClr val="FF0000"/>
                </a:solidFill>
                <a:latin typeface="Calibri"/>
                <a:ea typeface="Calibri"/>
                <a:cs typeface="Calibri"/>
                <a:sym typeface="Calibri"/>
              </a:rPr>
              <a:t>Text Classification</a:t>
            </a:r>
          </a:p>
          <a:p>
            <a:pPr marL="0" lvl="0" indent="0" algn="l" rtl="0">
              <a:spcBef>
                <a:spcPts val="0"/>
              </a:spcBef>
              <a:spcAft>
                <a:spcPts val="0"/>
              </a:spcAft>
              <a:buNone/>
            </a:pPr>
            <a:r>
              <a:rPr lang="en-GB" b="1" dirty="0">
                <a:solidFill>
                  <a:schemeClr val="tx1"/>
                </a:solidFill>
                <a:latin typeface="Calibri"/>
                <a:ea typeface="Calibri"/>
                <a:cs typeface="Calibri"/>
                <a:sym typeface="Calibri"/>
              </a:rPr>
              <a:t>We will now cover:-</a:t>
            </a:r>
            <a:endParaRPr b="1" dirty="0">
              <a:solidFill>
                <a:schemeClr val="tx1"/>
              </a:solidFill>
              <a:latin typeface="Calibri"/>
              <a:ea typeface="Calibri"/>
              <a:cs typeface="Calibri"/>
              <a:sym typeface="Calibri"/>
            </a:endParaRPr>
          </a:p>
          <a:p>
            <a:r>
              <a:rPr lang="en-GB" dirty="0" err="1">
                <a:solidFill>
                  <a:srgbClr val="FF0000"/>
                </a:solidFill>
                <a:latin typeface="Calibri"/>
                <a:ea typeface="Calibri"/>
                <a:cs typeface="Calibri"/>
                <a:sym typeface="Calibri"/>
              </a:rPr>
              <a:t>ELMo</a:t>
            </a:r>
            <a:r>
              <a:rPr lang="en-GB" dirty="0">
                <a:solidFill>
                  <a:srgbClr val="FF0000"/>
                </a:solidFill>
                <a:latin typeface="Calibri"/>
                <a:ea typeface="Calibri"/>
                <a:cs typeface="Calibri"/>
                <a:sym typeface="Calibri"/>
              </a:rPr>
              <a:t>, Transformer Anatomy,</a:t>
            </a:r>
          </a:p>
          <a:p>
            <a:r>
              <a:rPr lang="en-GB" dirty="0">
                <a:latin typeface="Calibri"/>
                <a:ea typeface="Calibri"/>
                <a:cs typeface="Calibri"/>
                <a:sym typeface="Calibri"/>
              </a:rPr>
              <a:t> BERT,GPT, </a:t>
            </a:r>
            <a:r>
              <a:rPr lang="en-GB" dirty="0" err="1">
                <a:latin typeface="Calibri"/>
                <a:ea typeface="Calibri"/>
                <a:cs typeface="Calibri"/>
                <a:sym typeface="Calibri"/>
              </a:rPr>
              <a:t>ROBERTa</a:t>
            </a:r>
            <a:r>
              <a:rPr lang="en-GB" dirty="0">
                <a:latin typeface="Calibri"/>
                <a:ea typeface="Calibri"/>
                <a:cs typeface="Calibri"/>
                <a:sym typeface="Calibri"/>
              </a:rPr>
              <a:t>, BART architectures</a:t>
            </a:r>
            <a:endParaRPr lang="en-GB" sz="1500" dirty="0">
              <a:solidFill>
                <a:schemeClr val="dk2"/>
              </a:solidFill>
            </a:endParaRPr>
          </a:p>
          <a:p>
            <a:pPr marL="0" lvl="0" indent="0" algn="l" rtl="0">
              <a:spcBef>
                <a:spcPts val="0"/>
              </a:spcBef>
              <a:spcAft>
                <a:spcPts val="0"/>
              </a:spcAft>
              <a:buNone/>
            </a:pPr>
            <a:endParaRPr sz="1100" dirty="0"/>
          </a:p>
        </p:txBody>
      </p:sp>
      <p:sp>
        <p:nvSpPr>
          <p:cNvPr id="2" name="object 6">
            <a:extLst>
              <a:ext uri="{FF2B5EF4-FFF2-40B4-BE49-F238E27FC236}">
                <a16:creationId xmlns:a16="http://schemas.microsoft.com/office/drawing/2014/main" id="{B9AF0C58-A7C8-A056-3ADD-BB0E1C92779B}"/>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4"/>
          <p:cNvSpPr/>
          <p:nvPr/>
        </p:nvSpPr>
        <p:spPr>
          <a:xfrm>
            <a:off x="520425" y="1415450"/>
            <a:ext cx="5844000" cy="54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r>
              <a:rPr lang="en-GB" sz="2800" b="1">
                <a:latin typeface="Calibri"/>
                <a:ea typeface="Calibri"/>
                <a:cs typeface="Calibri"/>
                <a:sym typeface="Calibri"/>
              </a:rPr>
              <a:t>Generative AI and its Applications</a:t>
            </a:r>
            <a:endParaRPr sz="600" b="0" i="0" u="none" strike="noStrike" cap="none">
              <a:solidFill>
                <a:srgbClr val="000000"/>
              </a:solidFill>
              <a:latin typeface="Arial"/>
              <a:ea typeface="Arial"/>
              <a:cs typeface="Arial"/>
              <a:sym typeface="Arial"/>
            </a:endParaRPr>
          </a:p>
        </p:txBody>
      </p:sp>
      <p:sp>
        <p:nvSpPr>
          <p:cNvPr id="65" name="Google Shape;65;p14"/>
          <p:cNvSpPr/>
          <p:nvPr/>
        </p:nvSpPr>
        <p:spPr>
          <a:xfrm>
            <a:off x="520425" y="1761875"/>
            <a:ext cx="1959000" cy="626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600"/>
              <a:buFont typeface="Arial"/>
              <a:buNone/>
            </a:pPr>
            <a:r>
              <a:rPr lang="en-GB" sz="2000" b="1" i="0" u="none" strike="noStrike" cap="none">
                <a:solidFill>
                  <a:srgbClr val="2F5496"/>
                </a:solidFill>
                <a:latin typeface="Calibri"/>
                <a:ea typeface="Calibri"/>
                <a:cs typeface="Calibri"/>
                <a:sym typeface="Calibri"/>
              </a:rPr>
              <a:t>(</a:t>
            </a:r>
            <a:r>
              <a:rPr lang="en-GB" sz="2000" b="1">
                <a:solidFill>
                  <a:srgbClr val="2F5496"/>
                </a:solidFill>
                <a:latin typeface="Calibri"/>
                <a:ea typeface="Calibri"/>
                <a:cs typeface="Calibri"/>
                <a:sym typeface="Calibri"/>
              </a:rPr>
              <a:t>UE22CS342BA9</a:t>
            </a:r>
            <a:r>
              <a:rPr lang="en-GB" sz="2000" b="1" i="0" u="none" strike="noStrike" cap="none">
                <a:solidFill>
                  <a:srgbClr val="2F5496"/>
                </a:solidFill>
                <a:latin typeface="Calibri"/>
                <a:ea typeface="Calibri"/>
                <a:cs typeface="Calibri"/>
                <a:sym typeface="Calibri"/>
              </a:rPr>
              <a:t>)</a:t>
            </a:r>
            <a:endParaRPr sz="2000" b="1" i="0" u="none" strike="noStrike" cap="none">
              <a:solidFill>
                <a:srgbClr val="2F5496"/>
              </a:solidFill>
              <a:latin typeface="Calibri"/>
              <a:ea typeface="Calibri"/>
              <a:cs typeface="Calibri"/>
              <a:sym typeface="Calibri"/>
            </a:endParaRPr>
          </a:p>
        </p:txBody>
      </p:sp>
      <p:grpSp>
        <p:nvGrpSpPr>
          <p:cNvPr id="68" name="Google Shape;68;p14"/>
          <p:cNvGrpSpPr/>
          <p:nvPr/>
        </p:nvGrpSpPr>
        <p:grpSpPr>
          <a:xfrm>
            <a:off x="298326" y="4213338"/>
            <a:ext cx="831571" cy="722759"/>
            <a:chOff x="313939" y="5489794"/>
            <a:chExt cx="1066800" cy="1077941"/>
          </a:xfrm>
        </p:grpSpPr>
        <p:sp>
          <p:nvSpPr>
            <p:cNvPr id="69" name="Google Shape;69;p14"/>
            <p:cNvSpPr/>
            <p:nvPr/>
          </p:nvSpPr>
          <p:spPr>
            <a:xfrm rot="5400000">
              <a:off x="824539" y="6011535"/>
              <a:ext cx="45600" cy="1066800"/>
            </a:xfrm>
            <a:prstGeom prst="rect">
              <a:avLst/>
            </a:prstGeom>
            <a:solidFill>
              <a:srgbClr val="F4B08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a:solidFill>
                  <a:srgbClr val="FFFFFF"/>
                </a:solidFill>
                <a:latin typeface="Calibri"/>
                <a:ea typeface="Calibri"/>
                <a:cs typeface="Calibri"/>
                <a:sym typeface="Calibri"/>
              </a:endParaRPr>
            </a:p>
          </p:txBody>
        </p:sp>
        <p:sp>
          <p:nvSpPr>
            <p:cNvPr id="70" name="Google Shape;70;p14"/>
            <p:cNvSpPr/>
            <p:nvPr/>
          </p:nvSpPr>
          <p:spPr>
            <a:xfrm rot="10800000">
              <a:off x="313963" y="5489794"/>
              <a:ext cx="45600" cy="1066800"/>
            </a:xfrm>
            <a:prstGeom prst="rect">
              <a:avLst/>
            </a:prstGeom>
            <a:solidFill>
              <a:srgbClr val="F4B08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a:solidFill>
                  <a:srgbClr val="FFFFFF"/>
                </a:solidFill>
                <a:latin typeface="Calibri"/>
                <a:ea typeface="Calibri"/>
                <a:cs typeface="Calibri"/>
                <a:sym typeface="Calibri"/>
              </a:endParaRPr>
            </a:p>
          </p:txBody>
        </p:sp>
      </p:grpSp>
      <p:cxnSp>
        <p:nvCxnSpPr>
          <p:cNvPr id="71" name="Google Shape;71;p14"/>
          <p:cNvCxnSpPr/>
          <p:nvPr/>
        </p:nvCxnSpPr>
        <p:spPr>
          <a:xfrm rot="10800000" flipH="1">
            <a:off x="53611" y="1916375"/>
            <a:ext cx="6161100" cy="45900"/>
          </a:xfrm>
          <a:prstGeom prst="straightConnector1">
            <a:avLst/>
          </a:prstGeom>
          <a:noFill/>
          <a:ln w="38100" cap="flat" cmpd="sng">
            <a:solidFill>
              <a:srgbClr val="DFA267"/>
            </a:solidFill>
            <a:prstDash val="solid"/>
            <a:miter lim="800000"/>
            <a:headEnd type="none" w="sm" len="sm"/>
            <a:tailEnd type="none" w="sm" len="sm"/>
          </a:ln>
        </p:spPr>
      </p:cxnSp>
      <p:sp>
        <p:nvSpPr>
          <p:cNvPr id="2" name="object 6">
            <a:extLst>
              <a:ext uri="{FF2B5EF4-FFF2-40B4-BE49-F238E27FC236}">
                <a16:creationId xmlns:a16="http://schemas.microsoft.com/office/drawing/2014/main" id="{B9AF0C58-A7C8-A056-3ADD-BB0E1C92779B}"/>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sp>
        <p:nvSpPr>
          <p:cNvPr id="4" name="Rectangle 2">
            <a:extLst>
              <a:ext uri="{FF2B5EF4-FFF2-40B4-BE49-F238E27FC236}">
                <a16:creationId xmlns:a16="http://schemas.microsoft.com/office/drawing/2014/main" id="{FDE57218-257C-E7C0-66B3-0AE3F7F080E9}"/>
              </a:ext>
            </a:extLst>
          </p:cNvPr>
          <p:cNvSpPr>
            <a:spLocks noChangeArrowheads="1"/>
          </p:cNvSpPr>
          <p:nvPr/>
        </p:nvSpPr>
        <p:spPr bwMode="auto">
          <a:xfrm>
            <a:off x="194959" y="2541898"/>
            <a:ext cx="816441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Transformers (2017):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Introduced the fundamental architecture for LLMs.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ELMo</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(2018):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Leveraged context-sensitive embeddings using bi-directional LSTMs.</a:t>
            </a:r>
          </a:p>
          <a:p>
            <a:pPr eaLnBrk="0" fontAlgn="base" hangingPunct="0">
              <a:spcBef>
                <a:spcPct val="0"/>
              </a:spcBef>
              <a:spcAft>
                <a:spcPct val="0"/>
              </a:spcAft>
              <a:buClrTx/>
              <a:buFontTx/>
              <a:buChar char="•"/>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GPT (2018):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Built on transformer architecture for text generation.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BERT (2018):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Utilized transformers bidirectionally for better context understanding.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RoBERTa</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(2019):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Enhanced BERT with optimized training methods.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BART (2019):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Combined encoder-decoder frameworks from BERT and GPT.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55"/>
        <p:cNvGrpSpPr/>
        <p:nvPr/>
      </p:nvGrpSpPr>
      <p:grpSpPr>
        <a:xfrm>
          <a:off x="0" y="0"/>
          <a:ext cx="0" cy="0"/>
          <a:chOff x="0" y="0"/>
          <a:chExt cx="0" cy="0"/>
        </a:xfrm>
      </p:grpSpPr>
      <p:sp>
        <p:nvSpPr>
          <p:cNvPr id="856" name="Google Shape;856;p89"/>
          <p:cNvSpPr/>
          <p:nvPr/>
        </p:nvSpPr>
        <p:spPr>
          <a:xfrm>
            <a:off x="520425" y="1415450"/>
            <a:ext cx="5844000" cy="54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r>
              <a:rPr lang="en-GB" sz="2800" b="1">
                <a:latin typeface="Calibri"/>
                <a:ea typeface="Calibri"/>
                <a:cs typeface="Calibri"/>
                <a:sym typeface="Calibri"/>
              </a:rPr>
              <a:t>Generative AI and its Applications</a:t>
            </a:r>
            <a:endParaRPr sz="600" b="0" i="0" u="none" strike="noStrike" cap="none">
              <a:solidFill>
                <a:srgbClr val="000000"/>
              </a:solidFill>
              <a:latin typeface="Arial"/>
              <a:ea typeface="Arial"/>
              <a:cs typeface="Arial"/>
              <a:sym typeface="Arial"/>
            </a:endParaRPr>
          </a:p>
        </p:txBody>
      </p:sp>
      <p:sp>
        <p:nvSpPr>
          <p:cNvPr id="857" name="Google Shape;857;p89"/>
          <p:cNvSpPr/>
          <p:nvPr/>
        </p:nvSpPr>
        <p:spPr>
          <a:xfrm>
            <a:off x="520425" y="1761875"/>
            <a:ext cx="1959000" cy="626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600"/>
              <a:buFont typeface="Arial"/>
              <a:buNone/>
            </a:pPr>
            <a:r>
              <a:rPr lang="en-GB" sz="2000" b="1" i="0" u="none" strike="noStrike" cap="none">
                <a:solidFill>
                  <a:srgbClr val="2F5496"/>
                </a:solidFill>
                <a:latin typeface="Calibri"/>
                <a:ea typeface="Calibri"/>
                <a:cs typeface="Calibri"/>
                <a:sym typeface="Calibri"/>
              </a:rPr>
              <a:t>(</a:t>
            </a:r>
            <a:r>
              <a:rPr lang="en-GB" sz="2000" b="1">
                <a:solidFill>
                  <a:srgbClr val="2F5496"/>
                </a:solidFill>
                <a:latin typeface="Calibri"/>
                <a:ea typeface="Calibri"/>
                <a:cs typeface="Calibri"/>
                <a:sym typeface="Calibri"/>
              </a:rPr>
              <a:t>UE22CS342BA9</a:t>
            </a:r>
            <a:r>
              <a:rPr lang="en-GB" sz="2000" b="1" i="0" u="none" strike="noStrike" cap="none">
                <a:solidFill>
                  <a:srgbClr val="2F5496"/>
                </a:solidFill>
                <a:latin typeface="Calibri"/>
                <a:ea typeface="Calibri"/>
                <a:cs typeface="Calibri"/>
                <a:sym typeface="Calibri"/>
              </a:rPr>
              <a:t>)</a:t>
            </a:r>
            <a:endParaRPr sz="2000" b="1" i="0" u="none" strike="noStrike" cap="none">
              <a:solidFill>
                <a:srgbClr val="2F5496"/>
              </a:solidFill>
              <a:latin typeface="Calibri"/>
              <a:ea typeface="Calibri"/>
              <a:cs typeface="Calibri"/>
              <a:sym typeface="Calibri"/>
            </a:endParaRPr>
          </a:p>
        </p:txBody>
      </p:sp>
      <p:sp>
        <p:nvSpPr>
          <p:cNvPr id="858" name="Google Shape;858;p89"/>
          <p:cNvSpPr/>
          <p:nvPr/>
        </p:nvSpPr>
        <p:spPr>
          <a:xfrm>
            <a:off x="520425" y="4213096"/>
            <a:ext cx="5844000" cy="423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GB" sz="1800" b="1" i="0" u="none" strike="noStrike" cap="none">
                <a:solidFill>
                  <a:srgbClr val="000000"/>
                </a:solidFill>
                <a:latin typeface="Calibri"/>
                <a:ea typeface="Calibri"/>
                <a:cs typeface="Calibri"/>
                <a:sym typeface="Calibri"/>
              </a:rPr>
              <a:t>Dr. </a:t>
            </a:r>
            <a:r>
              <a:rPr lang="en-GB" sz="1800" b="1">
                <a:latin typeface="Calibri"/>
                <a:ea typeface="Calibri"/>
                <a:cs typeface="Calibri"/>
                <a:sym typeface="Calibri"/>
              </a:rPr>
              <a:t>Pooja Agarwal</a:t>
            </a:r>
            <a:endParaRPr sz="1800" b="1" i="0" u="none" strike="noStrike" cap="none">
              <a:solidFill>
                <a:srgbClr val="000000"/>
              </a:solidFill>
              <a:latin typeface="Calibri"/>
              <a:ea typeface="Calibri"/>
              <a:cs typeface="Calibri"/>
              <a:sym typeface="Calibri"/>
            </a:endParaRPr>
          </a:p>
        </p:txBody>
      </p:sp>
      <p:sp>
        <p:nvSpPr>
          <p:cNvPr id="859" name="Google Shape;859;p89"/>
          <p:cNvSpPr/>
          <p:nvPr/>
        </p:nvSpPr>
        <p:spPr>
          <a:xfrm>
            <a:off x="520437" y="4479694"/>
            <a:ext cx="5844000" cy="268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GB" b="0" i="0" u="none" strike="noStrike" cap="none">
                <a:solidFill>
                  <a:srgbClr val="000000"/>
                </a:solidFill>
                <a:latin typeface="Calibri"/>
                <a:ea typeface="Calibri"/>
                <a:cs typeface="Calibri"/>
                <a:sym typeface="Calibri"/>
              </a:rPr>
              <a:t>Department of Computer Science and Engineering</a:t>
            </a:r>
            <a:endParaRPr b="0" i="0" u="none" strike="noStrike" cap="none">
              <a:solidFill>
                <a:srgbClr val="000000"/>
              </a:solidFill>
              <a:latin typeface="Calibri"/>
              <a:ea typeface="Calibri"/>
              <a:cs typeface="Calibri"/>
              <a:sym typeface="Calibri"/>
            </a:endParaRPr>
          </a:p>
        </p:txBody>
      </p:sp>
      <p:grpSp>
        <p:nvGrpSpPr>
          <p:cNvPr id="860" name="Google Shape;860;p89"/>
          <p:cNvGrpSpPr/>
          <p:nvPr/>
        </p:nvGrpSpPr>
        <p:grpSpPr>
          <a:xfrm>
            <a:off x="298326" y="4213338"/>
            <a:ext cx="831571" cy="722759"/>
            <a:chOff x="313939" y="5489794"/>
            <a:chExt cx="1066800" cy="1077941"/>
          </a:xfrm>
        </p:grpSpPr>
        <p:sp>
          <p:nvSpPr>
            <p:cNvPr id="861" name="Google Shape;861;p89"/>
            <p:cNvSpPr/>
            <p:nvPr/>
          </p:nvSpPr>
          <p:spPr>
            <a:xfrm rot="5400000">
              <a:off x="824539" y="6011535"/>
              <a:ext cx="45600" cy="1066800"/>
            </a:xfrm>
            <a:prstGeom prst="rect">
              <a:avLst/>
            </a:prstGeom>
            <a:solidFill>
              <a:srgbClr val="F4B08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a:solidFill>
                  <a:srgbClr val="FFFFFF"/>
                </a:solidFill>
                <a:latin typeface="Calibri"/>
                <a:ea typeface="Calibri"/>
                <a:cs typeface="Calibri"/>
                <a:sym typeface="Calibri"/>
              </a:endParaRPr>
            </a:p>
          </p:txBody>
        </p:sp>
        <p:sp>
          <p:nvSpPr>
            <p:cNvPr id="862" name="Google Shape;862;p89"/>
            <p:cNvSpPr/>
            <p:nvPr/>
          </p:nvSpPr>
          <p:spPr>
            <a:xfrm rot="10800000">
              <a:off x="313963" y="5489794"/>
              <a:ext cx="45600" cy="1066800"/>
            </a:xfrm>
            <a:prstGeom prst="rect">
              <a:avLst/>
            </a:prstGeom>
            <a:solidFill>
              <a:srgbClr val="F4B08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a:solidFill>
                  <a:srgbClr val="FFFFFF"/>
                </a:solidFill>
                <a:latin typeface="Calibri"/>
                <a:ea typeface="Calibri"/>
                <a:cs typeface="Calibri"/>
                <a:sym typeface="Calibri"/>
              </a:endParaRPr>
            </a:p>
          </p:txBody>
        </p:sp>
      </p:grpSp>
      <p:cxnSp>
        <p:nvCxnSpPr>
          <p:cNvPr id="863" name="Google Shape;863;p89"/>
          <p:cNvCxnSpPr/>
          <p:nvPr/>
        </p:nvCxnSpPr>
        <p:spPr>
          <a:xfrm rot="10800000" flipH="1">
            <a:off x="53611" y="1916375"/>
            <a:ext cx="6161100" cy="45900"/>
          </a:xfrm>
          <a:prstGeom prst="straightConnector1">
            <a:avLst/>
          </a:prstGeom>
          <a:noFill/>
          <a:ln w="38100" cap="flat" cmpd="sng">
            <a:solidFill>
              <a:srgbClr val="DFA267"/>
            </a:solidFill>
            <a:prstDash val="solid"/>
            <a:miter lim="800000"/>
            <a:headEnd type="none" w="sm" len="sm"/>
            <a:tailEnd type="none" w="sm" len="sm"/>
          </a:ln>
        </p:spPr>
      </p:cxnSp>
      <p:sp>
        <p:nvSpPr>
          <p:cNvPr id="865" name="Google Shape;865;p89"/>
          <p:cNvSpPr txBox="1"/>
          <p:nvPr/>
        </p:nvSpPr>
        <p:spPr>
          <a:xfrm>
            <a:off x="520425" y="2435300"/>
            <a:ext cx="69057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GB" sz="2400" b="1">
                <a:solidFill>
                  <a:srgbClr val="C55A11"/>
                </a:solidFill>
                <a:latin typeface="Calibri"/>
                <a:ea typeface="Calibri"/>
                <a:cs typeface="Calibri"/>
                <a:sym typeface="Calibri"/>
              </a:rPr>
              <a:t>BERT</a:t>
            </a:r>
            <a:endParaRPr/>
          </a:p>
        </p:txBody>
      </p:sp>
      <p:sp>
        <p:nvSpPr>
          <p:cNvPr id="2" name="object 6">
            <a:extLst>
              <a:ext uri="{FF2B5EF4-FFF2-40B4-BE49-F238E27FC236}">
                <a16:creationId xmlns:a16="http://schemas.microsoft.com/office/drawing/2014/main" id="{67F1F4ED-134A-48CF-2CA5-C36122AFA22F}"/>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spTree>
    <p:extLst>
      <p:ext uri="{BB962C8B-B14F-4D97-AF65-F5344CB8AC3E}">
        <p14:creationId xmlns:p14="http://schemas.microsoft.com/office/powerpoint/2010/main" val="5578407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cxnSp>
        <p:nvCxnSpPr>
          <p:cNvPr id="144" name="Google Shape;144;p6"/>
          <p:cNvCxnSpPr/>
          <p:nvPr/>
        </p:nvCxnSpPr>
        <p:spPr>
          <a:xfrm>
            <a:off x="-6231" y="987344"/>
            <a:ext cx="6225039" cy="0"/>
          </a:xfrm>
          <a:prstGeom prst="straightConnector1">
            <a:avLst/>
          </a:prstGeom>
          <a:noFill/>
          <a:ln w="38100" cap="flat" cmpd="sng">
            <a:solidFill>
              <a:srgbClr val="C55A11"/>
            </a:solidFill>
            <a:prstDash val="solid"/>
            <a:miter lim="800000"/>
            <a:headEnd type="none" w="sm" len="sm"/>
            <a:tailEnd type="none" w="sm" len="sm"/>
          </a:ln>
        </p:spPr>
      </p:cxnSp>
      <p:sp>
        <p:nvSpPr>
          <p:cNvPr id="146" name="Google Shape;146;p6"/>
          <p:cNvSpPr/>
          <p:nvPr/>
        </p:nvSpPr>
        <p:spPr>
          <a:xfrm>
            <a:off x="294833" y="189181"/>
            <a:ext cx="5622911" cy="346218"/>
          </a:xfrm>
          <a:prstGeom prst="rect">
            <a:avLst/>
          </a:prstGeom>
          <a:noFill/>
          <a:ln>
            <a:noFill/>
          </a:ln>
        </p:spPr>
        <p:txBody>
          <a:bodyPr spcFirstLastPara="1" wrap="square" lIns="68569" tIns="34275" rIns="68569" bIns="34275" anchor="t" anchorCtr="0">
            <a:spAutoFit/>
          </a:bodyPr>
          <a:lstStyle/>
          <a:p>
            <a:r>
              <a:rPr lang="en-US" sz="1800" b="1" dirty="0">
                <a:solidFill>
                  <a:srgbClr val="C00000"/>
                </a:solidFill>
              </a:rPr>
              <a:t>Generative AI and its Applications </a:t>
            </a:r>
          </a:p>
        </p:txBody>
      </p:sp>
      <p:sp>
        <p:nvSpPr>
          <p:cNvPr id="148" name="Google Shape;148;p6"/>
          <p:cNvSpPr txBox="1"/>
          <p:nvPr/>
        </p:nvSpPr>
        <p:spPr>
          <a:xfrm>
            <a:off x="465490" y="699432"/>
            <a:ext cx="6563250" cy="3993379"/>
          </a:xfrm>
          <a:prstGeom prst="rect">
            <a:avLst/>
          </a:prstGeom>
          <a:noFill/>
          <a:ln>
            <a:noFill/>
          </a:ln>
        </p:spPr>
        <p:txBody>
          <a:bodyPr spcFirstLastPara="1" wrap="square" lIns="68569" tIns="68569" rIns="68569" bIns="68569" anchor="t" anchorCtr="0">
            <a:spAutoFit/>
          </a:bodyPr>
          <a:lstStyle/>
          <a:p>
            <a:endParaRPr sz="1800" dirty="0">
              <a:solidFill>
                <a:srgbClr val="1A1A1A"/>
              </a:solidFill>
              <a:highlight>
                <a:srgbClr val="FFFFFF"/>
              </a:highlight>
              <a:latin typeface="Calibri" panose="020F0502020204030204" pitchFamily="34" charset="0"/>
              <a:cs typeface="Calibri" panose="020F0502020204030204" pitchFamily="34" charset="0"/>
            </a:endParaRPr>
          </a:p>
          <a:p>
            <a:endParaRPr sz="1800" dirty="0">
              <a:solidFill>
                <a:srgbClr val="1A1A1A"/>
              </a:solidFill>
              <a:highlight>
                <a:srgbClr val="FFFFFF"/>
              </a:highlight>
              <a:latin typeface="Calibri" panose="020F0502020204030204" pitchFamily="34" charset="0"/>
              <a:cs typeface="Calibri" panose="020F0502020204030204" pitchFamily="34" charset="0"/>
            </a:endParaRPr>
          </a:p>
          <a:p>
            <a:pPr>
              <a:lnSpc>
                <a:spcPct val="120000"/>
              </a:lnSpc>
            </a:pPr>
            <a:r>
              <a:rPr lang="en-US" sz="1800" b="1" dirty="0">
                <a:solidFill>
                  <a:srgbClr val="1A1A1A"/>
                </a:solidFill>
                <a:highlight>
                  <a:srgbClr val="FFFFFF"/>
                </a:highlight>
                <a:latin typeface="Calibri" panose="020F0502020204030204" pitchFamily="34" charset="0"/>
                <a:cs typeface="Calibri" panose="020F0502020204030204" pitchFamily="34" charset="0"/>
              </a:rPr>
              <a:t>The Problem with Words</a:t>
            </a:r>
            <a:endParaRPr sz="1800" b="1" dirty="0">
              <a:solidFill>
                <a:srgbClr val="1A1A1A"/>
              </a:solidFill>
              <a:highlight>
                <a:srgbClr val="FFFFFF"/>
              </a:highlight>
              <a:latin typeface="Calibri" panose="020F0502020204030204" pitchFamily="34" charset="0"/>
              <a:cs typeface="Calibri" panose="020F0502020204030204" pitchFamily="34" charset="0"/>
            </a:endParaRPr>
          </a:p>
          <a:p>
            <a:pPr marL="342900" indent="-261938">
              <a:lnSpc>
                <a:spcPct val="115000"/>
              </a:lnSpc>
              <a:spcBef>
                <a:spcPts val="1050"/>
              </a:spcBef>
              <a:buClr>
                <a:srgbClr val="1A1A1A"/>
              </a:buClr>
              <a:buSzPts val="1900"/>
              <a:buChar char="●"/>
            </a:pPr>
            <a:r>
              <a:rPr lang="en-US" sz="1800" dirty="0">
                <a:solidFill>
                  <a:srgbClr val="1A1A1A"/>
                </a:solidFill>
                <a:highlight>
                  <a:srgbClr val="FFFFFF"/>
                </a:highlight>
                <a:latin typeface="Calibri" panose="020F0502020204030204" pitchFamily="34" charset="0"/>
                <a:cs typeface="Calibri" panose="020F0502020204030204" pitchFamily="34" charset="0"/>
              </a:rPr>
              <a:t>The problem with words is that they’re everywhere. More and more content is out there.</a:t>
            </a:r>
            <a:endParaRPr sz="1800" dirty="0">
              <a:solidFill>
                <a:srgbClr val="1A1A1A"/>
              </a:solidFill>
              <a:highlight>
                <a:srgbClr val="FFFFFF"/>
              </a:highlight>
              <a:latin typeface="Calibri" panose="020F0502020204030204" pitchFamily="34" charset="0"/>
              <a:cs typeface="Calibri" panose="020F0502020204030204" pitchFamily="34" charset="0"/>
            </a:endParaRPr>
          </a:p>
          <a:p>
            <a:pPr marL="342900" indent="-261938">
              <a:lnSpc>
                <a:spcPct val="115000"/>
              </a:lnSpc>
              <a:buClr>
                <a:srgbClr val="1A1A1A"/>
              </a:buClr>
              <a:buSzPts val="1900"/>
              <a:buChar char="●"/>
            </a:pPr>
            <a:r>
              <a:rPr lang="en-US" sz="1800" dirty="0">
                <a:solidFill>
                  <a:srgbClr val="1A1A1A"/>
                </a:solidFill>
                <a:highlight>
                  <a:srgbClr val="FFFFFF"/>
                </a:highlight>
                <a:latin typeface="Calibri" panose="020F0502020204030204" pitchFamily="34" charset="0"/>
                <a:cs typeface="Calibri" panose="020F0502020204030204" pitchFamily="34" charset="0"/>
              </a:rPr>
              <a:t>Words are problematic because </a:t>
            </a:r>
            <a:r>
              <a:rPr lang="en-US" sz="1800" dirty="0">
                <a:solidFill>
                  <a:srgbClr val="E20042"/>
                </a:solidFill>
                <a:highlight>
                  <a:srgbClr val="FFFFFF"/>
                </a:highlight>
                <a:latin typeface="Calibri" panose="020F0502020204030204" pitchFamily="34" charset="0"/>
                <a:cs typeface="Calibri" panose="020F0502020204030204" pitchFamily="34" charset="0"/>
              </a:rPr>
              <a:t>plenty of them are ambiguous, polysemous, and synonymous</a:t>
            </a:r>
            <a:r>
              <a:rPr lang="en-US" sz="1800" dirty="0">
                <a:solidFill>
                  <a:srgbClr val="1A1A1A"/>
                </a:solidFill>
                <a:highlight>
                  <a:srgbClr val="FFFFFF"/>
                </a:highlight>
                <a:latin typeface="Calibri" panose="020F0502020204030204" pitchFamily="34" charset="0"/>
                <a:cs typeface="Calibri" panose="020F0502020204030204" pitchFamily="34" charset="0"/>
              </a:rPr>
              <a:t>.</a:t>
            </a:r>
            <a:endParaRPr sz="1800" dirty="0">
              <a:solidFill>
                <a:srgbClr val="1A1A1A"/>
              </a:solidFill>
              <a:highlight>
                <a:srgbClr val="FFFFFF"/>
              </a:highlight>
              <a:latin typeface="Calibri" panose="020F0502020204030204" pitchFamily="34" charset="0"/>
              <a:cs typeface="Calibri" panose="020F0502020204030204" pitchFamily="34" charset="0"/>
            </a:endParaRPr>
          </a:p>
          <a:p>
            <a:pPr marL="342900" indent="-261938">
              <a:lnSpc>
                <a:spcPct val="115000"/>
              </a:lnSpc>
              <a:buClr>
                <a:srgbClr val="1A1A1A"/>
              </a:buClr>
              <a:buSzPts val="1900"/>
              <a:buChar char="●"/>
            </a:pPr>
            <a:r>
              <a:rPr lang="en-US" sz="1800" dirty="0">
                <a:solidFill>
                  <a:srgbClr val="1A1A1A"/>
                </a:solidFill>
                <a:highlight>
                  <a:srgbClr val="FFFFFF"/>
                </a:highlight>
                <a:latin typeface="Calibri" panose="020F0502020204030204" pitchFamily="34" charset="0"/>
                <a:cs typeface="Calibri" panose="020F0502020204030204" pitchFamily="34" charset="0"/>
              </a:rPr>
              <a:t>BERT is designed to help </a:t>
            </a:r>
            <a:r>
              <a:rPr lang="en-US" sz="1800" dirty="0">
                <a:solidFill>
                  <a:srgbClr val="0070C0"/>
                </a:solidFill>
                <a:highlight>
                  <a:srgbClr val="FFFFFF"/>
                </a:highlight>
                <a:latin typeface="Calibri" panose="020F0502020204030204" pitchFamily="34" charset="0"/>
                <a:cs typeface="Calibri" panose="020F0502020204030204" pitchFamily="34" charset="0"/>
              </a:rPr>
              <a:t>solve ambiguous sentences and phrases that are made up of lots and lots of words with multiple meanings</a:t>
            </a:r>
            <a:r>
              <a:rPr lang="en-US" sz="1800" dirty="0">
                <a:solidFill>
                  <a:srgbClr val="1A1A1A"/>
                </a:solidFill>
                <a:highlight>
                  <a:srgbClr val="FFFFFF"/>
                </a:highlight>
                <a:latin typeface="Calibri" panose="020F0502020204030204" pitchFamily="34" charset="0"/>
                <a:cs typeface="Calibri" panose="020F0502020204030204" pitchFamily="34" charset="0"/>
              </a:rPr>
              <a:t>.</a:t>
            </a:r>
            <a:endParaRPr sz="1800" dirty="0">
              <a:solidFill>
                <a:srgbClr val="1A1A1A"/>
              </a:solidFill>
              <a:highlight>
                <a:srgbClr val="FFFFFF"/>
              </a:highlight>
              <a:latin typeface="Calibri" panose="020F0502020204030204" pitchFamily="34" charset="0"/>
              <a:cs typeface="Calibri" panose="020F0502020204030204" pitchFamily="34" charset="0"/>
            </a:endParaRPr>
          </a:p>
          <a:p>
            <a:pPr>
              <a:lnSpc>
                <a:spcPct val="120000"/>
              </a:lnSpc>
              <a:spcBef>
                <a:spcPts val="1425"/>
              </a:spcBef>
              <a:spcAft>
                <a:spcPts val="1050"/>
              </a:spcAft>
            </a:pPr>
            <a:endParaRPr sz="1500" b="1" dirty="0">
              <a:solidFill>
                <a:srgbClr val="1A1A1A"/>
              </a:solidFill>
              <a:highlight>
                <a:srgbClr val="FFFFFF"/>
              </a:highlight>
              <a:latin typeface="Calibri" panose="020F0502020204030204" pitchFamily="34" charset="0"/>
              <a:cs typeface="Calibri" panose="020F0502020204030204" pitchFamily="34" charset="0"/>
            </a:endParaRPr>
          </a:p>
        </p:txBody>
      </p:sp>
      <p:sp>
        <p:nvSpPr>
          <p:cNvPr id="7" name="Google Shape;138;p5">
            <a:extLst>
              <a:ext uri="{FF2B5EF4-FFF2-40B4-BE49-F238E27FC236}">
                <a16:creationId xmlns:a16="http://schemas.microsoft.com/office/drawing/2014/main" id="{698FABB7-F3E6-3148-A859-3FDDC121821E}"/>
              </a:ext>
            </a:extLst>
          </p:cNvPr>
          <p:cNvSpPr txBox="1"/>
          <p:nvPr/>
        </p:nvSpPr>
        <p:spPr>
          <a:xfrm>
            <a:off x="294833" y="535399"/>
            <a:ext cx="6563167" cy="623217"/>
          </a:xfrm>
          <a:prstGeom prst="rect">
            <a:avLst/>
          </a:prstGeom>
          <a:noFill/>
          <a:ln>
            <a:noFill/>
          </a:ln>
        </p:spPr>
        <p:txBody>
          <a:bodyPr spcFirstLastPara="1" wrap="square" lIns="68569" tIns="34275" rIns="68569" bIns="34275" anchor="t" anchorCtr="0">
            <a:spAutoFit/>
          </a:bodyPr>
          <a:lstStyle/>
          <a:p>
            <a:r>
              <a:rPr lang="en-US" sz="1800" b="1" dirty="0">
                <a:solidFill>
                  <a:srgbClr val="0070C0"/>
                </a:solidFill>
                <a:latin typeface="Calibri"/>
                <a:ea typeface="Calibri"/>
                <a:cs typeface="Calibri"/>
                <a:sym typeface="Calibri"/>
              </a:rPr>
              <a:t>BERT: </a:t>
            </a:r>
            <a:r>
              <a:rPr lang="en-US" sz="1800" b="1" dirty="0">
                <a:solidFill>
                  <a:srgbClr val="0070C0"/>
                </a:solidFill>
                <a:highlight>
                  <a:srgbClr val="FFFFFF"/>
                </a:highlight>
                <a:latin typeface="Calibri" panose="020F0502020204030204" pitchFamily="34" charset="0"/>
                <a:cs typeface="Calibri" panose="020F0502020204030204" pitchFamily="34" charset="0"/>
              </a:rPr>
              <a:t>What Challenges Does BERT Help to Solve?</a:t>
            </a:r>
            <a:endParaRPr lang="en-US" sz="1800" b="1" dirty="0">
              <a:solidFill>
                <a:srgbClr val="0070C0"/>
              </a:solidFill>
              <a:latin typeface="Calibri" panose="020F0502020204030204" pitchFamily="34" charset="0"/>
              <a:ea typeface="Calibri"/>
              <a:cs typeface="Calibri" panose="020F0502020204030204" pitchFamily="34" charset="0"/>
              <a:sym typeface="Calibri"/>
            </a:endParaRPr>
          </a:p>
          <a:p>
            <a:endParaRPr sz="1800" b="1" dirty="0">
              <a:solidFill>
                <a:srgbClr val="0070C0"/>
              </a:solidFill>
              <a:latin typeface="Calibri"/>
              <a:ea typeface="Calibri"/>
              <a:cs typeface="Calibri"/>
              <a:sym typeface="Calibri"/>
            </a:endParaRPr>
          </a:p>
        </p:txBody>
      </p:sp>
      <p:sp>
        <p:nvSpPr>
          <p:cNvPr id="2" name="object 6">
            <a:extLst>
              <a:ext uri="{FF2B5EF4-FFF2-40B4-BE49-F238E27FC236}">
                <a16:creationId xmlns:a16="http://schemas.microsoft.com/office/drawing/2014/main" id="{3ACD7DFA-BEEC-195F-B832-E73B142036C9}"/>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spTree>
    <p:extLst>
      <p:ext uri="{BB962C8B-B14F-4D97-AF65-F5344CB8AC3E}">
        <p14:creationId xmlns:p14="http://schemas.microsoft.com/office/powerpoint/2010/main" val="1673315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Shape 152"/>
        <p:cNvGrpSpPr/>
        <p:nvPr/>
      </p:nvGrpSpPr>
      <p:grpSpPr>
        <a:xfrm>
          <a:off x="0" y="0"/>
          <a:ext cx="0" cy="0"/>
          <a:chOff x="0" y="0"/>
          <a:chExt cx="0" cy="0"/>
        </a:xfrm>
      </p:grpSpPr>
      <p:cxnSp>
        <p:nvCxnSpPr>
          <p:cNvPr id="153" name="Google Shape;153;p7"/>
          <p:cNvCxnSpPr/>
          <p:nvPr/>
        </p:nvCxnSpPr>
        <p:spPr>
          <a:xfrm>
            <a:off x="-6231" y="987344"/>
            <a:ext cx="6225039" cy="0"/>
          </a:xfrm>
          <a:prstGeom prst="straightConnector1">
            <a:avLst/>
          </a:prstGeom>
          <a:noFill/>
          <a:ln w="38100" cap="flat" cmpd="sng">
            <a:solidFill>
              <a:srgbClr val="C55A11"/>
            </a:solidFill>
            <a:prstDash val="solid"/>
            <a:miter lim="800000"/>
            <a:headEnd type="none" w="sm" len="sm"/>
            <a:tailEnd type="none" w="sm" len="sm"/>
          </a:ln>
        </p:spPr>
      </p:cxnSp>
      <p:sp>
        <p:nvSpPr>
          <p:cNvPr id="155" name="Google Shape;155;p7"/>
          <p:cNvSpPr/>
          <p:nvPr/>
        </p:nvSpPr>
        <p:spPr>
          <a:xfrm>
            <a:off x="294833" y="189181"/>
            <a:ext cx="5622911" cy="346218"/>
          </a:xfrm>
          <a:prstGeom prst="rect">
            <a:avLst/>
          </a:prstGeom>
          <a:noFill/>
          <a:ln>
            <a:noFill/>
          </a:ln>
        </p:spPr>
        <p:txBody>
          <a:bodyPr spcFirstLastPara="1" wrap="square" lIns="68569" tIns="34275" rIns="68569" bIns="34275" anchor="t" anchorCtr="0">
            <a:spAutoFit/>
          </a:bodyPr>
          <a:lstStyle/>
          <a:p>
            <a:r>
              <a:rPr lang="en-US" sz="1800" b="1" dirty="0">
                <a:solidFill>
                  <a:srgbClr val="C00000"/>
                </a:solidFill>
              </a:rPr>
              <a:t>Generative AI and its Applications </a:t>
            </a:r>
          </a:p>
        </p:txBody>
      </p:sp>
      <p:sp>
        <p:nvSpPr>
          <p:cNvPr id="156" name="Google Shape;156;p7"/>
          <p:cNvSpPr txBox="1"/>
          <p:nvPr/>
        </p:nvSpPr>
        <p:spPr>
          <a:xfrm>
            <a:off x="294834" y="496768"/>
            <a:ext cx="6563167" cy="346218"/>
          </a:xfrm>
          <a:prstGeom prst="rect">
            <a:avLst/>
          </a:prstGeom>
          <a:noFill/>
          <a:ln>
            <a:noFill/>
          </a:ln>
        </p:spPr>
        <p:txBody>
          <a:bodyPr spcFirstLastPara="1" wrap="square" lIns="68569" tIns="34275" rIns="68569" bIns="34275" anchor="t" anchorCtr="0">
            <a:spAutoFit/>
          </a:bodyPr>
          <a:lstStyle/>
          <a:p>
            <a:endParaRPr sz="1800" b="1">
              <a:solidFill>
                <a:srgbClr val="0070C0"/>
              </a:solidFill>
              <a:latin typeface="Calibri"/>
              <a:ea typeface="Calibri"/>
              <a:cs typeface="Calibri"/>
              <a:sym typeface="Calibri"/>
            </a:endParaRPr>
          </a:p>
        </p:txBody>
      </p:sp>
      <p:sp>
        <p:nvSpPr>
          <p:cNvPr id="157" name="Google Shape;157;p7"/>
          <p:cNvSpPr txBox="1"/>
          <p:nvPr/>
        </p:nvSpPr>
        <p:spPr>
          <a:xfrm>
            <a:off x="449162" y="987344"/>
            <a:ext cx="7290581" cy="4175223"/>
          </a:xfrm>
          <a:prstGeom prst="rect">
            <a:avLst/>
          </a:prstGeom>
          <a:noFill/>
          <a:ln>
            <a:noFill/>
          </a:ln>
        </p:spPr>
        <p:txBody>
          <a:bodyPr spcFirstLastPara="1" wrap="square" lIns="68569" tIns="68569" rIns="68569" bIns="68569" anchor="t" anchorCtr="0">
            <a:spAutoFit/>
          </a:bodyPr>
          <a:lstStyle/>
          <a:p>
            <a:r>
              <a:rPr lang="en-US" sz="1350" b="1" dirty="0">
                <a:solidFill>
                  <a:srgbClr val="1A1A1A"/>
                </a:solidFill>
                <a:highlight>
                  <a:srgbClr val="FFFFFF"/>
                </a:highlight>
              </a:rPr>
              <a:t>Ambiguity &amp; Polysemy</a:t>
            </a:r>
            <a:endParaRPr sz="1350" b="1" dirty="0">
              <a:solidFill>
                <a:srgbClr val="1A1A1A"/>
              </a:solidFill>
              <a:highlight>
                <a:srgbClr val="FFFFFF"/>
              </a:highlight>
            </a:endParaRPr>
          </a:p>
          <a:p>
            <a:endParaRPr sz="1350" b="1" dirty="0">
              <a:solidFill>
                <a:srgbClr val="1A1A1A"/>
              </a:solidFill>
              <a:highlight>
                <a:srgbClr val="FFFFFF"/>
              </a:highlight>
            </a:endParaRPr>
          </a:p>
          <a:p>
            <a:endParaRPr sz="1350" b="1" dirty="0">
              <a:solidFill>
                <a:srgbClr val="1A1A1A"/>
              </a:solidFill>
              <a:highlight>
                <a:srgbClr val="FFFFFF"/>
              </a:highlight>
            </a:endParaRPr>
          </a:p>
          <a:p>
            <a:pPr marL="342900" indent="-261938">
              <a:lnSpc>
                <a:spcPct val="115000"/>
              </a:lnSpc>
              <a:buClr>
                <a:srgbClr val="1A1A1A"/>
              </a:buClr>
              <a:buSzPts val="1900"/>
              <a:buChar char="●"/>
            </a:pPr>
            <a:r>
              <a:rPr lang="en-US" sz="1425" dirty="0">
                <a:solidFill>
                  <a:srgbClr val="1A1A1A"/>
                </a:solidFill>
                <a:highlight>
                  <a:srgbClr val="FFFFFF"/>
                </a:highlight>
              </a:rPr>
              <a:t>Almost every other word in the English language has multiple meanings. In spoken word, it is even worse because of homophones and prosody.</a:t>
            </a:r>
          </a:p>
          <a:p>
            <a:pPr marL="342900" indent="-261938">
              <a:lnSpc>
                <a:spcPct val="115000"/>
              </a:lnSpc>
              <a:buClr>
                <a:srgbClr val="1A1A1A"/>
              </a:buClr>
              <a:buSzPts val="1900"/>
              <a:buChar char="●"/>
            </a:pPr>
            <a:endParaRPr sz="1425" dirty="0">
              <a:solidFill>
                <a:srgbClr val="1A1A1A"/>
              </a:solidFill>
              <a:highlight>
                <a:srgbClr val="FFFFFF"/>
              </a:highlight>
            </a:endParaRPr>
          </a:p>
          <a:p>
            <a:pPr marL="342900" indent="-261938" algn="just">
              <a:lnSpc>
                <a:spcPct val="115000"/>
              </a:lnSpc>
              <a:buClr>
                <a:srgbClr val="1A1A1A"/>
              </a:buClr>
              <a:buSzPts val="1900"/>
              <a:buChar char="●"/>
            </a:pPr>
            <a:r>
              <a:rPr lang="en-US" sz="1425" dirty="0">
                <a:solidFill>
                  <a:srgbClr val="1A1A1A"/>
                </a:solidFill>
                <a:highlight>
                  <a:srgbClr val="FFFFFF"/>
                </a:highlight>
              </a:rPr>
              <a:t>For instance, “four candles” and “fork handles” for those with an English accent. Another example: </a:t>
            </a:r>
            <a:r>
              <a:rPr lang="en-US" sz="1425" dirty="0">
                <a:solidFill>
                  <a:srgbClr val="00B050"/>
                </a:solidFill>
                <a:highlight>
                  <a:srgbClr val="FFFFFF"/>
                </a:highlight>
              </a:rPr>
              <a:t>comedians’ jokes are mostly based on the play on words because words are very easy to misinterpret.</a:t>
            </a:r>
          </a:p>
          <a:p>
            <a:pPr marL="342900" indent="-261938" algn="just">
              <a:lnSpc>
                <a:spcPct val="115000"/>
              </a:lnSpc>
              <a:buClr>
                <a:srgbClr val="1A1A1A"/>
              </a:buClr>
              <a:buSzPts val="1900"/>
              <a:buChar char="●"/>
            </a:pPr>
            <a:endParaRPr sz="1425" dirty="0">
              <a:solidFill>
                <a:srgbClr val="00B050"/>
              </a:solidFill>
              <a:highlight>
                <a:srgbClr val="FFFFFF"/>
              </a:highlight>
            </a:endParaRPr>
          </a:p>
          <a:p>
            <a:pPr marL="342900" indent="-261938" algn="just">
              <a:lnSpc>
                <a:spcPct val="115000"/>
              </a:lnSpc>
              <a:buClr>
                <a:srgbClr val="1A1A1A"/>
              </a:buClr>
              <a:buSzPts val="1900"/>
              <a:buChar char="●"/>
            </a:pPr>
            <a:r>
              <a:rPr lang="en-US" sz="1425" dirty="0">
                <a:solidFill>
                  <a:srgbClr val="1A1A1A"/>
                </a:solidFill>
                <a:highlight>
                  <a:srgbClr val="FFFFFF"/>
                </a:highlight>
              </a:rPr>
              <a:t>It’s not very challenging for us </a:t>
            </a:r>
            <a:r>
              <a:rPr lang="en-US" sz="1425" dirty="0">
                <a:solidFill>
                  <a:srgbClr val="0070C0"/>
                </a:solidFill>
                <a:highlight>
                  <a:srgbClr val="FFFFFF"/>
                </a:highlight>
              </a:rPr>
              <a:t>because we have common sense and context </a:t>
            </a:r>
            <a:r>
              <a:rPr lang="en-US" sz="1425" dirty="0">
                <a:solidFill>
                  <a:srgbClr val="1A1A1A"/>
                </a:solidFill>
                <a:highlight>
                  <a:srgbClr val="FFFFFF"/>
                </a:highlight>
              </a:rPr>
              <a:t>so we can understand all the other words that surround the context of the situation or the conversation – but search engines and machines don’t.</a:t>
            </a:r>
          </a:p>
          <a:p>
            <a:pPr marL="342900" indent="-261938" algn="just">
              <a:lnSpc>
                <a:spcPct val="115000"/>
              </a:lnSpc>
              <a:buClr>
                <a:srgbClr val="1A1A1A"/>
              </a:buClr>
              <a:buSzPts val="1900"/>
              <a:buChar char="●"/>
            </a:pPr>
            <a:endParaRPr sz="1425" dirty="0">
              <a:solidFill>
                <a:srgbClr val="1A1A1A"/>
              </a:solidFill>
              <a:highlight>
                <a:srgbClr val="FFFFFF"/>
              </a:highlight>
            </a:endParaRPr>
          </a:p>
          <a:p>
            <a:pPr marL="342900" indent="-261938">
              <a:lnSpc>
                <a:spcPct val="115000"/>
              </a:lnSpc>
              <a:buClr>
                <a:srgbClr val="1A1A1A"/>
              </a:buClr>
              <a:buSzPts val="1900"/>
              <a:buChar char="●"/>
            </a:pPr>
            <a:r>
              <a:rPr lang="en-US" sz="1425" dirty="0">
                <a:solidFill>
                  <a:srgbClr val="1A1A1A"/>
                </a:solidFill>
                <a:highlight>
                  <a:srgbClr val="FFFFFF"/>
                </a:highlight>
              </a:rPr>
              <a:t>This does not bode well for conversational search into the future.</a:t>
            </a:r>
            <a:endParaRPr sz="1425" dirty="0">
              <a:solidFill>
                <a:srgbClr val="1A1A1A"/>
              </a:solidFill>
              <a:highlight>
                <a:srgbClr val="FFFFFF"/>
              </a:highlight>
            </a:endParaRPr>
          </a:p>
          <a:p>
            <a:pPr>
              <a:spcBef>
                <a:spcPts val="1425"/>
              </a:spcBef>
            </a:pPr>
            <a:endParaRPr sz="1350" b="1" dirty="0">
              <a:solidFill>
                <a:srgbClr val="1A1A1A"/>
              </a:solidFill>
              <a:highlight>
                <a:srgbClr val="FFFFFF"/>
              </a:highlight>
            </a:endParaRPr>
          </a:p>
        </p:txBody>
      </p:sp>
      <p:sp>
        <p:nvSpPr>
          <p:cNvPr id="7" name="Google Shape;138;p5">
            <a:extLst>
              <a:ext uri="{FF2B5EF4-FFF2-40B4-BE49-F238E27FC236}">
                <a16:creationId xmlns:a16="http://schemas.microsoft.com/office/drawing/2014/main" id="{615C5404-C744-164C-A21D-84DD33845BD7}"/>
              </a:ext>
            </a:extLst>
          </p:cNvPr>
          <p:cNvSpPr txBox="1"/>
          <p:nvPr/>
        </p:nvSpPr>
        <p:spPr>
          <a:xfrm>
            <a:off x="409134" y="611068"/>
            <a:ext cx="6563167" cy="346218"/>
          </a:xfrm>
          <a:prstGeom prst="rect">
            <a:avLst/>
          </a:prstGeom>
          <a:noFill/>
          <a:ln>
            <a:noFill/>
          </a:ln>
        </p:spPr>
        <p:txBody>
          <a:bodyPr spcFirstLastPara="1" wrap="square" lIns="68569" tIns="34275" rIns="68569" bIns="34275" anchor="t" anchorCtr="0">
            <a:spAutoFit/>
          </a:bodyPr>
          <a:lstStyle/>
          <a:p>
            <a:r>
              <a:rPr lang="en-US" sz="1800" b="1" dirty="0">
                <a:solidFill>
                  <a:srgbClr val="0070C0"/>
                </a:solidFill>
                <a:latin typeface="Calibri"/>
                <a:ea typeface="Calibri"/>
                <a:cs typeface="Calibri"/>
                <a:sym typeface="Calibri"/>
              </a:rPr>
              <a:t>BERT: </a:t>
            </a:r>
            <a:r>
              <a:rPr lang="en-US" sz="1800" b="1" dirty="0">
                <a:solidFill>
                  <a:srgbClr val="0070C0"/>
                </a:solidFill>
                <a:highlight>
                  <a:srgbClr val="FFFFFF"/>
                </a:highlight>
                <a:latin typeface="Calibri" panose="020F0502020204030204" pitchFamily="34" charset="0"/>
                <a:cs typeface="Calibri" panose="020F0502020204030204" pitchFamily="34" charset="0"/>
              </a:rPr>
              <a:t>What Challenges Does BERT Help to Solve?</a:t>
            </a:r>
            <a:endParaRPr lang="en-US" sz="1800" b="1" dirty="0">
              <a:solidFill>
                <a:srgbClr val="0070C0"/>
              </a:solidFill>
              <a:latin typeface="Calibri" panose="020F0502020204030204" pitchFamily="34" charset="0"/>
              <a:ea typeface="Calibri"/>
              <a:cs typeface="Calibri" panose="020F0502020204030204" pitchFamily="34" charset="0"/>
              <a:sym typeface="Calibri"/>
            </a:endParaRPr>
          </a:p>
        </p:txBody>
      </p:sp>
      <p:sp>
        <p:nvSpPr>
          <p:cNvPr id="2" name="object 6">
            <a:extLst>
              <a:ext uri="{FF2B5EF4-FFF2-40B4-BE49-F238E27FC236}">
                <a16:creationId xmlns:a16="http://schemas.microsoft.com/office/drawing/2014/main" id="{FD46E5F7-5E87-C27F-1A28-8CBA526279E5}"/>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spTree>
    <p:extLst>
      <p:ext uri="{BB962C8B-B14F-4D97-AF65-F5344CB8AC3E}">
        <p14:creationId xmlns:p14="http://schemas.microsoft.com/office/powerpoint/2010/main" val="2068211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cxnSp>
        <p:nvCxnSpPr>
          <p:cNvPr id="180" name="Google Shape;180;p10"/>
          <p:cNvCxnSpPr/>
          <p:nvPr/>
        </p:nvCxnSpPr>
        <p:spPr>
          <a:xfrm>
            <a:off x="-6231" y="987344"/>
            <a:ext cx="6225039" cy="0"/>
          </a:xfrm>
          <a:prstGeom prst="straightConnector1">
            <a:avLst/>
          </a:prstGeom>
          <a:noFill/>
          <a:ln w="38100" cap="flat" cmpd="sng">
            <a:solidFill>
              <a:srgbClr val="C55A11"/>
            </a:solidFill>
            <a:prstDash val="solid"/>
            <a:miter lim="800000"/>
            <a:headEnd type="none" w="sm" len="sm"/>
            <a:tailEnd type="none" w="sm" len="sm"/>
          </a:ln>
        </p:spPr>
      </p:cxnSp>
      <p:sp>
        <p:nvSpPr>
          <p:cNvPr id="182" name="Google Shape;182;p10"/>
          <p:cNvSpPr/>
          <p:nvPr/>
        </p:nvSpPr>
        <p:spPr>
          <a:xfrm>
            <a:off x="294833" y="189181"/>
            <a:ext cx="5622911" cy="346218"/>
          </a:xfrm>
          <a:prstGeom prst="rect">
            <a:avLst/>
          </a:prstGeom>
          <a:noFill/>
          <a:ln>
            <a:noFill/>
          </a:ln>
        </p:spPr>
        <p:txBody>
          <a:bodyPr spcFirstLastPara="1" wrap="square" lIns="68569" tIns="34275" rIns="68569" bIns="34275" anchor="t" anchorCtr="0">
            <a:spAutoFit/>
          </a:bodyPr>
          <a:lstStyle/>
          <a:p>
            <a:r>
              <a:rPr lang="en-US" sz="1800" b="1" dirty="0">
                <a:solidFill>
                  <a:srgbClr val="C00000"/>
                </a:solidFill>
              </a:rPr>
              <a:t>Generative AI and its Applications </a:t>
            </a:r>
          </a:p>
        </p:txBody>
      </p:sp>
      <p:sp>
        <p:nvSpPr>
          <p:cNvPr id="183" name="Google Shape;183;p10"/>
          <p:cNvSpPr txBox="1"/>
          <p:nvPr/>
        </p:nvSpPr>
        <p:spPr>
          <a:xfrm>
            <a:off x="294834" y="496768"/>
            <a:ext cx="6563167" cy="346218"/>
          </a:xfrm>
          <a:prstGeom prst="rect">
            <a:avLst/>
          </a:prstGeom>
          <a:noFill/>
          <a:ln>
            <a:noFill/>
          </a:ln>
        </p:spPr>
        <p:txBody>
          <a:bodyPr spcFirstLastPara="1" wrap="square" lIns="68569" tIns="34275" rIns="68569" bIns="34275" anchor="t" anchorCtr="0">
            <a:spAutoFit/>
          </a:bodyPr>
          <a:lstStyle/>
          <a:p>
            <a:r>
              <a:rPr lang="en-US" sz="1800" b="1">
                <a:solidFill>
                  <a:srgbClr val="0070C0"/>
                </a:solidFill>
                <a:latin typeface="Calibri"/>
                <a:ea typeface="Calibri"/>
                <a:cs typeface="Calibri"/>
                <a:sym typeface="Calibri"/>
              </a:rPr>
              <a:t>BERT</a:t>
            </a:r>
            <a:endParaRPr sz="1800" b="1">
              <a:solidFill>
                <a:srgbClr val="0070C0"/>
              </a:solidFill>
              <a:latin typeface="Calibri"/>
              <a:ea typeface="Calibri"/>
              <a:cs typeface="Calibri"/>
              <a:sym typeface="Calibri"/>
            </a:endParaRPr>
          </a:p>
        </p:txBody>
      </p:sp>
      <p:sp>
        <p:nvSpPr>
          <p:cNvPr id="184" name="Google Shape;184;p10"/>
          <p:cNvSpPr txBox="1"/>
          <p:nvPr/>
        </p:nvSpPr>
        <p:spPr>
          <a:xfrm>
            <a:off x="373204" y="961171"/>
            <a:ext cx="7621436" cy="4528397"/>
          </a:xfrm>
          <a:prstGeom prst="rect">
            <a:avLst/>
          </a:prstGeom>
          <a:noFill/>
          <a:ln>
            <a:noFill/>
          </a:ln>
        </p:spPr>
        <p:txBody>
          <a:bodyPr spcFirstLastPara="1" wrap="square" lIns="68569" tIns="68569" rIns="68569" bIns="68569" anchor="t" anchorCtr="0">
            <a:spAutoFit/>
          </a:bodyPr>
          <a:lstStyle/>
          <a:p>
            <a:pPr marL="342900" indent="-261938">
              <a:buSzPts val="1900"/>
              <a:buChar char="●"/>
            </a:pPr>
            <a:r>
              <a:rPr lang="en-US" sz="1800" dirty="0" err="1">
                <a:solidFill>
                  <a:srgbClr val="1A1A1A"/>
                </a:solidFill>
                <a:highlight>
                  <a:srgbClr val="FFFFFF"/>
                </a:highlight>
                <a:latin typeface="Calibri" panose="020F0502020204030204" pitchFamily="34" charset="0"/>
                <a:cs typeface="Calibri" panose="020F0502020204030204" pitchFamily="34" charset="0"/>
              </a:rPr>
              <a:t>Eg.</a:t>
            </a:r>
            <a:endParaRPr lang="en-US" sz="1800" dirty="0">
              <a:solidFill>
                <a:srgbClr val="1A1A1A"/>
              </a:solidFill>
              <a:highlight>
                <a:srgbClr val="FFFFFF"/>
              </a:highlight>
              <a:latin typeface="Calibri" panose="020F0502020204030204" pitchFamily="34" charset="0"/>
              <a:cs typeface="Calibri" panose="020F0502020204030204" pitchFamily="34" charset="0"/>
            </a:endParaRPr>
          </a:p>
          <a:p>
            <a:pPr marL="80963">
              <a:buSzPts val="1900"/>
            </a:pPr>
            <a:r>
              <a:rPr lang="en-US" sz="1800" dirty="0">
                <a:solidFill>
                  <a:srgbClr val="1A1A1A"/>
                </a:solidFill>
                <a:highlight>
                  <a:srgbClr val="FFFFFF"/>
                </a:highlight>
                <a:latin typeface="Calibri" panose="020F0502020204030204" pitchFamily="34" charset="0"/>
                <a:cs typeface="Calibri" panose="020F0502020204030204" pitchFamily="34" charset="0"/>
              </a:rPr>
              <a:t>	“</a:t>
            </a:r>
            <a:r>
              <a:rPr lang="en-US" sz="1800" dirty="0">
                <a:solidFill>
                  <a:srgbClr val="008277"/>
                </a:solidFill>
                <a:highlight>
                  <a:srgbClr val="FFFFFF"/>
                </a:highlight>
                <a:latin typeface="Times New Roman" panose="02020603050405020304" pitchFamily="18" charset="0"/>
                <a:cs typeface="Times New Roman" panose="02020603050405020304" pitchFamily="18" charset="0"/>
              </a:rPr>
              <a:t>I </a:t>
            </a:r>
            <a:r>
              <a:rPr lang="en-US" sz="1800" dirty="0">
                <a:solidFill>
                  <a:srgbClr val="FF0000"/>
                </a:solidFill>
                <a:highlight>
                  <a:srgbClr val="FFFFFF"/>
                </a:highlight>
                <a:latin typeface="Times New Roman" panose="02020603050405020304" pitchFamily="18" charset="0"/>
                <a:cs typeface="Times New Roman" panose="02020603050405020304" pitchFamily="18" charset="0"/>
              </a:rPr>
              <a:t>like</a:t>
            </a:r>
            <a:r>
              <a:rPr lang="en-US" sz="1800" dirty="0">
                <a:solidFill>
                  <a:srgbClr val="008277"/>
                </a:solidFill>
                <a:highlight>
                  <a:srgbClr val="FFFFFF"/>
                </a:highlight>
                <a:latin typeface="Times New Roman" panose="02020603050405020304" pitchFamily="18" charset="0"/>
                <a:cs typeface="Times New Roman" panose="02020603050405020304" pitchFamily="18" charset="0"/>
              </a:rPr>
              <a:t> the way that looks </a:t>
            </a:r>
            <a:r>
              <a:rPr lang="en-US" sz="1800" dirty="0">
                <a:solidFill>
                  <a:srgbClr val="FF0000"/>
                </a:solidFill>
                <a:highlight>
                  <a:srgbClr val="FFFFFF"/>
                </a:highlight>
                <a:latin typeface="Times New Roman" panose="02020603050405020304" pitchFamily="18" charset="0"/>
                <a:cs typeface="Times New Roman" panose="02020603050405020304" pitchFamily="18" charset="0"/>
              </a:rPr>
              <a:t>like </a:t>
            </a:r>
            <a:r>
              <a:rPr lang="en-US" sz="1800" dirty="0">
                <a:solidFill>
                  <a:srgbClr val="008277"/>
                </a:solidFill>
                <a:highlight>
                  <a:srgbClr val="FFFFFF"/>
                </a:highlight>
                <a:latin typeface="Times New Roman" panose="02020603050405020304" pitchFamily="18" charset="0"/>
                <a:cs typeface="Times New Roman" panose="02020603050405020304" pitchFamily="18" charset="0"/>
              </a:rPr>
              <a:t>the other one</a:t>
            </a:r>
            <a:r>
              <a:rPr lang="en-US" sz="1800" dirty="0">
                <a:solidFill>
                  <a:srgbClr val="1A1A1A"/>
                </a:solidFill>
                <a:highlight>
                  <a:srgbClr val="FFFFFF"/>
                </a:highlight>
                <a:latin typeface="Calibri" panose="020F0502020204030204" pitchFamily="34" charset="0"/>
                <a:cs typeface="Calibri" panose="020F0502020204030204" pitchFamily="34" charset="0"/>
              </a:rPr>
              <a:t>.” </a:t>
            </a:r>
          </a:p>
          <a:p>
            <a:pPr marL="80963">
              <a:buSzPts val="1900"/>
            </a:pPr>
            <a:r>
              <a:rPr lang="en-US" sz="1800" dirty="0">
                <a:solidFill>
                  <a:schemeClr val="hlink"/>
                </a:solidFill>
                <a:highlight>
                  <a:srgbClr val="FFFFFF"/>
                </a:highlight>
                <a:uFill>
                  <a:noFill/>
                </a:uFill>
                <a:latin typeface="Calibri" panose="020F0502020204030204" pitchFamily="34" charset="0"/>
                <a:cs typeface="Calibri" panose="020F0502020204030204" pitchFamily="34" charset="0"/>
                <a:hlinkClick r:id="rId3"/>
              </a:rPr>
              <a:t>By Stanford Part-of-Speech Tagger</a:t>
            </a:r>
            <a:r>
              <a:rPr lang="en-US" sz="1800" dirty="0">
                <a:solidFill>
                  <a:srgbClr val="1A1A1A"/>
                </a:solidFill>
                <a:highlight>
                  <a:srgbClr val="FFFFFF"/>
                </a:highlight>
                <a:latin typeface="Calibri" panose="020F0502020204030204" pitchFamily="34" charset="0"/>
                <a:cs typeface="Calibri" panose="020F0502020204030204" pitchFamily="34" charset="0"/>
              </a:rPr>
              <a:t> , “like” is considered to be two separate parts of speech (POS).</a:t>
            </a:r>
            <a:endParaRPr sz="1800" dirty="0">
              <a:solidFill>
                <a:srgbClr val="1A1A1A"/>
              </a:solidFill>
              <a:highlight>
                <a:srgbClr val="FFFFFF"/>
              </a:highlight>
              <a:latin typeface="Calibri" panose="020F0502020204030204" pitchFamily="34" charset="0"/>
              <a:cs typeface="Calibri" panose="020F0502020204030204" pitchFamily="34" charset="0"/>
            </a:endParaRPr>
          </a:p>
          <a:p>
            <a:endParaRPr sz="1800" dirty="0">
              <a:solidFill>
                <a:srgbClr val="1A1A1A"/>
              </a:solidFill>
              <a:highlight>
                <a:srgbClr val="FFFFFF"/>
              </a:highlight>
              <a:latin typeface="Calibri" panose="020F0502020204030204" pitchFamily="34" charset="0"/>
              <a:cs typeface="Calibri" panose="020F0502020204030204" pitchFamily="34" charset="0"/>
            </a:endParaRPr>
          </a:p>
          <a:p>
            <a:pPr marL="342900" indent="-261938">
              <a:lnSpc>
                <a:spcPct val="115000"/>
              </a:lnSpc>
              <a:buClr>
                <a:srgbClr val="1A1A1A"/>
              </a:buClr>
              <a:buSzPts val="1900"/>
              <a:buChar char="●"/>
            </a:pPr>
            <a:r>
              <a:rPr lang="en-US" sz="1800" dirty="0">
                <a:solidFill>
                  <a:srgbClr val="1A1A1A"/>
                </a:solidFill>
                <a:highlight>
                  <a:srgbClr val="FFFFFF"/>
                </a:highlight>
                <a:latin typeface="Calibri" panose="020F0502020204030204" pitchFamily="34" charset="0"/>
                <a:cs typeface="Calibri" panose="020F0502020204030204" pitchFamily="34" charset="0"/>
              </a:rPr>
              <a:t>The word “like” may be used as different parts of speech including verb, noun, and adjective.</a:t>
            </a:r>
            <a:endParaRPr sz="1800" dirty="0">
              <a:solidFill>
                <a:srgbClr val="1A1A1A"/>
              </a:solidFill>
              <a:highlight>
                <a:srgbClr val="FFFFFF"/>
              </a:highlight>
              <a:latin typeface="Calibri" panose="020F0502020204030204" pitchFamily="34" charset="0"/>
              <a:cs typeface="Calibri" panose="020F0502020204030204" pitchFamily="34" charset="0"/>
            </a:endParaRPr>
          </a:p>
          <a:p>
            <a:pPr marL="342900" indent="-261938">
              <a:lnSpc>
                <a:spcPct val="115000"/>
              </a:lnSpc>
              <a:buClr>
                <a:srgbClr val="1A1A1A"/>
              </a:buClr>
              <a:buSzPts val="1900"/>
              <a:buChar char="●"/>
            </a:pPr>
            <a:r>
              <a:rPr lang="en-US" sz="1800" dirty="0">
                <a:solidFill>
                  <a:srgbClr val="1A1A1A"/>
                </a:solidFill>
                <a:highlight>
                  <a:srgbClr val="FFFFFF"/>
                </a:highlight>
                <a:latin typeface="Calibri" panose="020F0502020204030204" pitchFamily="34" charset="0"/>
                <a:cs typeface="Calibri" panose="020F0502020204030204" pitchFamily="34" charset="0"/>
              </a:rPr>
              <a:t>So literally, the word “like” has no meaning because it can mean whatever surrounds it. </a:t>
            </a:r>
          </a:p>
          <a:p>
            <a:pPr marL="342900" indent="-261938">
              <a:lnSpc>
                <a:spcPct val="115000"/>
              </a:lnSpc>
              <a:buClr>
                <a:srgbClr val="1A1A1A"/>
              </a:buClr>
              <a:buSzPts val="1900"/>
              <a:buChar char="●"/>
            </a:pPr>
            <a:r>
              <a:rPr lang="en-US" sz="1800" dirty="0">
                <a:solidFill>
                  <a:srgbClr val="1A1A1A"/>
                </a:solidFill>
                <a:highlight>
                  <a:srgbClr val="FFFFFF"/>
                </a:highlight>
                <a:latin typeface="Calibri" panose="020F0502020204030204" pitchFamily="34" charset="0"/>
                <a:cs typeface="Calibri" panose="020F0502020204030204" pitchFamily="34" charset="0"/>
              </a:rPr>
              <a:t>The context of “like” changes according to the meanings of the words that surround it.</a:t>
            </a:r>
            <a:endParaRPr sz="1800" dirty="0">
              <a:solidFill>
                <a:srgbClr val="1A1A1A"/>
              </a:solidFill>
              <a:highlight>
                <a:srgbClr val="FFFFFF"/>
              </a:highlight>
              <a:latin typeface="Calibri" panose="020F0502020204030204" pitchFamily="34" charset="0"/>
              <a:cs typeface="Calibri" panose="020F0502020204030204" pitchFamily="34" charset="0"/>
            </a:endParaRPr>
          </a:p>
          <a:p>
            <a:pPr marL="342900" indent="-261938">
              <a:lnSpc>
                <a:spcPct val="115000"/>
              </a:lnSpc>
              <a:buClr>
                <a:srgbClr val="1A1A1A"/>
              </a:buClr>
              <a:buSzPts val="1900"/>
              <a:buChar char="●"/>
            </a:pPr>
            <a:r>
              <a:rPr lang="en-US" sz="1800" dirty="0">
                <a:solidFill>
                  <a:srgbClr val="1A1A1A"/>
                </a:solidFill>
                <a:highlight>
                  <a:srgbClr val="FFFFFF"/>
                </a:highlight>
                <a:latin typeface="Calibri" panose="020F0502020204030204" pitchFamily="34" charset="0"/>
                <a:cs typeface="Calibri" panose="020F0502020204030204" pitchFamily="34" charset="0"/>
              </a:rPr>
              <a:t>The </a:t>
            </a:r>
            <a:r>
              <a:rPr lang="en-US" sz="1800" dirty="0">
                <a:solidFill>
                  <a:srgbClr val="C00000"/>
                </a:solidFill>
                <a:highlight>
                  <a:srgbClr val="FFFFFF"/>
                </a:highlight>
                <a:latin typeface="Calibri" panose="020F0502020204030204" pitchFamily="34" charset="0"/>
                <a:cs typeface="Calibri" panose="020F0502020204030204" pitchFamily="34" charset="0"/>
              </a:rPr>
              <a:t>longer the sentence is</a:t>
            </a:r>
            <a:r>
              <a:rPr lang="en-US" sz="1800" dirty="0">
                <a:solidFill>
                  <a:srgbClr val="1A1A1A"/>
                </a:solidFill>
                <a:highlight>
                  <a:srgbClr val="FFFFFF"/>
                </a:highlight>
                <a:latin typeface="Calibri" panose="020F0502020204030204" pitchFamily="34" charset="0"/>
                <a:cs typeface="Calibri" panose="020F0502020204030204" pitchFamily="34" charset="0"/>
              </a:rPr>
              <a:t>, the </a:t>
            </a:r>
            <a:r>
              <a:rPr lang="en-US" sz="1800" dirty="0">
                <a:solidFill>
                  <a:srgbClr val="C00000"/>
                </a:solidFill>
                <a:highlight>
                  <a:srgbClr val="FFFFFF"/>
                </a:highlight>
                <a:latin typeface="Calibri" panose="020F0502020204030204" pitchFamily="34" charset="0"/>
                <a:cs typeface="Calibri" panose="020F0502020204030204" pitchFamily="34" charset="0"/>
              </a:rPr>
              <a:t>harder it is to keep track of all the different parts of speech within the sentence.</a:t>
            </a:r>
            <a:endParaRPr sz="1800" dirty="0">
              <a:solidFill>
                <a:srgbClr val="C00000"/>
              </a:solidFill>
              <a:highlight>
                <a:srgbClr val="FFFFFF"/>
              </a:highlight>
              <a:latin typeface="Calibri" panose="020F0502020204030204" pitchFamily="34" charset="0"/>
              <a:cs typeface="Calibri" panose="020F0502020204030204" pitchFamily="34" charset="0"/>
            </a:endParaRPr>
          </a:p>
          <a:p>
            <a:pPr>
              <a:spcBef>
                <a:spcPts val="1425"/>
              </a:spcBef>
            </a:pPr>
            <a:endParaRPr sz="1800" dirty="0">
              <a:solidFill>
                <a:srgbClr val="1A1A1A"/>
              </a:solidFill>
              <a:highlight>
                <a:srgbClr val="FFFFFF"/>
              </a:highlight>
              <a:latin typeface="Calibri" panose="020F0502020204030204" pitchFamily="34" charset="0"/>
              <a:cs typeface="Calibri" panose="020F0502020204030204" pitchFamily="34" charset="0"/>
            </a:endParaRPr>
          </a:p>
        </p:txBody>
      </p:sp>
      <p:sp>
        <p:nvSpPr>
          <p:cNvPr id="2" name="object 6">
            <a:extLst>
              <a:ext uri="{FF2B5EF4-FFF2-40B4-BE49-F238E27FC236}">
                <a16:creationId xmlns:a16="http://schemas.microsoft.com/office/drawing/2014/main" id="{F3C5C07B-7BC6-1D94-BF73-58E4E5BDCE74}"/>
              </a:ext>
            </a:extLst>
          </p:cNvPr>
          <p:cNvSpPr/>
          <p:nvPr/>
        </p:nvSpPr>
        <p:spPr>
          <a:xfrm>
            <a:off x="8304129" y="53623"/>
            <a:ext cx="739525" cy="1172718"/>
          </a:xfrm>
          <a:prstGeom prst="rect">
            <a:avLst/>
          </a:prstGeom>
          <a:blipFill>
            <a:blip r:embed="rId4" cstate="print"/>
            <a:stretch>
              <a:fillRect/>
            </a:stretch>
          </a:blipFill>
        </p:spPr>
        <p:txBody>
          <a:bodyPr wrap="square" lIns="0" tIns="0" rIns="0" bIns="0" rtlCol="0"/>
          <a:lstStyle/>
          <a:p>
            <a:endParaRPr sz="945"/>
          </a:p>
        </p:txBody>
      </p:sp>
    </p:spTree>
    <p:extLst>
      <p:ext uri="{BB962C8B-B14F-4D97-AF65-F5344CB8AC3E}">
        <p14:creationId xmlns:p14="http://schemas.microsoft.com/office/powerpoint/2010/main" val="34530162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870" name="Google Shape;870;p90"/>
          <p:cNvSpPr txBox="1"/>
          <p:nvPr/>
        </p:nvSpPr>
        <p:spPr>
          <a:xfrm>
            <a:off x="294833" y="36229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dirty="0">
                <a:solidFill>
                  <a:srgbClr val="C55A11"/>
                </a:solidFill>
                <a:latin typeface="Calibri"/>
                <a:ea typeface="Calibri"/>
                <a:cs typeface="Calibri"/>
                <a:sym typeface="Calibri"/>
              </a:rPr>
              <a:t>BERT</a:t>
            </a:r>
            <a:endParaRPr sz="1800" dirty="0">
              <a:solidFill>
                <a:schemeClr val="dk2"/>
              </a:solidFill>
            </a:endParaRPr>
          </a:p>
        </p:txBody>
      </p:sp>
      <p:cxnSp>
        <p:nvCxnSpPr>
          <p:cNvPr id="871" name="Google Shape;871;p90"/>
          <p:cNvCxnSpPr/>
          <p:nvPr/>
        </p:nvCxnSpPr>
        <p:spPr>
          <a:xfrm>
            <a:off x="0" y="828850"/>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872" name="Google Shape;872;p90"/>
          <p:cNvSpPr txBox="1"/>
          <p:nvPr/>
        </p:nvSpPr>
        <p:spPr>
          <a:xfrm>
            <a:off x="90950" y="861325"/>
            <a:ext cx="9109200" cy="4228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GB" sz="1500" b="1" dirty="0">
                <a:solidFill>
                  <a:schemeClr val="dk1"/>
                </a:solidFill>
              </a:rPr>
              <a:t>B</a:t>
            </a:r>
            <a:r>
              <a:rPr lang="en-GB" sz="1500" dirty="0">
                <a:solidFill>
                  <a:schemeClr val="dk1"/>
                </a:solidFill>
              </a:rPr>
              <a:t>idirectional </a:t>
            </a:r>
            <a:r>
              <a:rPr lang="en-GB" sz="1500" b="1" dirty="0">
                <a:solidFill>
                  <a:schemeClr val="dk1"/>
                </a:solidFill>
              </a:rPr>
              <a:t>E</a:t>
            </a:r>
            <a:r>
              <a:rPr lang="en-GB" sz="1500" dirty="0">
                <a:solidFill>
                  <a:schemeClr val="dk1"/>
                </a:solidFill>
              </a:rPr>
              <a:t>ncoder </a:t>
            </a:r>
            <a:r>
              <a:rPr lang="en-GB" sz="1500" b="1" dirty="0">
                <a:solidFill>
                  <a:schemeClr val="dk1"/>
                </a:solidFill>
              </a:rPr>
              <a:t>R</a:t>
            </a:r>
            <a:r>
              <a:rPr lang="en-GB" sz="1500" dirty="0">
                <a:solidFill>
                  <a:schemeClr val="dk1"/>
                </a:solidFill>
              </a:rPr>
              <a:t>epresentations from </a:t>
            </a:r>
            <a:r>
              <a:rPr lang="en-GB" sz="1500" b="1" dirty="0">
                <a:solidFill>
                  <a:schemeClr val="dk1"/>
                </a:solidFill>
              </a:rPr>
              <a:t>T</a:t>
            </a:r>
            <a:r>
              <a:rPr lang="en-GB" sz="1500" dirty="0">
                <a:solidFill>
                  <a:schemeClr val="dk1"/>
                </a:solidFill>
              </a:rPr>
              <a:t>ransformers</a:t>
            </a:r>
            <a:endParaRPr sz="1500" dirty="0">
              <a:solidFill>
                <a:schemeClr val="dk1"/>
              </a:solidFill>
            </a:endParaRPr>
          </a:p>
          <a:p>
            <a:pPr marL="0" lvl="0" indent="0" algn="l" rtl="0">
              <a:lnSpc>
                <a:spcPct val="115000"/>
              </a:lnSpc>
              <a:spcBef>
                <a:spcPts val="1200"/>
              </a:spcBef>
              <a:spcAft>
                <a:spcPts val="0"/>
              </a:spcAft>
              <a:buNone/>
            </a:pPr>
            <a:r>
              <a:rPr lang="en-GB" sz="1500" dirty="0">
                <a:solidFill>
                  <a:schemeClr val="dk1"/>
                </a:solidFill>
              </a:rPr>
              <a:t>BERT utilizes the </a:t>
            </a:r>
            <a:r>
              <a:rPr lang="en-GB" sz="1500" b="1" dirty="0">
                <a:solidFill>
                  <a:schemeClr val="dk1"/>
                </a:solidFill>
                <a:highlight>
                  <a:srgbClr val="FFFF00"/>
                </a:highlight>
              </a:rPr>
              <a:t>encoder component </a:t>
            </a:r>
            <a:r>
              <a:rPr lang="en-GB" sz="1500" dirty="0">
                <a:solidFill>
                  <a:schemeClr val="dk1"/>
                </a:solidFill>
              </a:rPr>
              <a:t>of the Transformer architecture, which allows it to process text in bidirectional manner. </a:t>
            </a:r>
            <a:endParaRPr sz="1500" dirty="0">
              <a:solidFill>
                <a:schemeClr val="dk1"/>
              </a:solidFill>
            </a:endParaRPr>
          </a:p>
          <a:p>
            <a:pPr marL="0" lvl="0" indent="0" algn="l" rtl="0">
              <a:lnSpc>
                <a:spcPct val="115000"/>
              </a:lnSpc>
              <a:spcBef>
                <a:spcPts val="1200"/>
              </a:spcBef>
              <a:spcAft>
                <a:spcPts val="0"/>
              </a:spcAft>
              <a:buNone/>
            </a:pPr>
            <a:r>
              <a:rPr lang="en-GB" sz="1500" dirty="0">
                <a:solidFill>
                  <a:schemeClr val="dk1"/>
                </a:solidFill>
              </a:rPr>
              <a:t>Unlike traditional models that read text either left-to-right or right-to-left, </a:t>
            </a:r>
            <a:r>
              <a:rPr lang="en-GB" sz="1500" i="1" u="sng" dirty="0">
                <a:solidFill>
                  <a:schemeClr val="dk1"/>
                </a:solidFill>
              </a:rPr>
              <a:t>BERT </a:t>
            </a:r>
            <a:r>
              <a:rPr lang="en-GB" sz="1500" i="1" u="sng" dirty="0" err="1">
                <a:solidFill>
                  <a:schemeClr val="dk1"/>
                </a:solidFill>
              </a:rPr>
              <a:t>analyzes</a:t>
            </a:r>
            <a:r>
              <a:rPr lang="en-GB" sz="1500" i="1" u="sng" dirty="0">
                <a:solidFill>
                  <a:schemeClr val="dk1"/>
                </a:solidFill>
              </a:rPr>
              <a:t> text from both directions simultaneously</a:t>
            </a:r>
            <a:r>
              <a:rPr lang="en-GB" sz="1500" dirty="0">
                <a:solidFill>
                  <a:schemeClr val="dk1"/>
                </a:solidFill>
              </a:rPr>
              <a:t>. </a:t>
            </a:r>
            <a:r>
              <a:rPr lang="en-GB" sz="1500" dirty="0">
                <a:solidFill>
                  <a:schemeClr val="dk1"/>
                </a:solidFill>
                <a:latin typeface="Roboto"/>
                <a:ea typeface="Roboto"/>
                <a:cs typeface="Roboto"/>
                <a:sym typeface="Roboto"/>
              </a:rPr>
              <a:t>This bidirectional approach enables BERT to grasp context more effectively and accurately understand language nuances.</a:t>
            </a:r>
            <a:endParaRPr sz="1500" dirty="0">
              <a:solidFill>
                <a:schemeClr val="dk1"/>
              </a:solidFill>
              <a:latin typeface="Roboto"/>
              <a:ea typeface="Roboto"/>
              <a:cs typeface="Roboto"/>
              <a:sym typeface="Roboto"/>
            </a:endParaRPr>
          </a:p>
          <a:p>
            <a:pPr marL="0" lvl="0" indent="0" algn="l" rtl="0">
              <a:lnSpc>
                <a:spcPct val="115000"/>
              </a:lnSpc>
              <a:spcBef>
                <a:spcPts val="1200"/>
              </a:spcBef>
              <a:spcAft>
                <a:spcPts val="1200"/>
              </a:spcAft>
              <a:buNone/>
            </a:pPr>
            <a:r>
              <a:rPr lang="en-GB" sz="1500" dirty="0">
                <a:solidFill>
                  <a:schemeClr val="dk1"/>
                </a:solidFill>
                <a:latin typeface="Roboto"/>
                <a:ea typeface="Roboto"/>
                <a:cs typeface="Roboto"/>
                <a:sym typeface="Roboto"/>
              </a:rPr>
              <a:t>Introduced by Google AI in October 2018</a:t>
            </a:r>
            <a:endParaRPr sz="1800" dirty="0">
              <a:solidFill>
                <a:schemeClr val="dk1"/>
              </a:solidFill>
              <a:latin typeface="Roboto"/>
              <a:ea typeface="Roboto"/>
              <a:cs typeface="Roboto"/>
              <a:sym typeface="Roboto"/>
            </a:endParaRPr>
          </a:p>
        </p:txBody>
      </p:sp>
      <p:pic>
        <p:nvPicPr>
          <p:cNvPr id="874" name="Google Shape;874;p90"/>
          <p:cNvPicPr preferRelativeResize="0"/>
          <p:nvPr/>
        </p:nvPicPr>
        <p:blipFill rotWithShape="1">
          <a:blip r:embed="rId3">
            <a:alphaModFix/>
          </a:blip>
          <a:srcRect t="17566"/>
          <a:stretch/>
        </p:blipFill>
        <p:spPr>
          <a:xfrm>
            <a:off x="5038225" y="3101551"/>
            <a:ext cx="3126500" cy="1956200"/>
          </a:xfrm>
          <a:prstGeom prst="rect">
            <a:avLst/>
          </a:prstGeom>
          <a:noFill/>
          <a:ln>
            <a:noFill/>
          </a:ln>
        </p:spPr>
      </p:pic>
      <p:sp>
        <p:nvSpPr>
          <p:cNvPr id="2" name="object 6">
            <a:extLst>
              <a:ext uri="{FF2B5EF4-FFF2-40B4-BE49-F238E27FC236}">
                <a16:creationId xmlns:a16="http://schemas.microsoft.com/office/drawing/2014/main" id="{67DB1D20-959E-1138-D01A-794CC4672EEC}"/>
              </a:ext>
            </a:extLst>
          </p:cNvPr>
          <p:cNvSpPr/>
          <p:nvPr/>
        </p:nvSpPr>
        <p:spPr>
          <a:xfrm>
            <a:off x="8304129" y="53623"/>
            <a:ext cx="739525" cy="1172718"/>
          </a:xfrm>
          <a:prstGeom prst="rect">
            <a:avLst/>
          </a:prstGeom>
          <a:blipFill>
            <a:blip r:embed="rId4" cstate="print"/>
            <a:stretch>
              <a:fillRect/>
            </a:stretch>
          </a:blipFill>
        </p:spPr>
        <p:txBody>
          <a:bodyPr wrap="square" lIns="0" tIns="0" rIns="0" bIns="0" rtlCol="0"/>
          <a:lstStyle/>
          <a:p>
            <a:endParaRPr sz="945"/>
          </a:p>
        </p:txBody>
      </p:sp>
      <p:sp>
        <p:nvSpPr>
          <p:cNvPr id="3" name="Google Shape;182;p10">
            <a:extLst>
              <a:ext uri="{FF2B5EF4-FFF2-40B4-BE49-F238E27FC236}">
                <a16:creationId xmlns:a16="http://schemas.microsoft.com/office/drawing/2014/main" id="{BC3C8BBF-71CD-505A-93A2-2AEAB4C4E550}"/>
              </a:ext>
            </a:extLst>
          </p:cNvPr>
          <p:cNvSpPr/>
          <p:nvPr/>
        </p:nvSpPr>
        <p:spPr>
          <a:xfrm>
            <a:off x="294833" y="189181"/>
            <a:ext cx="5622911" cy="346218"/>
          </a:xfrm>
          <a:prstGeom prst="rect">
            <a:avLst/>
          </a:prstGeom>
          <a:noFill/>
          <a:ln>
            <a:noFill/>
          </a:ln>
        </p:spPr>
        <p:txBody>
          <a:bodyPr spcFirstLastPara="1" wrap="square" lIns="68569" tIns="34275" rIns="68569" bIns="34275" anchor="t" anchorCtr="0">
            <a:spAutoFit/>
          </a:bodyPr>
          <a:lstStyle/>
          <a:p>
            <a:r>
              <a:rPr lang="en-US" sz="1800" b="1" dirty="0">
                <a:solidFill>
                  <a:srgbClr val="C00000"/>
                </a:solidFill>
              </a:rPr>
              <a:t>Generative AI and its Applications </a:t>
            </a:r>
          </a:p>
        </p:txBody>
      </p:sp>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371F1F51-2306-357B-900D-2565CDCCF561}"/>
                  </a:ext>
                </a:extLst>
              </p14:cNvPr>
              <p14:cNvContentPartPr/>
              <p14:nvPr/>
            </p14:nvContentPartPr>
            <p14:xfrm>
              <a:off x="2173680" y="2391480"/>
              <a:ext cx="3879360" cy="2324880"/>
            </p14:xfrm>
          </p:contentPart>
        </mc:Choice>
        <mc:Fallback xmlns="">
          <p:pic>
            <p:nvPicPr>
              <p:cNvPr id="4" name="Ink 3">
                <a:extLst>
                  <a:ext uri="{FF2B5EF4-FFF2-40B4-BE49-F238E27FC236}">
                    <a16:creationId xmlns:a16="http://schemas.microsoft.com/office/drawing/2014/main" id="{371F1F51-2306-357B-900D-2565CDCCF561}"/>
                  </a:ext>
                </a:extLst>
              </p:cNvPr>
              <p:cNvPicPr/>
              <p:nvPr/>
            </p:nvPicPr>
            <p:blipFill>
              <a:blip r:embed="rId6"/>
              <a:stretch>
                <a:fillRect/>
              </a:stretch>
            </p:blipFill>
            <p:spPr>
              <a:xfrm>
                <a:off x="2164320" y="2382120"/>
                <a:ext cx="3898080" cy="2343600"/>
              </a:xfrm>
              <a:prstGeom prst="rect">
                <a:avLst/>
              </a:prstGeom>
            </p:spPr>
          </p:pic>
        </mc:Fallback>
      </mc:AlternateContent>
    </p:spTree>
    <p:extLst>
      <p:ext uri="{BB962C8B-B14F-4D97-AF65-F5344CB8AC3E}">
        <p14:creationId xmlns:p14="http://schemas.microsoft.com/office/powerpoint/2010/main" val="6072265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78"/>
        <p:cNvGrpSpPr/>
        <p:nvPr/>
      </p:nvGrpSpPr>
      <p:grpSpPr>
        <a:xfrm>
          <a:off x="0" y="0"/>
          <a:ext cx="0" cy="0"/>
          <a:chOff x="0" y="0"/>
          <a:chExt cx="0" cy="0"/>
        </a:xfrm>
      </p:grpSpPr>
      <p:sp>
        <p:nvSpPr>
          <p:cNvPr id="881" name="Google Shape;881;p91"/>
          <p:cNvSpPr txBox="1"/>
          <p:nvPr/>
        </p:nvSpPr>
        <p:spPr>
          <a:xfrm>
            <a:off x="90950" y="861325"/>
            <a:ext cx="9109200" cy="4228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GB" sz="1500" b="1" dirty="0">
                <a:solidFill>
                  <a:schemeClr val="dk1"/>
                </a:solidFill>
              </a:rPr>
              <a:t>B</a:t>
            </a:r>
            <a:r>
              <a:rPr lang="en-GB" sz="1500" dirty="0">
                <a:solidFill>
                  <a:schemeClr val="dk1"/>
                </a:solidFill>
              </a:rPr>
              <a:t>idirectional </a:t>
            </a:r>
            <a:r>
              <a:rPr lang="en-GB" sz="1500" b="1" dirty="0">
                <a:solidFill>
                  <a:schemeClr val="dk1"/>
                </a:solidFill>
              </a:rPr>
              <a:t>E</a:t>
            </a:r>
            <a:r>
              <a:rPr lang="en-GB" sz="1500" dirty="0">
                <a:solidFill>
                  <a:schemeClr val="dk1"/>
                </a:solidFill>
              </a:rPr>
              <a:t>ncoder </a:t>
            </a:r>
            <a:r>
              <a:rPr lang="en-GB" sz="1500" b="1" dirty="0">
                <a:solidFill>
                  <a:schemeClr val="dk1"/>
                </a:solidFill>
              </a:rPr>
              <a:t>R</a:t>
            </a:r>
            <a:r>
              <a:rPr lang="en-GB" sz="1500" dirty="0">
                <a:solidFill>
                  <a:schemeClr val="dk1"/>
                </a:solidFill>
              </a:rPr>
              <a:t>epresentations from </a:t>
            </a:r>
            <a:r>
              <a:rPr lang="en-GB" sz="1500" b="1" dirty="0">
                <a:solidFill>
                  <a:schemeClr val="dk1"/>
                </a:solidFill>
              </a:rPr>
              <a:t>T</a:t>
            </a:r>
            <a:r>
              <a:rPr lang="en-GB" sz="1500" dirty="0">
                <a:solidFill>
                  <a:schemeClr val="dk1"/>
                </a:solidFill>
              </a:rPr>
              <a:t>ransformers</a:t>
            </a:r>
            <a:endParaRPr sz="1500"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500" b="1" dirty="0">
                <a:solidFill>
                  <a:schemeClr val="dk1"/>
                </a:solidFill>
              </a:rPr>
              <a:t>Example</a:t>
            </a:r>
            <a:r>
              <a:rPr lang="en-GB" sz="1500" dirty="0">
                <a:solidFill>
                  <a:schemeClr val="dk1"/>
                </a:solidFill>
              </a:rPr>
              <a:t>: In "The bank is by the river"</a:t>
            </a:r>
            <a:endParaRPr sz="1500" dirty="0">
              <a:solidFill>
                <a:schemeClr val="dk1"/>
              </a:solidFill>
            </a:endParaRPr>
          </a:p>
          <a:p>
            <a:pPr marL="457200" lvl="0" indent="-323850" algn="l" rtl="0">
              <a:lnSpc>
                <a:spcPct val="115000"/>
              </a:lnSpc>
              <a:spcBef>
                <a:spcPts val="1200"/>
              </a:spcBef>
              <a:spcAft>
                <a:spcPts val="0"/>
              </a:spcAft>
              <a:buClr>
                <a:schemeClr val="dk1"/>
              </a:buClr>
              <a:buSzPts val="1500"/>
              <a:buChar char="●"/>
            </a:pPr>
            <a:r>
              <a:rPr lang="en-GB" sz="1500" dirty="0">
                <a:solidFill>
                  <a:schemeClr val="dk1"/>
                </a:solidFill>
              </a:rPr>
              <a:t>Understands "bank" using both:</a:t>
            </a:r>
            <a:endParaRPr sz="1500" dirty="0">
              <a:solidFill>
                <a:schemeClr val="dk1"/>
              </a:solidFill>
            </a:endParaRPr>
          </a:p>
          <a:p>
            <a:pPr marL="914400" lvl="1" indent="-323850" algn="l" rtl="0">
              <a:lnSpc>
                <a:spcPct val="115000"/>
              </a:lnSpc>
              <a:spcBef>
                <a:spcPts val="0"/>
              </a:spcBef>
              <a:spcAft>
                <a:spcPts val="0"/>
              </a:spcAft>
              <a:buClr>
                <a:schemeClr val="dk1"/>
              </a:buClr>
              <a:buSzPts val="1500"/>
              <a:buChar char="○"/>
            </a:pPr>
            <a:r>
              <a:rPr lang="en-GB" sz="1500" dirty="0">
                <a:solidFill>
                  <a:schemeClr val="dk1"/>
                </a:solidFill>
              </a:rPr>
              <a:t>Previous words: "The"</a:t>
            </a:r>
            <a:endParaRPr sz="1500" dirty="0">
              <a:solidFill>
                <a:schemeClr val="dk1"/>
              </a:solidFill>
            </a:endParaRPr>
          </a:p>
          <a:p>
            <a:pPr marL="914400" lvl="1" indent="-323850" algn="l" rtl="0">
              <a:lnSpc>
                <a:spcPct val="115000"/>
              </a:lnSpc>
              <a:spcBef>
                <a:spcPts val="0"/>
              </a:spcBef>
              <a:spcAft>
                <a:spcPts val="0"/>
              </a:spcAft>
              <a:buClr>
                <a:schemeClr val="dk1"/>
              </a:buClr>
              <a:buSzPts val="1500"/>
              <a:buChar char="○"/>
            </a:pPr>
            <a:r>
              <a:rPr lang="en-GB" sz="1500" dirty="0">
                <a:solidFill>
                  <a:schemeClr val="dk1"/>
                </a:solidFill>
              </a:rPr>
              <a:t>Following words: "is by the river"</a:t>
            </a:r>
            <a:endParaRPr sz="1500" dirty="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1500" dirty="0">
              <a:solidFill>
                <a:schemeClr val="dk1"/>
              </a:solidFill>
            </a:endParaRPr>
          </a:p>
          <a:p>
            <a:pPr marL="0" lvl="0" indent="0" algn="l" rtl="0">
              <a:lnSpc>
                <a:spcPct val="115000"/>
              </a:lnSpc>
              <a:spcBef>
                <a:spcPts val="1200"/>
              </a:spcBef>
              <a:spcAft>
                <a:spcPts val="1200"/>
              </a:spcAft>
              <a:buNone/>
            </a:pPr>
            <a:endParaRPr sz="1500" dirty="0">
              <a:solidFill>
                <a:schemeClr val="dk1"/>
              </a:solidFill>
            </a:endParaRPr>
          </a:p>
        </p:txBody>
      </p:sp>
      <p:pic>
        <p:nvPicPr>
          <p:cNvPr id="883" name="Google Shape;883;p91"/>
          <p:cNvPicPr preferRelativeResize="0"/>
          <p:nvPr/>
        </p:nvPicPr>
        <p:blipFill>
          <a:blip r:embed="rId3">
            <a:alphaModFix/>
          </a:blip>
          <a:stretch>
            <a:fillRect/>
          </a:stretch>
        </p:blipFill>
        <p:spPr>
          <a:xfrm>
            <a:off x="3908900" y="2029850"/>
            <a:ext cx="5084100" cy="2859800"/>
          </a:xfrm>
          <a:prstGeom prst="rect">
            <a:avLst/>
          </a:prstGeom>
          <a:noFill/>
          <a:ln>
            <a:noFill/>
          </a:ln>
        </p:spPr>
      </p:pic>
      <p:sp>
        <p:nvSpPr>
          <p:cNvPr id="2" name="object 6">
            <a:extLst>
              <a:ext uri="{FF2B5EF4-FFF2-40B4-BE49-F238E27FC236}">
                <a16:creationId xmlns:a16="http://schemas.microsoft.com/office/drawing/2014/main" id="{E913F04D-5E97-C8C4-6C08-4A20ACF714E9}"/>
              </a:ext>
            </a:extLst>
          </p:cNvPr>
          <p:cNvSpPr/>
          <p:nvPr/>
        </p:nvSpPr>
        <p:spPr>
          <a:xfrm>
            <a:off x="8304129" y="53623"/>
            <a:ext cx="739525" cy="1172718"/>
          </a:xfrm>
          <a:prstGeom prst="rect">
            <a:avLst/>
          </a:prstGeom>
          <a:blipFill>
            <a:blip r:embed="rId4" cstate="print"/>
            <a:stretch>
              <a:fillRect/>
            </a:stretch>
          </a:blipFill>
        </p:spPr>
        <p:txBody>
          <a:bodyPr wrap="square" lIns="0" tIns="0" rIns="0" bIns="0" rtlCol="0"/>
          <a:lstStyle/>
          <a:p>
            <a:endParaRPr sz="945"/>
          </a:p>
        </p:txBody>
      </p:sp>
      <p:sp>
        <p:nvSpPr>
          <p:cNvPr id="3" name="Google Shape;870;p90">
            <a:extLst>
              <a:ext uri="{FF2B5EF4-FFF2-40B4-BE49-F238E27FC236}">
                <a16:creationId xmlns:a16="http://schemas.microsoft.com/office/drawing/2014/main" id="{3B60255B-354B-3E21-1D92-D60C4BFF0C90}"/>
              </a:ext>
            </a:extLst>
          </p:cNvPr>
          <p:cNvSpPr txBox="1"/>
          <p:nvPr/>
        </p:nvSpPr>
        <p:spPr>
          <a:xfrm>
            <a:off x="294833" y="36229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dirty="0">
                <a:solidFill>
                  <a:srgbClr val="C55A11"/>
                </a:solidFill>
                <a:latin typeface="Calibri"/>
                <a:ea typeface="Calibri"/>
                <a:cs typeface="Calibri"/>
                <a:sym typeface="Calibri"/>
              </a:rPr>
              <a:t>BERT</a:t>
            </a:r>
            <a:endParaRPr sz="1800" dirty="0">
              <a:solidFill>
                <a:schemeClr val="dk2"/>
              </a:solidFill>
            </a:endParaRPr>
          </a:p>
        </p:txBody>
      </p:sp>
      <p:cxnSp>
        <p:nvCxnSpPr>
          <p:cNvPr id="4" name="Google Shape;871;p90">
            <a:extLst>
              <a:ext uri="{FF2B5EF4-FFF2-40B4-BE49-F238E27FC236}">
                <a16:creationId xmlns:a16="http://schemas.microsoft.com/office/drawing/2014/main" id="{5469BEA8-0C67-2887-1A72-EB5F39273719}"/>
              </a:ext>
            </a:extLst>
          </p:cNvPr>
          <p:cNvCxnSpPr/>
          <p:nvPr/>
        </p:nvCxnSpPr>
        <p:spPr>
          <a:xfrm>
            <a:off x="0" y="828850"/>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5" name="Google Shape;182;p10">
            <a:extLst>
              <a:ext uri="{FF2B5EF4-FFF2-40B4-BE49-F238E27FC236}">
                <a16:creationId xmlns:a16="http://schemas.microsoft.com/office/drawing/2014/main" id="{DBA53BD9-C4AD-4813-0651-7A3820272894}"/>
              </a:ext>
            </a:extLst>
          </p:cNvPr>
          <p:cNvSpPr/>
          <p:nvPr/>
        </p:nvSpPr>
        <p:spPr>
          <a:xfrm>
            <a:off x="294833" y="189181"/>
            <a:ext cx="5622911" cy="346218"/>
          </a:xfrm>
          <a:prstGeom prst="rect">
            <a:avLst/>
          </a:prstGeom>
          <a:noFill/>
          <a:ln>
            <a:noFill/>
          </a:ln>
        </p:spPr>
        <p:txBody>
          <a:bodyPr spcFirstLastPara="1" wrap="square" lIns="68569" tIns="34275" rIns="68569" bIns="34275" anchor="t" anchorCtr="0">
            <a:spAutoFit/>
          </a:bodyPr>
          <a:lstStyle/>
          <a:p>
            <a:r>
              <a:rPr lang="en-US" sz="1800" b="1" dirty="0">
                <a:solidFill>
                  <a:srgbClr val="C00000"/>
                </a:solidFill>
              </a:rPr>
              <a:t>Generative AI and its Applications </a:t>
            </a:r>
          </a:p>
        </p:txBody>
      </p:sp>
    </p:spTree>
    <p:extLst>
      <p:ext uri="{BB962C8B-B14F-4D97-AF65-F5344CB8AC3E}">
        <p14:creationId xmlns:p14="http://schemas.microsoft.com/office/powerpoint/2010/main" val="16639386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sp>
        <p:nvSpPr>
          <p:cNvPr id="916" name="Google Shape;916;p95"/>
          <p:cNvSpPr txBox="1"/>
          <p:nvPr/>
        </p:nvSpPr>
        <p:spPr>
          <a:xfrm>
            <a:off x="433850" y="794679"/>
            <a:ext cx="7036471" cy="42285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1200"/>
              </a:spcBef>
              <a:spcAft>
                <a:spcPts val="0"/>
              </a:spcAft>
              <a:buClr>
                <a:schemeClr val="dk1"/>
              </a:buClr>
              <a:buSzPts val="1100"/>
              <a:buFont typeface="Arial"/>
              <a:buNone/>
            </a:pPr>
            <a:r>
              <a:rPr lang="en-GB" sz="2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Roboto"/>
              </a:rPr>
              <a:t>Architecture</a:t>
            </a:r>
            <a:endParaRPr sz="2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Roboto"/>
            </a:endParaRPr>
          </a:p>
          <a:p>
            <a:pPr marL="0" lvl="0" indent="0" algn="just" rtl="0">
              <a:lnSpc>
                <a:spcPct val="115000"/>
              </a:lnSpc>
              <a:spcBef>
                <a:spcPts val="1200"/>
              </a:spcBef>
              <a:spcAft>
                <a:spcPts val="0"/>
              </a:spcAft>
              <a:buClr>
                <a:schemeClr val="dk1"/>
              </a:buClr>
              <a:buSzPts val="1100"/>
              <a:buFont typeface="Arial"/>
              <a:buNone/>
            </a:pPr>
            <a:r>
              <a:rPr lang="en-GB"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Roboto"/>
              </a:rPr>
              <a:t>BERT uses an </a:t>
            </a:r>
            <a:r>
              <a:rPr lang="en-GB" sz="20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a:rPr>
              <a:t>encoder-only transformer </a:t>
            </a:r>
            <a:r>
              <a:rPr lang="en-GB"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Roboto"/>
              </a:rPr>
              <a:t>architecture consisting </a:t>
            </a:r>
            <a:br>
              <a:rPr lang="en-GB"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Roboto"/>
              </a:rPr>
            </a:br>
            <a:r>
              <a:rPr lang="en-GB"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Roboto"/>
              </a:rPr>
              <a:t>of four key modules:</a:t>
            </a:r>
            <a:endParaRPr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Roboto"/>
            </a:endParaRPr>
          </a:p>
          <a:p>
            <a:pPr marL="457200" lvl="0" indent="-323850" algn="just" rtl="0">
              <a:lnSpc>
                <a:spcPct val="115000"/>
              </a:lnSpc>
              <a:spcBef>
                <a:spcPts val="1200"/>
              </a:spcBef>
              <a:spcAft>
                <a:spcPts val="0"/>
              </a:spcAft>
              <a:buClr>
                <a:schemeClr val="dk1"/>
              </a:buClr>
              <a:buSzPts val="1500"/>
              <a:buFont typeface="Roboto"/>
              <a:buChar char="●"/>
            </a:pPr>
            <a:r>
              <a:rPr lang="en-GB"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Roboto"/>
              </a:rPr>
              <a:t>A </a:t>
            </a:r>
            <a:r>
              <a:rPr lang="en-GB" sz="2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Roboto"/>
              </a:rPr>
              <a:t>tokenizer</a:t>
            </a:r>
            <a:r>
              <a:rPr lang="en-GB"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Roboto"/>
              </a:rPr>
              <a:t> that </a:t>
            </a:r>
            <a:r>
              <a:rPr lang="en-GB" sz="2000" dirty="0">
                <a:solidFill>
                  <a:srgbClr val="FF0000"/>
                </a:solidFill>
                <a:latin typeface="Calibri" panose="020F0502020204030204" pitchFamily="34" charset="0"/>
                <a:ea typeface="Calibri" panose="020F0502020204030204" pitchFamily="34" charset="0"/>
                <a:cs typeface="Calibri" panose="020F0502020204030204" pitchFamily="34" charset="0"/>
                <a:sym typeface="Roboto"/>
              </a:rPr>
              <a:t>converts text </a:t>
            </a:r>
            <a:r>
              <a:rPr lang="en-GB"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Roboto"/>
              </a:rPr>
              <a:t>into </a:t>
            </a:r>
            <a:r>
              <a:rPr lang="en-GB" sz="2000" dirty="0">
                <a:solidFill>
                  <a:srgbClr val="FF0000"/>
                </a:solidFill>
                <a:latin typeface="Calibri" panose="020F0502020204030204" pitchFamily="34" charset="0"/>
                <a:ea typeface="Calibri" panose="020F0502020204030204" pitchFamily="34" charset="0"/>
                <a:cs typeface="Calibri" panose="020F0502020204030204" pitchFamily="34" charset="0"/>
                <a:sym typeface="Roboto"/>
              </a:rPr>
              <a:t>integer sequences</a:t>
            </a:r>
            <a:r>
              <a:rPr lang="en-GB"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Roboto"/>
              </a:rPr>
              <a:t>.</a:t>
            </a:r>
            <a:endParaRPr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Roboto"/>
            </a:endParaRPr>
          </a:p>
          <a:p>
            <a:pPr marL="457200" lvl="0" indent="-323850" algn="just" rtl="0">
              <a:lnSpc>
                <a:spcPct val="115000"/>
              </a:lnSpc>
              <a:spcBef>
                <a:spcPts val="0"/>
              </a:spcBef>
              <a:spcAft>
                <a:spcPts val="0"/>
              </a:spcAft>
              <a:buClr>
                <a:schemeClr val="dk1"/>
              </a:buClr>
              <a:buSzPts val="1500"/>
              <a:buFont typeface="Roboto"/>
              <a:buChar char="●"/>
            </a:pPr>
            <a:r>
              <a:rPr lang="en-GB"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Roboto"/>
              </a:rPr>
              <a:t>An </a:t>
            </a:r>
            <a:r>
              <a:rPr lang="en-GB" sz="2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Roboto"/>
              </a:rPr>
              <a:t>embedding layer </a:t>
            </a:r>
            <a:r>
              <a:rPr lang="en-GB"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Roboto"/>
              </a:rPr>
              <a:t>that transforms </a:t>
            </a:r>
            <a:r>
              <a:rPr lang="en-GB" sz="2000" dirty="0">
                <a:solidFill>
                  <a:srgbClr val="FF33CC"/>
                </a:solidFill>
                <a:latin typeface="Calibri" panose="020F0502020204030204" pitchFamily="34" charset="0"/>
                <a:ea typeface="Calibri" panose="020F0502020204030204" pitchFamily="34" charset="0"/>
                <a:cs typeface="Calibri" panose="020F0502020204030204" pitchFamily="34" charset="0"/>
                <a:sym typeface="Roboto"/>
              </a:rPr>
              <a:t>tokens into vectors embeddings.</a:t>
            </a:r>
            <a:endParaRPr sz="2000" dirty="0">
              <a:solidFill>
                <a:srgbClr val="FF33CC"/>
              </a:solidFill>
              <a:latin typeface="Calibri" panose="020F0502020204030204" pitchFamily="34" charset="0"/>
              <a:ea typeface="Calibri" panose="020F0502020204030204" pitchFamily="34" charset="0"/>
              <a:cs typeface="Calibri" panose="020F0502020204030204" pitchFamily="34" charset="0"/>
              <a:sym typeface="Roboto"/>
            </a:endParaRPr>
          </a:p>
          <a:p>
            <a:pPr marL="457200" lvl="0" indent="-323850" algn="just" rtl="0">
              <a:lnSpc>
                <a:spcPct val="115000"/>
              </a:lnSpc>
              <a:spcBef>
                <a:spcPts val="0"/>
              </a:spcBef>
              <a:spcAft>
                <a:spcPts val="0"/>
              </a:spcAft>
              <a:buClr>
                <a:schemeClr val="dk1"/>
              </a:buClr>
              <a:buSzPts val="1500"/>
              <a:buFont typeface="Roboto"/>
              <a:buChar char="●"/>
            </a:pPr>
            <a:r>
              <a:rPr lang="en-GB"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Roboto"/>
              </a:rPr>
              <a:t>A </a:t>
            </a:r>
            <a:r>
              <a:rPr lang="en-GB" sz="2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Roboto"/>
              </a:rPr>
              <a:t>transformer encoder </a:t>
            </a:r>
            <a:r>
              <a:rPr lang="en-GB"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Roboto"/>
              </a:rPr>
              <a:t>stack with self-attention.</a:t>
            </a:r>
            <a:endParaRPr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Roboto"/>
            </a:endParaRPr>
          </a:p>
          <a:p>
            <a:pPr marL="457200" lvl="0" indent="-323850" algn="just" rtl="0">
              <a:lnSpc>
                <a:spcPct val="115000"/>
              </a:lnSpc>
              <a:spcBef>
                <a:spcPts val="0"/>
              </a:spcBef>
              <a:spcAft>
                <a:spcPts val="0"/>
              </a:spcAft>
              <a:buClr>
                <a:schemeClr val="dk1"/>
              </a:buClr>
              <a:buSzPts val="1500"/>
              <a:buFont typeface="Roboto"/>
              <a:buChar char="●"/>
            </a:pPr>
            <a:r>
              <a:rPr lang="en-GB"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Roboto"/>
              </a:rPr>
              <a:t>A task head that produces </a:t>
            </a:r>
            <a:r>
              <a:rPr lang="en-GB" sz="2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Roboto"/>
              </a:rPr>
              <a:t>probability distributions </a:t>
            </a:r>
            <a:br>
              <a:rPr lang="en-GB"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Roboto"/>
              </a:rPr>
            </a:br>
            <a:r>
              <a:rPr lang="en-GB" sz="2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Roboto"/>
              </a:rPr>
              <a:t>over tokens.</a:t>
            </a:r>
            <a:endParaRPr sz="2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Roboto"/>
            </a:endParaRPr>
          </a:p>
          <a:p>
            <a:pPr marL="0" lvl="0" indent="0" algn="l" rtl="0">
              <a:lnSpc>
                <a:spcPct val="115000"/>
              </a:lnSpc>
              <a:spcBef>
                <a:spcPts val="1200"/>
              </a:spcBef>
              <a:spcAft>
                <a:spcPts val="0"/>
              </a:spcAft>
              <a:buNone/>
            </a:pPr>
            <a:endParaRPr sz="1500" dirty="0">
              <a:solidFill>
                <a:schemeClr val="dk1"/>
              </a:solidFill>
            </a:endParaRPr>
          </a:p>
          <a:p>
            <a:pPr marL="0" lvl="0" indent="0" algn="l" rtl="0">
              <a:lnSpc>
                <a:spcPct val="115000"/>
              </a:lnSpc>
              <a:spcBef>
                <a:spcPts val="1200"/>
              </a:spcBef>
              <a:spcAft>
                <a:spcPts val="1200"/>
              </a:spcAft>
              <a:buNone/>
            </a:pPr>
            <a:endParaRPr sz="1500" dirty="0">
              <a:solidFill>
                <a:schemeClr val="dk1"/>
              </a:solidFill>
            </a:endParaRPr>
          </a:p>
        </p:txBody>
      </p:sp>
      <p:sp>
        <p:nvSpPr>
          <p:cNvPr id="2" name="object 6">
            <a:extLst>
              <a:ext uri="{FF2B5EF4-FFF2-40B4-BE49-F238E27FC236}">
                <a16:creationId xmlns:a16="http://schemas.microsoft.com/office/drawing/2014/main" id="{8F45888D-B9CB-CC7A-C91C-237F9FFE2D12}"/>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sp>
        <p:nvSpPr>
          <p:cNvPr id="3" name="Google Shape;870;p90">
            <a:extLst>
              <a:ext uri="{FF2B5EF4-FFF2-40B4-BE49-F238E27FC236}">
                <a16:creationId xmlns:a16="http://schemas.microsoft.com/office/drawing/2014/main" id="{838B285F-73E3-BCDA-74B2-652B3540F1A8}"/>
              </a:ext>
            </a:extLst>
          </p:cNvPr>
          <p:cNvSpPr txBox="1"/>
          <p:nvPr/>
        </p:nvSpPr>
        <p:spPr>
          <a:xfrm>
            <a:off x="294833" y="36229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dirty="0">
                <a:solidFill>
                  <a:srgbClr val="C55A11"/>
                </a:solidFill>
                <a:latin typeface="Calibri"/>
                <a:ea typeface="Calibri"/>
                <a:cs typeface="Calibri"/>
                <a:sym typeface="Calibri"/>
              </a:rPr>
              <a:t>BERT</a:t>
            </a:r>
            <a:endParaRPr sz="1800" dirty="0">
              <a:solidFill>
                <a:schemeClr val="dk2"/>
              </a:solidFill>
            </a:endParaRPr>
          </a:p>
        </p:txBody>
      </p:sp>
      <p:cxnSp>
        <p:nvCxnSpPr>
          <p:cNvPr id="4" name="Google Shape;871;p90">
            <a:extLst>
              <a:ext uri="{FF2B5EF4-FFF2-40B4-BE49-F238E27FC236}">
                <a16:creationId xmlns:a16="http://schemas.microsoft.com/office/drawing/2014/main" id="{DE22987A-2823-5ABC-91C2-AE55A046F255}"/>
              </a:ext>
            </a:extLst>
          </p:cNvPr>
          <p:cNvCxnSpPr/>
          <p:nvPr/>
        </p:nvCxnSpPr>
        <p:spPr>
          <a:xfrm>
            <a:off x="0" y="828850"/>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5" name="Google Shape;182;p10">
            <a:extLst>
              <a:ext uri="{FF2B5EF4-FFF2-40B4-BE49-F238E27FC236}">
                <a16:creationId xmlns:a16="http://schemas.microsoft.com/office/drawing/2014/main" id="{28C156AD-334D-C313-E0E2-918E68B6A7C5}"/>
              </a:ext>
            </a:extLst>
          </p:cNvPr>
          <p:cNvSpPr/>
          <p:nvPr/>
        </p:nvSpPr>
        <p:spPr>
          <a:xfrm>
            <a:off x="294833" y="189181"/>
            <a:ext cx="5622911" cy="346218"/>
          </a:xfrm>
          <a:prstGeom prst="rect">
            <a:avLst/>
          </a:prstGeom>
          <a:noFill/>
          <a:ln>
            <a:noFill/>
          </a:ln>
        </p:spPr>
        <p:txBody>
          <a:bodyPr spcFirstLastPara="1" wrap="square" lIns="68569" tIns="34275" rIns="68569" bIns="34275" anchor="t" anchorCtr="0">
            <a:spAutoFit/>
          </a:bodyPr>
          <a:lstStyle/>
          <a:p>
            <a:r>
              <a:rPr lang="en-US" sz="1800" b="1" dirty="0">
                <a:solidFill>
                  <a:srgbClr val="C00000"/>
                </a:solidFill>
              </a:rPr>
              <a:t>Generative AI and its Applications </a:t>
            </a:r>
          </a:p>
        </p:txBody>
      </p:sp>
    </p:spTree>
    <p:extLst>
      <p:ext uri="{BB962C8B-B14F-4D97-AF65-F5344CB8AC3E}">
        <p14:creationId xmlns:p14="http://schemas.microsoft.com/office/powerpoint/2010/main" val="35043775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cxnSp>
        <p:nvCxnSpPr>
          <p:cNvPr id="126" name="Google Shape;126;p4"/>
          <p:cNvCxnSpPr/>
          <p:nvPr/>
        </p:nvCxnSpPr>
        <p:spPr>
          <a:xfrm>
            <a:off x="-6231" y="987344"/>
            <a:ext cx="6225039" cy="0"/>
          </a:xfrm>
          <a:prstGeom prst="straightConnector1">
            <a:avLst/>
          </a:prstGeom>
          <a:noFill/>
          <a:ln w="38100" cap="flat" cmpd="sng">
            <a:solidFill>
              <a:srgbClr val="C55A11"/>
            </a:solidFill>
            <a:prstDash val="solid"/>
            <a:miter lim="800000"/>
            <a:headEnd type="none" w="sm" len="sm"/>
            <a:tailEnd type="none" w="sm" len="sm"/>
          </a:ln>
        </p:spPr>
      </p:cxnSp>
      <p:sp>
        <p:nvSpPr>
          <p:cNvPr id="130" name="Google Shape;130;p4"/>
          <p:cNvSpPr txBox="1"/>
          <p:nvPr/>
        </p:nvSpPr>
        <p:spPr>
          <a:xfrm>
            <a:off x="214741" y="1118299"/>
            <a:ext cx="8189787" cy="4866695"/>
          </a:xfrm>
          <a:prstGeom prst="rect">
            <a:avLst/>
          </a:prstGeom>
          <a:noFill/>
          <a:ln>
            <a:noFill/>
          </a:ln>
        </p:spPr>
        <p:txBody>
          <a:bodyPr spcFirstLastPara="1" wrap="square" lIns="68569" tIns="68569" rIns="68569" bIns="68569" anchor="t" anchorCtr="0">
            <a:spAutoFit/>
          </a:bodyPr>
          <a:lstStyle/>
          <a:p>
            <a:pPr marL="342900" algn="just"/>
            <a:endParaRPr sz="1800" dirty="0">
              <a:solidFill>
                <a:srgbClr val="1A1A1A"/>
              </a:solidFill>
              <a:highlight>
                <a:srgbClr val="FFFFFF"/>
              </a:highlight>
              <a:latin typeface="Calibri" panose="020F0502020204030204" pitchFamily="34" charset="0"/>
              <a:cs typeface="Calibri" panose="020F0502020204030204" pitchFamily="34" charset="0"/>
            </a:endParaRPr>
          </a:p>
          <a:p>
            <a:pPr marL="342900" indent="-238125">
              <a:buSzPts val="1400"/>
              <a:buFont typeface="Calibri"/>
              <a:buChar char="●"/>
            </a:pPr>
            <a:r>
              <a:rPr lang="en-US" sz="1800" dirty="0">
                <a:solidFill>
                  <a:srgbClr val="1A1A1A"/>
                </a:solidFill>
                <a:highlight>
                  <a:srgbClr val="FFFFFF"/>
                </a:highlight>
                <a:latin typeface="Calibri" panose="020F0502020204030204" pitchFamily="34" charset="0"/>
                <a:cs typeface="Calibri" panose="020F0502020204030204" pitchFamily="34" charset="0"/>
              </a:rPr>
              <a:t>BERT has been </a:t>
            </a:r>
          </a:p>
          <a:p>
            <a:pPr marL="104775">
              <a:buSzPts val="1400"/>
            </a:pPr>
            <a:r>
              <a:rPr lang="en-US" sz="1800" dirty="0">
                <a:solidFill>
                  <a:srgbClr val="1A1A1A"/>
                </a:solidFill>
                <a:highlight>
                  <a:srgbClr val="FFFFFF"/>
                </a:highlight>
                <a:latin typeface="Calibri" panose="020F0502020204030204" pitchFamily="34" charset="0"/>
                <a:cs typeface="Calibri" panose="020F0502020204030204" pitchFamily="34" charset="0"/>
              </a:rPr>
              <a:t>                  pre-trained on Wikipedia,</a:t>
            </a:r>
          </a:p>
          <a:p>
            <a:pPr marL="104775">
              <a:buSzPts val="1400"/>
            </a:pPr>
            <a:r>
              <a:rPr lang="en-US" sz="1800" dirty="0">
                <a:solidFill>
                  <a:srgbClr val="1A1A1A"/>
                </a:solidFill>
                <a:highlight>
                  <a:srgbClr val="FFFFFF"/>
                </a:highlight>
                <a:latin typeface="Calibri" panose="020F0502020204030204" pitchFamily="34" charset="0"/>
                <a:cs typeface="Calibri" panose="020F0502020204030204" pitchFamily="34" charset="0"/>
              </a:rPr>
              <a:t>                  it is fine-tuned on </a:t>
            </a:r>
            <a:r>
              <a:rPr lang="en-US" sz="1800" i="1" dirty="0">
                <a:solidFill>
                  <a:srgbClr val="1A1A1A"/>
                </a:solidFill>
                <a:highlight>
                  <a:srgbClr val="FFFFFF"/>
                </a:highlight>
                <a:latin typeface="Calibri" panose="020F0502020204030204" pitchFamily="34" charset="0"/>
                <a:cs typeface="Calibri" panose="020F0502020204030204" pitchFamily="34" charset="0"/>
              </a:rPr>
              <a:t>questions and answers </a:t>
            </a:r>
            <a:r>
              <a:rPr lang="en-US" sz="1800" dirty="0">
                <a:solidFill>
                  <a:srgbClr val="1A1A1A"/>
                </a:solidFill>
                <a:highlight>
                  <a:srgbClr val="FFFFFF"/>
                </a:highlight>
                <a:latin typeface="Calibri" panose="020F0502020204030204" pitchFamily="34" charset="0"/>
                <a:cs typeface="Calibri" panose="020F0502020204030204" pitchFamily="34" charset="0"/>
              </a:rPr>
              <a:t>datasets.</a:t>
            </a:r>
          </a:p>
          <a:p>
            <a:pPr marL="104775">
              <a:buSzPts val="1400"/>
            </a:pPr>
            <a:endParaRPr lang="en-US" sz="1800" dirty="0">
              <a:solidFill>
                <a:srgbClr val="1A1A1A"/>
              </a:solidFill>
              <a:highlight>
                <a:srgbClr val="FFFFFF"/>
              </a:highlight>
              <a:latin typeface="Calibri" panose="020F0502020204030204" pitchFamily="34" charset="0"/>
              <a:cs typeface="Calibri" panose="020F0502020204030204" pitchFamily="34" charset="0"/>
            </a:endParaRPr>
          </a:p>
          <a:p>
            <a:pPr marL="342900" indent="-257175">
              <a:buClr>
                <a:srgbClr val="1A1A1A"/>
              </a:buClr>
              <a:buSzPts val="1800"/>
              <a:buChar char="●"/>
            </a:pPr>
            <a:r>
              <a:rPr lang="en-US" sz="1800" dirty="0">
                <a:solidFill>
                  <a:srgbClr val="1A1A1A"/>
                </a:solidFill>
                <a:highlight>
                  <a:srgbClr val="FFFFFF"/>
                </a:highlight>
                <a:latin typeface="Calibri" panose="020F0502020204030204" pitchFamily="34" charset="0"/>
                <a:cs typeface="Calibri" panose="020F0502020204030204" pitchFamily="34" charset="0"/>
              </a:rPr>
              <a:t>Researchers also compete over Natural Language Understanding with </a:t>
            </a:r>
            <a:r>
              <a:rPr lang="en-US" sz="1800" dirty="0" err="1">
                <a:solidFill>
                  <a:srgbClr val="1A1A1A"/>
                </a:solidFill>
                <a:highlight>
                  <a:srgbClr val="FFFFFF"/>
                </a:highlight>
                <a:latin typeface="Calibri" panose="020F0502020204030204" pitchFamily="34" charset="0"/>
                <a:cs typeface="Calibri" panose="020F0502020204030204" pitchFamily="34" charset="0"/>
              </a:rPr>
              <a:t>SQuAD</a:t>
            </a:r>
            <a:r>
              <a:rPr lang="en-US" sz="1800" dirty="0">
                <a:solidFill>
                  <a:srgbClr val="1A1A1A"/>
                </a:solidFill>
                <a:highlight>
                  <a:srgbClr val="FFFFFF"/>
                </a:highlight>
                <a:latin typeface="Calibri" panose="020F0502020204030204" pitchFamily="34" charset="0"/>
                <a:cs typeface="Calibri" panose="020F0502020204030204" pitchFamily="34" charset="0"/>
              </a:rPr>
              <a:t> (Stanford Question Answering Dataset). </a:t>
            </a:r>
          </a:p>
          <a:p>
            <a:pPr marL="342900" indent="-257175">
              <a:buClr>
                <a:srgbClr val="1A1A1A"/>
              </a:buClr>
              <a:buSzPts val="1800"/>
              <a:buChar char="●"/>
            </a:pPr>
            <a:endParaRPr lang="en-US" sz="1800" dirty="0">
              <a:solidFill>
                <a:srgbClr val="1A1A1A"/>
              </a:solidFill>
              <a:highlight>
                <a:srgbClr val="FFFFFF"/>
              </a:highlight>
              <a:latin typeface="Calibri" panose="020F0502020204030204" pitchFamily="34" charset="0"/>
              <a:cs typeface="Calibri" panose="020F0502020204030204" pitchFamily="34" charset="0"/>
            </a:endParaRPr>
          </a:p>
          <a:p>
            <a:pPr marL="342900" indent="-257175">
              <a:buClr>
                <a:srgbClr val="1A1A1A"/>
              </a:buClr>
              <a:buSzPts val="1800"/>
              <a:buChar char="●"/>
            </a:pPr>
            <a:r>
              <a:rPr lang="en-US" sz="1800" dirty="0">
                <a:solidFill>
                  <a:srgbClr val="1A1A1A"/>
                </a:solidFill>
                <a:highlight>
                  <a:srgbClr val="FFFFFF"/>
                </a:highlight>
                <a:latin typeface="Calibri" panose="020F0502020204030204" pitchFamily="34" charset="0"/>
                <a:cs typeface="Calibri" panose="020F0502020204030204" pitchFamily="34" charset="0"/>
              </a:rPr>
              <a:t>BERT now even beats the human reasoning benchmark on SQuAD.</a:t>
            </a:r>
          </a:p>
          <a:p>
            <a:pPr marL="342900" indent="-257175">
              <a:buClr>
                <a:srgbClr val="1A1A1A"/>
              </a:buClr>
              <a:buSzPts val="1800"/>
              <a:buChar char="●"/>
            </a:pPr>
            <a:r>
              <a:rPr lang="en-IN" sz="2000" kern="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Strengths:</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Excellent at understanding context, bidirectional representation, strong performance on various NLP tasks.</a:t>
            </a:r>
          </a:p>
          <a:p>
            <a:pPr marL="342900" indent="-257175">
              <a:buClr>
                <a:srgbClr val="1A1A1A"/>
              </a:buClr>
              <a:buSzPts val="1800"/>
              <a:buChar char="●"/>
            </a:pPr>
            <a:r>
              <a:rPr lang="en-IN" sz="2000" kern="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Weaknesses:</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Not designed for text generation, limited to understanding tasks.</a:t>
            </a:r>
          </a:p>
          <a:p>
            <a:pPr marL="342900" indent="-257175">
              <a:buClr>
                <a:srgbClr val="1A1A1A"/>
              </a:buClr>
              <a:buSzPts val="1800"/>
              <a:buChar char="●"/>
            </a:pPr>
            <a:endParaRPr lang="en-US" sz="1800" dirty="0">
              <a:solidFill>
                <a:srgbClr val="1A1A1A"/>
              </a:solidFill>
              <a:highlight>
                <a:srgbClr val="FFFFFF"/>
              </a:highlight>
              <a:latin typeface="Calibri" panose="020F0502020204030204" pitchFamily="34" charset="0"/>
              <a:cs typeface="Calibri" panose="020F0502020204030204" pitchFamily="34" charset="0"/>
            </a:endParaRPr>
          </a:p>
          <a:p>
            <a:pPr lvl="0">
              <a:lnSpc>
                <a:spcPct val="115000"/>
              </a:lnSpc>
            </a:pPr>
            <a:endParaRPr lang="en-US" sz="1500" dirty="0">
              <a:solidFill>
                <a:srgbClr val="989898"/>
              </a:solidFill>
              <a:highlight>
                <a:srgbClr val="FFFFFF"/>
              </a:highlight>
              <a:latin typeface="Calibri" panose="020F0502020204030204" pitchFamily="34" charset="0"/>
              <a:cs typeface="Calibri" panose="020F0502020204030204" pitchFamily="34" charset="0"/>
            </a:endParaRPr>
          </a:p>
          <a:p>
            <a:pPr marL="104775">
              <a:buSzPts val="1400"/>
            </a:pPr>
            <a:endParaRPr lang="en-US" sz="1500" dirty="0">
              <a:solidFill>
                <a:srgbClr val="1A1A1A"/>
              </a:solidFill>
              <a:highlight>
                <a:srgbClr val="FFFFFF"/>
              </a:highlight>
              <a:latin typeface="Calibri" panose="020F0502020204030204" pitchFamily="34" charset="0"/>
              <a:cs typeface="Calibri" panose="020F0502020204030204" pitchFamily="34" charset="0"/>
            </a:endParaRPr>
          </a:p>
          <a:p>
            <a:pPr marL="342900"/>
            <a:endParaRPr sz="1500" dirty="0">
              <a:solidFill>
                <a:srgbClr val="1A1A1A"/>
              </a:solidFill>
              <a:highlight>
                <a:srgbClr val="FFFFFF"/>
              </a:highlight>
              <a:latin typeface="Calibri" panose="020F0502020204030204" pitchFamily="34" charset="0"/>
              <a:cs typeface="Calibri" panose="020F0502020204030204" pitchFamily="34" charset="0"/>
            </a:endParaRPr>
          </a:p>
        </p:txBody>
      </p:sp>
      <p:sp>
        <p:nvSpPr>
          <p:cNvPr id="2" name="object 6">
            <a:extLst>
              <a:ext uri="{FF2B5EF4-FFF2-40B4-BE49-F238E27FC236}">
                <a16:creationId xmlns:a16="http://schemas.microsoft.com/office/drawing/2014/main" id="{38121B8B-BA7A-A2E7-2AF4-7E9C84DA09A6}"/>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sp>
        <p:nvSpPr>
          <p:cNvPr id="3" name="Google Shape;870;p90">
            <a:extLst>
              <a:ext uri="{FF2B5EF4-FFF2-40B4-BE49-F238E27FC236}">
                <a16:creationId xmlns:a16="http://schemas.microsoft.com/office/drawing/2014/main" id="{986723EC-BB95-7C45-3846-0BCDB293E923}"/>
              </a:ext>
            </a:extLst>
          </p:cNvPr>
          <p:cNvSpPr txBox="1"/>
          <p:nvPr/>
        </p:nvSpPr>
        <p:spPr>
          <a:xfrm>
            <a:off x="294833" y="36229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dirty="0">
                <a:solidFill>
                  <a:srgbClr val="C55A11"/>
                </a:solidFill>
                <a:latin typeface="Calibri"/>
                <a:ea typeface="Calibri"/>
                <a:cs typeface="Calibri"/>
                <a:sym typeface="Calibri"/>
              </a:rPr>
              <a:t>BERT : Overview</a:t>
            </a:r>
            <a:endParaRPr sz="1800" dirty="0">
              <a:solidFill>
                <a:schemeClr val="dk2"/>
              </a:solidFill>
            </a:endParaRPr>
          </a:p>
        </p:txBody>
      </p:sp>
      <p:cxnSp>
        <p:nvCxnSpPr>
          <p:cNvPr id="4" name="Google Shape;871;p90">
            <a:extLst>
              <a:ext uri="{FF2B5EF4-FFF2-40B4-BE49-F238E27FC236}">
                <a16:creationId xmlns:a16="http://schemas.microsoft.com/office/drawing/2014/main" id="{6A72EB70-403C-7350-FDD7-0F0721201904}"/>
              </a:ext>
            </a:extLst>
          </p:cNvPr>
          <p:cNvCxnSpPr/>
          <p:nvPr/>
        </p:nvCxnSpPr>
        <p:spPr>
          <a:xfrm>
            <a:off x="0" y="828850"/>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5" name="Google Shape;182;p10">
            <a:extLst>
              <a:ext uri="{FF2B5EF4-FFF2-40B4-BE49-F238E27FC236}">
                <a16:creationId xmlns:a16="http://schemas.microsoft.com/office/drawing/2014/main" id="{86C06FBA-D360-EF13-80D9-AC1EC94BE2EF}"/>
              </a:ext>
            </a:extLst>
          </p:cNvPr>
          <p:cNvSpPr/>
          <p:nvPr/>
        </p:nvSpPr>
        <p:spPr>
          <a:xfrm>
            <a:off x="294833" y="189181"/>
            <a:ext cx="5622911" cy="346218"/>
          </a:xfrm>
          <a:prstGeom prst="rect">
            <a:avLst/>
          </a:prstGeom>
          <a:noFill/>
          <a:ln>
            <a:noFill/>
          </a:ln>
        </p:spPr>
        <p:txBody>
          <a:bodyPr spcFirstLastPara="1" wrap="square" lIns="68569" tIns="34275" rIns="68569" bIns="34275" anchor="t" anchorCtr="0">
            <a:spAutoFit/>
          </a:bodyPr>
          <a:lstStyle/>
          <a:p>
            <a:r>
              <a:rPr lang="en-US" sz="1800" b="1" dirty="0">
                <a:solidFill>
                  <a:srgbClr val="C00000"/>
                </a:solidFill>
              </a:rPr>
              <a:t>Generative AI and its Applications </a:t>
            </a:r>
          </a:p>
        </p:txBody>
      </p:sp>
    </p:spTree>
    <p:extLst>
      <p:ext uri="{BB962C8B-B14F-4D97-AF65-F5344CB8AC3E}">
        <p14:creationId xmlns:p14="http://schemas.microsoft.com/office/powerpoint/2010/main" val="32339456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87"/>
        <p:cNvGrpSpPr/>
        <p:nvPr/>
      </p:nvGrpSpPr>
      <p:grpSpPr>
        <a:xfrm>
          <a:off x="0" y="0"/>
          <a:ext cx="0" cy="0"/>
          <a:chOff x="0" y="0"/>
          <a:chExt cx="0" cy="0"/>
        </a:xfrm>
      </p:grpSpPr>
      <p:sp>
        <p:nvSpPr>
          <p:cNvPr id="890" name="Google Shape;890;p92"/>
          <p:cNvSpPr txBox="1"/>
          <p:nvPr/>
        </p:nvSpPr>
        <p:spPr>
          <a:xfrm>
            <a:off x="0" y="766840"/>
            <a:ext cx="8849167" cy="3792318"/>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GB" sz="1500" b="1" dirty="0">
                <a:solidFill>
                  <a:schemeClr val="dk1"/>
                </a:solidFill>
              </a:rPr>
              <a:t>Encoder transformers are trained on huge datasets to capture semantics and linguistic contexts from them. </a:t>
            </a:r>
            <a:r>
              <a:rPr lang="en-US" sz="2000" b="0" i="0" dirty="0">
                <a:solidFill>
                  <a:srgbClr val="242424"/>
                </a:solidFill>
                <a:effectLst/>
                <a:latin typeface="source-serif-pro"/>
              </a:rPr>
              <a:t>Pre-training BERT uses two unsupervised tasks, that are </a:t>
            </a:r>
            <a:r>
              <a:rPr lang="en-US" sz="2000" b="1" i="0" dirty="0">
                <a:solidFill>
                  <a:srgbClr val="242424"/>
                </a:solidFill>
                <a:effectLst/>
                <a:latin typeface="source-serif-pro"/>
              </a:rPr>
              <a:t>Masked LM</a:t>
            </a:r>
            <a:r>
              <a:rPr lang="en-US" sz="2000" b="0" i="0" dirty="0">
                <a:solidFill>
                  <a:srgbClr val="242424"/>
                </a:solidFill>
                <a:effectLst/>
                <a:latin typeface="source-serif-pro"/>
              </a:rPr>
              <a:t> and </a:t>
            </a:r>
            <a:r>
              <a:rPr lang="en-US" sz="2000" b="1" i="0" dirty="0">
                <a:solidFill>
                  <a:srgbClr val="242424"/>
                </a:solidFill>
                <a:effectLst/>
                <a:latin typeface="source-serif-pro"/>
              </a:rPr>
              <a:t>Next Sentence Prediction (NSP) </a:t>
            </a:r>
            <a:r>
              <a:rPr lang="en-US" sz="2000" b="0" i="0" dirty="0">
                <a:solidFill>
                  <a:srgbClr val="242424"/>
                </a:solidFill>
                <a:effectLst/>
                <a:latin typeface="source-serif-pro"/>
              </a:rPr>
              <a:t>to train.</a:t>
            </a:r>
            <a:endParaRPr lang="en-GB" sz="1500" b="1"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500" b="1" dirty="0">
                <a:solidFill>
                  <a:schemeClr val="dk1"/>
                </a:solidFill>
              </a:rPr>
              <a:t>	1. Masked Language Model</a:t>
            </a:r>
          </a:p>
          <a:p>
            <a:pPr marL="0" lvl="0" indent="0" algn="l" rtl="0">
              <a:lnSpc>
                <a:spcPct val="115000"/>
              </a:lnSpc>
              <a:spcBef>
                <a:spcPts val="1200"/>
              </a:spcBef>
              <a:spcAft>
                <a:spcPts val="0"/>
              </a:spcAft>
              <a:buClr>
                <a:schemeClr val="dk1"/>
              </a:buClr>
              <a:buSzPts val="1100"/>
              <a:buFont typeface="Arial"/>
              <a:buNone/>
            </a:pPr>
            <a:r>
              <a:rPr lang="en-GB" sz="1500" b="1" dirty="0">
                <a:solidFill>
                  <a:schemeClr val="dk1"/>
                </a:solidFill>
              </a:rPr>
              <a:t>	2. Next Sentence Prediction</a:t>
            </a:r>
          </a:p>
          <a:p>
            <a:pPr marL="0" lvl="0" indent="0" algn="l" rtl="0">
              <a:lnSpc>
                <a:spcPct val="115000"/>
              </a:lnSpc>
              <a:spcBef>
                <a:spcPts val="1200"/>
              </a:spcBef>
              <a:spcAft>
                <a:spcPts val="0"/>
              </a:spcAft>
              <a:buClr>
                <a:schemeClr val="dk1"/>
              </a:buClr>
              <a:buSzPts val="1100"/>
              <a:buFont typeface="Arial"/>
              <a:buNone/>
            </a:pPr>
            <a:endParaRPr lang="en-GB" sz="1500" b="1" dirty="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lang="en-GB" sz="1500" b="1" dirty="0">
              <a:solidFill>
                <a:schemeClr val="dk1"/>
              </a:solidFill>
            </a:endParaRPr>
          </a:p>
          <a:p>
            <a:pPr marL="0" lvl="0" indent="0" algn="l" rtl="0">
              <a:lnSpc>
                <a:spcPct val="115000"/>
              </a:lnSpc>
              <a:spcBef>
                <a:spcPts val="1200"/>
              </a:spcBef>
              <a:spcAft>
                <a:spcPts val="1200"/>
              </a:spcAft>
              <a:buNone/>
            </a:pPr>
            <a:endParaRPr sz="1500" b="1" dirty="0">
              <a:solidFill>
                <a:schemeClr val="dk1"/>
              </a:solidFill>
            </a:endParaRPr>
          </a:p>
        </p:txBody>
      </p:sp>
      <p:sp>
        <p:nvSpPr>
          <p:cNvPr id="2" name="object 6">
            <a:extLst>
              <a:ext uri="{FF2B5EF4-FFF2-40B4-BE49-F238E27FC236}">
                <a16:creationId xmlns:a16="http://schemas.microsoft.com/office/drawing/2014/main" id="{FB710FC4-D88E-464B-AC17-473FB6E30229}"/>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sp>
        <p:nvSpPr>
          <p:cNvPr id="3" name="Google Shape;870;p90">
            <a:extLst>
              <a:ext uri="{FF2B5EF4-FFF2-40B4-BE49-F238E27FC236}">
                <a16:creationId xmlns:a16="http://schemas.microsoft.com/office/drawing/2014/main" id="{D78884B5-986B-0B4B-FBA1-7E93225759F2}"/>
              </a:ext>
            </a:extLst>
          </p:cNvPr>
          <p:cNvSpPr txBox="1"/>
          <p:nvPr/>
        </p:nvSpPr>
        <p:spPr>
          <a:xfrm>
            <a:off x="294833" y="36229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dirty="0">
                <a:solidFill>
                  <a:srgbClr val="C55A11"/>
                </a:solidFill>
                <a:latin typeface="Calibri"/>
                <a:ea typeface="Calibri"/>
                <a:cs typeface="Calibri"/>
                <a:sym typeface="Calibri"/>
              </a:rPr>
              <a:t>BERT</a:t>
            </a:r>
            <a:endParaRPr sz="1800" dirty="0">
              <a:solidFill>
                <a:schemeClr val="dk2"/>
              </a:solidFill>
            </a:endParaRPr>
          </a:p>
        </p:txBody>
      </p:sp>
      <p:cxnSp>
        <p:nvCxnSpPr>
          <p:cNvPr id="4" name="Google Shape;871;p90">
            <a:extLst>
              <a:ext uri="{FF2B5EF4-FFF2-40B4-BE49-F238E27FC236}">
                <a16:creationId xmlns:a16="http://schemas.microsoft.com/office/drawing/2014/main" id="{2AD716D8-8B2F-938D-F55B-BF317805F341}"/>
              </a:ext>
            </a:extLst>
          </p:cNvPr>
          <p:cNvCxnSpPr/>
          <p:nvPr/>
        </p:nvCxnSpPr>
        <p:spPr>
          <a:xfrm>
            <a:off x="0" y="828850"/>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5" name="Google Shape;182;p10">
            <a:extLst>
              <a:ext uri="{FF2B5EF4-FFF2-40B4-BE49-F238E27FC236}">
                <a16:creationId xmlns:a16="http://schemas.microsoft.com/office/drawing/2014/main" id="{EF6E8370-C755-0B36-68C6-30C010F0F3E2}"/>
              </a:ext>
            </a:extLst>
          </p:cNvPr>
          <p:cNvSpPr/>
          <p:nvPr/>
        </p:nvSpPr>
        <p:spPr>
          <a:xfrm>
            <a:off x="294833" y="189181"/>
            <a:ext cx="5622911" cy="346218"/>
          </a:xfrm>
          <a:prstGeom prst="rect">
            <a:avLst/>
          </a:prstGeom>
          <a:noFill/>
          <a:ln>
            <a:noFill/>
          </a:ln>
        </p:spPr>
        <p:txBody>
          <a:bodyPr spcFirstLastPara="1" wrap="square" lIns="68569" tIns="34275" rIns="68569" bIns="34275" anchor="t" anchorCtr="0">
            <a:spAutoFit/>
          </a:bodyPr>
          <a:lstStyle/>
          <a:p>
            <a:r>
              <a:rPr lang="en-US" sz="1800" b="1" dirty="0">
                <a:solidFill>
                  <a:srgbClr val="C00000"/>
                </a:solidFill>
              </a:rPr>
              <a:t>Generative AI and its Applications </a:t>
            </a:r>
          </a:p>
        </p:txBody>
      </p:sp>
      <p:pic>
        <p:nvPicPr>
          <p:cNvPr id="6" name="Google Shape;926;p96">
            <a:extLst>
              <a:ext uri="{FF2B5EF4-FFF2-40B4-BE49-F238E27FC236}">
                <a16:creationId xmlns:a16="http://schemas.microsoft.com/office/drawing/2014/main" id="{66F790A7-7975-FD8B-E707-25EE2C4360EB}"/>
              </a:ext>
            </a:extLst>
          </p:cNvPr>
          <p:cNvPicPr preferRelativeResize="0"/>
          <p:nvPr/>
        </p:nvPicPr>
        <p:blipFill>
          <a:blip r:embed="rId4">
            <a:alphaModFix/>
          </a:blip>
          <a:stretch>
            <a:fillRect/>
          </a:stretch>
        </p:blipFill>
        <p:spPr>
          <a:xfrm>
            <a:off x="1677872" y="2906050"/>
            <a:ext cx="5983558" cy="2237450"/>
          </a:xfrm>
          <a:prstGeom prst="rect">
            <a:avLst/>
          </a:prstGeom>
          <a:noFill/>
          <a:ln>
            <a:noFill/>
          </a:ln>
        </p:spPr>
      </p:pic>
    </p:spTree>
    <p:extLst>
      <p:ext uri="{BB962C8B-B14F-4D97-AF65-F5344CB8AC3E}">
        <p14:creationId xmlns:p14="http://schemas.microsoft.com/office/powerpoint/2010/main" val="40524033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7">
          <a:extLst>
            <a:ext uri="{FF2B5EF4-FFF2-40B4-BE49-F238E27FC236}">
              <a16:creationId xmlns:a16="http://schemas.microsoft.com/office/drawing/2014/main" id="{7D55CAA7-C723-C0DB-CF92-F7FB169E5B0D}"/>
            </a:ext>
          </a:extLst>
        </p:cNvPr>
        <p:cNvGrpSpPr/>
        <p:nvPr/>
      </p:nvGrpSpPr>
      <p:grpSpPr>
        <a:xfrm>
          <a:off x="0" y="0"/>
          <a:ext cx="0" cy="0"/>
          <a:chOff x="0" y="0"/>
          <a:chExt cx="0" cy="0"/>
        </a:xfrm>
      </p:grpSpPr>
      <p:sp>
        <p:nvSpPr>
          <p:cNvPr id="890" name="Google Shape;890;p92">
            <a:extLst>
              <a:ext uri="{FF2B5EF4-FFF2-40B4-BE49-F238E27FC236}">
                <a16:creationId xmlns:a16="http://schemas.microsoft.com/office/drawing/2014/main" id="{B02DE49A-99CA-05F3-A27B-AA00AA735014}"/>
              </a:ext>
            </a:extLst>
          </p:cNvPr>
          <p:cNvSpPr txBox="1"/>
          <p:nvPr/>
        </p:nvSpPr>
        <p:spPr>
          <a:xfrm>
            <a:off x="294833" y="639982"/>
            <a:ext cx="7078437" cy="3792318"/>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GB" sz="1500" b="1" dirty="0">
                <a:solidFill>
                  <a:schemeClr val="dk1"/>
                </a:solidFill>
              </a:rPr>
              <a:t>	</a:t>
            </a:r>
            <a:r>
              <a:rPr lang="en-GB" sz="1500" b="1" dirty="0">
                <a:solidFill>
                  <a:schemeClr val="dk1"/>
                </a:solidFill>
                <a:highlight>
                  <a:srgbClr val="FFFF00"/>
                </a:highlight>
              </a:rPr>
              <a:t>Masked Language </a:t>
            </a:r>
            <a:r>
              <a:rPr lang="en-GB" sz="1500" b="1" dirty="0" err="1">
                <a:solidFill>
                  <a:schemeClr val="dk1"/>
                </a:solidFill>
                <a:highlight>
                  <a:srgbClr val="FFFF00"/>
                </a:highlight>
              </a:rPr>
              <a:t>Modeling</a:t>
            </a:r>
            <a:r>
              <a:rPr lang="en-GB" sz="1500" b="1" dirty="0">
                <a:solidFill>
                  <a:schemeClr val="dk1"/>
                </a:solidFill>
                <a:highlight>
                  <a:srgbClr val="FFFF00"/>
                </a:highlight>
              </a:rPr>
              <a:t> (MLM)</a:t>
            </a:r>
            <a:br>
              <a:rPr lang="en-GB" sz="1500" b="1" dirty="0">
                <a:solidFill>
                  <a:schemeClr val="dk1"/>
                </a:solidFill>
                <a:highlight>
                  <a:srgbClr val="FFFF00"/>
                </a:highlight>
              </a:rPr>
            </a:br>
            <a:r>
              <a:rPr lang="en-GB" sz="1500" dirty="0">
                <a:solidFill>
                  <a:schemeClr val="dk1"/>
                </a:solidFill>
              </a:rPr>
              <a:t>Think of this like a sophisticated version of fill-in-the-blanks. </a:t>
            </a:r>
            <a:br>
              <a:rPr lang="en-GB" sz="1500" dirty="0">
                <a:solidFill>
                  <a:schemeClr val="dk1"/>
                </a:solidFill>
              </a:rPr>
            </a:br>
            <a:r>
              <a:rPr lang="en-GB" sz="1500" dirty="0">
                <a:solidFill>
                  <a:schemeClr val="dk1"/>
                </a:solidFill>
              </a:rPr>
              <a:t>For example:</a:t>
            </a:r>
            <a:endParaRPr sz="1500" dirty="0">
              <a:solidFill>
                <a:schemeClr val="dk1"/>
              </a:solidFill>
            </a:endParaRPr>
          </a:p>
          <a:p>
            <a:pPr marL="457200" lvl="2" indent="-323850">
              <a:lnSpc>
                <a:spcPct val="115000"/>
              </a:lnSpc>
              <a:buClr>
                <a:schemeClr val="dk1"/>
              </a:buClr>
              <a:buSzPts val="1500"/>
              <a:buChar char="●"/>
            </a:pPr>
            <a:r>
              <a:rPr lang="en-GB" sz="1500" b="1" dirty="0">
                <a:solidFill>
                  <a:schemeClr val="dk1"/>
                </a:solidFill>
              </a:rPr>
              <a:t>Original</a:t>
            </a:r>
            <a:r>
              <a:rPr lang="en-GB" sz="1500" dirty="0">
                <a:solidFill>
                  <a:schemeClr val="dk1"/>
                </a:solidFill>
              </a:rPr>
              <a:t>:   "</a:t>
            </a:r>
            <a:r>
              <a:rPr lang="en-GB" sz="1500" dirty="0">
                <a:solidFill>
                  <a:srgbClr val="0000FF"/>
                </a:solidFill>
              </a:rPr>
              <a:t>The cat sits on the mat"</a:t>
            </a:r>
            <a:endParaRPr sz="1500" dirty="0">
              <a:solidFill>
                <a:srgbClr val="0000FF"/>
              </a:solidFill>
            </a:endParaRPr>
          </a:p>
          <a:p>
            <a:pPr marL="457200" lvl="0" indent="-323850" algn="l" rtl="0">
              <a:lnSpc>
                <a:spcPct val="115000"/>
              </a:lnSpc>
              <a:spcBef>
                <a:spcPts val="0"/>
              </a:spcBef>
              <a:spcAft>
                <a:spcPts val="0"/>
              </a:spcAft>
              <a:buClr>
                <a:schemeClr val="dk1"/>
              </a:buClr>
              <a:buSzPts val="1500"/>
              <a:buChar char="●"/>
            </a:pPr>
            <a:r>
              <a:rPr lang="en-GB" sz="1500" b="1" dirty="0">
                <a:solidFill>
                  <a:schemeClr val="dk1"/>
                </a:solidFill>
              </a:rPr>
              <a:t>Masked:</a:t>
            </a:r>
            <a:r>
              <a:rPr lang="en-GB" sz="1500" dirty="0">
                <a:solidFill>
                  <a:schemeClr val="dk1"/>
                </a:solidFill>
              </a:rPr>
              <a:t>    </a:t>
            </a:r>
            <a:r>
              <a:rPr lang="en-GB" sz="1500" dirty="0">
                <a:solidFill>
                  <a:srgbClr val="FF0000"/>
                </a:solidFill>
              </a:rPr>
              <a:t>"The  [MASK]  sits on the mat“</a:t>
            </a:r>
          </a:p>
          <a:p>
            <a:pPr marL="133350" lvl="0" algn="l" rtl="0">
              <a:lnSpc>
                <a:spcPct val="115000"/>
              </a:lnSpc>
              <a:spcBef>
                <a:spcPts val="0"/>
              </a:spcBef>
              <a:spcAft>
                <a:spcPts val="0"/>
              </a:spcAft>
              <a:buClr>
                <a:schemeClr val="dk1"/>
              </a:buClr>
              <a:buSzPts val="1500"/>
            </a:pPr>
            <a:br>
              <a:rPr lang="en-GB" sz="1500" dirty="0">
                <a:solidFill>
                  <a:srgbClr val="FF0000"/>
                </a:solidFill>
              </a:rPr>
            </a:br>
            <a:r>
              <a:rPr lang="en-GB" sz="1500" dirty="0">
                <a:solidFill>
                  <a:schemeClr val="dk1"/>
                </a:solidFill>
              </a:rPr>
              <a:t>BERT looks at </a:t>
            </a:r>
            <a:r>
              <a:rPr lang="en-GB" sz="1500" dirty="0">
                <a:solidFill>
                  <a:srgbClr val="FF33CC"/>
                </a:solidFill>
              </a:rPr>
              <a:t>all words (before and after the mask) </a:t>
            </a:r>
            <a:r>
              <a:rPr lang="en-GB" sz="1500" dirty="0">
                <a:solidFill>
                  <a:schemeClr val="dk1"/>
                </a:solidFill>
              </a:rPr>
              <a:t>to figure out what word should go in the blank. </a:t>
            </a:r>
          </a:p>
          <a:p>
            <a:pPr marL="133350" lvl="0">
              <a:lnSpc>
                <a:spcPct val="115000"/>
              </a:lnSpc>
              <a:buClr>
                <a:schemeClr val="dk1"/>
              </a:buClr>
              <a:buSzPts val="1500"/>
            </a:pPr>
            <a:r>
              <a:rPr lang="en-US" dirty="0"/>
              <a:t>The training data generator chooses </a:t>
            </a:r>
            <a:r>
              <a:rPr lang="en-US" b="1" dirty="0"/>
              <a:t>15% of the token </a:t>
            </a:r>
            <a:r>
              <a:rPr lang="en-US" dirty="0"/>
              <a:t>positions at </a:t>
            </a:r>
            <a:r>
              <a:rPr lang="en-US" b="1" dirty="0"/>
              <a:t>random</a:t>
            </a:r>
            <a:r>
              <a:rPr lang="en-US" dirty="0"/>
              <a:t> for </a:t>
            </a:r>
            <a:r>
              <a:rPr lang="en-US" b="1" dirty="0"/>
              <a:t>prediction</a:t>
            </a:r>
            <a:r>
              <a:rPr lang="en-US" dirty="0"/>
              <a:t>. If the </a:t>
            </a:r>
            <a:r>
              <a:rPr lang="en-US" dirty="0" err="1"/>
              <a:t>iᵗʰ</a:t>
            </a:r>
            <a:r>
              <a:rPr lang="en-US" dirty="0"/>
              <a:t> token is chosen, we replace the </a:t>
            </a:r>
            <a:r>
              <a:rPr lang="en-US" dirty="0" err="1"/>
              <a:t>iᵗʰ</a:t>
            </a:r>
            <a:r>
              <a:rPr lang="en-US" dirty="0"/>
              <a:t> token with</a:t>
            </a:r>
            <a:endParaRPr lang="en-GB" sz="1500" dirty="0">
              <a:solidFill>
                <a:schemeClr val="dk1"/>
              </a:solidFill>
            </a:endParaRPr>
          </a:p>
          <a:p>
            <a:pPr marL="457200" lvl="2" indent="-323850">
              <a:lnSpc>
                <a:spcPct val="115000"/>
              </a:lnSpc>
              <a:buClr>
                <a:schemeClr val="dk1"/>
              </a:buClr>
              <a:buSzPts val="1500"/>
              <a:buChar char="●"/>
            </a:pPr>
            <a:endParaRPr lang="en-GB" sz="1500" dirty="0">
              <a:solidFill>
                <a:schemeClr val="dk1"/>
              </a:solidFill>
            </a:endParaRPr>
          </a:p>
          <a:p>
            <a:pPr marL="457200" lvl="2" indent="-323850">
              <a:lnSpc>
                <a:spcPct val="115000"/>
              </a:lnSpc>
              <a:buClr>
                <a:schemeClr val="dk1"/>
              </a:buClr>
              <a:buSzPts val="1500"/>
              <a:buChar char="●"/>
            </a:pPr>
            <a:r>
              <a:rPr lang="en-US" dirty="0"/>
              <a:t>1.The </a:t>
            </a:r>
            <a:r>
              <a:rPr lang="en-US" b="1" dirty="0"/>
              <a:t>[MASK]</a:t>
            </a:r>
            <a:r>
              <a:rPr lang="en-US" dirty="0"/>
              <a:t> token </a:t>
            </a:r>
            <a:r>
              <a:rPr lang="en-US" b="1" dirty="0"/>
              <a:t>80%</a:t>
            </a:r>
            <a:r>
              <a:rPr lang="en-US" dirty="0"/>
              <a:t> of the time</a:t>
            </a:r>
            <a:br>
              <a:rPr lang="en-US" sz="1600" dirty="0"/>
            </a:br>
            <a:r>
              <a:rPr lang="en-US" dirty="0"/>
              <a:t>2. A </a:t>
            </a:r>
            <a:r>
              <a:rPr lang="en-US" b="1" dirty="0"/>
              <a:t>random</a:t>
            </a:r>
            <a:r>
              <a:rPr lang="en-US" dirty="0"/>
              <a:t> token </a:t>
            </a:r>
            <a:r>
              <a:rPr lang="en-US" b="1" dirty="0"/>
              <a:t>10%</a:t>
            </a:r>
            <a:r>
              <a:rPr lang="en-US" dirty="0"/>
              <a:t> of the time</a:t>
            </a:r>
            <a:br>
              <a:rPr lang="en-US" sz="1600" dirty="0"/>
            </a:br>
            <a:r>
              <a:rPr lang="en-US" dirty="0"/>
              <a:t>3. The </a:t>
            </a:r>
            <a:r>
              <a:rPr lang="en-US" b="1" dirty="0"/>
              <a:t>unchanged</a:t>
            </a:r>
            <a:r>
              <a:rPr lang="en-US" dirty="0"/>
              <a:t> </a:t>
            </a:r>
            <a:r>
              <a:rPr lang="en-US" dirty="0" err="1"/>
              <a:t>iᵗʰ</a:t>
            </a:r>
            <a:r>
              <a:rPr lang="en-US" dirty="0"/>
              <a:t> token </a:t>
            </a:r>
            <a:r>
              <a:rPr lang="en-US" b="1" dirty="0"/>
              <a:t>10%</a:t>
            </a:r>
            <a:r>
              <a:rPr lang="en-US" dirty="0"/>
              <a:t> of the time</a:t>
            </a:r>
          </a:p>
          <a:p>
            <a:pPr marL="457200" lvl="2" indent="-323850">
              <a:lnSpc>
                <a:spcPct val="115000"/>
              </a:lnSpc>
              <a:buClr>
                <a:schemeClr val="dk1"/>
              </a:buClr>
              <a:buSzPts val="1500"/>
              <a:buChar char="●"/>
            </a:pPr>
            <a:r>
              <a:rPr lang="en-GB" sz="1500" dirty="0">
                <a:solidFill>
                  <a:schemeClr val="dk1"/>
                </a:solidFill>
              </a:rPr>
              <a:t>It </a:t>
            </a:r>
            <a:r>
              <a:rPr lang="en-GB" sz="1500" b="1" dirty="0">
                <a:solidFill>
                  <a:schemeClr val="accent5">
                    <a:lumMod val="75000"/>
                  </a:schemeClr>
                </a:solidFill>
              </a:rPr>
              <a:t>learns to predict</a:t>
            </a:r>
            <a:r>
              <a:rPr lang="en-GB" sz="1500" dirty="0">
                <a:solidFill>
                  <a:schemeClr val="dk1"/>
                </a:solidFill>
              </a:rPr>
              <a:t> the original word by understanding the entire context</a:t>
            </a:r>
            <a:endParaRPr sz="1500" dirty="0">
              <a:solidFill>
                <a:schemeClr val="dk1"/>
              </a:solidFill>
            </a:endParaRPr>
          </a:p>
          <a:p>
            <a:pPr marL="0" lvl="0" indent="0" algn="l" rtl="0">
              <a:lnSpc>
                <a:spcPct val="115000"/>
              </a:lnSpc>
              <a:spcBef>
                <a:spcPts val="1200"/>
              </a:spcBef>
              <a:spcAft>
                <a:spcPts val="1200"/>
              </a:spcAft>
              <a:buNone/>
            </a:pPr>
            <a:endParaRPr sz="1500" b="1" dirty="0">
              <a:solidFill>
                <a:schemeClr val="dk1"/>
              </a:solidFill>
            </a:endParaRPr>
          </a:p>
        </p:txBody>
      </p:sp>
      <p:sp>
        <p:nvSpPr>
          <p:cNvPr id="2" name="object 6">
            <a:extLst>
              <a:ext uri="{FF2B5EF4-FFF2-40B4-BE49-F238E27FC236}">
                <a16:creationId xmlns:a16="http://schemas.microsoft.com/office/drawing/2014/main" id="{897406AC-B59E-0C5D-3A00-E9DB72388F03}"/>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sp>
        <p:nvSpPr>
          <p:cNvPr id="3" name="Google Shape;870;p90">
            <a:extLst>
              <a:ext uri="{FF2B5EF4-FFF2-40B4-BE49-F238E27FC236}">
                <a16:creationId xmlns:a16="http://schemas.microsoft.com/office/drawing/2014/main" id="{98CAFCF1-9C92-21D8-DF5A-B2A9E023DCBC}"/>
              </a:ext>
            </a:extLst>
          </p:cNvPr>
          <p:cNvSpPr txBox="1"/>
          <p:nvPr/>
        </p:nvSpPr>
        <p:spPr>
          <a:xfrm>
            <a:off x="294833" y="36229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dirty="0">
                <a:solidFill>
                  <a:srgbClr val="C55A11"/>
                </a:solidFill>
                <a:latin typeface="Calibri"/>
                <a:ea typeface="Calibri"/>
                <a:cs typeface="Calibri"/>
                <a:sym typeface="Calibri"/>
              </a:rPr>
              <a:t>BERT</a:t>
            </a:r>
            <a:endParaRPr sz="1800" dirty="0">
              <a:solidFill>
                <a:schemeClr val="dk2"/>
              </a:solidFill>
            </a:endParaRPr>
          </a:p>
        </p:txBody>
      </p:sp>
      <p:cxnSp>
        <p:nvCxnSpPr>
          <p:cNvPr id="4" name="Google Shape;871;p90">
            <a:extLst>
              <a:ext uri="{FF2B5EF4-FFF2-40B4-BE49-F238E27FC236}">
                <a16:creationId xmlns:a16="http://schemas.microsoft.com/office/drawing/2014/main" id="{075C62D6-CEF5-87E7-CD4F-896344FE9BD5}"/>
              </a:ext>
            </a:extLst>
          </p:cNvPr>
          <p:cNvCxnSpPr/>
          <p:nvPr/>
        </p:nvCxnSpPr>
        <p:spPr>
          <a:xfrm>
            <a:off x="0" y="828850"/>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5" name="Google Shape;182;p10">
            <a:extLst>
              <a:ext uri="{FF2B5EF4-FFF2-40B4-BE49-F238E27FC236}">
                <a16:creationId xmlns:a16="http://schemas.microsoft.com/office/drawing/2014/main" id="{3FCFC79A-2914-3843-CAD4-0178F528BCAB}"/>
              </a:ext>
            </a:extLst>
          </p:cNvPr>
          <p:cNvSpPr/>
          <p:nvPr/>
        </p:nvSpPr>
        <p:spPr>
          <a:xfrm>
            <a:off x="294833" y="189181"/>
            <a:ext cx="5622911" cy="346218"/>
          </a:xfrm>
          <a:prstGeom prst="rect">
            <a:avLst/>
          </a:prstGeom>
          <a:noFill/>
          <a:ln>
            <a:noFill/>
          </a:ln>
        </p:spPr>
        <p:txBody>
          <a:bodyPr spcFirstLastPara="1" wrap="square" lIns="68569" tIns="34275" rIns="68569" bIns="34275" anchor="t" anchorCtr="0">
            <a:spAutoFit/>
          </a:bodyPr>
          <a:lstStyle/>
          <a:p>
            <a:r>
              <a:rPr lang="en-US" sz="1800" b="1" dirty="0">
                <a:solidFill>
                  <a:srgbClr val="C00000"/>
                </a:solidFill>
              </a:rPr>
              <a:t>Generative AI and its Applications </a:t>
            </a:r>
          </a:p>
        </p:txBody>
      </p:sp>
    </p:spTree>
    <p:extLst>
      <p:ext uri="{BB962C8B-B14F-4D97-AF65-F5344CB8AC3E}">
        <p14:creationId xmlns:p14="http://schemas.microsoft.com/office/powerpoint/2010/main" val="2899064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90">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90">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90">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9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sp>
        <p:nvSpPr>
          <p:cNvPr id="908" name="Google Shape;908;p94"/>
          <p:cNvSpPr txBox="1"/>
          <p:nvPr/>
        </p:nvSpPr>
        <p:spPr>
          <a:xfrm>
            <a:off x="90950" y="861325"/>
            <a:ext cx="9109200" cy="4228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GB" sz="1500" b="1" dirty="0">
                <a:solidFill>
                  <a:schemeClr val="dk1"/>
                </a:solidFill>
              </a:rPr>
              <a:t>   </a:t>
            </a:r>
            <a:r>
              <a:rPr lang="en-GB" sz="1500" b="1" dirty="0">
                <a:solidFill>
                  <a:schemeClr val="dk1"/>
                </a:solidFill>
                <a:highlight>
                  <a:srgbClr val="FFFF00"/>
                </a:highlight>
              </a:rPr>
              <a:t>Next Sentence Prediction (NSP)</a:t>
            </a:r>
            <a:br>
              <a:rPr lang="en-GB" sz="1500" b="1" dirty="0">
                <a:solidFill>
                  <a:schemeClr val="dk1"/>
                </a:solidFill>
                <a:highlight>
                  <a:srgbClr val="FFFF00"/>
                </a:highlight>
              </a:rPr>
            </a:br>
            <a:r>
              <a:rPr lang="en-GB" sz="1500" dirty="0">
                <a:solidFill>
                  <a:schemeClr val="dk1"/>
                </a:solidFill>
              </a:rPr>
              <a:t>         This is like teaching BERT to understand if two sentences naturally follow each other. </a:t>
            </a:r>
            <a:br>
              <a:rPr lang="en-GB" sz="1500" dirty="0">
                <a:solidFill>
                  <a:schemeClr val="dk1"/>
                </a:solidFill>
              </a:rPr>
            </a:br>
            <a:r>
              <a:rPr lang="en-GB" sz="1500" dirty="0">
                <a:solidFill>
                  <a:schemeClr val="dk1"/>
                </a:solidFill>
              </a:rPr>
              <a:t>	 For instance:</a:t>
            </a:r>
            <a:endParaRPr sz="1500" dirty="0">
              <a:solidFill>
                <a:schemeClr val="dk1"/>
              </a:solidFill>
            </a:endParaRPr>
          </a:p>
          <a:p>
            <a:pPr marL="457200" lvl="0" indent="-323850" algn="l" rtl="0">
              <a:lnSpc>
                <a:spcPct val="115000"/>
              </a:lnSpc>
              <a:spcBef>
                <a:spcPts val="1200"/>
              </a:spcBef>
              <a:spcAft>
                <a:spcPts val="0"/>
              </a:spcAft>
              <a:buClr>
                <a:schemeClr val="dk1"/>
              </a:buClr>
              <a:buSzPts val="1500"/>
              <a:buChar char="●"/>
            </a:pPr>
            <a:r>
              <a:rPr lang="en-GB" sz="1500" b="1" dirty="0">
                <a:solidFill>
                  <a:schemeClr val="dk1"/>
                </a:solidFill>
              </a:rPr>
              <a:t>Sentence A</a:t>
            </a:r>
            <a:r>
              <a:rPr lang="en-GB" sz="1500" dirty="0">
                <a:solidFill>
                  <a:schemeClr val="dk1"/>
                </a:solidFill>
              </a:rPr>
              <a:t>: "</a:t>
            </a:r>
            <a:r>
              <a:rPr lang="en-GB" sz="1500" dirty="0">
                <a:solidFill>
                  <a:srgbClr val="FF33CC"/>
                </a:solidFill>
              </a:rPr>
              <a:t>I love ice cream</a:t>
            </a:r>
            <a:r>
              <a:rPr lang="en-GB" sz="1500" dirty="0">
                <a:solidFill>
                  <a:schemeClr val="dk1"/>
                </a:solidFill>
              </a:rPr>
              <a:t>"</a:t>
            </a:r>
            <a:endParaRPr sz="1500" dirty="0">
              <a:solidFill>
                <a:schemeClr val="dk1"/>
              </a:solidFill>
            </a:endParaRPr>
          </a:p>
          <a:p>
            <a:pPr marL="457200" lvl="0" indent="-323850" algn="l" rtl="0">
              <a:lnSpc>
                <a:spcPct val="115000"/>
              </a:lnSpc>
              <a:spcBef>
                <a:spcPts val="0"/>
              </a:spcBef>
              <a:spcAft>
                <a:spcPts val="0"/>
              </a:spcAft>
              <a:buClr>
                <a:schemeClr val="dk1"/>
              </a:buClr>
              <a:buSzPts val="1500"/>
              <a:buChar char="●"/>
            </a:pPr>
            <a:r>
              <a:rPr lang="en-GB" sz="1500" b="1" dirty="0">
                <a:solidFill>
                  <a:schemeClr val="dk1"/>
                </a:solidFill>
              </a:rPr>
              <a:t>Sentence B:</a:t>
            </a:r>
            <a:r>
              <a:rPr lang="en-GB" sz="1500" dirty="0">
                <a:solidFill>
                  <a:schemeClr val="dk1"/>
                </a:solidFill>
              </a:rPr>
              <a:t> "</a:t>
            </a:r>
            <a:r>
              <a:rPr lang="en-GB" sz="1500" dirty="0">
                <a:solidFill>
                  <a:srgbClr val="0000FF"/>
                </a:solidFill>
              </a:rPr>
              <a:t>It's my </a:t>
            </a:r>
            <a:r>
              <a:rPr lang="en-GB" sz="1500" dirty="0" err="1">
                <a:solidFill>
                  <a:srgbClr val="0000FF"/>
                </a:solidFill>
              </a:rPr>
              <a:t>favorite</a:t>
            </a:r>
            <a:r>
              <a:rPr lang="en-GB" sz="1500" dirty="0">
                <a:solidFill>
                  <a:srgbClr val="0000FF"/>
                </a:solidFill>
              </a:rPr>
              <a:t> dessert</a:t>
            </a:r>
            <a:r>
              <a:rPr lang="en-GB" sz="1500" dirty="0">
                <a:solidFill>
                  <a:schemeClr val="dk1"/>
                </a:solidFill>
              </a:rPr>
              <a:t>" (This naturally follows)</a:t>
            </a:r>
            <a:br>
              <a:rPr lang="en-GB" sz="1500" dirty="0">
                <a:solidFill>
                  <a:schemeClr val="dk1"/>
                </a:solidFill>
              </a:rPr>
            </a:br>
            <a:r>
              <a:rPr lang="en-GB" sz="1500" dirty="0">
                <a:solidFill>
                  <a:schemeClr val="dk1"/>
                </a:solidFill>
              </a:rPr>
              <a:t> vs.</a:t>
            </a:r>
            <a:endParaRPr sz="1500" dirty="0">
              <a:solidFill>
                <a:schemeClr val="dk1"/>
              </a:solidFill>
            </a:endParaRPr>
          </a:p>
          <a:p>
            <a:pPr marL="457200" lvl="0" indent="-323850" algn="l" rtl="0">
              <a:lnSpc>
                <a:spcPct val="115000"/>
              </a:lnSpc>
              <a:spcBef>
                <a:spcPts val="0"/>
              </a:spcBef>
              <a:spcAft>
                <a:spcPts val="0"/>
              </a:spcAft>
              <a:buClr>
                <a:schemeClr val="dk1"/>
              </a:buClr>
              <a:buSzPts val="1500"/>
              <a:buChar char="●"/>
            </a:pPr>
            <a:r>
              <a:rPr lang="en-GB" sz="1500" b="1" dirty="0">
                <a:solidFill>
                  <a:schemeClr val="dk1"/>
                </a:solidFill>
              </a:rPr>
              <a:t>Sentence B:</a:t>
            </a:r>
            <a:r>
              <a:rPr lang="en-GB" sz="1500" dirty="0">
                <a:solidFill>
                  <a:schemeClr val="dk1"/>
                </a:solidFill>
              </a:rPr>
              <a:t> "</a:t>
            </a:r>
            <a:r>
              <a:rPr lang="en-GB" sz="1500" dirty="0">
                <a:solidFill>
                  <a:srgbClr val="C00000"/>
                </a:solidFill>
              </a:rPr>
              <a:t>The car needs gas</a:t>
            </a:r>
            <a:r>
              <a:rPr lang="en-GB" sz="1500" dirty="0">
                <a:solidFill>
                  <a:schemeClr val="dk1"/>
                </a:solidFill>
              </a:rPr>
              <a:t>" (This doesn't follow)</a:t>
            </a:r>
          </a:p>
          <a:p>
            <a:pPr marL="457200" lvl="0" indent="-323850" algn="l" rtl="0">
              <a:lnSpc>
                <a:spcPct val="115000"/>
              </a:lnSpc>
              <a:spcBef>
                <a:spcPts val="0"/>
              </a:spcBef>
              <a:spcAft>
                <a:spcPts val="0"/>
              </a:spcAft>
              <a:buClr>
                <a:schemeClr val="dk1"/>
              </a:buClr>
              <a:buSzPts val="1500"/>
              <a:buChar char="●"/>
            </a:pPr>
            <a:endParaRPr lang="en-GB" sz="1500" dirty="0">
              <a:solidFill>
                <a:schemeClr val="dk1"/>
              </a:solidFill>
            </a:endParaRPr>
          </a:p>
          <a:p>
            <a:pPr marL="133350" lvl="0" algn="l" rtl="0">
              <a:lnSpc>
                <a:spcPct val="115000"/>
              </a:lnSpc>
              <a:spcBef>
                <a:spcPts val="0"/>
              </a:spcBef>
              <a:spcAft>
                <a:spcPts val="0"/>
              </a:spcAft>
              <a:buClr>
                <a:schemeClr val="dk1"/>
              </a:buClr>
              <a:buSzPts val="1500"/>
            </a:pPr>
            <a:br>
              <a:rPr lang="en-GB" sz="1500" dirty="0">
                <a:solidFill>
                  <a:schemeClr val="dk1"/>
                </a:solidFill>
              </a:rPr>
            </a:br>
            <a:r>
              <a:rPr lang="en-GB" sz="1800" b="1" dirty="0">
                <a:solidFill>
                  <a:srgbClr val="C00000"/>
                </a:solidFill>
              </a:rPr>
              <a:t>BERT learns to predict whether sentence B truly follows sentence A in the original text or if it is a random sentence. </a:t>
            </a:r>
            <a:r>
              <a:rPr lang="en-US" sz="1600" b="0" i="0" dirty="0">
                <a:solidFill>
                  <a:srgbClr val="242424"/>
                </a:solidFill>
                <a:effectLst/>
                <a:latin typeface="source-serif-pro"/>
              </a:rPr>
              <a:t>Many important downstream tasks such as Question Answering (QA) are based on the relationship between </a:t>
            </a:r>
            <a:r>
              <a:rPr lang="en-US" sz="1600" b="1" i="0" dirty="0">
                <a:solidFill>
                  <a:srgbClr val="242424"/>
                </a:solidFill>
                <a:effectLst/>
                <a:latin typeface="source-serif-pro"/>
              </a:rPr>
              <a:t>two sentences. </a:t>
            </a:r>
            <a:r>
              <a:rPr lang="en-US" sz="1600" b="0" i="0" dirty="0">
                <a:solidFill>
                  <a:srgbClr val="242424"/>
                </a:solidFill>
                <a:effectLst/>
                <a:latin typeface="source-serif-pro"/>
              </a:rPr>
              <a:t>Training a </a:t>
            </a:r>
            <a:r>
              <a:rPr lang="en-US" sz="1600" b="1" i="1" dirty="0">
                <a:solidFill>
                  <a:srgbClr val="242424"/>
                </a:solidFill>
                <a:effectLst/>
                <a:latin typeface="source-serif-pro"/>
              </a:rPr>
              <a:t>binary classifier</a:t>
            </a:r>
            <a:r>
              <a:rPr lang="en-US" sz="1600" b="0" i="0" dirty="0">
                <a:solidFill>
                  <a:srgbClr val="242424"/>
                </a:solidFill>
                <a:effectLst/>
                <a:latin typeface="source-serif-pro"/>
              </a:rPr>
              <a:t> for telling whether one sentence is the next sentence of the other, this pre-training will </a:t>
            </a:r>
            <a:r>
              <a:rPr lang="en-US" sz="1600" b="1" i="0" dirty="0">
                <a:solidFill>
                  <a:srgbClr val="242424"/>
                </a:solidFill>
                <a:effectLst/>
                <a:latin typeface="source-serif-pro"/>
              </a:rPr>
              <a:t>improve efficiency</a:t>
            </a:r>
            <a:r>
              <a:rPr lang="en-US" sz="1600" b="0" i="0" dirty="0">
                <a:solidFill>
                  <a:srgbClr val="242424"/>
                </a:solidFill>
                <a:effectLst/>
                <a:latin typeface="source-serif-pro"/>
              </a:rPr>
              <a:t> in tasks like </a:t>
            </a:r>
            <a:r>
              <a:rPr lang="en-US" sz="1600" b="1" i="1" dirty="0">
                <a:solidFill>
                  <a:srgbClr val="242424"/>
                </a:solidFill>
                <a:effectLst/>
                <a:latin typeface="source-serif-pro"/>
              </a:rPr>
              <a:t>QA</a:t>
            </a:r>
            <a:r>
              <a:rPr lang="en-US" sz="1600" b="1" i="0" dirty="0">
                <a:solidFill>
                  <a:srgbClr val="242424"/>
                </a:solidFill>
                <a:effectLst/>
                <a:latin typeface="source-serif-pro"/>
              </a:rPr>
              <a:t> and </a:t>
            </a:r>
            <a:r>
              <a:rPr lang="en-US" sz="1600" b="1" i="1" dirty="0">
                <a:solidFill>
                  <a:srgbClr val="242424"/>
                </a:solidFill>
                <a:effectLst/>
                <a:latin typeface="source-serif-pro"/>
              </a:rPr>
              <a:t>NLI</a:t>
            </a:r>
            <a:r>
              <a:rPr lang="en-US" sz="1600" b="0" i="0" dirty="0">
                <a:solidFill>
                  <a:srgbClr val="242424"/>
                </a:solidFill>
                <a:effectLst/>
                <a:latin typeface="source-serif-pro"/>
              </a:rPr>
              <a:t>.</a:t>
            </a:r>
            <a:endParaRPr sz="1600" b="1" dirty="0">
              <a:solidFill>
                <a:srgbClr val="C00000"/>
              </a:solidFill>
            </a:endParaRPr>
          </a:p>
          <a:p>
            <a:pPr marL="0" lvl="0" indent="0" algn="l" rtl="0">
              <a:lnSpc>
                <a:spcPct val="115000"/>
              </a:lnSpc>
              <a:spcBef>
                <a:spcPts val="1200"/>
              </a:spcBef>
              <a:spcAft>
                <a:spcPts val="1200"/>
              </a:spcAft>
              <a:buNone/>
            </a:pPr>
            <a:endParaRPr sz="1500" b="1" dirty="0">
              <a:solidFill>
                <a:schemeClr val="dk1"/>
              </a:solidFill>
            </a:endParaRPr>
          </a:p>
        </p:txBody>
      </p:sp>
      <p:sp>
        <p:nvSpPr>
          <p:cNvPr id="2" name="object 6">
            <a:extLst>
              <a:ext uri="{FF2B5EF4-FFF2-40B4-BE49-F238E27FC236}">
                <a16:creationId xmlns:a16="http://schemas.microsoft.com/office/drawing/2014/main" id="{525C5F19-39AE-7B2D-5555-2B87627B3C9F}"/>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sp>
        <p:nvSpPr>
          <p:cNvPr id="3" name="Google Shape;870;p90">
            <a:extLst>
              <a:ext uri="{FF2B5EF4-FFF2-40B4-BE49-F238E27FC236}">
                <a16:creationId xmlns:a16="http://schemas.microsoft.com/office/drawing/2014/main" id="{44EC9B81-643C-1D8A-1937-7876AF399F11}"/>
              </a:ext>
            </a:extLst>
          </p:cNvPr>
          <p:cNvSpPr txBox="1"/>
          <p:nvPr/>
        </p:nvSpPr>
        <p:spPr>
          <a:xfrm>
            <a:off x="294833" y="36229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dirty="0">
                <a:solidFill>
                  <a:srgbClr val="C55A11"/>
                </a:solidFill>
                <a:latin typeface="Calibri"/>
                <a:ea typeface="Calibri"/>
                <a:cs typeface="Calibri"/>
                <a:sym typeface="Calibri"/>
              </a:rPr>
              <a:t>BERT</a:t>
            </a:r>
            <a:endParaRPr sz="1800" dirty="0">
              <a:solidFill>
                <a:schemeClr val="dk2"/>
              </a:solidFill>
            </a:endParaRPr>
          </a:p>
        </p:txBody>
      </p:sp>
      <p:cxnSp>
        <p:nvCxnSpPr>
          <p:cNvPr id="4" name="Google Shape;871;p90">
            <a:extLst>
              <a:ext uri="{FF2B5EF4-FFF2-40B4-BE49-F238E27FC236}">
                <a16:creationId xmlns:a16="http://schemas.microsoft.com/office/drawing/2014/main" id="{16F68F0D-69BC-8D85-85E9-F92F3CC078E1}"/>
              </a:ext>
            </a:extLst>
          </p:cNvPr>
          <p:cNvCxnSpPr/>
          <p:nvPr/>
        </p:nvCxnSpPr>
        <p:spPr>
          <a:xfrm>
            <a:off x="0" y="828850"/>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5" name="Google Shape;182;p10">
            <a:extLst>
              <a:ext uri="{FF2B5EF4-FFF2-40B4-BE49-F238E27FC236}">
                <a16:creationId xmlns:a16="http://schemas.microsoft.com/office/drawing/2014/main" id="{EDC7027F-CBCA-D412-CAB4-9469BE62A9DF}"/>
              </a:ext>
            </a:extLst>
          </p:cNvPr>
          <p:cNvSpPr/>
          <p:nvPr/>
        </p:nvSpPr>
        <p:spPr>
          <a:xfrm>
            <a:off x="294833" y="189181"/>
            <a:ext cx="5622911" cy="346218"/>
          </a:xfrm>
          <a:prstGeom prst="rect">
            <a:avLst/>
          </a:prstGeom>
          <a:noFill/>
          <a:ln>
            <a:noFill/>
          </a:ln>
        </p:spPr>
        <p:txBody>
          <a:bodyPr spcFirstLastPara="1" wrap="square" lIns="68569" tIns="34275" rIns="68569" bIns="34275" anchor="t" anchorCtr="0">
            <a:spAutoFit/>
          </a:bodyPr>
          <a:lstStyle/>
          <a:p>
            <a:r>
              <a:rPr lang="en-US" sz="1800" b="1" dirty="0">
                <a:solidFill>
                  <a:srgbClr val="C00000"/>
                </a:solidFill>
              </a:rPr>
              <a:t>Generative AI and its Applications </a:t>
            </a:r>
          </a:p>
        </p:txBody>
      </p:sp>
    </p:spTree>
    <p:extLst>
      <p:ext uri="{BB962C8B-B14F-4D97-AF65-F5344CB8AC3E}">
        <p14:creationId xmlns:p14="http://schemas.microsoft.com/office/powerpoint/2010/main" val="28481864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41" name="Google Shape;941;p98"/>
          <p:cNvSpPr txBox="1"/>
          <p:nvPr/>
        </p:nvSpPr>
        <p:spPr>
          <a:xfrm>
            <a:off x="2940" y="708508"/>
            <a:ext cx="6078264" cy="4228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GB" sz="1500" b="1" u="sng" dirty="0">
                <a:solidFill>
                  <a:schemeClr val="dk1"/>
                </a:solidFill>
              </a:rPr>
              <a:t>Fine-tuning: Teaching BERT New Tasks</a:t>
            </a:r>
          </a:p>
          <a:p>
            <a:pPr marL="0" lvl="0" indent="0" algn="l" rtl="0">
              <a:lnSpc>
                <a:spcPct val="115000"/>
              </a:lnSpc>
              <a:spcBef>
                <a:spcPts val="1200"/>
              </a:spcBef>
              <a:spcAft>
                <a:spcPts val="0"/>
              </a:spcAft>
              <a:buNone/>
            </a:pPr>
            <a:br>
              <a:rPr lang="en-GB" sz="1500" b="1" dirty="0">
                <a:solidFill>
                  <a:schemeClr val="dk1"/>
                </a:solidFill>
              </a:rPr>
            </a:br>
            <a:r>
              <a:rPr lang="en-GB" sz="1500" dirty="0">
                <a:solidFill>
                  <a:schemeClr val="dk1"/>
                </a:solidFill>
              </a:rPr>
              <a:t> After BERT learns language generally, it can be fine-tuned for specific tasks( </a:t>
            </a:r>
            <a:r>
              <a:rPr lang="en-GB" sz="1500" b="1" dirty="0">
                <a:solidFill>
                  <a:schemeClr val="accent5">
                    <a:lumMod val="75000"/>
                  </a:schemeClr>
                </a:solidFill>
              </a:rPr>
              <a:t>downstream tasks</a:t>
            </a:r>
            <a:r>
              <a:rPr lang="en-GB" sz="1500" dirty="0">
                <a:solidFill>
                  <a:schemeClr val="dk1"/>
                </a:solidFill>
              </a:rPr>
              <a:t>), like:</a:t>
            </a:r>
            <a:endParaRPr sz="1500" dirty="0">
              <a:solidFill>
                <a:schemeClr val="dk1"/>
              </a:solidFill>
            </a:endParaRPr>
          </a:p>
          <a:p>
            <a:pPr marL="457200" lvl="0" indent="-323850" algn="l" rtl="0">
              <a:lnSpc>
                <a:spcPct val="115000"/>
              </a:lnSpc>
              <a:spcBef>
                <a:spcPts val="1200"/>
              </a:spcBef>
              <a:spcAft>
                <a:spcPts val="0"/>
              </a:spcAft>
              <a:buClr>
                <a:schemeClr val="dk1"/>
              </a:buClr>
              <a:buSzPts val="1500"/>
              <a:buChar char="●"/>
            </a:pPr>
            <a:r>
              <a:rPr lang="en-GB" sz="1500" dirty="0">
                <a:solidFill>
                  <a:schemeClr val="dk1"/>
                </a:solidFill>
              </a:rPr>
              <a:t>Understanding </a:t>
            </a:r>
            <a:r>
              <a:rPr lang="en-GB" sz="1500" dirty="0">
                <a:solidFill>
                  <a:schemeClr val="dk1"/>
                </a:solidFill>
                <a:highlight>
                  <a:srgbClr val="FFFF00"/>
                </a:highlight>
              </a:rPr>
              <a:t>if a movie review is positive or negative</a:t>
            </a:r>
            <a:r>
              <a:rPr lang="en-GB" sz="1500" dirty="0">
                <a:solidFill>
                  <a:schemeClr val="dk1"/>
                </a:solidFill>
              </a:rPr>
              <a:t>: Sentiment Analysis</a:t>
            </a:r>
            <a:endParaRPr sz="1500" dirty="0">
              <a:solidFill>
                <a:schemeClr val="dk1"/>
              </a:solidFill>
            </a:endParaRPr>
          </a:p>
          <a:p>
            <a:pPr marL="457200" lvl="0" indent="-323850" algn="l" rtl="0">
              <a:lnSpc>
                <a:spcPct val="115000"/>
              </a:lnSpc>
              <a:spcBef>
                <a:spcPts val="0"/>
              </a:spcBef>
              <a:spcAft>
                <a:spcPts val="0"/>
              </a:spcAft>
              <a:buClr>
                <a:schemeClr val="dk1"/>
              </a:buClr>
              <a:buSzPts val="1500"/>
              <a:buChar char="●"/>
            </a:pPr>
            <a:r>
              <a:rPr lang="en-GB" sz="1500" dirty="0">
                <a:solidFill>
                  <a:schemeClr val="dk1"/>
                </a:solidFill>
                <a:highlight>
                  <a:srgbClr val="00FFFF"/>
                </a:highlight>
              </a:rPr>
              <a:t>Finding answers in a text</a:t>
            </a:r>
            <a:endParaRPr sz="1500" dirty="0">
              <a:solidFill>
                <a:schemeClr val="dk1"/>
              </a:solidFill>
              <a:highlight>
                <a:srgbClr val="00FFFF"/>
              </a:highlight>
            </a:endParaRPr>
          </a:p>
          <a:p>
            <a:pPr marL="457200" lvl="0" indent="-323850" algn="l" rtl="0">
              <a:lnSpc>
                <a:spcPct val="115000"/>
              </a:lnSpc>
              <a:spcBef>
                <a:spcPts val="0"/>
              </a:spcBef>
              <a:spcAft>
                <a:spcPts val="0"/>
              </a:spcAft>
              <a:buClr>
                <a:schemeClr val="dk1"/>
              </a:buClr>
              <a:buSzPts val="1500"/>
              <a:buChar char="●"/>
            </a:pPr>
            <a:r>
              <a:rPr lang="en-GB" sz="1500" dirty="0">
                <a:solidFill>
                  <a:schemeClr val="dk1"/>
                </a:solidFill>
              </a:rPr>
              <a:t>Identifying </a:t>
            </a:r>
            <a:r>
              <a:rPr lang="en-GB" sz="1500" dirty="0">
                <a:solidFill>
                  <a:schemeClr val="dk1"/>
                </a:solidFill>
                <a:highlight>
                  <a:srgbClr val="00FF00"/>
                </a:highlight>
              </a:rPr>
              <a:t>names and places in sentences: NER</a:t>
            </a:r>
            <a:endParaRPr sz="1500" dirty="0">
              <a:solidFill>
                <a:schemeClr val="dk1"/>
              </a:solidFill>
              <a:highlight>
                <a:srgbClr val="00FF00"/>
              </a:highlight>
            </a:endParaRPr>
          </a:p>
          <a:p>
            <a:pPr marL="0" lvl="0" indent="0" algn="l" rtl="0">
              <a:lnSpc>
                <a:spcPct val="115000"/>
              </a:lnSpc>
              <a:spcBef>
                <a:spcPts val="1200"/>
              </a:spcBef>
              <a:spcAft>
                <a:spcPts val="0"/>
              </a:spcAft>
              <a:buNone/>
            </a:pPr>
            <a:r>
              <a:rPr lang="en-GB" sz="1500" dirty="0">
                <a:solidFill>
                  <a:schemeClr val="dk1"/>
                </a:solidFill>
              </a:rPr>
              <a:t>This is like taking a well-educated student (pre-trained BERT) and giving them specialized training for a specific job.</a:t>
            </a:r>
            <a:endParaRPr sz="1900" b="1" dirty="0">
              <a:solidFill>
                <a:schemeClr val="dk1"/>
              </a:solidFill>
            </a:endParaRPr>
          </a:p>
          <a:p>
            <a:pPr marL="0" lvl="0" indent="0" algn="l" rtl="0">
              <a:lnSpc>
                <a:spcPct val="115000"/>
              </a:lnSpc>
              <a:spcBef>
                <a:spcPts val="1200"/>
              </a:spcBef>
              <a:spcAft>
                <a:spcPts val="0"/>
              </a:spcAft>
              <a:buNone/>
            </a:pPr>
            <a:endParaRPr sz="1500" dirty="0">
              <a:solidFill>
                <a:schemeClr val="dk1"/>
              </a:solidFill>
            </a:endParaRPr>
          </a:p>
          <a:p>
            <a:pPr marL="457200" lvl="0" indent="0" algn="l" rtl="0">
              <a:lnSpc>
                <a:spcPct val="115000"/>
              </a:lnSpc>
              <a:spcBef>
                <a:spcPts val="1200"/>
              </a:spcBef>
              <a:spcAft>
                <a:spcPts val="0"/>
              </a:spcAft>
              <a:buNone/>
            </a:pPr>
            <a:endParaRPr sz="1500" dirty="0">
              <a:solidFill>
                <a:schemeClr val="dk1"/>
              </a:solidFill>
              <a:latin typeface="Roboto"/>
              <a:ea typeface="Roboto"/>
              <a:cs typeface="Roboto"/>
              <a:sym typeface="Roboto"/>
            </a:endParaRPr>
          </a:p>
          <a:p>
            <a:pPr marL="0" lvl="0" indent="0" algn="l" rtl="0">
              <a:lnSpc>
                <a:spcPct val="115000"/>
              </a:lnSpc>
              <a:spcBef>
                <a:spcPts val="1200"/>
              </a:spcBef>
              <a:spcAft>
                <a:spcPts val="0"/>
              </a:spcAft>
              <a:buNone/>
            </a:pPr>
            <a:endParaRPr sz="1500" dirty="0">
              <a:solidFill>
                <a:schemeClr val="dk1"/>
              </a:solidFill>
            </a:endParaRPr>
          </a:p>
          <a:p>
            <a:pPr marL="0" lvl="0" indent="0" algn="l" rtl="0">
              <a:lnSpc>
                <a:spcPct val="115000"/>
              </a:lnSpc>
              <a:spcBef>
                <a:spcPts val="1200"/>
              </a:spcBef>
              <a:spcAft>
                <a:spcPts val="1200"/>
              </a:spcAft>
              <a:buNone/>
            </a:pPr>
            <a:endParaRPr sz="1500" dirty="0">
              <a:solidFill>
                <a:schemeClr val="dk1"/>
              </a:solidFill>
            </a:endParaRPr>
          </a:p>
        </p:txBody>
      </p:sp>
      <p:sp>
        <p:nvSpPr>
          <p:cNvPr id="2" name="object 6">
            <a:extLst>
              <a:ext uri="{FF2B5EF4-FFF2-40B4-BE49-F238E27FC236}">
                <a16:creationId xmlns:a16="http://schemas.microsoft.com/office/drawing/2014/main" id="{79926A67-EB29-93DA-495A-A79B04861907}"/>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sp>
        <p:nvSpPr>
          <p:cNvPr id="3" name="Google Shape;870;p90">
            <a:extLst>
              <a:ext uri="{FF2B5EF4-FFF2-40B4-BE49-F238E27FC236}">
                <a16:creationId xmlns:a16="http://schemas.microsoft.com/office/drawing/2014/main" id="{FE702563-6048-6A73-8C86-A223E4814CEA}"/>
              </a:ext>
            </a:extLst>
          </p:cNvPr>
          <p:cNvSpPr txBox="1"/>
          <p:nvPr/>
        </p:nvSpPr>
        <p:spPr>
          <a:xfrm>
            <a:off x="294833" y="36229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dirty="0">
                <a:solidFill>
                  <a:srgbClr val="C55A11"/>
                </a:solidFill>
                <a:latin typeface="Calibri"/>
                <a:ea typeface="Calibri"/>
                <a:cs typeface="Calibri"/>
                <a:sym typeface="Calibri"/>
              </a:rPr>
              <a:t>BERT</a:t>
            </a:r>
            <a:endParaRPr sz="1800" dirty="0">
              <a:solidFill>
                <a:schemeClr val="dk2"/>
              </a:solidFill>
            </a:endParaRPr>
          </a:p>
        </p:txBody>
      </p:sp>
      <p:cxnSp>
        <p:nvCxnSpPr>
          <p:cNvPr id="4" name="Google Shape;871;p90">
            <a:extLst>
              <a:ext uri="{FF2B5EF4-FFF2-40B4-BE49-F238E27FC236}">
                <a16:creationId xmlns:a16="http://schemas.microsoft.com/office/drawing/2014/main" id="{05899016-2925-BFCA-B392-C71CFE2ED431}"/>
              </a:ext>
            </a:extLst>
          </p:cNvPr>
          <p:cNvCxnSpPr/>
          <p:nvPr/>
        </p:nvCxnSpPr>
        <p:spPr>
          <a:xfrm>
            <a:off x="0" y="828850"/>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5" name="Google Shape;182;p10">
            <a:extLst>
              <a:ext uri="{FF2B5EF4-FFF2-40B4-BE49-F238E27FC236}">
                <a16:creationId xmlns:a16="http://schemas.microsoft.com/office/drawing/2014/main" id="{D644C76F-B4C7-A49B-4F06-09C57DC44B3F}"/>
              </a:ext>
            </a:extLst>
          </p:cNvPr>
          <p:cNvSpPr/>
          <p:nvPr/>
        </p:nvSpPr>
        <p:spPr>
          <a:xfrm>
            <a:off x="294833" y="189181"/>
            <a:ext cx="5622911" cy="346218"/>
          </a:xfrm>
          <a:prstGeom prst="rect">
            <a:avLst/>
          </a:prstGeom>
          <a:noFill/>
          <a:ln>
            <a:noFill/>
          </a:ln>
        </p:spPr>
        <p:txBody>
          <a:bodyPr spcFirstLastPara="1" wrap="square" lIns="68569" tIns="34275" rIns="68569" bIns="34275" anchor="t" anchorCtr="0">
            <a:spAutoFit/>
          </a:bodyPr>
          <a:lstStyle/>
          <a:p>
            <a:r>
              <a:rPr lang="en-US" sz="1800" b="1" dirty="0">
                <a:solidFill>
                  <a:srgbClr val="C00000"/>
                </a:solidFill>
              </a:rPr>
              <a:t>Generative AI and its Applications </a:t>
            </a:r>
          </a:p>
        </p:txBody>
      </p:sp>
      <p:pic>
        <p:nvPicPr>
          <p:cNvPr id="7" name="Picture 6">
            <a:extLst>
              <a:ext uri="{FF2B5EF4-FFF2-40B4-BE49-F238E27FC236}">
                <a16:creationId xmlns:a16="http://schemas.microsoft.com/office/drawing/2014/main" id="{F79A1AFC-382C-E671-B17A-A36895149E00}"/>
              </a:ext>
            </a:extLst>
          </p:cNvPr>
          <p:cNvPicPr>
            <a:picLocks noChangeAspect="1"/>
          </p:cNvPicPr>
          <p:nvPr/>
        </p:nvPicPr>
        <p:blipFill>
          <a:blip r:embed="rId4"/>
          <a:stretch>
            <a:fillRect/>
          </a:stretch>
        </p:blipFill>
        <p:spPr>
          <a:xfrm>
            <a:off x="5917744" y="2249913"/>
            <a:ext cx="3206273" cy="2687095"/>
          </a:xfrm>
          <a:prstGeom prst="rect">
            <a:avLst/>
          </a:prstGeom>
        </p:spPr>
      </p:pic>
    </p:spTree>
    <p:extLst>
      <p:ext uri="{BB962C8B-B14F-4D97-AF65-F5344CB8AC3E}">
        <p14:creationId xmlns:p14="http://schemas.microsoft.com/office/powerpoint/2010/main" val="36842355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4" name="Google Shape;924;p96"/>
          <p:cNvSpPr txBox="1"/>
          <p:nvPr/>
        </p:nvSpPr>
        <p:spPr>
          <a:xfrm>
            <a:off x="90950" y="861325"/>
            <a:ext cx="9109200" cy="4228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endParaRPr sz="1500">
              <a:solidFill>
                <a:schemeClr val="dk1"/>
              </a:solidFill>
            </a:endParaRPr>
          </a:p>
        </p:txBody>
      </p:sp>
      <p:pic>
        <p:nvPicPr>
          <p:cNvPr id="926" name="Google Shape;926;p96"/>
          <p:cNvPicPr preferRelativeResize="0"/>
          <p:nvPr/>
        </p:nvPicPr>
        <p:blipFill>
          <a:blip r:embed="rId3">
            <a:alphaModFix/>
          </a:blip>
          <a:stretch>
            <a:fillRect/>
          </a:stretch>
        </p:blipFill>
        <p:spPr>
          <a:xfrm>
            <a:off x="-8" y="1171574"/>
            <a:ext cx="8001008" cy="3718827"/>
          </a:xfrm>
          <a:prstGeom prst="rect">
            <a:avLst/>
          </a:prstGeom>
          <a:noFill/>
          <a:ln>
            <a:noFill/>
          </a:ln>
        </p:spPr>
      </p:pic>
      <p:sp>
        <p:nvSpPr>
          <p:cNvPr id="2" name="object 6">
            <a:extLst>
              <a:ext uri="{FF2B5EF4-FFF2-40B4-BE49-F238E27FC236}">
                <a16:creationId xmlns:a16="http://schemas.microsoft.com/office/drawing/2014/main" id="{F1E3B34A-C704-3082-3D8A-10EB0AD0F7EB}"/>
              </a:ext>
            </a:extLst>
          </p:cNvPr>
          <p:cNvSpPr/>
          <p:nvPr/>
        </p:nvSpPr>
        <p:spPr>
          <a:xfrm>
            <a:off x="8304129" y="53623"/>
            <a:ext cx="739525" cy="1172718"/>
          </a:xfrm>
          <a:prstGeom prst="rect">
            <a:avLst/>
          </a:prstGeom>
          <a:blipFill>
            <a:blip r:embed="rId4" cstate="print"/>
            <a:stretch>
              <a:fillRect/>
            </a:stretch>
          </a:blipFill>
        </p:spPr>
        <p:txBody>
          <a:bodyPr wrap="square" lIns="0" tIns="0" rIns="0" bIns="0" rtlCol="0"/>
          <a:lstStyle/>
          <a:p>
            <a:endParaRPr sz="945"/>
          </a:p>
        </p:txBody>
      </p:sp>
      <p:sp>
        <p:nvSpPr>
          <p:cNvPr id="3" name="Google Shape;870;p90">
            <a:extLst>
              <a:ext uri="{FF2B5EF4-FFF2-40B4-BE49-F238E27FC236}">
                <a16:creationId xmlns:a16="http://schemas.microsoft.com/office/drawing/2014/main" id="{841FD9C9-97D8-E1A5-C1E2-5E0DD88907CC}"/>
              </a:ext>
            </a:extLst>
          </p:cNvPr>
          <p:cNvSpPr txBox="1"/>
          <p:nvPr/>
        </p:nvSpPr>
        <p:spPr>
          <a:xfrm>
            <a:off x="294833" y="36229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dirty="0">
                <a:solidFill>
                  <a:srgbClr val="C55A11"/>
                </a:solidFill>
                <a:latin typeface="Calibri"/>
                <a:ea typeface="Calibri"/>
                <a:cs typeface="Calibri"/>
                <a:sym typeface="Calibri"/>
              </a:rPr>
              <a:t>BERT</a:t>
            </a:r>
            <a:endParaRPr sz="1800" dirty="0">
              <a:solidFill>
                <a:schemeClr val="dk2"/>
              </a:solidFill>
            </a:endParaRPr>
          </a:p>
        </p:txBody>
      </p:sp>
      <p:cxnSp>
        <p:nvCxnSpPr>
          <p:cNvPr id="4" name="Google Shape;871;p90">
            <a:extLst>
              <a:ext uri="{FF2B5EF4-FFF2-40B4-BE49-F238E27FC236}">
                <a16:creationId xmlns:a16="http://schemas.microsoft.com/office/drawing/2014/main" id="{10EFAF22-94E7-7EBE-39CC-E9B0CADD3E38}"/>
              </a:ext>
            </a:extLst>
          </p:cNvPr>
          <p:cNvCxnSpPr/>
          <p:nvPr/>
        </p:nvCxnSpPr>
        <p:spPr>
          <a:xfrm>
            <a:off x="0" y="828850"/>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5" name="Google Shape;182;p10">
            <a:extLst>
              <a:ext uri="{FF2B5EF4-FFF2-40B4-BE49-F238E27FC236}">
                <a16:creationId xmlns:a16="http://schemas.microsoft.com/office/drawing/2014/main" id="{4B1E055E-6EC6-13AC-7902-C58915CF6A91}"/>
              </a:ext>
            </a:extLst>
          </p:cNvPr>
          <p:cNvSpPr/>
          <p:nvPr/>
        </p:nvSpPr>
        <p:spPr>
          <a:xfrm>
            <a:off x="294833" y="189181"/>
            <a:ext cx="5622911" cy="346218"/>
          </a:xfrm>
          <a:prstGeom prst="rect">
            <a:avLst/>
          </a:prstGeom>
          <a:noFill/>
          <a:ln>
            <a:noFill/>
          </a:ln>
        </p:spPr>
        <p:txBody>
          <a:bodyPr spcFirstLastPara="1" wrap="square" lIns="68569" tIns="34275" rIns="68569" bIns="34275" anchor="t" anchorCtr="0">
            <a:spAutoFit/>
          </a:bodyPr>
          <a:lstStyle/>
          <a:p>
            <a:r>
              <a:rPr lang="en-US" sz="1800" b="1" dirty="0">
                <a:solidFill>
                  <a:srgbClr val="C00000"/>
                </a:solidFill>
              </a:rPr>
              <a:t>Generative AI and its Applications </a:t>
            </a:r>
          </a:p>
        </p:txBody>
      </p:sp>
    </p:spTree>
    <p:extLst>
      <p:ext uri="{BB962C8B-B14F-4D97-AF65-F5344CB8AC3E}">
        <p14:creationId xmlns:p14="http://schemas.microsoft.com/office/powerpoint/2010/main" val="20619848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30"/>
        <p:cNvGrpSpPr/>
        <p:nvPr/>
      </p:nvGrpSpPr>
      <p:grpSpPr>
        <a:xfrm>
          <a:off x="0" y="0"/>
          <a:ext cx="0" cy="0"/>
          <a:chOff x="0" y="0"/>
          <a:chExt cx="0" cy="0"/>
        </a:xfrm>
      </p:grpSpPr>
      <p:sp>
        <p:nvSpPr>
          <p:cNvPr id="933" name="Google Shape;933;p97"/>
          <p:cNvSpPr txBox="1"/>
          <p:nvPr/>
        </p:nvSpPr>
        <p:spPr>
          <a:xfrm>
            <a:off x="100346" y="639982"/>
            <a:ext cx="7753697" cy="4228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GB" sz="1500" b="1" dirty="0">
                <a:solidFill>
                  <a:schemeClr val="dk1"/>
                </a:solidFill>
              </a:rPr>
              <a:t>BERT's Input Processing</a:t>
            </a:r>
          </a:p>
          <a:p>
            <a:pPr marL="0" lvl="0" indent="0" algn="l" rtl="0">
              <a:lnSpc>
                <a:spcPct val="115000"/>
              </a:lnSpc>
              <a:spcBef>
                <a:spcPts val="1200"/>
              </a:spcBef>
              <a:spcAft>
                <a:spcPts val="0"/>
              </a:spcAft>
              <a:buNone/>
            </a:pPr>
            <a:br>
              <a:rPr lang="en-GB" sz="1500" b="1" dirty="0">
                <a:solidFill>
                  <a:schemeClr val="dk1"/>
                </a:solidFill>
              </a:rPr>
            </a:br>
            <a:r>
              <a:rPr lang="en-GB" sz="1500" dirty="0">
                <a:solidFill>
                  <a:schemeClr val="dk1"/>
                </a:solidFill>
              </a:rPr>
              <a:t> </a:t>
            </a:r>
            <a:r>
              <a:rPr lang="en-GB" sz="1500" dirty="0">
                <a:solidFill>
                  <a:srgbClr val="FF0000"/>
                </a:solidFill>
              </a:rPr>
              <a:t>BERT processes text in a special way:</a:t>
            </a:r>
            <a:endParaRPr sz="1500" dirty="0">
              <a:solidFill>
                <a:srgbClr val="FF0000"/>
              </a:solidFill>
            </a:endParaRPr>
          </a:p>
          <a:p>
            <a:pPr marL="457200" lvl="0" indent="-323850" algn="l" rtl="0">
              <a:lnSpc>
                <a:spcPct val="115000"/>
              </a:lnSpc>
              <a:spcBef>
                <a:spcPts val="1200"/>
              </a:spcBef>
              <a:spcAft>
                <a:spcPts val="0"/>
              </a:spcAft>
              <a:buClr>
                <a:schemeClr val="dk1"/>
              </a:buClr>
              <a:buSzPts val="1500"/>
              <a:buChar char="●"/>
            </a:pPr>
            <a:r>
              <a:rPr lang="en-GB" sz="1500" dirty="0">
                <a:solidFill>
                  <a:schemeClr val="dk1"/>
                </a:solidFill>
              </a:rPr>
              <a:t>Every word gets three types of information:</a:t>
            </a:r>
            <a:endParaRPr sz="1500" dirty="0">
              <a:solidFill>
                <a:schemeClr val="dk1"/>
              </a:solidFill>
            </a:endParaRPr>
          </a:p>
          <a:p>
            <a:pPr marL="914400" lvl="1" indent="-323850" algn="l" rtl="0">
              <a:lnSpc>
                <a:spcPct val="115000"/>
              </a:lnSpc>
              <a:spcBef>
                <a:spcPts val="0"/>
              </a:spcBef>
              <a:spcAft>
                <a:spcPts val="0"/>
              </a:spcAft>
              <a:buClr>
                <a:schemeClr val="dk1"/>
              </a:buClr>
              <a:buSzPts val="1500"/>
              <a:buAutoNum type="arabicPeriod"/>
            </a:pPr>
            <a:r>
              <a:rPr lang="en-GB" sz="1500" dirty="0">
                <a:solidFill>
                  <a:schemeClr val="dk1"/>
                </a:solidFill>
              </a:rPr>
              <a:t>The word itself (</a:t>
            </a:r>
            <a:r>
              <a:rPr lang="en-GB" sz="1500" b="1" dirty="0">
                <a:solidFill>
                  <a:schemeClr val="dk1"/>
                </a:solidFill>
              </a:rPr>
              <a:t>Token Embedding</a:t>
            </a:r>
            <a:r>
              <a:rPr lang="en-GB" sz="1500" dirty="0">
                <a:solidFill>
                  <a:schemeClr val="dk1"/>
                </a:solidFill>
              </a:rPr>
              <a:t>)</a:t>
            </a:r>
            <a:endParaRPr sz="1500" dirty="0">
              <a:solidFill>
                <a:schemeClr val="dk1"/>
              </a:solidFill>
            </a:endParaRPr>
          </a:p>
          <a:p>
            <a:pPr marL="914400" lvl="1" indent="-323850" algn="l" rtl="0">
              <a:lnSpc>
                <a:spcPct val="115000"/>
              </a:lnSpc>
              <a:spcBef>
                <a:spcPts val="0"/>
              </a:spcBef>
              <a:spcAft>
                <a:spcPts val="0"/>
              </a:spcAft>
              <a:buClr>
                <a:schemeClr val="dk1"/>
              </a:buClr>
              <a:buSzPts val="1500"/>
              <a:buAutoNum type="arabicPeriod"/>
            </a:pPr>
            <a:r>
              <a:rPr lang="en-GB" sz="1500" dirty="0">
                <a:solidFill>
                  <a:schemeClr val="dk1"/>
                </a:solidFill>
              </a:rPr>
              <a:t>Which sentence it belongs to (</a:t>
            </a:r>
            <a:r>
              <a:rPr lang="en-GB" sz="1500" b="1" dirty="0">
                <a:solidFill>
                  <a:schemeClr val="dk1"/>
                </a:solidFill>
              </a:rPr>
              <a:t>Segment Embedding</a:t>
            </a:r>
            <a:r>
              <a:rPr lang="en-GB" sz="1500" dirty="0">
                <a:solidFill>
                  <a:schemeClr val="dk1"/>
                </a:solidFill>
              </a:rPr>
              <a:t>)</a:t>
            </a:r>
            <a:endParaRPr sz="1500" dirty="0">
              <a:solidFill>
                <a:schemeClr val="dk1"/>
              </a:solidFill>
            </a:endParaRPr>
          </a:p>
          <a:p>
            <a:pPr marL="914400" lvl="1" indent="-323850" algn="l" rtl="0">
              <a:lnSpc>
                <a:spcPct val="115000"/>
              </a:lnSpc>
              <a:spcBef>
                <a:spcPts val="0"/>
              </a:spcBef>
              <a:spcAft>
                <a:spcPts val="0"/>
              </a:spcAft>
              <a:buClr>
                <a:schemeClr val="dk1"/>
              </a:buClr>
              <a:buSzPts val="1500"/>
              <a:buAutoNum type="arabicPeriod"/>
            </a:pPr>
            <a:r>
              <a:rPr lang="en-GB" sz="1500" dirty="0">
                <a:solidFill>
                  <a:schemeClr val="dk1"/>
                </a:solidFill>
              </a:rPr>
              <a:t>Where it appears in the sentence (</a:t>
            </a:r>
            <a:r>
              <a:rPr lang="en-GB" sz="1500" b="1" dirty="0">
                <a:solidFill>
                  <a:schemeClr val="dk1"/>
                </a:solidFill>
              </a:rPr>
              <a:t>Position Embedding</a:t>
            </a:r>
            <a:r>
              <a:rPr lang="en-GB" sz="1500" dirty="0">
                <a:solidFill>
                  <a:schemeClr val="dk1"/>
                </a:solidFill>
              </a:rPr>
              <a:t>)</a:t>
            </a:r>
          </a:p>
          <a:p>
            <a:pPr marL="914400" lvl="1" indent="-323850">
              <a:lnSpc>
                <a:spcPct val="115000"/>
              </a:lnSpc>
              <a:buClr>
                <a:schemeClr val="dk1"/>
              </a:buClr>
              <a:buSzPts val="1500"/>
              <a:buFont typeface="Arial"/>
              <a:buAutoNum type="arabicPeriod"/>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token embeddings are passed through BERT's multiple layers of bidirectional transformers. Each layer refines the embeddings by capturing the context from both directions (left-to-right and right-to-left).</a:t>
            </a:r>
          </a:p>
          <a:p>
            <a:pPr marL="914400" lvl="1" indent="-323850" algn="l" rtl="0">
              <a:lnSpc>
                <a:spcPct val="115000"/>
              </a:lnSpc>
              <a:spcBef>
                <a:spcPts val="0"/>
              </a:spcBef>
              <a:spcAft>
                <a:spcPts val="0"/>
              </a:spcAft>
              <a:buClr>
                <a:schemeClr val="dk1"/>
              </a:buClr>
              <a:buSzPts val="1500"/>
              <a:buAutoNum type="arabicPeriod"/>
            </a:pPr>
            <a:endParaRPr sz="1500" dirty="0">
              <a:solidFill>
                <a:schemeClr val="dk1"/>
              </a:solidFill>
            </a:endParaRPr>
          </a:p>
          <a:p>
            <a:pPr marL="0" lvl="0" indent="0" algn="l" rtl="0">
              <a:lnSpc>
                <a:spcPct val="115000"/>
              </a:lnSpc>
              <a:spcBef>
                <a:spcPts val="1200"/>
              </a:spcBef>
              <a:spcAft>
                <a:spcPts val="1200"/>
              </a:spcAft>
              <a:buNone/>
            </a:pPr>
            <a:endParaRPr sz="1500" dirty="0">
              <a:solidFill>
                <a:schemeClr val="dk1"/>
              </a:solidFill>
            </a:endParaRPr>
          </a:p>
        </p:txBody>
      </p:sp>
      <p:sp>
        <p:nvSpPr>
          <p:cNvPr id="2" name="object 6">
            <a:extLst>
              <a:ext uri="{FF2B5EF4-FFF2-40B4-BE49-F238E27FC236}">
                <a16:creationId xmlns:a16="http://schemas.microsoft.com/office/drawing/2014/main" id="{7FB09707-8296-EFE1-15A0-9D6386C00CB5}"/>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sp>
        <p:nvSpPr>
          <p:cNvPr id="3" name="Google Shape;870;p90">
            <a:extLst>
              <a:ext uri="{FF2B5EF4-FFF2-40B4-BE49-F238E27FC236}">
                <a16:creationId xmlns:a16="http://schemas.microsoft.com/office/drawing/2014/main" id="{CADA1772-785B-E0DE-8A6E-0BC0BB877C83}"/>
              </a:ext>
            </a:extLst>
          </p:cNvPr>
          <p:cNvSpPr txBox="1"/>
          <p:nvPr/>
        </p:nvSpPr>
        <p:spPr>
          <a:xfrm>
            <a:off x="294833" y="36229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dirty="0">
                <a:solidFill>
                  <a:srgbClr val="C55A11"/>
                </a:solidFill>
                <a:latin typeface="Calibri"/>
                <a:ea typeface="Calibri"/>
                <a:cs typeface="Calibri"/>
                <a:sym typeface="Calibri"/>
              </a:rPr>
              <a:t>BERT</a:t>
            </a:r>
            <a:endParaRPr sz="1800" dirty="0">
              <a:solidFill>
                <a:schemeClr val="dk2"/>
              </a:solidFill>
            </a:endParaRPr>
          </a:p>
        </p:txBody>
      </p:sp>
      <p:cxnSp>
        <p:nvCxnSpPr>
          <p:cNvPr id="4" name="Google Shape;871;p90">
            <a:extLst>
              <a:ext uri="{FF2B5EF4-FFF2-40B4-BE49-F238E27FC236}">
                <a16:creationId xmlns:a16="http://schemas.microsoft.com/office/drawing/2014/main" id="{40169396-669B-D976-321E-1FA5A62ED6C6}"/>
              </a:ext>
            </a:extLst>
          </p:cNvPr>
          <p:cNvCxnSpPr/>
          <p:nvPr/>
        </p:nvCxnSpPr>
        <p:spPr>
          <a:xfrm>
            <a:off x="0" y="828850"/>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5" name="Google Shape;182;p10">
            <a:extLst>
              <a:ext uri="{FF2B5EF4-FFF2-40B4-BE49-F238E27FC236}">
                <a16:creationId xmlns:a16="http://schemas.microsoft.com/office/drawing/2014/main" id="{5B67D60D-2B3E-310A-FFA4-6F50FB9BF02B}"/>
              </a:ext>
            </a:extLst>
          </p:cNvPr>
          <p:cNvSpPr/>
          <p:nvPr/>
        </p:nvSpPr>
        <p:spPr>
          <a:xfrm>
            <a:off x="294833" y="189181"/>
            <a:ext cx="5622911" cy="346218"/>
          </a:xfrm>
          <a:prstGeom prst="rect">
            <a:avLst/>
          </a:prstGeom>
          <a:noFill/>
          <a:ln>
            <a:noFill/>
          </a:ln>
        </p:spPr>
        <p:txBody>
          <a:bodyPr spcFirstLastPara="1" wrap="square" lIns="68569" tIns="34275" rIns="68569" bIns="34275" anchor="t" anchorCtr="0">
            <a:spAutoFit/>
          </a:bodyPr>
          <a:lstStyle/>
          <a:p>
            <a:r>
              <a:rPr lang="en-US" sz="1800" b="1" dirty="0">
                <a:solidFill>
                  <a:srgbClr val="C00000"/>
                </a:solidFill>
              </a:rPr>
              <a:t>Generative AI and its Applications </a:t>
            </a:r>
          </a:p>
        </p:txBody>
      </p:sp>
    </p:spTree>
    <p:extLst>
      <p:ext uri="{BB962C8B-B14F-4D97-AF65-F5344CB8AC3E}">
        <p14:creationId xmlns:p14="http://schemas.microsoft.com/office/powerpoint/2010/main" val="11341924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30">
          <a:extLst>
            <a:ext uri="{FF2B5EF4-FFF2-40B4-BE49-F238E27FC236}">
              <a16:creationId xmlns:a16="http://schemas.microsoft.com/office/drawing/2014/main" id="{481F9579-8F5B-E0A5-275E-6B61D728D8AC}"/>
            </a:ext>
          </a:extLst>
        </p:cNvPr>
        <p:cNvGrpSpPr/>
        <p:nvPr/>
      </p:nvGrpSpPr>
      <p:grpSpPr>
        <a:xfrm>
          <a:off x="0" y="0"/>
          <a:ext cx="0" cy="0"/>
          <a:chOff x="0" y="0"/>
          <a:chExt cx="0" cy="0"/>
        </a:xfrm>
      </p:grpSpPr>
      <p:sp>
        <p:nvSpPr>
          <p:cNvPr id="933" name="Google Shape;933;p97">
            <a:extLst>
              <a:ext uri="{FF2B5EF4-FFF2-40B4-BE49-F238E27FC236}">
                <a16:creationId xmlns:a16="http://schemas.microsoft.com/office/drawing/2014/main" id="{5775F2A4-8F5D-EF63-5806-E996776A6967}"/>
              </a:ext>
            </a:extLst>
          </p:cNvPr>
          <p:cNvSpPr txBox="1"/>
          <p:nvPr/>
        </p:nvSpPr>
        <p:spPr>
          <a:xfrm>
            <a:off x="100346" y="639982"/>
            <a:ext cx="7753697" cy="4228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GB" sz="1500" b="1" dirty="0">
                <a:solidFill>
                  <a:schemeClr val="dk1"/>
                </a:solidFill>
              </a:rPr>
              <a:t>BERT's Input Processing</a:t>
            </a:r>
          </a:p>
          <a:p>
            <a:pPr marL="590550" lvl="1" algn="l" rtl="0">
              <a:lnSpc>
                <a:spcPct val="115000"/>
              </a:lnSpc>
              <a:spcBef>
                <a:spcPts val="0"/>
              </a:spcBef>
              <a:spcAft>
                <a:spcPts val="0"/>
              </a:spcAft>
              <a:buClr>
                <a:schemeClr val="dk1"/>
              </a:buClr>
              <a:buSzPts val="1500"/>
            </a:pPr>
            <a:endParaRPr sz="1500" dirty="0">
              <a:solidFill>
                <a:schemeClr val="dk1"/>
              </a:solidFill>
            </a:endParaRPr>
          </a:p>
          <a:p>
            <a:pPr marL="0" lvl="0" indent="0" algn="l" rtl="0">
              <a:lnSpc>
                <a:spcPct val="115000"/>
              </a:lnSpc>
              <a:spcBef>
                <a:spcPts val="1200"/>
              </a:spcBef>
              <a:spcAft>
                <a:spcPts val="0"/>
              </a:spcAft>
              <a:buNone/>
            </a:pPr>
            <a:r>
              <a:rPr lang="en-GB" sz="1500" dirty="0">
                <a:solidFill>
                  <a:srgbClr val="FF0000"/>
                </a:solidFill>
              </a:rPr>
              <a:t>Special markers are used:</a:t>
            </a:r>
            <a:endParaRPr sz="1500" dirty="0">
              <a:solidFill>
                <a:srgbClr val="FF0000"/>
              </a:solidFill>
            </a:endParaRPr>
          </a:p>
          <a:p>
            <a:pPr marL="457200" lvl="0" indent="-298450" algn="l" rtl="0">
              <a:lnSpc>
                <a:spcPct val="115000"/>
              </a:lnSpc>
              <a:spcBef>
                <a:spcPts val="1200"/>
              </a:spcBef>
              <a:spcAft>
                <a:spcPts val="0"/>
              </a:spcAft>
              <a:buClr>
                <a:schemeClr val="dk1"/>
              </a:buClr>
              <a:buSzPts val="1100"/>
              <a:buChar char="●"/>
            </a:pPr>
            <a:r>
              <a:rPr lang="en-GB" sz="1500" dirty="0">
                <a:solidFill>
                  <a:schemeClr val="dk1"/>
                </a:solidFill>
              </a:rPr>
              <a:t>[CLS] at the start (like raising a flag saying "pay attention, new text coming")</a:t>
            </a:r>
            <a:endParaRPr sz="15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500" dirty="0">
                <a:solidFill>
                  <a:schemeClr val="dk1"/>
                </a:solidFill>
              </a:rPr>
              <a:t>[SEP] between sentences (like a boundary marker)</a:t>
            </a:r>
            <a:endParaRPr sz="15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500" dirty="0">
                <a:solidFill>
                  <a:schemeClr val="dk1"/>
                </a:solidFill>
              </a:rPr>
              <a:t>[MASK] for hidden words during training</a:t>
            </a:r>
            <a:endParaRPr sz="1500" dirty="0">
              <a:solidFill>
                <a:schemeClr val="dk1"/>
              </a:solidFill>
            </a:endParaRPr>
          </a:p>
          <a:p>
            <a:pPr marL="0" lvl="0" indent="0" algn="l" rtl="0">
              <a:lnSpc>
                <a:spcPct val="115000"/>
              </a:lnSpc>
              <a:spcBef>
                <a:spcPts val="1200"/>
              </a:spcBef>
              <a:spcAft>
                <a:spcPts val="0"/>
              </a:spcAft>
              <a:buNone/>
            </a:pPr>
            <a:endParaRPr sz="1500" dirty="0">
              <a:solidFill>
                <a:schemeClr val="dk1"/>
              </a:solidFill>
            </a:endParaRPr>
          </a:p>
          <a:p>
            <a:pPr marL="457200" lvl="0" indent="0" algn="l" rtl="0">
              <a:lnSpc>
                <a:spcPct val="115000"/>
              </a:lnSpc>
              <a:spcBef>
                <a:spcPts val="1200"/>
              </a:spcBef>
              <a:spcAft>
                <a:spcPts val="0"/>
              </a:spcAft>
              <a:buNone/>
            </a:pPr>
            <a:endParaRPr sz="1500" dirty="0">
              <a:solidFill>
                <a:schemeClr val="dk1"/>
              </a:solidFill>
              <a:latin typeface="Roboto"/>
              <a:ea typeface="Roboto"/>
              <a:cs typeface="Roboto"/>
              <a:sym typeface="Roboto"/>
            </a:endParaRPr>
          </a:p>
          <a:p>
            <a:pPr marL="0" lvl="0" indent="0" algn="l" rtl="0">
              <a:lnSpc>
                <a:spcPct val="115000"/>
              </a:lnSpc>
              <a:spcBef>
                <a:spcPts val="1200"/>
              </a:spcBef>
              <a:spcAft>
                <a:spcPts val="0"/>
              </a:spcAft>
              <a:buNone/>
            </a:pPr>
            <a:endParaRPr sz="1500" dirty="0">
              <a:solidFill>
                <a:schemeClr val="dk1"/>
              </a:solidFill>
            </a:endParaRPr>
          </a:p>
          <a:p>
            <a:pPr marL="0" lvl="0" indent="0" algn="l" rtl="0">
              <a:lnSpc>
                <a:spcPct val="115000"/>
              </a:lnSpc>
              <a:spcBef>
                <a:spcPts val="1200"/>
              </a:spcBef>
              <a:spcAft>
                <a:spcPts val="1200"/>
              </a:spcAft>
              <a:buNone/>
            </a:pPr>
            <a:endParaRPr sz="1500" dirty="0">
              <a:solidFill>
                <a:schemeClr val="dk1"/>
              </a:solidFill>
            </a:endParaRPr>
          </a:p>
        </p:txBody>
      </p:sp>
      <p:sp>
        <p:nvSpPr>
          <p:cNvPr id="2" name="object 6">
            <a:extLst>
              <a:ext uri="{FF2B5EF4-FFF2-40B4-BE49-F238E27FC236}">
                <a16:creationId xmlns:a16="http://schemas.microsoft.com/office/drawing/2014/main" id="{D0AC9607-FEC9-CD90-E941-FDDF565BCDC4}"/>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sp>
        <p:nvSpPr>
          <p:cNvPr id="3" name="Google Shape;870;p90">
            <a:extLst>
              <a:ext uri="{FF2B5EF4-FFF2-40B4-BE49-F238E27FC236}">
                <a16:creationId xmlns:a16="http://schemas.microsoft.com/office/drawing/2014/main" id="{AFF90871-9346-A204-314F-FCB41A29653D}"/>
              </a:ext>
            </a:extLst>
          </p:cNvPr>
          <p:cNvSpPr txBox="1"/>
          <p:nvPr/>
        </p:nvSpPr>
        <p:spPr>
          <a:xfrm>
            <a:off x="294833" y="36229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dirty="0">
                <a:solidFill>
                  <a:srgbClr val="C55A11"/>
                </a:solidFill>
                <a:latin typeface="Calibri"/>
                <a:ea typeface="Calibri"/>
                <a:cs typeface="Calibri"/>
                <a:sym typeface="Calibri"/>
              </a:rPr>
              <a:t>BERT</a:t>
            </a:r>
            <a:endParaRPr sz="1800" dirty="0">
              <a:solidFill>
                <a:schemeClr val="dk2"/>
              </a:solidFill>
            </a:endParaRPr>
          </a:p>
        </p:txBody>
      </p:sp>
      <p:cxnSp>
        <p:nvCxnSpPr>
          <p:cNvPr id="4" name="Google Shape;871;p90">
            <a:extLst>
              <a:ext uri="{FF2B5EF4-FFF2-40B4-BE49-F238E27FC236}">
                <a16:creationId xmlns:a16="http://schemas.microsoft.com/office/drawing/2014/main" id="{4C3DF343-A7A8-CD69-6345-6EC0ABD2CDDA}"/>
              </a:ext>
            </a:extLst>
          </p:cNvPr>
          <p:cNvCxnSpPr/>
          <p:nvPr/>
        </p:nvCxnSpPr>
        <p:spPr>
          <a:xfrm>
            <a:off x="0" y="828850"/>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5" name="Google Shape;182;p10">
            <a:extLst>
              <a:ext uri="{FF2B5EF4-FFF2-40B4-BE49-F238E27FC236}">
                <a16:creationId xmlns:a16="http://schemas.microsoft.com/office/drawing/2014/main" id="{260C2B9B-9935-38F2-EAE9-52F62C2D9703}"/>
              </a:ext>
            </a:extLst>
          </p:cNvPr>
          <p:cNvSpPr/>
          <p:nvPr/>
        </p:nvSpPr>
        <p:spPr>
          <a:xfrm>
            <a:off x="294833" y="189181"/>
            <a:ext cx="5622911" cy="346218"/>
          </a:xfrm>
          <a:prstGeom prst="rect">
            <a:avLst/>
          </a:prstGeom>
          <a:noFill/>
          <a:ln>
            <a:noFill/>
          </a:ln>
        </p:spPr>
        <p:txBody>
          <a:bodyPr spcFirstLastPara="1" wrap="square" lIns="68569" tIns="34275" rIns="68569" bIns="34275" anchor="t" anchorCtr="0">
            <a:spAutoFit/>
          </a:bodyPr>
          <a:lstStyle/>
          <a:p>
            <a:r>
              <a:rPr lang="en-US" sz="1800" b="1" dirty="0">
                <a:solidFill>
                  <a:srgbClr val="C00000"/>
                </a:solidFill>
              </a:rPr>
              <a:t>Generative AI and its Applications </a:t>
            </a:r>
          </a:p>
        </p:txBody>
      </p:sp>
    </p:spTree>
    <p:extLst>
      <p:ext uri="{BB962C8B-B14F-4D97-AF65-F5344CB8AC3E}">
        <p14:creationId xmlns:p14="http://schemas.microsoft.com/office/powerpoint/2010/main" val="31542964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cxnSp>
        <p:nvCxnSpPr>
          <p:cNvPr id="304" name="Google Shape;304;gcdccce66ef_0_83"/>
          <p:cNvCxnSpPr/>
          <p:nvPr/>
        </p:nvCxnSpPr>
        <p:spPr>
          <a:xfrm>
            <a:off x="-6231" y="987344"/>
            <a:ext cx="6225075" cy="0"/>
          </a:xfrm>
          <a:prstGeom prst="straightConnector1">
            <a:avLst/>
          </a:prstGeom>
          <a:noFill/>
          <a:ln w="38100" cap="flat" cmpd="sng">
            <a:solidFill>
              <a:srgbClr val="C55A11"/>
            </a:solidFill>
            <a:prstDash val="solid"/>
            <a:miter lim="800000"/>
            <a:headEnd type="none" w="sm" len="sm"/>
            <a:tailEnd type="none" w="sm" len="sm"/>
          </a:ln>
        </p:spPr>
      </p:cxnSp>
      <p:sp>
        <p:nvSpPr>
          <p:cNvPr id="306" name="Google Shape;306;gcdccce66ef_0_83"/>
          <p:cNvSpPr/>
          <p:nvPr/>
        </p:nvSpPr>
        <p:spPr>
          <a:xfrm>
            <a:off x="294833" y="189180"/>
            <a:ext cx="5622975" cy="346275"/>
          </a:xfrm>
          <a:prstGeom prst="rect">
            <a:avLst/>
          </a:prstGeom>
          <a:noFill/>
          <a:ln>
            <a:noFill/>
          </a:ln>
        </p:spPr>
        <p:txBody>
          <a:bodyPr spcFirstLastPara="1" wrap="square" lIns="68569" tIns="34275" rIns="68569" bIns="34275" anchor="t" anchorCtr="0">
            <a:noAutofit/>
          </a:bodyPr>
          <a:lstStyle/>
          <a:p>
            <a:r>
              <a:rPr lang="en-US" sz="1800" b="1" dirty="0">
                <a:solidFill>
                  <a:srgbClr val="C00000"/>
                </a:solidFill>
              </a:rPr>
              <a:t>Generative AI and its Applications </a:t>
            </a:r>
          </a:p>
        </p:txBody>
      </p:sp>
      <p:sp>
        <p:nvSpPr>
          <p:cNvPr id="2" name="TextBox 1">
            <a:extLst>
              <a:ext uri="{FF2B5EF4-FFF2-40B4-BE49-F238E27FC236}">
                <a16:creationId xmlns:a16="http://schemas.microsoft.com/office/drawing/2014/main" id="{B7A415C6-6845-E94C-88DF-A1403312B3C6}"/>
              </a:ext>
            </a:extLst>
          </p:cNvPr>
          <p:cNvSpPr txBox="1"/>
          <p:nvPr/>
        </p:nvSpPr>
        <p:spPr>
          <a:xfrm>
            <a:off x="294833" y="588275"/>
            <a:ext cx="6514797" cy="369332"/>
          </a:xfrm>
          <a:prstGeom prst="rect">
            <a:avLst/>
          </a:prstGeom>
          <a:noFill/>
        </p:spPr>
        <p:txBody>
          <a:bodyPr wrap="square" rtlCol="0">
            <a:spAutoFit/>
          </a:bodyPr>
          <a:lstStyle/>
          <a:p>
            <a:r>
              <a:rPr lang="en-US" sz="1800" b="1" dirty="0">
                <a:solidFill>
                  <a:srgbClr val="0070C0"/>
                </a:solidFill>
                <a:latin typeface="Calibri" panose="020F0502020204030204" pitchFamily="34" charset="0"/>
                <a:cs typeface="Calibri" panose="020F0502020204030204" pitchFamily="34" charset="0"/>
              </a:rPr>
              <a:t>Model Input Output Representation</a:t>
            </a:r>
          </a:p>
        </p:txBody>
      </p:sp>
      <p:sp>
        <p:nvSpPr>
          <p:cNvPr id="4" name="Rectangle 3">
            <a:extLst>
              <a:ext uri="{FF2B5EF4-FFF2-40B4-BE49-F238E27FC236}">
                <a16:creationId xmlns:a16="http://schemas.microsoft.com/office/drawing/2014/main" id="{6F3346C2-9159-7E4C-9ADA-4DCAAE626153}"/>
              </a:ext>
            </a:extLst>
          </p:cNvPr>
          <p:cNvSpPr/>
          <p:nvPr/>
        </p:nvSpPr>
        <p:spPr>
          <a:xfrm>
            <a:off x="449163" y="1040165"/>
            <a:ext cx="6065044" cy="1708160"/>
          </a:xfrm>
          <a:prstGeom prst="rect">
            <a:avLst/>
          </a:prstGeom>
        </p:spPr>
        <p:txBody>
          <a:bodyPr wrap="square">
            <a:spAutoFit/>
          </a:bodyPr>
          <a:lstStyle/>
          <a:p>
            <a:r>
              <a:rPr lang="en-IN" sz="1500" dirty="0">
                <a:latin typeface="Calibri" panose="020F0502020204030204" pitchFamily="34" charset="0"/>
                <a:cs typeface="Calibri" panose="020F0502020204030204" pitchFamily="34" charset="0"/>
              </a:rPr>
              <a:t>The first token in each sequence is always a [CLS] token that is used in classification. </a:t>
            </a:r>
          </a:p>
          <a:p>
            <a:endParaRPr lang="en-IN" sz="1500" dirty="0">
              <a:latin typeface="Calibri" panose="020F0502020204030204" pitchFamily="34" charset="0"/>
              <a:cs typeface="Calibri" panose="020F0502020204030204" pitchFamily="34" charset="0"/>
            </a:endParaRPr>
          </a:p>
          <a:p>
            <a:r>
              <a:rPr lang="en-IN" sz="1500" dirty="0">
                <a:latin typeface="Calibri" panose="020F0502020204030204" pitchFamily="34" charset="0"/>
                <a:cs typeface="Calibri" panose="020F0502020204030204" pitchFamily="34" charset="0"/>
              </a:rPr>
              <a:t>● Separating Sentences apart can be done in two steps: </a:t>
            </a:r>
          </a:p>
          <a:p>
            <a:r>
              <a:rPr lang="en-IN" sz="1500" dirty="0">
                <a:latin typeface="Calibri" panose="020F0502020204030204" pitchFamily="34" charset="0"/>
                <a:cs typeface="Calibri" panose="020F0502020204030204" pitchFamily="34" charset="0"/>
              </a:rPr>
              <a:t>	○ Separate between sentences using [SEP] token, </a:t>
            </a:r>
          </a:p>
          <a:p>
            <a:r>
              <a:rPr lang="en-IN" sz="1500" dirty="0">
                <a:latin typeface="Calibri" panose="020F0502020204030204" pitchFamily="34" charset="0"/>
                <a:cs typeface="Calibri" panose="020F0502020204030204" pitchFamily="34" charset="0"/>
              </a:rPr>
              <a:t>	○ Adding a learned embedding to each token in order to state     	which sentence it belongs to.</a:t>
            </a:r>
            <a:endParaRPr lang="en-US" sz="1500" dirty="0">
              <a:latin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4B3A7B97-39B1-D246-95A7-09A9E1CF9AA3}"/>
              </a:ext>
            </a:extLst>
          </p:cNvPr>
          <p:cNvPicPr>
            <a:picLocks noChangeAspect="1"/>
          </p:cNvPicPr>
          <p:nvPr/>
        </p:nvPicPr>
        <p:blipFill>
          <a:blip r:embed="rId3"/>
          <a:stretch>
            <a:fillRect/>
          </a:stretch>
        </p:blipFill>
        <p:spPr>
          <a:xfrm>
            <a:off x="449162" y="2703909"/>
            <a:ext cx="6791325" cy="2428875"/>
          </a:xfrm>
          <a:prstGeom prst="rect">
            <a:avLst/>
          </a:prstGeom>
        </p:spPr>
      </p:pic>
      <p:sp>
        <p:nvSpPr>
          <p:cNvPr id="8" name="Rectangle 7">
            <a:extLst>
              <a:ext uri="{FF2B5EF4-FFF2-40B4-BE49-F238E27FC236}">
                <a16:creationId xmlns:a16="http://schemas.microsoft.com/office/drawing/2014/main" id="{D50BD547-5370-C84F-80EE-D5B4E223C205}"/>
              </a:ext>
            </a:extLst>
          </p:cNvPr>
          <p:cNvSpPr/>
          <p:nvPr/>
        </p:nvSpPr>
        <p:spPr>
          <a:xfrm>
            <a:off x="7190967" y="2879601"/>
            <a:ext cx="1607344" cy="1384995"/>
          </a:xfrm>
          <a:prstGeom prst="rect">
            <a:avLst/>
          </a:prstGeom>
        </p:spPr>
        <p:txBody>
          <a:bodyPr wrap="square">
            <a:spAutoFit/>
          </a:bodyPr>
          <a:lstStyle/>
          <a:p>
            <a:pPr algn="just"/>
            <a:r>
              <a:rPr lang="en-IN" sz="1200" dirty="0">
                <a:latin typeface="Calibri" panose="020F0502020204030204" pitchFamily="34" charset="0"/>
                <a:cs typeface="Calibri" panose="020F0502020204030204" pitchFamily="34" charset="0"/>
              </a:rPr>
              <a:t>Each token is represented by summing the corresponding token, segment and position embedding as seen in the figure</a:t>
            </a:r>
            <a:endParaRPr lang="en-US" sz="1200" dirty="0">
              <a:latin typeface="Calibri" panose="020F0502020204030204" pitchFamily="34" charset="0"/>
              <a:cs typeface="Calibri" panose="020F0502020204030204" pitchFamily="34" charset="0"/>
            </a:endParaRPr>
          </a:p>
        </p:txBody>
      </p:sp>
      <p:sp>
        <p:nvSpPr>
          <p:cNvPr id="3" name="Rectangle 2">
            <a:extLst>
              <a:ext uri="{FF2B5EF4-FFF2-40B4-BE49-F238E27FC236}">
                <a16:creationId xmlns:a16="http://schemas.microsoft.com/office/drawing/2014/main" id="{7D585D5A-22C5-4146-91BF-958E6C678C9F}"/>
              </a:ext>
            </a:extLst>
          </p:cNvPr>
          <p:cNvSpPr/>
          <p:nvPr/>
        </p:nvSpPr>
        <p:spPr>
          <a:xfrm>
            <a:off x="685801" y="4793197"/>
            <a:ext cx="7178633" cy="253916"/>
          </a:xfrm>
          <a:prstGeom prst="rect">
            <a:avLst/>
          </a:prstGeom>
        </p:spPr>
        <p:txBody>
          <a:bodyPr wrap="square">
            <a:spAutoFit/>
          </a:bodyPr>
          <a:lstStyle/>
          <a:p>
            <a:r>
              <a:rPr lang="en-US" sz="1050" dirty="0"/>
              <a:t>https://</a:t>
            </a:r>
            <a:r>
              <a:rPr lang="en-US" sz="1050" dirty="0" err="1"/>
              <a:t>medium.com</a:t>
            </a:r>
            <a:r>
              <a:rPr lang="en-US" sz="1050" dirty="0"/>
              <a:t>/@_</a:t>
            </a:r>
            <a:r>
              <a:rPr lang="en-US" sz="1050" dirty="0" err="1"/>
              <a:t>init</a:t>
            </a:r>
            <a:r>
              <a:rPr lang="en-US" sz="1050" dirty="0"/>
              <a:t>_/why-bert-has-3-embedding-layers-and-their-implementation-details-9c261108e28a</a:t>
            </a:r>
          </a:p>
        </p:txBody>
      </p:sp>
      <p:sp>
        <p:nvSpPr>
          <p:cNvPr id="5" name="object 6">
            <a:extLst>
              <a:ext uri="{FF2B5EF4-FFF2-40B4-BE49-F238E27FC236}">
                <a16:creationId xmlns:a16="http://schemas.microsoft.com/office/drawing/2014/main" id="{07D0D4E8-A7EF-3419-0E4A-29F84334E7F6}"/>
              </a:ext>
            </a:extLst>
          </p:cNvPr>
          <p:cNvSpPr/>
          <p:nvPr/>
        </p:nvSpPr>
        <p:spPr>
          <a:xfrm>
            <a:off x="8304129" y="53623"/>
            <a:ext cx="739525" cy="1172718"/>
          </a:xfrm>
          <a:prstGeom prst="rect">
            <a:avLst/>
          </a:prstGeom>
          <a:blipFill>
            <a:blip r:embed="rId4" cstate="print"/>
            <a:stretch>
              <a:fillRect/>
            </a:stretch>
          </a:blipFill>
        </p:spPr>
        <p:txBody>
          <a:bodyPr wrap="square" lIns="0" tIns="0" rIns="0" bIns="0" rtlCol="0"/>
          <a:lstStyle/>
          <a:p>
            <a:endParaRPr sz="945"/>
          </a:p>
        </p:txBody>
      </p:sp>
    </p:spTree>
    <p:extLst>
      <p:ext uri="{BB962C8B-B14F-4D97-AF65-F5344CB8AC3E}">
        <p14:creationId xmlns:p14="http://schemas.microsoft.com/office/powerpoint/2010/main" val="3517031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30">
          <a:extLst>
            <a:ext uri="{FF2B5EF4-FFF2-40B4-BE49-F238E27FC236}">
              <a16:creationId xmlns:a16="http://schemas.microsoft.com/office/drawing/2014/main" id="{69A36A8E-4EA0-AA01-62B4-D287AA9F02C7}"/>
            </a:ext>
          </a:extLst>
        </p:cNvPr>
        <p:cNvGrpSpPr/>
        <p:nvPr/>
      </p:nvGrpSpPr>
      <p:grpSpPr>
        <a:xfrm>
          <a:off x="0" y="0"/>
          <a:ext cx="0" cy="0"/>
          <a:chOff x="0" y="0"/>
          <a:chExt cx="0" cy="0"/>
        </a:xfrm>
      </p:grpSpPr>
      <p:sp>
        <p:nvSpPr>
          <p:cNvPr id="933" name="Google Shape;933;p97">
            <a:extLst>
              <a:ext uri="{FF2B5EF4-FFF2-40B4-BE49-F238E27FC236}">
                <a16:creationId xmlns:a16="http://schemas.microsoft.com/office/drawing/2014/main" id="{3CC79D26-77ED-00A5-5BBE-FDA7FAE136D5}"/>
              </a:ext>
            </a:extLst>
          </p:cNvPr>
          <p:cNvSpPr txBox="1"/>
          <p:nvPr/>
        </p:nvSpPr>
        <p:spPr>
          <a:xfrm>
            <a:off x="100346" y="639982"/>
            <a:ext cx="7753697" cy="4228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br>
              <a:rPr lang="en-GB" sz="1500" b="1" dirty="0">
                <a:solidFill>
                  <a:schemeClr val="dk1"/>
                </a:solidFill>
              </a:rPr>
            </a:br>
            <a:r>
              <a:rPr lang="en-GB" sz="1500" dirty="0">
                <a:solidFill>
                  <a:schemeClr val="dk1"/>
                </a:solidFill>
              </a:rPr>
              <a:t> </a:t>
            </a:r>
            <a:endParaRPr sz="1500" dirty="0">
              <a:solidFill>
                <a:schemeClr val="dk1"/>
              </a:solidFill>
            </a:endParaRP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Example  - Workflow for </a:t>
            </a:r>
            <a:r>
              <a:rPr lang="en-IN" sz="1800" b="1" kern="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Text Classification</a:t>
            </a:r>
            <a:endParaRPr lang="en-IN" sz="1800" kern="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Tokenization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Convert the input text "I love this movie!" into tokens: [CLS], I, love, this, movie, !, [SEP].</a:t>
            </a:r>
          </a:p>
          <a:p>
            <a:pPr marL="342900" lvl="0" indent="-342900">
              <a:lnSpc>
                <a:spcPct val="107000"/>
              </a:lnSpc>
              <a:spcAft>
                <a:spcPts val="800"/>
              </a:spcAft>
              <a:buFont typeface="+mj-lt"/>
              <a:buAutoNum type="arabicPeriod"/>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Embedding</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Generate embeddings for each token.</a:t>
            </a:r>
          </a:p>
          <a:p>
            <a:pPr marL="342900" lvl="0" indent="-342900">
              <a:lnSpc>
                <a:spcPct val="107000"/>
              </a:lnSpc>
              <a:spcAft>
                <a:spcPts val="800"/>
              </a:spcAft>
              <a:buFont typeface="+mj-lt"/>
              <a:buAutoNum type="arabicPeriod"/>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Contextualization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Pass the embeddings through BERT's transformer layers to get contextual embeddings.</a:t>
            </a:r>
          </a:p>
          <a:p>
            <a:pPr marL="342900" lvl="0" indent="-342900">
              <a:lnSpc>
                <a:spcPct val="107000"/>
              </a:lnSpc>
              <a:spcAft>
                <a:spcPts val="800"/>
              </a:spcAft>
              <a:buFont typeface="+mj-lt"/>
              <a:buAutoNum type="arabicPeriod"/>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[CLS] Token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Extract the final hidden state of the [CLS] token.</a:t>
            </a:r>
          </a:p>
          <a:p>
            <a:pPr marL="342900" lvl="0" indent="-342900">
              <a:lnSpc>
                <a:spcPct val="107000"/>
              </a:lnSpc>
              <a:spcAft>
                <a:spcPts val="800"/>
              </a:spcAft>
              <a:buFont typeface="+mj-lt"/>
              <a:buAutoNum type="arabicPeriod"/>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Classification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Pass the [CLS] token's hidden state through the classification layer to get the class probabilities (e.g., </a:t>
            </a:r>
            <a:r>
              <a:rPr lang="en-IN" sz="1800" kern="100" dirty="0">
                <a:effectLst/>
                <a:highlight>
                  <a:srgbClr val="00FF00"/>
                </a:highlight>
                <a:latin typeface="Calibri" panose="020F0502020204030204" pitchFamily="34" charset="0"/>
                <a:ea typeface="Calibri" panose="020F0502020204030204" pitchFamily="34" charset="0"/>
                <a:cs typeface="Times New Roman" panose="02020603050405020304" pitchFamily="18" charset="0"/>
              </a:rPr>
              <a:t>positive or negative sentiment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457200" lvl="0" indent="0" algn="l" rtl="0">
              <a:lnSpc>
                <a:spcPct val="115000"/>
              </a:lnSpc>
              <a:spcBef>
                <a:spcPts val="1200"/>
              </a:spcBef>
              <a:spcAft>
                <a:spcPts val="0"/>
              </a:spcAft>
              <a:buNone/>
            </a:pPr>
            <a:endParaRPr sz="1500" dirty="0">
              <a:solidFill>
                <a:schemeClr val="dk1"/>
              </a:solidFill>
              <a:latin typeface="Roboto"/>
              <a:ea typeface="Roboto"/>
              <a:cs typeface="Roboto"/>
              <a:sym typeface="Roboto"/>
            </a:endParaRPr>
          </a:p>
          <a:p>
            <a:pPr marL="0" lvl="0" indent="0" algn="l" rtl="0">
              <a:lnSpc>
                <a:spcPct val="115000"/>
              </a:lnSpc>
              <a:spcBef>
                <a:spcPts val="1200"/>
              </a:spcBef>
              <a:spcAft>
                <a:spcPts val="0"/>
              </a:spcAft>
              <a:buNone/>
            </a:pPr>
            <a:endParaRPr sz="1500" dirty="0">
              <a:solidFill>
                <a:schemeClr val="dk1"/>
              </a:solidFill>
            </a:endParaRPr>
          </a:p>
          <a:p>
            <a:pPr marL="0" lvl="0" indent="0" algn="l" rtl="0">
              <a:lnSpc>
                <a:spcPct val="115000"/>
              </a:lnSpc>
              <a:spcBef>
                <a:spcPts val="1200"/>
              </a:spcBef>
              <a:spcAft>
                <a:spcPts val="1200"/>
              </a:spcAft>
              <a:buNone/>
            </a:pPr>
            <a:endParaRPr sz="1500" dirty="0">
              <a:solidFill>
                <a:schemeClr val="dk1"/>
              </a:solidFill>
            </a:endParaRPr>
          </a:p>
        </p:txBody>
      </p:sp>
      <p:sp>
        <p:nvSpPr>
          <p:cNvPr id="2" name="object 6">
            <a:extLst>
              <a:ext uri="{FF2B5EF4-FFF2-40B4-BE49-F238E27FC236}">
                <a16:creationId xmlns:a16="http://schemas.microsoft.com/office/drawing/2014/main" id="{24E19606-88FF-AB32-27FF-24A4500BC688}"/>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sp>
        <p:nvSpPr>
          <p:cNvPr id="3" name="Google Shape;870;p90">
            <a:extLst>
              <a:ext uri="{FF2B5EF4-FFF2-40B4-BE49-F238E27FC236}">
                <a16:creationId xmlns:a16="http://schemas.microsoft.com/office/drawing/2014/main" id="{8D9F59C1-C6DE-5A3A-844C-F04DED16F8A3}"/>
              </a:ext>
            </a:extLst>
          </p:cNvPr>
          <p:cNvSpPr txBox="1"/>
          <p:nvPr/>
        </p:nvSpPr>
        <p:spPr>
          <a:xfrm>
            <a:off x="294833" y="417241"/>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dirty="0">
                <a:solidFill>
                  <a:srgbClr val="C55A11"/>
                </a:solidFill>
                <a:latin typeface="Calibri"/>
                <a:ea typeface="Calibri"/>
                <a:cs typeface="Calibri"/>
                <a:sym typeface="Calibri"/>
              </a:rPr>
              <a:t>BERT – EXAMPLE 1</a:t>
            </a:r>
            <a:endParaRPr sz="1800" dirty="0">
              <a:solidFill>
                <a:schemeClr val="dk2"/>
              </a:solidFill>
            </a:endParaRPr>
          </a:p>
        </p:txBody>
      </p:sp>
      <p:cxnSp>
        <p:nvCxnSpPr>
          <p:cNvPr id="4" name="Google Shape;871;p90">
            <a:extLst>
              <a:ext uri="{FF2B5EF4-FFF2-40B4-BE49-F238E27FC236}">
                <a16:creationId xmlns:a16="http://schemas.microsoft.com/office/drawing/2014/main" id="{A72020F7-9425-F058-D73F-227525B5669D}"/>
              </a:ext>
            </a:extLst>
          </p:cNvPr>
          <p:cNvCxnSpPr/>
          <p:nvPr/>
        </p:nvCxnSpPr>
        <p:spPr>
          <a:xfrm>
            <a:off x="0" y="828850"/>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5" name="Google Shape;182;p10">
            <a:extLst>
              <a:ext uri="{FF2B5EF4-FFF2-40B4-BE49-F238E27FC236}">
                <a16:creationId xmlns:a16="http://schemas.microsoft.com/office/drawing/2014/main" id="{E886CA73-B249-4B03-1077-A8DED579631E}"/>
              </a:ext>
            </a:extLst>
          </p:cNvPr>
          <p:cNvSpPr/>
          <p:nvPr/>
        </p:nvSpPr>
        <p:spPr>
          <a:xfrm>
            <a:off x="294833" y="189181"/>
            <a:ext cx="5622911" cy="346218"/>
          </a:xfrm>
          <a:prstGeom prst="rect">
            <a:avLst/>
          </a:prstGeom>
          <a:noFill/>
          <a:ln>
            <a:noFill/>
          </a:ln>
        </p:spPr>
        <p:txBody>
          <a:bodyPr spcFirstLastPara="1" wrap="square" lIns="68569" tIns="34275" rIns="68569" bIns="34275" anchor="t" anchorCtr="0">
            <a:spAutoFit/>
          </a:bodyPr>
          <a:lstStyle/>
          <a:p>
            <a:r>
              <a:rPr lang="en-US" sz="1800" b="1" dirty="0">
                <a:solidFill>
                  <a:srgbClr val="C00000"/>
                </a:solidFill>
              </a:rPr>
              <a:t>Generative AI and its Applications </a:t>
            </a:r>
          </a:p>
        </p:txBody>
      </p:sp>
    </p:spTree>
    <p:extLst>
      <p:ext uri="{BB962C8B-B14F-4D97-AF65-F5344CB8AC3E}">
        <p14:creationId xmlns:p14="http://schemas.microsoft.com/office/powerpoint/2010/main" val="312501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30">
          <a:extLst>
            <a:ext uri="{FF2B5EF4-FFF2-40B4-BE49-F238E27FC236}">
              <a16:creationId xmlns:a16="http://schemas.microsoft.com/office/drawing/2014/main" id="{C832DC00-F5DA-3430-82E7-C64B5E0699A5}"/>
            </a:ext>
          </a:extLst>
        </p:cNvPr>
        <p:cNvGrpSpPr/>
        <p:nvPr/>
      </p:nvGrpSpPr>
      <p:grpSpPr>
        <a:xfrm>
          <a:off x="0" y="0"/>
          <a:ext cx="0" cy="0"/>
          <a:chOff x="0" y="0"/>
          <a:chExt cx="0" cy="0"/>
        </a:xfrm>
      </p:grpSpPr>
      <p:sp>
        <p:nvSpPr>
          <p:cNvPr id="933" name="Google Shape;933;p97">
            <a:extLst>
              <a:ext uri="{FF2B5EF4-FFF2-40B4-BE49-F238E27FC236}">
                <a16:creationId xmlns:a16="http://schemas.microsoft.com/office/drawing/2014/main" id="{05801543-8CA8-79C5-FEE0-73A29B55F438}"/>
              </a:ext>
            </a:extLst>
          </p:cNvPr>
          <p:cNvSpPr txBox="1"/>
          <p:nvPr/>
        </p:nvSpPr>
        <p:spPr>
          <a:xfrm>
            <a:off x="100346" y="639982"/>
            <a:ext cx="7753697" cy="4228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GB" sz="1500" b="1" dirty="0">
                <a:solidFill>
                  <a:schemeClr val="dk1"/>
                </a:solidFill>
              </a:rPr>
              <a:t>Using BERT for </a:t>
            </a:r>
            <a:r>
              <a:rPr lang="en-IN" sz="1800" b="1"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Question Answering</a:t>
            </a:r>
            <a:br>
              <a:rPr lang="en-GB" sz="1500" b="1" dirty="0">
                <a:solidFill>
                  <a:schemeClr val="dk1"/>
                </a:solidFill>
                <a:highlight>
                  <a:srgbClr val="FFFF00"/>
                </a:highlight>
              </a:rPr>
            </a:br>
            <a:r>
              <a:rPr lang="en-GB" sz="1500" dirty="0">
                <a:solidFill>
                  <a:schemeClr val="dk1"/>
                </a:solidFill>
              </a:rPr>
              <a:t> </a:t>
            </a:r>
            <a:endParaRPr sz="1500" dirty="0">
              <a:solidFill>
                <a:schemeClr val="dk1"/>
              </a:solidFill>
            </a:endParaRPr>
          </a:p>
          <a:p>
            <a:pPr marL="457200">
              <a:lnSpc>
                <a:spcPct val="115000"/>
              </a:lnSpc>
              <a:spcBef>
                <a:spcPts val="1200"/>
              </a:spcBef>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question and the context (passage) are concatenated into a single input sequence. Special tokens [CLS] and [SEP] are used to separate the question and the context.</a:t>
            </a:r>
          </a:p>
          <a:p>
            <a:pPr marL="457200" lvl="0" indent="0" algn="l" rtl="0">
              <a:lnSpc>
                <a:spcPct val="115000"/>
              </a:lnSpc>
              <a:spcBef>
                <a:spcPts val="1200"/>
              </a:spcBef>
              <a:spcAft>
                <a:spcPts val="0"/>
              </a:spcAft>
              <a:buNone/>
            </a:pPr>
            <a:endParaRPr sz="1500" dirty="0">
              <a:solidFill>
                <a:schemeClr val="dk1"/>
              </a:solidFill>
              <a:latin typeface="Roboto"/>
              <a:ea typeface="Roboto"/>
              <a:cs typeface="Roboto"/>
              <a:sym typeface="Roboto"/>
            </a:endParaRPr>
          </a:p>
          <a:p>
            <a:pPr marL="0" lvl="0" indent="0" algn="l" rtl="0">
              <a:lnSpc>
                <a:spcPct val="115000"/>
              </a:lnSpc>
              <a:spcBef>
                <a:spcPts val="1200"/>
              </a:spcBef>
              <a:spcAft>
                <a:spcPts val="0"/>
              </a:spcAft>
              <a:buNone/>
            </a:pPr>
            <a:endParaRPr sz="1500" dirty="0">
              <a:solidFill>
                <a:schemeClr val="dk1"/>
              </a:solidFill>
            </a:endParaRPr>
          </a:p>
          <a:p>
            <a:pPr marL="0" lvl="0" indent="0" algn="l" rtl="0">
              <a:lnSpc>
                <a:spcPct val="115000"/>
              </a:lnSpc>
              <a:spcBef>
                <a:spcPts val="1200"/>
              </a:spcBef>
              <a:spcAft>
                <a:spcPts val="1200"/>
              </a:spcAft>
              <a:buNone/>
            </a:pPr>
            <a:endParaRPr sz="1500" dirty="0">
              <a:solidFill>
                <a:schemeClr val="dk1"/>
              </a:solidFill>
            </a:endParaRPr>
          </a:p>
        </p:txBody>
      </p:sp>
      <p:sp>
        <p:nvSpPr>
          <p:cNvPr id="2" name="object 6">
            <a:extLst>
              <a:ext uri="{FF2B5EF4-FFF2-40B4-BE49-F238E27FC236}">
                <a16:creationId xmlns:a16="http://schemas.microsoft.com/office/drawing/2014/main" id="{C26AAC78-EFA2-1522-B45F-18DCA62D66D7}"/>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sp>
        <p:nvSpPr>
          <p:cNvPr id="3" name="Google Shape;870;p90">
            <a:extLst>
              <a:ext uri="{FF2B5EF4-FFF2-40B4-BE49-F238E27FC236}">
                <a16:creationId xmlns:a16="http://schemas.microsoft.com/office/drawing/2014/main" id="{447D5DE4-8589-5994-FD60-66EEEA3A31FE}"/>
              </a:ext>
            </a:extLst>
          </p:cNvPr>
          <p:cNvSpPr txBox="1"/>
          <p:nvPr/>
        </p:nvSpPr>
        <p:spPr>
          <a:xfrm>
            <a:off x="294833" y="36229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dirty="0">
                <a:solidFill>
                  <a:srgbClr val="C55A11"/>
                </a:solidFill>
                <a:latin typeface="Calibri"/>
                <a:ea typeface="Calibri"/>
                <a:cs typeface="Calibri"/>
                <a:sym typeface="Calibri"/>
              </a:rPr>
              <a:t>BERT - </a:t>
            </a:r>
            <a:r>
              <a:rPr lang="en-GB" sz="1800" b="1" dirty="0">
                <a:solidFill>
                  <a:srgbClr val="C55A11"/>
                </a:solidFill>
                <a:latin typeface="Calibri"/>
                <a:ea typeface="Calibri"/>
                <a:cs typeface="Calibri"/>
                <a:sym typeface="Calibri"/>
              </a:rPr>
              <a:t> EXAMPLE 2</a:t>
            </a:r>
            <a:endParaRPr sz="1800" dirty="0">
              <a:solidFill>
                <a:schemeClr val="dk2"/>
              </a:solidFill>
            </a:endParaRPr>
          </a:p>
        </p:txBody>
      </p:sp>
      <p:cxnSp>
        <p:nvCxnSpPr>
          <p:cNvPr id="4" name="Google Shape;871;p90">
            <a:extLst>
              <a:ext uri="{FF2B5EF4-FFF2-40B4-BE49-F238E27FC236}">
                <a16:creationId xmlns:a16="http://schemas.microsoft.com/office/drawing/2014/main" id="{F39A39CA-3309-D429-F05A-3AAAB6B7E73A}"/>
              </a:ext>
            </a:extLst>
          </p:cNvPr>
          <p:cNvCxnSpPr/>
          <p:nvPr/>
        </p:nvCxnSpPr>
        <p:spPr>
          <a:xfrm>
            <a:off x="0" y="828850"/>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5" name="Google Shape;182;p10">
            <a:extLst>
              <a:ext uri="{FF2B5EF4-FFF2-40B4-BE49-F238E27FC236}">
                <a16:creationId xmlns:a16="http://schemas.microsoft.com/office/drawing/2014/main" id="{584BBD4B-68EF-5D76-FF0A-C91EC28007FD}"/>
              </a:ext>
            </a:extLst>
          </p:cNvPr>
          <p:cNvSpPr/>
          <p:nvPr/>
        </p:nvSpPr>
        <p:spPr>
          <a:xfrm>
            <a:off x="294833" y="189181"/>
            <a:ext cx="5622911" cy="346218"/>
          </a:xfrm>
          <a:prstGeom prst="rect">
            <a:avLst/>
          </a:prstGeom>
          <a:noFill/>
          <a:ln>
            <a:noFill/>
          </a:ln>
        </p:spPr>
        <p:txBody>
          <a:bodyPr spcFirstLastPara="1" wrap="square" lIns="68569" tIns="34275" rIns="68569" bIns="34275" anchor="t" anchorCtr="0">
            <a:spAutoFit/>
          </a:bodyPr>
          <a:lstStyle/>
          <a:p>
            <a:r>
              <a:rPr lang="en-US" sz="1800" b="1" dirty="0">
                <a:solidFill>
                  <a:srgbClr val="C00000"/>
                </a:solidFill>
              </a:rPr>
              <a:t>Generative AI and its Applications </a:t>
            </a:r>
          </a:p>
        </p:txBody>
      </p:sp>
    </p:spTree>
    <p:extLst>
      <p:ext uri="{BB962C8B-B14F-4D97-AF65-F5344CB8AC3E}">
        <p14:creationId xmlns:p14="http://schemas.microsoft.com/office/powerpoint/2010/main" val="21669297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30">
          <a:extLst>
            <a:ext uri="{FF2B5EF4-FFF2-40B4-BE49-F238E27FC236}">
              <a16:creationId xmlns:a16="http://schemas.microsoft.com/office/drawing/2014/main" id="{D096756D-3692-CD0A-C8A2-D0986E3FBEBE}"/>
            </a:ext>
          </a:extLst>
        </p:cNvPr>
        <p:cNvGrpSpPr/>
        <p:nvPr/>
      </p:nvGrpSpPr>
      <p:grpSpPr>
        <a:xfrm>
          <a:off x="0" y="0"/>
          <a:ext cx="0" cy="0"/>
          <a:chOff x="0" y="0"/>
          <a:chExt cx="0" cy="0"/>
        </a:xfrm>
      </p:grpSpPr>
      <p:sp>
        <p:nvSpPr>
          <p:cNvPr id="933" name="Google Shape;933;p97">
            <a:extLst>
              <a:ext uri="{FF2B5EF4-FFF2-40B4-BE49-F238E27FC236}">
                <a16:creationId xmlns:a16="http://schemas.microsoft.com/office/drawing/2014/main" id="{4460E161-813E-2E20-D8AA-2CB59F9B7AD8}"/>
              </a:ext>
            </a:extLst>
          </p:cNvPr>
          <p:cNvSpPr txBox="1"/>
          <p:nvPr/>
        </p:nvSpPr>
        <p:spPr>
          <a:xfrm>
            <a:off x="100346" y="639982"/>
            <a:ext cx="9043654" cy="4228500"/>
          </a:xfrm>
          <a:prstGeom prst="rect">
            <a:avLst/>
          </a:prstGeom>
          <a:noFill/>
          <a:ln>
            <a:noFill/>
          </a:ln>
        </p:spPr>
        <p:txBody>
          <a:bodyPr spcFirstLastPara="1" wrap="square" lIns="91425" tIns="91425" rIns="91425" bIns="91425" anchor="t" anchorCtr="0">
            <a:noAutofit/>
          </a:bodyPr>
          <a:lstStyle/>
          <a:p>
            <a:pPr>
              <a:lnSpc>
                <a:spcPct val="107000"/>
              </a:lnSpc>
              <a:spcAft>
                <a:spcPts val="800"/>
              </a:spcAft>
            </a:pP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500" b="1" kern="100" dirty="0">
                <a:effectLst/>
                <a:latin typeface="Calibri" panose="020F0502020204030204" pitchFamily="34" charset="0"/>
                <a:ea typeface="Calibri" panose="020F0502020204030204" pitchFamily="34" charset="0"/>
                <a:cs typeface="Times New Roman" panose="02020603050405020304" pitchFamily="18" charset="0"/>
              </a:rPr>
              <a:t>Context</a:t>
            </a:r>
            <a:r>
              <a:rPr lang="en-IN" sz="1500" kern="100" dirty="0">
                <a:effectLst/>
                <a:latin typeface="Calibri" panose="020F0502020204030204" pitchFamily="34" charset="0"/>
                <a:ea typeface="Calibri" panose="020F0502020204030204" pitchFamily="34" charset="0"/>
                <a:cs typeface="Times New Roman" panose="02020603050405020304" pitchFamily="18" charset="0"/>
              </a:rPr>
              <a:t>: "BERT is a transformer-based model developed by Google. It is designed to understand the context of words in a sentence."</a:t>
            </a:r>
          </a:p>
          <a:p>
            <a:pPr>
              <a:lnSpc>
                <a:spcPct val="107000"/>
              </a:lnSpc>
              <a:spcAft>
                <a:spcPts val="800"/>
              </a:spcAft>
            </a:pPr>
            <a:r>
              <a:rPr lang="en-IN" sz="1500" b="1" kern="100" dirty="0">
                <a:effectLst/>
                <a:latin typeface="Calibri" panose="020F0502020204030204" pitchFamily="34" charset="0"/>
                <a:ea typeface="Calibri" panose="020F0502020204030204" pitchFamily="34" charset="0"/>
                <a:cs typeface="Times New Roman" panose="02020603050405020304" pitchFamily="18" charset="0"/>
              </a:rPr>
              <a:t>Question</a:t>
            </a:r>
            <a:r>
              <a:rPr lang="en-IN" sz="1500" kern="100" dirty="0">
                <a:effectLst/>
                <a:latin typeface="Calibri" panose="020F0502020204030204" pitchFamily="34" charset="0"/>
                <a:ea typeface="Calibri" panose="020F0502020204030204" pitchFamily="34" charset="0"/>
                <a:cs typeface="Times New Roman" panose="02020603050405020304" pitchFamily="18" charset="0"/>
              </a:rPr>
              <a:t>: "Who developed BERT?"</a:t>
            </a:r>
          </a:p>
          <a:p>
            <a:pPr>
              <a:lnSpc>
                <a:spcPct val="107000"/>
              </a:lnSpc>
              <a:spcAft>
                <a:spcPts val="800"/>
              </a:spcAft>
            </a:pPr>
            <a:r>
              <a:rPr lang="en-IN" sz="1500" b="1" kern="100" dirty="0">
                <a:effectLst/>
                <a:latin typeface="Calibri" panose="020F0502020204030204" pitchFamily="34" charset="0"/>
                <a:ea typeface="Calibri" panose="020F0502020204030204" pitchFamily="34" charset="0"/>
                <a:cs typeface="Times New Roman" panose="02020603050405020304" pitchFamily="18" charset="0"/>
              </a:rPr>
              <a:t>Steps</a:t>
            </a:r>
            <a:r>
              <a:rPr lang="en-IN" sz="15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lvl="0" indent="-342900">
              <a:lnSpc>
                <a:spcPct val="107000"/>
              </a:lnSpc>
              <a:spcAft>
                <a:spcPts val="800"/>
              </a:spcAft>
              <a:buFont typeface="+mj-lt"/>
              <a:buAutoNum type="arabicPeriod"/>
              <a:tabLst>
                <a:tab pos="457200" algn="l"/>
              </a:tabLst>
            </a:pPr>
            <a:r>
              <a:rPr lang="en-IN" sz="1500" b="1" kern="100" dirty="0">
                <a:effectLst/>
                <a:latin typeface="Calibri" panose="020F0502020204030204" pitchFamily="34" charset="0"/>
                <a:ea typeface="Calibri" panose="020F0502020204030204" pitchFamily="34" charset="0"/>
                <a:cs typeface="Times New Roman" panose="02020603050405020304" pitchFamily="18" charset="0"/>
              </a:rPr>
              <a:t>Input Representation</a:t>
            </a:r>
            <a:r>
              <a:rPr lang="en-IN" sz="1500" kern="100" dirty="0">
                <a:effectLst/>
                <a:latin typeface="Calibri" panose="020F0502020204030204" pitchFamily="34" charset="0"/>
                <a:ea typeface="Calibri" panose="020F0502020204030204" pitchFamily="34" charset="0"/>
                <a:cs typeface="Times New Roman" panose="02020603050405020304" pitchFamily="18" charset="0"/>
              </a:rPr>
              <a:t>:</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500" kern="100" dirty="0">
                <a:effectLst/>
                <a:latin typeface="Calibri" panose="020F0502020204030204" pitchFamily="34" charset="0"/>
                <a:ea typeface="Calibri" panose="020F0502020204030204" pitchFamily="34" charset="0"/>
                <a:cs typeface="Times New Roman" panose="02020603050405020304" pitchFamily="18" charset="0"/>
              </a:rPr>
              <a:t>Combined sequence: [CLS] Who developed BERT? [SEP] BERT is a transformer-based model developed by Google. It is designed to understand the context of words in a sentence. [SEP]</a:t>
            </a:r>
          </a:p>
          <a:p>
            <a:pPr marL="342900" lvl="0" indent="-342900">
              <a:lnSpc>
                <a:spcPct val="107000"/>
              </a:lnSpc>
              <a:spcAft>
                <a:spcPts val="800"/>
              </a:spcAft>
              <a:buFont typeface="+mj-lt"/>
              <a:buAutoNum type="arabicPeriod"/>
              <a:tabLst>
                <a:tab pos="457200" algn="l"/>
              </a:tabLst>
            </a:pPr>
            <a:r>
              <a:rPr lang="en-IN" sz="1500" b="1" kern="100" dirty="0">
                <a:effectLst/>
                <a:latin typeface="Calibri" panose="020F0502020204030204" pitchFamily="34" charset="0"/>
                <a:ea typeface="Calibri" panose="020F0502020204030204" pitchFamily="34" charset="0"/>
                <a:cs typeface="Times New Roman" panose="02020603050405020304" pitchFamily="18" charset="0"/>
              </a:rPr>
              <a:t>Tokenization</a:t>
            </a:r>
            <a:r>
              <a:rPr lang="en-IN" sz="1500" kern="100" dirty="0">
                <a:effectLst/>
                <a:latin typeface="Calibri" panose="020F0502020204030204" pitchFamily="34" charset="0"/>
                <a:ea typeface="Calibri" panose="020F0502020204030204" pitchFamily="34" charset="0"/>
                <a:cs typeface="Times New Roman" panose="02020603050405020304" pitchFamily="18" charset="0"/>
              </a:rPr>
              <a:t>:</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500" kern="100" dirty="0">
                <a:effectLst/>
                <a:latin typeface="Calibri" panose="020F0502020204030204" pitchFamily="34" charset="0"/>
                <a:ea typeface="Calibri" panose="020F0502020204030204" pitchFamily="34" charset="0"/>
                <a:cs typeface="Times New Roman" panose="02020603050405020304" pitchFamily="18" charset="0"/>
              </a:rPr>
              <a:t>Tokens: [CLS], Who, developed, BERT, ?, [SEP], BERT, is, a, transformer, -, based, model, developed, by, Google, ., It, is, designed, to, understand, the, context, of, words, in, a, sentence, ., [SEP]</a:t>
            </a:r>
          </a:p>
          <a:p>
            <a:pPr marL="342900" lvl="0" indent="-342900">
              <a:lnSpc>
                <a:spcPct val="107000"/>
              </a:lnSpc>
              <a:spcAft>
                <a:spcPts val="800"/>
              </a:spcAft>
              <a:buFont typeface="+mj-lt"/>
              <a:buAutoNum type="arabicPeriod"/>
              <a:tabLst>
                <a:tab pos="457200" algn="l"/>
              </a:tabLst>
            </a:pPr>
            <a:r>
              <a:rPr lang="en-IN" sz="1500" b="1" kern="100" dirty="0">
                <a:effectLst/>
                <a:latin typeface="Calibri" panose="020F0502020204030204" pitchFamily="34" charset="0"/>
                <a:ea typeface="Calibri" panose="020F0502020204030204" pitchFamily="34" charset="0"/>
                <a:cs typeface="Times New Roman" panose="02020603050405020304" pitchFamily="18" charset="0"/>
              </a:rPr>
              <a:t>Contextual Embeddings</a:t>
            </a:r>
            <a:r>
              <a:rPr lang="en-IN" sz="1500" kern="100" dirty="0">
                <a:effectLst/>
                <a:latin typeface="Calibri" panose="020F0502020204030204" pitchFamily="34" charset="0"/>
                <a:ea typeface="Calibri" panose="020F0502020204030204" pitchFamily="34" charset="0"/>
                <a:cs typeface="Times New Roman" panose="02020603050405020304" pitchFamily="18" charset="0"/>
              </a:rPr>
              <a:t>:</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500" kern="100" dirty="0">
                <a:effectLst/>
                <a:latin typeface="Calibri" panose="020F0502020204030204" pitchFamily="34" charset="0"/>
                <a:ea typeface="Calibri" panose="020F0502020204030204" pitchFamily="34" charset="0"/>
                <a:cs typeface="Times New Roman" panose="02020603050405020304" pitchFamily="18" charset="0"/>
              </a:rPr>
              <a:t>The token embeddings are passed through BERT's layers to generate contextual embeddings.</a:t>
            </a:r>
          </a:p>
          <a:p>
            <a:pPr marL="0" lvl="0" indent="0" algn="l" rtl="0">
              <a:lnSpc>
                <a:spcPct val="115000"/>
              </a:lnSpc>
              <a:spcBef>
                <a:spcPts val="1200"/>
              </a:spcBef>
              <a:spcAft>
                <a:spcPts val="0"/>
              </a:spcAft>
              <a:buNone/>
            </a:pPr>
            <a:endParaRPr sz="1500" dirty="0">
              <a:solidFill>
                <a:schemeClr val="dk1"/>
              </a:solidFill>
            </a:endParaRPr>
          </a:p>
          <a:p>
            <a:pPr marL="0" lvl="0" indent="0" algn="l" rtl="0">
              <a:lnSpc>
                <a:spcPct val="115000"/>
              </a:lnSpc>
              <a:spcBef>
                <a:spcPts val="1200"/>
              </a:spcBef>
              <a:spcAft>
                <a:spcPts val="1200"/>
              </a:spcAft>
              <a:buNone/>
            </a:pPr>
            <a:endParaRPr sz="1500" dirty="0">
              <a:solidFill>
                <a:schemeClr val="dk1"/>
              </a:solidFill>
            </a:endParaRPr>
          </a:p>
        </p:txBody>
      </p:sp>
      <p:sp>
        <p:nvSpPr>
          <p:cNvPr id="2" name="object 6">
            <a:extLst>
              <a:ext uri="{FF2B5EF4-FFF2-40B4-BE49-F238E27FC236}">
                <a16:creationId xmlns:a16="http://schemas.microsoft.com/office/drawing/2014/main" id="{67F51EE0-34FB-A05D-DEF8-0498675DFE27}"/>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sp>
        <p:nvSpPr>
          <p:cNvPr id="3" name="Google Shape;870;p90">
            <a:extLst>
              <a:ext uri="{FF2B5EF4-FFF2-40B4-BE49-F238E27FC236}">
                <a16:creationId xmlns:a16="http://schemas.microsoft.com/office/drawing/2014/main" id="{0C5F262A-1CA7-B6E6-42E7-035B89B46145}"/>
              </a:ext>
            </a:extLst>
          </p:cNvPr>
          <p:cNvSpPr txBox="1"/>
          <p:nvPr/>
        </p:nvSpPr>
        <p:spPr>
          <a:xfrm>
            <a:off x="294833" y="36229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dirty="0">
                <a:solidFill>
                  <a:srgbClr val="C55A11"/>
                </a:solidFill>
                <a:latin typeface="Calibri"/>
                <a:ea typeface="Calibri"/>
                <a:cs typeface="Calibri"/>
                <a:sym typeface="Calibri"/>
              </a:rPr>
              <a:t>BERT – Example QA</a:t>
            </a:r>
            <a:endParaRPr sz="1800" dirty="0">
              <a:solidFill>
                <a:schemeClr val="dk2"/>
              </a:solidFill>
            </a:endParaRPr>
          </a:p>
        </p:txBody>
      </p:sp>
      <p:cxnSp>
        <p:nvCxnSpPr>
          <p:cNvPr id="4" name="Google Shape;871;p90">
            <a:extLst>
              <a:ext uri="{FF2B5EF4-FFF2-40B4-BE49-F238E27FC236}">
                <a16:creationId xmlns:a16="http://schemas.microsoft.com/office/drawing/2014/main" id="{D014B063-DB5A-E564-EB27-FA79A79FA7FD}"/>
              </a:ext>
            </a:extLst>
          </p:cNvPr>
          <p:cNvCxnSpPr/>
          <p:nvPr/>
        </p:nvCxnSpPr>
        <p:spPr>
          <a:xfrm>
            <a:off x="0" y="828850"/>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5" name="Google Shape;182;p10">
            <a:extLst>
              <a:ext uri="{FF2B5EF4-FFF2-40B4-BE49-F238E27FC236}">
                <a16:creationId xmlns:a16="http://schemas.microsoft.com/office/drawing/2014/main" id="{31F6B431-63B3-91A2-BFFF-F25589D3D757}"/>
              </a:ext>
            </a:extLst>
          </p:cNvPr>
          <p:cNvSpPr/>
          <p:nvPr/>
        </p:nvSpPr>
        <p:spPr>
          <a:xfrm>
            <a:off x="294833" y="189181"/>
            <a:ext cx="5622911" cy="346218"/>
          </a:xfrm>
          <a:prstGeom prst="rect">
            <a:avLst/>
          </a:prstGeom>
          <a:noFill/>
          <a:ln>
            <a:noFill/>
          </a:ln>
        </p:spPr>
        <p:txBody>
          <a:bodyPr spcFirstLastPara="1" wrap="square" lIns="68569" tIns="34275" rIns="68569" bIns="34275" anchor="t" anchorCtr="0">
            <a:spAutoFit/>
          </a:bodyPr>
          <a:lstStyle/>
          <a:p>
            <a:r>
              <a:rPr lang="en-US" sz="1800" b="1" dirty="0">
                <a:solidFill>
                  <a:srgbClr val="C00000"/>
                </a:solidFill>
              </a:rPr>
              <a:t>Generative AI and its Applications </a:t>
            </a:r>
          </a:p>
        </p:txBody>
      </p:sp>
    </p:spTree>
    <p:extLst>
      <p:ext uri="{BB962C8B-B14F-4D97-AF65-F5344CB8AC3E}">
        <p14:creationId xmlns:p14="http://schemas.microsoft.com/office/powerpoint/2010/main" val="41576977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30">
          <a:extLst>
            <a:ext uri="{FF2B5EF4-FFF2-40B4-BE49-F238E27FC236}">
              <a16:creationId xmlns:a16="http://schemas.microsoft.com/office/drawing/2014/main" id="{918FC1EC-FB64-7816-1A67-F0163D1A07E9}"/>
            </a:ext>
          </a:extLst>
        </p:cNvPr>
        <p:cNvGrpSpPr/>
        <p:nvPr/>
      </p:nvGrpSpPr>
      <p:grpSpPr>
        <a:xfrm>
          <a:off x="0" y="0"/>
          <a:ext cx="0" cy="0"/>
          <a:chOff x="0" y="0"/>
          <a:chExt cx="0" cy="0"/>
        </a:xfrm>
      </p:grpSpPr>
      <p:sp>
        <p:nvSpPr>
          <p:cNvPr id="933" name="Google Shape;933;p97">
            <a:extLst>
              <a:ext uri="{FF2B5EF4-FFF2-40B4-BE49-F238E27FC236}">
                <a16:creationId xmlns:a16="http://schemas.microsoft.com/office/drawing/2014/main" id="{E327BA8C-24CD-C72E-7797-3953DBA916D4}"/>
              </a:ext>
            </a:extLst>
          </p:cNvPr>
          <p:cNvSpPr txBox="1"/>
          <p:nvPr/>
        </p:nvSpPr>
        <p:spPr>
          <a:xfrm>
            <a:off x="273201" y="1001959"/>
            <a:ext cx="8631102" cy="3125393"/>
          </a:xfrm>
          <a:prstGeom prst="rect">
            <a:avLst/>
          </a:prstGeom>
          <a:noFill/>
          <a:ln>
            <a:noFill/>
          </a:ln>
        </p:spPr>
        <p:txBody>
          <a:bodyPr spcFirstLastPara="1" wrap="square" lIns="91425" tIns="91425" rIns="91425" bIns="91425" anchor="t" anchorCtr="0">
            <a:noAutofit/>
          </a:bodyPr>
          <a:lstStyle/>
          <a:p>
            <a:pPr lvl="0">
              <a:lnSpc>
                <a:spcPct val="107000"/>
              </a:lnSpc>
              <a:spcAft>
                <a:spcPts val="800"/>
              </a:spcAft>
              <a:tabLst>
                <a:tab pos="457200" algn="l"/>
              </a:tabLst>
            </a:pPr>
            <a:r>
              <a:rPr lang="en-IN" sz="1500" b="1" kern="100" dirty="0">
                <a:latin typeface="Calibri" panose="020F0502020204030204" pitchFamily="34" charset="0"/>
                <a:ea typeface="Calibri" panose="020F0502020204030204" pitchFamily="34" charset="0"/>
                <a:cs typeface="Times New Roman" panose="02020603050405020304" pitchFamily="18" charset="0"/>
              </a:rPr>
              <a:t>4. </a:t>
            </a:r>
            <a:r>
              <a:rPr lang="en-IN" sz="1500" b="1" kern="100" dirty="0">
                <a:effectLst/>
                <a:latin typeface="Calibri" panose="020F0502020204030204" pitchFamily="34" charset="0"/>
                <a:ea typeface="Calibri" panose="020F0502020204030204" pitchFamily="34" charset="0"/>
                <a:cs typeface="Times New Roman" panose="02020603050405020304" pitchFamily="18" charset="0"/>
              </a:rPr>
              <a:t> Output Layers</a:t>
            </a:r>
            <a:r>
              <a:rPr lang="en-IN" sz="1500" kern="100" dirty="0">
                <a:effectLst/>
                <a:latin typeface="Calibri" panose="020F0502020204030204" pitchFamily="34" charset="0"/>
                <a:ea typeface="Calibri" panose="020F0502020204030204" pitchFamily="34" charset="0"/>
                <a:cs typeface="Times New Roman" panose="02020603050405020304" pitchFamily="18" charset="0"/>
              </a:rPr>
              <a:t>:</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500" b="1" kern="100" dirty="0">
                <a:effectLst/>
                <a:latin typeface="Calibri" panose="020F0502020204030204" pitchFamily="34" charset="0"/>
                <a:ea typeface="Calibri" panose="020F0502020204030204" pitchFamily="34" charset="0"/>
                <a:cs typeface="Times New Roman" panose="02020603050405020304" pitchFamily="18" charset="0"/>
              </a:rPr>
              <a:t>Start Token Classifier</a:t>
            </a:r>
            <a:r>
              <a:rPr lang="en-IN" sz="1500" kern="100" dirty="0">
                <a:effectLst/>
                <a:latin typeface="Calibri" panose="020F0502020204030204" pitchFamily="34" charset="0"/>
                <a:ea typeface="Calibri" panose="020F0502020204030204" pitchFamily="34" charset="0"/>
                <a:cs typeface="Times New Roman" panose="02020603050405020304" pitchFamily="18" charset="0"/>
              </a:rPr>
              <a:t>: Predicts the start position of the answer. In this case, it might predict the position corresponding to the token Google.</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500" b="1" kern="100" dirty="0">
                <a:effectLst/>
                <a:latin typeface="Calibri" panose="020F0502020204030204" pitchFamily="34" charset="0"/>
                <a:ea typeface="Calibri" panose="020F0502020204030204" pitchFamily="34" charset="0"/>
                <a:cs typeface="Times New Roman" panose="02020603050405020304" pitchFamily="18" charset="0"/>
              </a:rPr>
              <a:t>End Token Classifier</a:t>
            </a:r>
            <a:r>
              <a:rPr lang="en-IN" sz="1500" kern="100" dirty="0">
                <a:effectLst/>
                <a:latin typeface="Calibri" panose="020F0502020204030204" pitchFamily="34" charset="0"/>
                <a:ea typeface="Calibri" panose="020F0502020204030204" pitchFamily="34" charset="0"/>
                <a:cs typeface="Times New Roman" panose="02020603050405020304" pitchFamily="18" charset="0"/>
              </a:rPr>
              <a:t>: Predicts the end position of the answer. In this case, it might predict the position corresponding to the token Google.</a:t>
            </a:r>
          </a:p>
          <a:p>
            <a:pPr marL="457200" lvl="1">
              <a:lnSpc>
                <a:spcPct val="107000"/>
              </a:lnSpc>
              <a:spcAft>
                <a:spcPts val="800"/>
              </a:spcAft>
              <a:buSzPts val="1000"/>
              <a:tabLst>
                <a:tab pos="914400" algn="l"/>
              </a:tabLst>
            </a:pPr>
            <a:r>
              <a:rPr lang="en-IN" sz="1500" b="1" kern="100" dirty="0">
                <a:latin typeface="Calibri" panose="020F0502020204030204" pitchFamily="34" charset="0"/>
                <a:ea typeface="Calibri" panose="020F0502020204030204" pitchFamily="34" charset="0"/>
                <a:cs typeface="Times New Roman" panose="02020603050405020304" pitchFamily="18" charset="0"/>
              </a:rPr>
              <a:t>5.  </a:t>
            </a:r>
            <a:r>
              <a:rPr lang="en-IN" sz="1500" b="1" kern="100" dirty="0">
                <a:effectLst/>
                <a:latin typeface="Calibri" panose="020F0502020204030204" pitchFamily="34" charset="0"/>
                <a:ea typeface="Calibri" panose="020F0502020204030204" pitchFamily="34" charset="0"/>
                <a:cs typeface="Times New Roman" panose="02020603050405020304" pitchFamily="18" charset="0"/>
              </a:rPr>
              <a:t>Fine-Tuning</a:t>
            </a:r>
            <a:r>
              <a:rPr lang="en-IN" sz="1500" kern="100" dirty="0">
                <a:effectLst/>
                <a:latin typeface="Calibri" panose="020F0502020204030204" pitchFamily="34" charset="0"/>
                <a:ea typeface="Calibri" panose="020F0502020204030204" pitchFamily="34" charset="0"/>
                <a:cs typeface="Times New Roman" panose="02020603050405020304" pitchFamily="18" charset="0"/>
              </a:rPr>
              <a:t>:</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500" kern="100" dirty="0">
                <a:effectLst/>
                <a:latin typeface="Calibri" panose="020F0502020204030204" pitchFamily="34" charset="0"/>
                <a:ea typeface="Calibri" panose="020F0502020204030204" pitchFamily="34" charset="0"/>
                <a:cs typeface="Times New Roman" panose="02020603050405020304" pitchFamily="18" charset="0"/>
              </a:rPr>
              <a:t>The model is fine-tuned on a dataset where the start and end positions of the answer are </a:t>
            </a:r>
            <a:r>
              <a:rPr lang="en-IN" sz="1500" kern="100" dirty="0" err="1">
                <a:effectLst/>
                <a:latin typeface="Calibri" panose="020F0502020204030204" pitchFamily="34" charset="0"/>
                <a:ea typeface="Calibri" panose="020F0502020204030204" pitchFamily="34" charset="0"/>
                <a:cs typeface="Times New Roman" panose="02020603050405020304" pitchFamily="18" charset="0"/>
              </a:rPr>
              <a:t>labeled</a:t>
            </a:r>
            <a:r>
              <a:rPr lang="en-IN" sz="1500" kern="100" dirty="0">
                <a:effectLst/>
                <a:latin typeface="Calibri" panose="020F0502020204030204" pitchFamily="34" charset="0"/>
                <a:ea typeface="Calibri" panose="020F0502020204030204" pitchFamily="34" charset="0"/>
                <a:cs typeface="Times New Roman" panose="02020603050405020304" pitchFamily="18" charset="0"/>
              </a:rPr>
              <a:t>. For this example, the start and end positions would both point to the token Google.</a:t>
            </a:r>
          </a:p>
          <a:p>
            <a:pPr>
              <a:lnSpc>
                <a:spcPct val="107000"/>
              </a:lnSpc>
              <a:spcAft>
                <a:spcPts val="800"/>
              </a:spcAft>
            </a:pPr>
            <a:r>
              <a:rPr lang="en-IN" sz="1500" b="1" kern="100" dirty="0">
                <a:effectLst/>
                <a:latin typeface="Calibri" panose="020F0502020204030204" pitchFamily="34" charset="0"/>
                <a:ea typeface="Calibri" panose="020F0502020204030204" pitchFamily="34" charset="0"/>
                <a:cs typeface="Times New Roman" panose="02020603050405020304" pitchFamily="18" charset="0"/>
              </a:rPr>
              <a:t>Result</a:t>
            </a:r>
            <a:endParaRPr lang="en-IN" sz="15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500" b="1" kern="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Predicted Answer</a:t>
            </a:r>
            <a:r>
              <a:rPr lang="en-IN" sz="1500" kern="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 </a:t>
            </a:r>
            <a:r>
              <a:rPr lang="en-IN" sz="1500" kern="100" dirty="0">
                <a:effectLst/>
                <a:latin typeface="Calibri" panose="020F0502020204030204" pitchFamily="34" charset="0"/>
                <a:ea typeface="Calibri" panose="020F0502020204030204" pitchFamily="34" charset="0"/>
                <a:cs typeface="Times New Roman" panose="02020603050405020304" pitchFamily="18" charset="0"/>
              </a:rPr>
              <a:t>"Google“</a:t>
            </a:r>
          </a:p>
          <a:p>
            <a:pPr marL="457200" lvl="0" indent="0" algn="l" rtl="0">
              <a:lnSpc>
                <a:spcPct val="115000"/>
              </a:lnSpc>
              <a:spcBef>
                <a:spcPts val="1200"/>
              </a:spcBef>
              <a:spcAft>
                <a:spcPts val="0"/>
              </a:spcAft>
              <a:buNone/>
            </a:pPr>
            <a:endParaRPr sz="1500" dirty="0">
              <a:solidFill>
                <a:schemeClr val="dk1"/>
              </a:solidFill>
              <a:latin typeface="Roboto"/>
              <a:ea typeface="Roboto"/>
              <a:cs typeface="Roboto"/>
              <a:sym typeface="Roboto"/>
            </a:endParaRPr>
          </a:p>
          <a:p>
            <a:pPr marL="0" lvl="0" indent="0" algn="l" rtl="0">
              <a:lnSpc>
                <a:spcPct val="115000"/>
              </a:lnSpc>
              <a:spcBef>
                <a:spcPts val="1200"/>
              </a:spcBef>
              <a:spcAft>
                <a:spcPts val="0"/>
              </a:spcAft>
              <a:buNone/>
            </a:pPr>
            <a:endParaRPr sz="1500" dirty="0">
              <a:solidFill>
                <a:schemeClr val="dk1"/>
              </a:solidFill>
            </a:endParaRPr>
          </a:p>
          <a:p>
            <a:pPr marL="0" lvl="0" indent="0" algn="l" rtl="0">
              <a:lnSpc>
                <a:spcPct val="115000"/>
              </a:lnSpc>
              <a:spcBef>
                <a:spcPts val="1200"/>
              </a:spcBef>
              <a:spcAft>
                <a:spcPts val="1200"/>
              </a:spcAft>
              <a:buNone/>
            </a:pPr>
            <a:endParaRPr sz="1500" dirty="0">
              <a:solidFill>
                <a:schemeClr val="dk1"/>
              </a:solidFill>
            </a:endParaRPr>
          </a:p>
        </p:txBody>
      </p:sp>
      <p:sp>
        <p:nvSpPr>
          <p:cNvPr id="2" name="object 6">
            <a:extLst>
              <a:ext uri="{FF2B5EF4-FFF2-40B4-BE49-F238E27FC236}">
                <a16:creationId xmlns:a16="http://schemas.microsoft.com/office/drawing/2014/main" id="{7C94F0B6-1514-6243-BC99-BC1456F133FC}"/>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sp>
        <p:nvSpPr>
          <p:cNvPr id="3" name="Google Shape;870;p90">
            <a:extLst>
              <a:ext uri="{FF2B5EF4-FFF2-40B4-BE49-F238E27FC236}">
                <a16:creationId xmlns:a16="http://schemas.microsoft.com/office/drawing/2014/main" id="{13759EF0-CEF4-A19E-B163-EC7E5D246720}"/>
              </a:ext>
            </a:extLst>
          </p:cNvPr>
          <p:cNvSpPr txBox="1"/>
          <p:nvPr/>
        </p:nvSpPr>
        <p:spPr>
          <a:xfrm>
            <a:off x="294833" y="36229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dirty="0">
                <a:solidFill>
                  <a:srgbClr val="C55A11"/>
                </a:solidFill>
                <a:latin typeface="Calibri"/>
                <a:ea typeface="Calibri"/>
                <a:cs typeface="Calibri"/>
                <a:sym typeface="Calibri"/>
              </a:rPr>
              <a:t>BERT</a:t>
            </a:r>
            <a:endParaRPr sz="1800" dirty="0">
              <a:solidFill>
                <a:schemeClr val="dk2"/>
              </a:solidFill>
            </a:endParaRPr>
          </a:p>
        </p:txBody>
      </p:sp>
      <p:cxnSp>
        <p:nvCxnSpPr>
          <p:cNvPr id="4" name="Google Shape;871;p90">
            <a:extLst>
              <a:ext uri="{FF2B5EF4-FFF2-40B4-BE49-F238E27FC236}">
                <a16:creationId xmlns:a16="http://schemas.microsoft.com/office/drawing/2014/main" id="{C0CBDCE1-62A9-5CEF-A71A-8F07B5AFFABE}"/>
              </a:ext>
            </a:extLst>
          </p:cNvPr>
          <p:cNvCxnSpPr/>
          <p:nvPr/>
        </p:nvCxnSpPr>
        <p:spPr>
          <a:xfrm>
            <a:off x="0" y="828850"/>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5" name="Google Shape;182;p10">
            <a:extLst>
              <a:ext uri="{FF2B5EF4-FFF2-40B4-BE49-F238E27FC236}">
                <a16:creationId xmlns:a16="http://schemas.microsoft.com/office/drawing/2014/main" id="{F86B28F9-B0CD-C3B1-9201-E2D1BE2EEC99}"/>
              </a:ext>
            </a:extLst>
          </p:cNvPr>
          <p:cNvSpPr/>
          <p:nvPr/>
        </p:nvSpPr>
        <p:spPr>
          <a:xfrm>
            <a:off x="294833" y="189181"/>
            <a:ext cx="5622911" cy="346218"/>
          </a:xfrm>
          <a:prstGeom prst="rect">
            <a:avLst/>
          </a:prstGeom>
          <a:noFill/>
          <a:ln>
            <a:noFill/>
          </a:ln>
        </p:spPr>
        <p:txBody>
          <a:bodyPr spcFirstLastPara="1" wrap="square" lIns="68569" tIns="34275" rIns="68569" bIns="34275" anchor="t" anchorCtr="0">
            <a:spAutoFit/>
          </a:bodyPr>
          <a:lstStyle/>
          <a:p>
            <a:r>
              <a:rPr lang="en-US" sz="1800" b="1" dirty="0">
                <a:solidFill>
                  <a:srgbClr val="C00000"/>
                </a:solidFill>
              </a:rPr>
              <a:t>Generative AI and its Applications </a:t>
            </a:r>
          </a:p>
        </p:txBody>
      </p:sp>
    </p:spTree>
    <p:extLst>
      <p:ext uri="{BB962C8B-B14F-4D97-AF65-F5344CB8AC3E}">
        <p14:creationId xmlns:p14="http://schemas.microsoft.com/office/powerpoint/2010/main" val="22417634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30">
          <a:extLst>
            <a:ext uri="{FF2B5EF4-FFF2-40B4-BE49-F238E27FC236}">
              <a16:creationId xmlns:a16="http://schemas.microsoft.com/office/drawing/2014/main" id="{9569556A-F079-73A6-28E0-EE3D8DAE0765}"/>
            </a:ext>
          </a:extLst>
        </p:cNvPr>
        <p:cNvGrpSpPr/>
        <p:nvPr/>
      </p:nvGrpSpPr>
      <p:grpSpPr>
        <a:xfrm>
          <a:off x="0" y="0"/>
          <a:ext cx="0" cy="0"/>
          <a:chOff x="0" y="0"/>
          <a:chExt cx="0" cy="0"/>
        </a:xfrm>
      </p:grpSpPr>
      <p:sp>
        <p:nvSpPr>
          <p:cNvPr id="933" name="Google Shape;933;p97">
            <a:extLst>
              <a:ext uri="{FF2B5EF4-FFF2-40B4-BE49-F238E27FC236}">
                <a16:creationId xmlns:a16="http://schemas.microsoft.com/office/drawing/2014/main" id="{3AE486D0-8AD8-E1F2-0656-A1B66DAA645B}"/>
              </a:ext>
            </a:extLst>
          </p:cNvPr>
          <p:cNvSpPr txBox="1"/>
          <p:nvPr/>
        </p:nvSpPr>
        <p:spPr>
          <a:xfrm>
            <a:off x="273201" y="1001959"/>
            <a:ext cx="8631102" cy="3125393"/>
          </a:xfrm>
          <a:prstGeom prst="rect">
            <a:avLst/>
          </a:prstGeom>
          <a:noFill/>
          <a:ln>
            <a:noFill/>
          </a:ln>
        </p:spPr>
        <p:txBody>
          <a:bodyPr spcFirstLastPara="1" wrap="square" lIns="91425" tIns="91425" rIns="91425" bIns="91425" anchor="t" anchorCtr="0">
            <a:noAutofit/>
          </a:bodyPr>
          <a:lstStyle/>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Imagine you have a large document about climate change, and you want to verify the answer to the question "What are the main causes of climate change?" You might already have an answer like "Greenhouse gas emissions and deforestation," but you want to ensure this answer is accurately reflected in the document.</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Context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"Climate change is primarily driven by human activities, including the burning of fossil fuels, which releases greenhouse gases into the atmosphere, and deforestation, which reduces the number of trees that can absorb carbon dioxide."</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Question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"What are the main causes of climate change?"</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Proposed Answer</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"Greenhouse gas emissions and deforestation."</a:t>
            </a:r>
          </a:p>
          <a:p>
            <a:pPr marL="457200" lvl="0" indent="0" algn="l" rtl="0">
              <a:lnSpc>
                <a:spcPct val="115000"/>
              </a:lnSpc>
              <a:spcBef>
                <a:spcPts val="1200"/>
              </a:spcBef>
              <a:spcAft>
                <a:spcPts val="0"/>
              </a:spcAft>
              <a:buNone/>
            </a:pPr>
            <a:endParaRPr sz="1500" dirty="0">
              <a:solidFill>
                <a:schemeClr val="dk1"/>
              </a:solidFill>
              <a:latin typeface="Roboto"/>
              <a:ea typeface="Roboto"/>
              <a:cs typeface="Roboto"/>
              <a:sym typeface="Roboto"/>
            </a:endParaRPr>
          </a:p>
          <a:p>
            <a:pPr marL="0" lvl="0" indent="0" algn="l" rtl="0">
              <a:lnSpc>
                <a:spcPct val="115000"/>
              </a:lnSpc>
              <a:spcBef>
                <a:spcPts val="1200"/>
              </a:spcBef>
              <a:spcAft>
                <a:spcPts val="0"/>
              </a:spcAft>
              <a:buNone/>
            </a:pPr>
            <a:endParaRPr sz="1500" dirty="0">
              <a:solidFill>
                <a:schemeClr val="dk1"/>
              </a:solidFill>
            </a:endParaRPr>
          </a:p>
          <a:p>
            <a:pPr marL="0" lvl="0" indent="0" algn="l" rtl="0">
              <a:lnSpc>
                <a:spcPct val="115000"/>
              </a:lnSpc>
              <a:spcBef>
                <a:spcPts val="1200"/>
              </a:spcBef>
              <a:spcAft>
                <a:spcPts val="1200"/>
              </a:spcAft>
              <a:buNone/>
            </a:pPr>
            <a:endParaRPr sz="1500" dirty="0">
              <a:solidFill>
                <a:schemeClr val="dk1"/>
              </a:solidFill>
            </a:endParaRPr>
          </a:p>
        </p:txBody>
      </p:sp>
      <p:sp>
        <p:nvSpPr>
          <p:cNvPr id="2" name="object 6">
            <a:extLst>
              <a:ext uri="{FF2B5EF4-FFF2-40B4-BE49-F238E27FC236}">
                <a16:creationId xmlns:a16="http://schemas.microsoft.com/office/drawing/2014/main" id="{5DAF4A20-6F62-EDEE-DA63-9A247087D8EB}"/>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sp>
        <p:nvSpPr>
          <p:cNvPr id="3" name="Google Shape;870;p90">
            <a:extLst>
              <a:ext uri="{FF2B5EF4-FFF2-40B4-BE49-F238E27FC236}">
                <a16:creationId xmlns:a16="http://schemas.microsoft.com/office/drawing/2014/main" id="{BF0180DD-7BA1-9F85-922F-1AA571D95ECE}"/>
              </a:ext>
            </a:extLst>
          </p:cNvPr>
          <p:cNvSpPr txBox="1"/>
          <p:nvPr/>
        </p:nvSpPr>
        <p:spPr>
          <a:xfrm>
            <a:off x="294833" y="36229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dirty="0">
                <a:solidFill>
                  <a:srgbClr val="C55A11"/>
                </a:solidFill>
                <a:latin typeface="Calibri"/>
                <a:ea typeface="Calibri"/>
                <a:cs typeface="Calibri"/>
                <a:sym typeface="Calibri"/>
              </a:rPr>
              <a:t>BERT – EXAMPLE 3</a:t>
            </a:r>
            <a:endParaRPr sz="1800" dirty="0">
              <a:solidFill>
                <a:schemeClr val="dk2"/>
              </a:solidFill>
            </a:endParaRPr>
          </a:p>
        </p:txBody>
      </p:sp>
      <p:cxnSp>
        <p:nvCxnSpPr>
          <p:cNvPr id="4" name="Google Shape;871;p90">
            <a:extLst>
              <a:ext uri="{FF2B5EF4-FFF2-40B4-BE49-F238E27FC236}">
                <a16:creationId xmlns:a16="http://schemas.microsoft.com/office/drawing/2014/main" id="{B574AB0A-B800-720D-B794-3830B9791A6A}"/>
              </a:ext>
            </a:extLst>
          </p:cNvPr>
          <p:cNvCxnSpPr/>
          <p:nvPr/>
        </p:nvCxnSpPr>
        <p:spPr>
          <a:xfrm>
            <a:off x="0" y="828850"/>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5" name="Google Shape;182;p10">
            <a:extLst>
              <a:ext uri="{FF2B5EF4-FFF2-40B4-BE49-F238E27FC236}">
                <a16:creationId xmlns:a16="http://schemas.microsoft.com/office/drawing/2014/main" id="{BE7E899B-2487-5DCF-03DC-EFE8045111BB}"/>
              </a:ext>
            </a:extLst>
          </p:cNvPr>
          <p:cNvSpPr/>
          <p:nvPr/>
        </p:nvSpPr>
        <p:spPr>
          <a:xfrm>
            <a:off x="294833" y="189181"/>
            <a:ext cx="5622911" cy="346218"/>
          </a:xfrm>
          <a:prstGeom prst="rect">
            <a:avLst/>
          </a:prstGeom>
          <a:noFill/>
          <a:ln>
            <a:noFill/>
          </a:ln>
        </p:spPr>
        <p:txBody>
          <a:bodyPr spcFirstLastPara="1" wrap="square" lIns="68569" tIns="34275" rIns="68569" bIns="34275" anchor="t" anchorCtr="0">
            <a:spAutoFit/>
          </a:bodyPr>
          <a:lstStyle/>
          <a:p>
            <a:r>
              <a:rPr lang="en-US" sz="1800" b="1" dirty="0">
                <a:solidFill>
                  <a:srgbClr val="C00000"/>
                </a:solidFill>
              </a:rPr>
              <a:t>Generative AI and its Applications </a:t>
            </a:r>
          </a:p>
        </p:txBody>
      </p:sp>
    </p:spTree>
    <p:extLst>
      <p:ext uri="{BB962C8B-B14F-4D97-AF65-F5344CB8AC3E}">
        <p14:creationId xmlns:p14="http://schemas.microsoft.com/office/powerpoint/2010/main" val="8372867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30">
          <a:extLst>
            <a:ext uri="{FF2B5EF4-FFF2-40B4-BE49-F238E27FC236}">
              <a16:creationId xmlns:a16="http://schemas.microsoft.com/office/drawing/2014/main" id="{4DF257DC-C47E-34C8-98CF-4F645F423491}"/>
            </a:ext>
          </a:extLst>
        </p:cNvPr>
        <p:cNvGrpSpPr/>
        <p:nvPr/>
      </p:nvGrpSpPr>
      <p:grpSpPr>
        <a:xfrm>
          <a:off x="0" y="0"/>
          <a:ext cx="0" cy="0"/>
          <a:chOff x="0" y="0"/>
          <a:chExt cx="0" cy="0"/>
        </a:xfrm>
      </p:grpSpPr>
      <p:sp>
        <p:nvSpPr>
          <p:cNvPr id="933" name="Google Shape;933;p97">
            <a:extLst>
              <a:ext uri="{FF2B5EF4-FFF2-40B4-BE49-F238E27FC236}">
                <a16:creationId xmlns:a16="http://schemas.microsoft.com/office/drawing/2014/main" id="{2C8295F8-F5CC-4A2C-0A0F-B7A64158A8AE}"/>
              </a:ext>
            </a:extLst>
          </p:cNvPr>
          <p:cNvSpPr txBox="1"/>
          <p:nvPr/>
        </p:nvSpPr>
        <p:spPr>
          <a:xfrm>
            <a:off x="273201" y="1001959"/>
            <a:ext cx="8631102" cy="3125393"/>
          </a:xfrm>
          <a:prstGeom prst="rect">
            <a:avLst/>
          </a:prstGeom>
          <a:noFill/>
          <a:ln>
            <a:noFill/>
          </a:ln>
        </p:spPr>
        <p:txBody>
          <a:bodyPr spcFirstLastPara="1" wrap="square" lIns="91425" tIns="91425" rIns="91425" bIns="91425" anchor="t" anchorCtr="0">
            <a:noAutofit/>
          </a:bodyPr>
          <a:lstStyle/>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Using BERT, you can:</a:t>
            </a:r>
          </a:p>
          <a:p>
            <a:pPr marL="342900" lvl="0" indent="-342900">
              <a:lnSpc>
                <a:spcPct val="107000"/>
              </a:lnSpc>
              <a:spcAft>
                <a:spcPts val="800"/>
              </a:spcAft>
              <a:buFont typeface="+mj-lt"/>
              <a:buAutoNum type="arabicPeriod"/>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Tokenize</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the question and context.</a:t>
            </a:r>
          </a:p>
          <a:p>
            <a:pPr marL="342900" lvl="0" indent="-342900">
              <a:lnSpc>
                <a:spcPct val="107000"/>
              </a:lnSpc>
              <a:spcAft>
                <a:spcPts val="800"/>
              </a:spcAft>
              <a:buFont typeface="+mj-lt"/>
              <a:buAutoNum type="arabicPeriod"/>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Generate embeddings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for the tokens.</a:t>
            </a:r>
          </a:p>
          <a:p>
            <a:pPr marL="342900" lvl="0" indent="-342900">
              <a:lnSpc>
                <a:spcPct val="107000"/>
              </a:lnSpc>
              <a:spcAft>
                <a:spcPts val="800"/>
              </a:spcAft>
              <a:buFont typeface="+mj-lt"/>
              <a:buAutoNum type="arabicPeriod"/>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Predict the start and end positions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of the answer in the context.</a:t>
            </a:r>
          </a:p>
          <a:p>
            <a:pPr marL="342900" lvl="0" indent="-342900">
              <a:lnSpc>
                <a:spcPct val="107000"/>
              </a:lnSpc>
              <a:spcAft>
                <a:spcPts val="800"/>
              </a:spcAft>
              <a:buFont typeface="+mj-lt"/>
              <a:buAutoNum type="arabicPeriod"/>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Extract and validate</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the answer from the context.</a:t>
            </a:r>
          </a:p>
          <a:p>
            <a:pPr>
              <a:lnSpc>
                <a:spcPct val="107000"/>
              </a:lnSpc>
              <a:spcAft>
                <a:spcPts val="800"/>
              </a:spcAft>
              <a:tabLst>
                <a:tab pos="457200" algn="l"/>
              </a:tabLst>
            </a:pPr>
            <a:endParaRPr lang="en-IN" sz="1800" kern="100" dirty="0">
              <a:highlight>
                <a:srgbClr val="FFFF00"/>
              </a:highligh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457200" algn="l"/>
              </a:tabLst>
            </a:pPr>
            <a:r>
              <a:rPr lang="en-IN" sz="1800" b="1" kern="100" dirty="0">
                <a:highlight>
                  <a:srgbClr val="FFFF00"/>
                </a:highlight>
                <a:latin typeface="Calibri" panose="020F0502020204030204" pitchFamily="34" charset="0"/>
                <a:ea typeface="Calibri" panose="020F0502020204030204" pitchFamily="34" charset="0"/>
                <a:cs typeface="Times New Roman" panose="02020603050405020304" pitchFamily="18" charset="0"/>
              </a:rPr>
              <a:t>Application</a:t>
            </a:r>
            <a:r>
              <a:rPr lang="en-IN" sz="1800" kern="100" dirty="0">
                <a:latin typeface="Calibri" panose="020F0502020204030204" pitchFamily="34" charset="0"/>
                <a:ea typeface="Calibri" panose="020F0502020204030204" pitchFamily="34" charset="0"/>
                <a:cs typeface="Times New Roman" panose="02020603050405020304" pitchFamily="18" charset="0"/>
              </a:rPr>
              <a:t>: Answer Validation, Contextual Relevance, QA Systems from doc repository, Edu tools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lvl="0" indent="0" algn="l" rtl="0">
              <a:lnSpc>
                <a:spcPct val="115000"/>
              </a:lnSpc>
              <a:spcBef>
                <a:spcPts val="1200"/>
              </a:spcBef>
              <a:spcAft>
                <a:spcPts val="0"/>
              </a:spcAft>
              <a:buNone/>
            </a:pPr>
            <a:endParaRPr sz="1500" dirty="0">
              <a:solidFill>
                <a:schemeClr val="dk1"/>
              </a:solidFill>
              <a:latin typeface="Roboto"/>
              <a:ea typeface="Roboto"/>
              <a:cs typeface="Roboto"/>
              <a:sym typeface="Roboto"/>
            </a:endParaRPr>
          </a:p>
          <a:p>
            <a:pPr marL="0" lvl="0" indent="0" algn="l" rtl="0">
              <a:lnSpc>
                <a:spcPct val="115000"/>
              </a:lnSpc>
              <a:spcBef>
                <a:spcPts val="1200"/>
              </a:spcBef>
              <a:spcAft>
                <a:spcPts val="0"/>
              </a:spcAft>
              <a:buNone/>
            </a:pPr>
            <a:endParaRPr sz="1500" dirty="0">
              <a:solidFill>
                <a:schemeClr val="dk1"/>
              </a:solidFill>
            </a:endParaRPr>
          </a:p>
          <a:p>
            <a:pPr marL="0" lvl="0" indent="0" algn="l" rtl="0">
              <a:lnSpc>
                <a:spcPct val="115000"/>
              </a:lnSpc>
              <a:spcBef>
                <a:spcPts val="1200"/>
              </a:spcBef>
              <a:spcAft>
                <a:spcPts val="1200"/>
              </a:spcAft>
              <a:buNone/>
            </a:pPr>
            <a:endParaRPr sz="1500" dirty="0">
              <a:solidFill>
                <a:schemeClr val="dk1"/>
              </a:solidFill>
            </a:endParaRPr>
          </a:p>
        </p:txBody>
      </p:sp>
      <p:sp>
        <p:nvSpPr>
          <p:cNvPr id="2" name="object 6">
            <a:extLst>
              <a:ext uri="{FF2B5EF4-FFF2-40B4-BE49-F238E27FC236}">
                <a16:creationId xmlns:a16="http://schemas.microsoft.com/office/drawing/2014/main" id="{0CD415DF-9BCA-364B-617E-3A9F96A5375B}"/>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sp>
        <p:nvSpPr>
          <p:cNvPr id="3" name="Google Shape;870;p90">
            <a:extLst>
              <a:ext uri="{FF2B5EF4-FFF2-40B4-BE49-F238E27FC236}">
                <a16:creationId xmlns:a16="http://schemas.microsoft.com/office/drawing/2014/main" id="{480D864E-2852-74D6-76E1-CEA2CBA7F5BD}"/>
              </a:ext>
            </a:extLst>
          </p:cNvPr>
          <p:cNvSpPr txBox="1"/>
          <p:nvPr/>
        </p:nvSpPr>
        <p:spPr>
          <a:xfrm>
            <a:off x="294833" y="36229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dirty="0">
                <a:solidFill>
                  <a:srgbClr val="C55A11"/>
                </a:solidFill>
                <a:latin typeface="Calibri"/>
                <a:ea typeface="Calibri"/>
                <a:cs typeface="Calibri"/>
                <a:sym typeface="Calibri"/>
              </a:rPr>
              <a:t>BERT</a:t>
            </a:r>
            <a:endParaRPr sz="1800" dirty="0">
              <a:solidFill>
                <a:schemeClr val="dk2"/>
              </a:solidFill>
            </a:endParaRPr>
          </a:p>
        </p:txBody>
      </p:sp>
      <p:cxnSp>
        <p:nvCxnSpPr>
          <p:cNvPr id="4" name="Google Shape;871;p90">
            <a:extLst>
              <a:ext uri="{FF2B5EF4-FFF2-40B4-BE49-F238E27FC236}">
                <a16:creationId xmlns:a16="http://schemas.microsoft.com/office/drawing/2014/main" id="{0446A74E-FED7-6DA7-8B82-E9A6385C2CA5}"/>
              </a:ext>
            </a:extLst>
          </p:cNvPr>
          <p:cNvCxnSpPr/>
          <p:nvPr/>
        </p:nvCxnSpPr>
        <p:spPr>
          <a:xfrm>
            <a:off x="0" y="828850"/>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5" name="Google Shape;182;p10">
            <a:extLst>
              <a:ext uri="{FF2B5EF4-FFF2-40B4-BE49-F238E27FC236}">
                <a16:creationId xmlns:a16="http://schemas.microsoft.com/office/drawing/2014/main" id="{9732F077-C1B4-E506-C01F-76DF6EE9059C}"/>
              </a:ext>
            </a:extLst>
          </p:cNvPr>
          <p:cNvSpPr/>
          <p:nvPr/>
        </p:nvSpPr>
        <p:spPr>
          <a:xfrm>
            <a:off x="294833" y="189181"/>
            <a:ext cx="5622911" cy="346218"/>
          </a:xfrm>
          <a:prstGeom prst="rect">
            <a:avLst/>
          </a:prstGeom>
          <a:noFill/>
          <a:ln>
            <a:noFill/>
          </a:ln>
        </p:spPr>
        <p:txBody>
          <a:bodyPr spcFirstLastPara="1" wrap="square" lIns="68569" tIns="34275" rIns="68569" bIns="34275" anchor="t" anchorCtr="0">
            <a:spAutoFit/>
          </a:bodyPr>
          <a:lstStyle/>
          <a:p>
            <a:r>
              <a:rPr lang="en-US" sz="1800" b="1" dirty="0">
                <a:solidFill>
                  <a:srgbClr val="C00000"/>
                </a:solidFill>
              </a:rPr>
              <a:t>Generative AI and its Applications </a:t>
            </a:r>
          </a:p>
        </p:txBody>
      </p:sp>
    </p:spTree>
    <p:extLst>
      <p:ext uri="{BB962C8B-B14F-4D97-AF65-F5344CB8AC3E}">
        <p14:creationId xmlns:p14="http://schemas.microsoft.com/office/powerpoint/2010/main" val="1986910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30">
          <a:extLst>
            <a:ext uri="{FF2B5EF4-FFF2-40B4-BE49-F238E27FC236}">
              <a16:creationId xmlns:a16="http://schemas.microsoft.com/office/drawing/2014/main" id="{D45DF9E6-975A-E8F7-81F1-466E895239BE}"/>
            </a:ext>
          </a:extLst>
        </p:cNvPr>
        <p:cNvGrpSpPr/>
        <p:nvPr/>
      </p:nvGrpSpPr>
      <p:grpSpPr>
        <a:xfrm>
          <a:off x="0" y="0"/>
          <a:ext cx="0" cy="0"/>
          <a:chOff x="0" y="0"/>
          <a:chExt cx="0" cy="0"/>
        </a:xfrm>
      </p:grpSpPr>
      <p:sp>
        <p:nvSpPr>
          <p:cNvPr id="933" name="Google Shape;933;p97">
            <a:extLst>
              <a:ext uri="{FF2B5EF4-FFF2-40B4-BE49-F238E27FC236}">
                <a16:creationId xmlns:a16="http://schemas.microsoft.com/office/drawing/2014/main" id="{F240F234-0675-7E06-9D20-07FE0E2346E8}"/>
              </a:ext>
            </a:extLst>
          </p:cNvPr>
          <p:cNvSpPr txBox="1"/>
          <p:nvPr/>
        </p:nvSpPr>
        <p:spPr>
          <a:xfrm>
            <a:off x="273201" y="1001959"/>
            <a:ext cx="8631102" cy="3125393"/>
          </a:xfrm>
          <a:prstGeom prst="rect">
            <a:avLst/>
          </a:prstGeom>
          <a:noFill/>
          <a:ln>
            <a:noFill/>
          </a:ln>
        </p:spPr>
        <p:txBody>
          <a:bodyPr spcFirstLastPara="1" wrap="square" lIns="91425" tIns="91425" rIns="91425" bIns="91425" anchor="t" anchorCtr="0">
            <a:noAutofit/>
          </a:bodyPr>
          <a:lstStyle/>
          <a:p>
            <a:pPr>
              <a:lnSpc>
                <a:spcPct val="107000"/>
              </a:lnSpc>
              <a:spcAft>
                <a:spcPts val="800"/>
              </a:spcAft>
            </a:pPr>
            <a:r>
              <a:rPr lang="en-US" sz="2400" b="0" i="0" dirty="0">
                <a:solidFill>
                  <a:srgbClr val="242424"/>
                </a:solidFill>
                <a:effectLst/>
                <a:latin typeface="source-serif-pro"/>
              </a:rPr>
              <a:t>BERT is trained on huge corpus i.e. English Wikipedia (2,500M words) and </a:t>
            </a:r>
            <a:r>
              <a:rPr lang="en-US" sz="2400" b="0" i="0" dirty="0" err="1">
                <a:solidFill>
                  <a:srgbClr val="242424"/>
                </a:solidFill>
                <a:effectLst/>
                <a:latin typeface="source-serif-pro"/>
              </a:rPr>
              <a:t>BooksCorpus</a:t>
            </a:r>
            <a:r>
              <a:rPr lang="en-US" sz="2400" b="0" i="0" dirty="0">
                <a:solidFill>
                  <a:srgbClr val="242424"/>
                </a:solidFill>
                <a:effectLst/>
                <a:latin typeface="source-serif-pro"/>
              </a:rPr>
              <a:t> (800M words) which makes it a state-of-the-art model.</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lvl="0" indent="0" algn="l" rtl="0">
              <a:lnSpc>
                <a:spcPct val="115000"/>
              </a:lnSpc>
              <a:spcBef>
                <a:spcPts val="1200"/>
              </a:spcBef>
              <a:spcAft>
                <a:spcPts val="0"/>
              </a:spcAft>
              <a:buNone/>
            </a:pPr>
            <a:endParaRPr sz="1500" dirty="0">
              <a:solidFill>
                <a:schemeClr val="dk1"/>
              </a:solidFill>
              <a:latin typeface="Roboto"/>
              <a:ea typeface="Roboto"/>
              <a:cs typeface="Roboto"/>
              <a:sym typeface="Roboto"/>
            </a:endParaRPr>
          </a:p>
          <a:p>
            <a:pPr marL="0" lvl="0" indent="0" algn="l" rtl="0">
              <a:lnSpc>
                <a:spcPct val="115000"/>
              </a:lnSpc>
              <a:spcBef>
                <a:spcPts val="1200"/>
              </a:spcBef>
              <a:spcAft>
                <a:spcPts val="0"/>
              </a:spcAft>
              <a:buNone/>
            </a:pPr>
            <a:endParaRPr sz="1500" dirty="0">
              <a:solidFill>
                <a:schemeClr val="dk1"/>
              </a:solidFill>
            </a:endParaRPr>
          </a:p>
          <a:p>
            <a:pPr marL="0" lvl="0" indent="0" algn="l" rtl="0">
              <a:lnSpc>
                <a:spcPct val="115000"/>
              </a:lnSpc>
              <a:spcBef>
                <a:spcPts val="1200"/>
              </a:spcBef>
              <a:spcAft>
                <a:spcPts val="1200"/>
              </a:spcAft>
              <a:buNone/>
            </a:pPr>
            <a:endParaRPr sz="1500" dirty="0">
              <a:solidFill>
                <a:schemeClr val="dk1"/>
              </a:solidFill>
            </a:endParaRPr>
          </a:p>
        </p:txBody>
      </p:sp>
      <p:sp>
        <p:nvSpPr>
          <p:cNvPr id="2" name="object 6">
            <a:extLst>
              <a:ext uri="{FF2B5EF4-FFF2-40B4-BE49-F238E27FC236}">
                <a16:creationId xmlns:a16="http://schemas.microsoft.com/office/drawing/2014/main" id="{34EAAC9A-F356-CB4B-B2C0-0CED6CB553FA}"/>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sp>
        <p:nvSpPr>
          <p:cNvPr id="3" name="Google Shape;870;p90">
            <a:extLst>
              <a:ext uri="{FF2B5EF4-FFF2-40B4-BE49-F238E27FC236}">
                <a16:creationId xmlns:a16="http://schemas.microsoft.com/office/drawing/2014/main" id="{161A770F-570A-AB27-FF56-956DAAA239FC}"/>
              </a:ext>
            </a:extLst>
          </p:cNvPr>
          <p:cNvSpPr txBox="1"/>
          <p:nvPr/>
        </p:nvSpPr>
        <p:spPr>
          <a:xfrm>
            <a:off x="294833" y="36229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dirty="0">
                <a:solidFill>
                  <a:srgbClr val="C55A11"/>
                </a:solidFill>
                <a:latin typeface="Calibri"/>
                <a:ea typeface="Calibri"/>
                <a:cs typeface="Calibri"/>
                <a:sym typeface="Calibri"/>
              </a:rPr>
              <a:t>BERT</a:t>
            </a:r>
            <a:endParaRPr sz="1800" dirty="0">
              <a:solidFill>
                <a:schemeClr val="dk2"/>
              </a:solidFill>
            </a:endParaRPr>
          </a:p>
        </p:txBody>
      </p:sp>
      <p:cxnSp>
        <p:nvCxnSpPr>
          <p:cNvPr id="4" name="Google Shape;871;p90">
            <a:extLst>
              <a:ext uri="{FF2B5EF4-FFF2-40B4-BE49-F238E27FC236}">
                <a16:creationId xmlns:a16="http://schemas.microsoft.com/office/drawing/2014/main" id="{F9DF6690-B7D1-2EF6-5C4F-80140A392F03}"/>
              </a:ext>
            </a:extLst>
          </p:cNvPr>
          <p:cNvCxnSpPr/>
          <p:nvPr/>
        </p:nvCxnSpPr>
        <p:spPr>
          <a:xfrm>
            <a:off x="0" y="828850"/>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5" name="Google Shape;182;p10">
            <a:extLst>
              <a:ext uri="{FF2B5EF4-FFF2-40B4-BE49-F238E27FC236}">
                <a16:creationId xmlns:a16="http://schemas.microsoft.com/office/drawing/2014/main" id="{4A75FBA3-197F-842A-54FE-6DF0951C0721}"/>
              </a:ext>
            </a:extLst>
          </p:cNvPr>
          <p:cNvSpPr/>
          <p:nvPr/>
        </p:nvSpPr>
        <p:spPr>
          <a:xfrm>
            <a:off x="294833" y="189181"/>
            <a:ext cx="5622911" cy="346218"/>
          </a:xfrm>
          <a:prstGeom prst="rect">
            <a:avLst/>
          </a:prstGeom>
          <a:noFill/>
          <a:ln>
            <a:noFill/>
          </a:ln>
        </p:spPr>
        <p:txBody>
          <a:bodyPr spcFirstLastPara="1" wrap="square" lIns="68569" tIns="34275" rIns="68569" bIns="34275" anchor="t" anchorCtr="0">
            <a:spAutoFit/>
          </a:bodyPr>
          <a:lstStyle/>
          <a:p>
            <a:r>
              <a:rPr lang="en-US" sz="1800" b="1" dirty="0">
                <a:solidFill>
                  <a:srgbClr val="C00000"/>
                </a:solidFill>
              </a:rPr>
              <a:t>Generative AI and its Applications </a:t>
            </a:r>
          </a:p>
        </p:txBody>
      </p:sp>
    </p:spTree>
    <p:extLst>
      <p:ext uri="{BB962C8B-B14F-4D97-AF65-F5344CB8AC3E}">
        <p14:creationId xmlns:p14="http://schemas.microsoft.com/office/powerpoint/2010/main" val="25828313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95"/>
        <p:cNvGrpSpPr/>
        <p:nvPr/>
      </p:nvGrpSpPr>
      <p:grpSpPr>
        <a:xfrm>
          <a:off x="0" y="0"/>
          <a:ext cx="0" cy="0"/>
          <a:chOff x="0" y="0"/>
          <a:chExt cx="0" cy="0"/>
        </a:xfrm>
      </p:grpSpPr>
      <p:pic>
        <p:nvPicPr>
          <p:cNvPr id="900" name="Google Shape;900;p93"/>
          <p:cNvPicPr preferRelativeResize="0"/>
          <p:nvPr/>
        </p:nvPicPr>
        <p:blipFill>
          <a:blip r:embed="rId3">
            <a:alphaModFix/>
          </a:blip>
          <a:stretch>
            <a:fillRect/>
          </a:stretch>
        </p:blipFill>
        <p:spPr>
          <a:xfrm>
            <a:off x="1822239" y="599446"/>
            <a:ext cx="5231704" cy="4535351"/>
          </a:xfrm>
          <a:prstGeom prst="rect">
            <a:avLst/>
          </a:prstGeom>
          <a:noFill/>
          <a:ln>
            <a:noFill/>
          </a:ln>
        </p:spPr>
      </p:pic>
      <p:sp>
        <p:nvSpPr>
          <p:cNvPr id="901" name="Google Shape;901;p93"/>
          <p:cNvSpPr txBox="1"/>
          <p:nvPr/>
        </p:nvSpPr>
        <p:spPr>
          <a:xfrm>
            <a:off x="0" y="4622400"/>
            <a:ext cx="2766600" cy="52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solidFill>
                  <a:schemeClr val="dk2"/>
                </a:solidFill>
              </a:rPr>
              <a:t>References:</a:t>
            </a:r>
            <a:endParaRPr sz="800">
              <a:solidFill>
                <a:schemeClr val="dk2"/>
              </a:solidFill>
            </a:endParaRPr>
          </a:p>
          <a:p>
            <a:pPr marL="0" lvl="0" indent="0" algn="l" rtl="0">
              <a:spcBef>
                <a:spcPts val="0"/>
              </a:spcBef>
              <a:spcAft>
                <a:spcPts val="0"/>
              </a:spcAft>
              <a:buNone/>
            </a:pPr>
            <a:r>
              <a:rPr lang="en-GB" sz="800" u="sng">
                <a:solidFill>
                  <a:schemeClr val="hlink"/>
                </a:solidFill>
                <a:hlinkClick r:id="rId4"/>
              </a:rPr>
              <a:t>Book: Build a Large Language Model (From Scratch) </a:t>
            </a:r>
            <a:endParaRPr sz="800">
              <a:solidFill>
                <a:schemeClr val="dk2"/>
              </a:solidFill>
            </a:endParaRPr>
          </a:p>
          <a:p>
            <a:pPr marL="0" lvl="0" indent="0" algn="l" rtl="0">
              <a:spcBef>
                <a:spcPts val="0"/>
              </a:spcBef>
              <a:spcAft>
                <a:spcPts val="0"/>
              </a:spcAft>
              <a:buNone/>
            </a:pPr>
            <a:endParaRPr sz="800">
              <a:solidFill>
                <a:schemeClr val="dk2"/>
              </a:solidFill>
            </a:endParaRPr>
          </a:p>
        </p:txBody>
      </p:sp>
      <p:sp>
        <p:nvSpPr>
          <p:cNvPr id="2" name="object 6">
            <a:extLst>
              <a:ext uri="{FF2B5EF4-FFF2-40B4-BE49-F238E27FC236}">
                <a16:creationId xmlns:a16="http://schemas.microsoft.com/office/drawing/2014/main" id="{BCA5DBB5-0E94-9DE3-0BEA-2C2C7D46E5E3}"/>
              </a:ext>
            </a:extLst>
          </p:cNvPr>
          <p:cNvSpPr/>
          <p:nvPr/>
        </p:nvSpPr>
        <p:spPr>
          <a:xfrm>
            <a:off x="8304129" y="53623"/>
            <a:ext cx="739525" cy="1172718"/>
          </a:xfrm>
          <a:prstGeom prst="rect">
            <a:avLst/>
          </a:prstGeom>
          <a:blipFill>
            <a:blip r:embed="rId5" cstate="print"/>
            <a:stretch>
              <a:fillRect/>
            </a:stretch>
          </a:blipFill>
        </p:spPr>
        <p:txBody>
          <a:bodyPr wrap="square" lIns="0" tIns="0" rIns="0" bIns="0" rtlCol="0"/>
          <a:lstStyle/>
          <a:p>
            <a:endParaRPr sz="945"/>
          </a:p>
        </p:txBody>
      </p:sp>
      <p:sp>
        <p:nvSpPr>
          <p:cNvPr id="3" name="Google Shape;870;p90">
            <a:extLst>
              <a:ext uri="{FF2B5EF4-FFF2-40B4-BE49-F238E27FC236}">
                <a16:creationId xmlns:a16="http://schemas.microsoft.com/office/drawing/2014/main" id="{5CD041E2-D31A-3D5A-A6AC-656528695117}"/>
              </a:ext>
            </a:extLst>
          </p:cNvPr>
          <p:cNvSpPr txBox="1"/>
          <p:nvPr/>
        </p:nvSpPr>
        <p:spPr>
          <a:xfrm>
            <a:off x="294833" y="36229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dirty="0">
                <a:solidFill>
                  <a:srgbClr val="C55A11"/>
                </a:solidFill>
                <a:latin typeface="Calibri"/>
                <a:ea typeface="Calibri"/>
                <a:cs typeface="Calibri"/>
                <a:sym typeface="Calibri"/>
              </a:rPr>
              <a:t>BERT</a:t>
            </a:r>
            <a:endParaRPr sz="1800" dirty="0">
              <a:solidFill>
                <a:schemeClr val="dk2"/>
              </a:solidFill>
            </a:endParaRPr>
          </a:p>
        </p:txBody>
      </p:sp>
      <p:cxnSp>
        <p:nvCxnSpPr>
          <p:cNvPr id="4" name="Google Shape;871;p90">
            <a:extLst>
              <a:ext uri="{FF2B5EF4-FFF2-40B4-BE49-F238E27FC236}">
                <a16:creationId xmlns:a16="http://schemas.microsoft.com/office/drawing/2014/main" id="{7F42103A-DF4E-17CB-BC93-14DBFDBB1941}"/>
              </a:ext>
            </a:extLst>
          </p:cNvPr>
          <p:cNvCxnSpPr/>
          <p:nvPr/>
        </p:nvCxnSpPr>
        <p:spPr>
          <a:xfrm>
            <a:off x="0" y="828850"/>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5" name="Google Shape;182;p10">
            <a:extLst>
              <a:ext uri="{FF2B5EF4-FFF2-40B4-BE49-F238E27FC236}">
                <a16:creationId xmlns:a16="http://schemas.microsoft.com/office/drawing/2014/main" id="{69D5EE0E-2ABF-7B25-C5F1-C9FB367F9BA0}"/>
              </a:ext>
            </a:extLst>
          </p:cNvPr>
          <p:cNvSpPr/>
          <p:nvPr/>
        </p:nvSpPr>
        <p:spPr>
          <a:xfrm>
            <a:off x="294833" y="189181"/>
            <a:ext cx="5622911" cy="346218"/>
          </a:xfrm>
          <a:prstGeom prst="rect">
            <a:avLst/>
          </a:prstGeom>
          <a:noFill/>
          <a:ln>
            <a:noFill/>
          </a:ln>
        </p:spPr>
        <p:txBody>
          <a:bodyPr spcFirstLastPara="1" wrap="square" lIns="68569" tIns="34275" rIns="68569" bIns="34275" anchor="t" anchorCtr="0">
            <a:spAutoFit/>
          </a:bodyPr>
          <a:lstStyle/>
          <a:p>
            <a:r>
              <a:rPr lang="en-US" sz="1800" b="1" dirty="0">
                <a:solidFill>
                  <a:srgbClr val="C00000"/>
                </a:solidFill>
              </a:rPr>
              <a:t>Generative AI and its Applications </a:t>
            </a:r>
          </a:p>
        </p:txBody>
      </p:sp>
    </p:spTree>
    <p:extLst>
      <p:ext uri="{BB962C8B-B14F-4D97-AF65-F5344CB8AC3E}">
        <p14:creationId xmlns:p14="http://schemas.microsoft.com/office/powerpoint/2010/main" val="30297789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95">
          <a:extLst>
            <a:ext uri="{FF2B5EF4-FFF2-40B4-BE49-F238E27FC236}">
              <a16:creationId xmlns:a16="http://schemas.microsoft.com/office/drawing/2014/main" id="{47AF1B56-C6C9-CC61-9B34-A19D8A8366C2}"/>
            </a:ext>
          </a:extLst>
        </p:cNvPr>
        <p:cNvGrpSpPr/>
        <p:nvPr/>
      </p:nvGrpSpPr>
      <p:grpSpPr>
        <a:xfrm>
          <a:off x="0" y="0"/>
          <a:ext cx="0" cy="0"/>
          <a:chOff x="0" y="0"/>
          <a:chExt cx="0" cy="0"/>
        </a:xfrm>
      </p:grpSpPr>
      <p:sp>
        <p:nvSpPr>
          <p:cNvPr id="901" name="Google Shape;901;p93">
            <a:extLst>
              <a:ext uri="{FF2B5EF4-FFF2-40B4-BE49-F238E27FC236}">
                <a16:creationId xmlns:a16="http://schemas.microsoft.com/office/drawing/2014/main" id="{F81A8E93-3801-F868-DF49-497448FD1A70}"/>
              </a:ext>
            </a:extLst>
          </p:cNvPr>
          <p:cNvSpPr txBox="1"/>
          <p:nvPr/>
        </p:nvSpPr>
        <p:spPr>
          <a:xfrm>
            <a:off x="0" y="4622400"/>
            <a:ext cx="2766600" cy="52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solidFill>
                  <a:schemeClr val="dk2"/>
                </a:solidFill>
              </a:rPr>
              <a:t>References:</a:t>
            </a:r>
            <a:endParaRPr sz="800">
              <a:solidFill>
                <a:schemeClr val="dk2"/>
              </a:solidFill>
            </a:endParaRPr>
          </a:p>
          <a:p>
            <a:pPr marL="0" lvl="0" indent="0" algn="l" rtl="0">
              <a:spcBef>
                <a:spcPts val="0"/>
              </a:spcBef>
              <a:spcAft>
                <a:spcPts val="0"/>
              </a:spcAft>
              <a:buNone/>
            </a:pPr>
            <a:r>
              <a:rPr lang="en-GB" sz="800" u="sng">
                <a:solidFill>
                  <a:schemeClr val="hlink"/>
                </a:solidFill>
                <a:hlinkClick r:id="rId3"/>
              </a:rPr>
              <a:t>Book: Build a Large Language Model (From Scratch) </a:t>
            </a:r>
            <a:endParaRPr sz="800">
              <a:solidFill>
                <a:schemeClr val="dk2"/>
              </a:solidFill>
            </a:endParaRPr>
          </a:p>
          <a:p>
            <a:pPr marL="0" lvl="0" indent="0" algn="l" rtl="0">
              <a:spcBef>
                <a:spcPts val="0"/>
              </a:spcBef>
              <a:spcAft>
                <a:spcPts val="0"/>
              </a:spcAft>
              <a:buNone/>
            </a:pPr>
            <a:endParaRPr sz="800">
              <a:solidFill>
                <a:schemeClr val="dk2"/>
              </a:solidFill>
            </a:endParaRPr>
          </a:p>
        </p:txBody>
      </p:sp>
      <p:sp>
        <p:nvSpPr>
          <p:cNvPr id="2" name="object 6">
            <a:extLst>
              <a:ext uri="{FF2B5EF4-FFF2-40B4-BE49-F238E27FC236}">
                <a16:creationId xmlns:a16="http://schemas.microsoft.com/office/drawing/2014/main" id="{7D52BA90-467F-FBA1-4F85-436E704DA777}"/>
              </a:ext>
            </a:extLst>
          </p:cNvPr>
          <p:cNvSpPr/>
          <p:nvPr/>
        </p:nvSpPr>
        <p:spPr>
          <a:xfrm>
            <a:off x="8304129" y="53623"/>
            <a:ext cx="739525" cy="1172718"/>
          </a:xfrm>
          <a:prstGeom prst="rect">
            <a:avLst/>
          </a:prstGeom>
          <a:blipFill>
            <a:blip r:embed="rId4" cstate="print"/>
            <a:stretch>
              <a:fillRect/>
            </a:stretch>
          </a:blipFill>
        </p:spPr>
        <p:txBody>
          <a:bodyPr wrap="square" lIns="0" tIns="0" rIns="0" bIns="0" rtlCol="0"/>
          <a:lstStyle/>
          <a:p>
            <a:endParaRPr sz="945"/>
          </a:p>
        </p:txBody>
      </p:sp>
      <p:sp>
        <p:nvSpPr>
          <p:cNvPr id="3" name="Google Shape;870;p90">
            <a:extLst>
              <a:ext uri="{FF2B5EF4-FFF2-40B4-BE49-F238E27FC236}">
                <a16:creationId xmlns:a16="http://schemas.microsoft.com/office/drawing/2014/main" id="{C28F79A3-00BF-5FAA-E3AC-E207890B4116}"/>
              </a:ext>
            </a:extLst>
          </p:cNvPr>
          <p:cNvSpPr txBox="1"/>
          <p:nvPr/>
        </p:nvSpPr>
        <p:spPr>
          <a:xfrm>
            <a:off x="294833" y="36229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dirty="0">
                <a:solidFill>
                  <a:srgbClr val="C55A11"/>
                </a:solidFill>
                <a:latin typeface="Calibri"/>
                <a:ea typeface="Calibri"/>
                <a:cs typeface="Calibri"/>
                <a:sym typeface="Calibri"/>
              </a:rPr>
              <a:t>BERT</a:t>
            </a:r>
            <a:endParaRPr sz="1800" dirty="0">
              <a:solidFill>
                <a:schemeClr val="dk2"/>
              </a:solidFill>
            </a:endParaRPr>
          </a:p>
        </p:txBody>
      </p:sp>
      <p:cxnSp>
        <p:nvCxnSpPr>
          <p:cNvPr id="4" name="Google Shape;871;p90">
            <a:extLst>
              <a:ext uri="{FF2B5EF4-FFF2-40B4-BE49-F238E27FC236}">
                <a16:creationId xmlns:a16="http://schemas.microsoft.com/office/drawing/2014/main" id="{25EFDF02-CA59-34B5-B84A-BA047B21548C}"/>
              </a:ext>
            </a:extLst>
          </p:cNvPr>
          <p:cNvCxnSpPr/>
          <p:nvPr/>
        </p:nvCxnSpPr>
        <p:spPr>
          <a:xfrm>
            <a:off x="0" y="828850"/>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5" name="Google Shape;182;p10">
            <a:extLst>
              <a:ext uri="{FF2B5EF4-FFF2-40B4-BE49-F238E27FC236}">
                <a16:creationId xmlns:a16="http://schemas.microsoft.com/office/drawing/2014/main" id="{AE026F97-FE3D-0981-E75E-339AB46FB9D7}"/>
              </a:ext>
            </a:extLst>
          </p:cNvPr>
          <p:cNvSpPr/>
          <p:nvPr/>
        </p:nvSpPr>
        <p:spPr>
          <a:xfrm>
            <a:off x="294833" y="189181"/>
            <a:ext cx="5622911" cy="346218"/>
          </a:xfrm>
          <a:prstGeom prst="rect">
            <a:avLst/>
          </a:prstGeom>
          <a:noFill/>
          <a:ln>
            <a:noFill/>
          </a:ln>
        </p:spPr>
        <p:txBody>
          <a:bodyPr spcFirstLastPara="1" wrap="square" lIns="68569" tIns="34275" rIns="68569" bIns="34275" anchor="t" anchorCtr="0">
            <a:spAutoFit/>
          </a:bodyPr>
          <a:lstStyle/>
          <a:p>
            <a:r>
              <a:rPr lang="en-US" sz="1800" b="1" dirty="0">
                <a:solidFill>
                  <a:srgbClr val="C00000"/>
                </a:solidFill>
              </a:rPr>
              <a:t>Various Architecture of BERT Model</a:t>
            </a:r>
          </a:p>
        </p:txBody>
      </p:sp>
      <p:pic>
        <p:nvPicPr>
          <p:cNvPr id="7" name="Picture 6">
            <a:extLst>
              <a:ext uri="{FF2B5EF4-FFF2-40B4-BE49-F238E27FC236}">
                <a16:creationId xmlns:a16="http://schemas.microsoft.com/office/drawing/2014/main" id="{1411A44B-CD94-E7AD-95AC-D53C5FDD560B}"/>
              </a:ext>
            </a:extLst>
          </p:cNvPr>
          <p:cNvPicPr>
            <a:picLocks noChangeAspect="1"/>
          </p:cNvPicPr>
          <p:nvPr/>
        </p:nvPicPr>
        <p:blipFill>
          <a:blip r:embed="rId5"/>
          <a:stretch>
            <a:fillRect/>
          </a:stretch>
        </p:blipFill>
        <p:spPr>
          <a:xfrm>
            <a:off x="100346" y="535399"/>
            <a:ext cx="7294753" cy="4433646"/>
          </a:xfrm>
          <a:prstGeom prst="rect">
            <a:avLst/>
          </a:prstGeom>
        </p:spPr>
      </p:pic>
    </p:spTree>
    <p:extLst>
      <p:ext uri="{BB962C8B-B14F-4D97-AF65-F5344CB8AC3E}">
        <p14:creationId xmlns:p14="http://schemas.microsoft.com/office/powerpoint/2010/main" val="13242247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cxnSp>
        <p:nvCxnSpPr>
          <p:cNvPr id="304" name="Google Shape;304;gcdccce66ef_0_83"/>
          <p:cNvCxnSpPr/>
          <p:nvPr/>
        </p:nvCxnSpPr>
        <p:spPr>
          <a:xfrm>
            <a:off x="-6231" y="987344"/>
            <a:ext cx="6225075" cy="0"/>
          </a:xfrm>
          <a:prstGeom prst="straightConnector1">
            <a:avLst/>
          </a:prstGeom>
          <a:noFill/>
          <a:ln w="38100" cap="flat" cmpd="sng">
            <a:solidFill>
              <a:srgbClr val="C55A11"/>
            </a:solidFill>
            <a:prstDash val="solid"/>
            <a:miter lim="800000"/>
            <a:headEnd type="none" w="sm" len="sm"/>
            <a:tailEnd type="none" w="sm" len="sm"/>
          </a:ln>
        </p:spPr>
      </p:cxnSp>
      <p:sp>
        <p:nvSpPr>
          <p:cNvPr id="306" name="Google Shape;306;gcdccce66ef_0_83"/>
          <p:cNvSpPr/>
          <p:nvPr/>
        </p:nvSpPr>
        <p:spPr>
          <a:xfrm>
            <a:off x="294833" y="189180"/>
            <a:ext cx="5622975" cy="346275"/>
          </a:xfrm>
          <a:prstGeom prst="rect">
            <a:avLst/>
          </a:prstGeom>
          <a:noFill/>
          <a:ln>
            <a:noFill/>
          </a:ln>
        </p:spPr>
        <p:txBody>
          <a:bodyPr spcFirstLastPara="1" wrap="square" lIns="68569" tIns="34275" rIns="68569" bIns="34275" anchor="t" anchorCtr="0">
            <a:noAutofit/>
          </a:bodyPr>
          <a:lstStyle/>
          <a:p>
            <a:r>
              <a:rPr lang="en-US" sz="1800" b="1" dirty="0">
                <a:solidFill>
                  <a:srgbClr val="C00000"/>
                </a:solidFill>
              </a:rPr>
              <a:t>Generative AI and its Applications </a:t>
            </a:r>
          </a:p>
        </p:txBody>
      </p:sp>
      <p:sp>
        <p:nvSpPr>
          <p:cNvPr id="2" name="TextBox 1">
            <a:extLst>
              <a:ext uri="{FF2B5EF4-FFF2-40B4-BE49-F238E27FC236}">
                <a16:creationId xmlns:a16="http://schemas.microsoft.com/office/drawing/2014/main" id="{B7A415C6-6845-E94C-88DF-A1403312B3C6}"/>
              </a:ext>
            </a:extLst>
          </p:cNvPr>
          <p:cNvSpPr txBox="1"/>
          <p:nvPr/>
        </p:nvSpPr>
        <p:spPr>
          <a:xfrm>
            <a:off x="316484" y="535455"/>
            <a:ext cx="6514797" cy="369332"/>
          </a:xfrm>
          <a:prstGeom prst="rect">
            <a:avLst/>
          </a:prstGeom>
          <a:noFill/>
        </p:spPr>
        <p:txBody>
          <a:bodyPr wrap="square" rtlCol="0">
            <a:spAutoFit/>
          </a:bodyPr>
          <a:lstStyle/>
          <a:p>
            <a:r>
              <a:rPr lang="en-US" sz="1800" b="1" dirty="0">
                <a:solidFill>
                  <a:srgbClr val="0070C0"/>
                </a:solidFill>
                <a:latin typeface="Calibri" panose="020F0502020204030204" pitchFamily="34" charset="0"/>
                <a:cs typeface="Calibri" panose="020F0502020204030204" pitchFamily="34" charset="0"/>
              </a:rPr>
              <a:t>BERT – EXAMPLE 4</a:t>
            </a:r>
          </a:p>
        </p:txBody>
      </p:sp>
      <p:pic>
        <p:nvPicPr>
          <p:cNvPr id="6" name="Picture 5">
            <a:extLst>
              <a:ext uri="{FF2B5EF4-FFF2-40B4-BE49-F238E27FC236}">
                <a16:creationId xmlns:a16="http://schemas.microsoft.com/office/drawing/2014/main" id="{DAA34CC3-E6DE-B846-BDD1-52C89310127B}"/>
              </a:ext>
            </a:extLst>
          </p:cNvPr>
          <p:cNvPicPr>
            <a:picLocks noChangeAspect="1"/>
          </p:cNvPicPr>
          <p:nvPr/>
        </p:nvPicPr>
        <p:blipFill>
          <a:blip r:embed="rId3"/>
          <a:stretch>
            <a:fillRect/>
          </a:stretch>
        </p:blipFill>
        <p:spPr>
          <a:xfrm>
            <a:off x="-3534" y="987343"/>
            <a:ext cx="7108742" cy="3966977"/>
          </a:xfrm>
          <a:prstGeom prst="rect">
            <a:avLst/>
          </a:prstGeom>
        </p:spPr>
      </p:pic>
      <p:sp>
        <p:nvSpPr>
          <p:cNvPr id="9" name="Rectangle 8">
            <a:extLst>
              <a:ext uri="{FF2B5EF4-FFF2-40B4-BE49-F238E27FC236}">
                <a16:creationId xmlns:a16="http://schemas.microsoft.com/office/drawing/2014/main" id="{D124B543-6C20-6746-84A4-C3F3AFA31B9E}"/>
              </a:ext>
            </a:extLst>
          </p:cNvPr>
          <p:cNvSpPr/>
          <p:nvPr/>
        </p:nvSpPr>
        <p:spPr>
          <a:xfrm>
            <a:off x="7391842" y="2285678"/>
            <a:ext cx="1457325" cy="1708160"/>
          </a:xfrm>
          <a:prstGeom prst="rect">
            <a:avLst/>
          </a:prstGeom>
        </p:spPr>
        <p:txBody>
          <a:bodyPr wrap="square">
            <a:spAutoFit/>
          </a:bodyPr>
          <a:lstStyle/>
          <a:p>
            <a:pPr algn="just"/>
            <a:r>
              <a:rPr lang="en-IN" sz="1050" dirty="0"/>
              <a:t>BERT almost have the same model architecture across different tasks with small changes between the pre-trained architecture and the final downstream architecture</a:t>
            </a:r>
            <a:endParaRPr lang="en-US" sz="1050" dirty="0"/>
          </a:p>
        </p:txBody>
      </p:sp>
      <p:sp>
        <p:nvSpPr>
          <p:cNvPr id="3" name="object 6">
            <a:extLst>
              <a:ext uri="{FF2B5EF4-FFF2-40B4-BE49-F238E27FC236}">
                <a16:creationId xmlns:a16="http://schemas.microsoft.com/office/drawing/2014/main" id="{534CD721-4278-AE6A-2742-41D513368656}"/>
              </a:ext>
            </a:extLst>
          </p:cNvPr>
          <p:cNvSpPr/>
          <p:nvPr/>
        </p:nvSpPr>
        <p:spPr>
          <a:xfrm>
            <a:off x="8304129" y="53623"/>
            <a:ext cx="739525" cy="1172718"/>
          </a:xfrm>
          <a:prstGeom prst="rect">
            <a:avLst/>
          </a:prstGeom>
          <a:blipFill>
            <a:blip r:embed="rId4" cstate="print"/>
            <a:stretch>
              <a:fillRect/>
            </a:stretch>
          </a:blipFill>
        </p:spPr>
        <p:txBody>
          <a:bodyPr wrap="square" lIns="0" tIns="0" rIns="0" bIns="0" rtlCol="0"/>
          <a:lstStyle/>
          <a:p>
            <a:endParaRPr sz="945"/>
          </a:p>
        </p:txBody>
      </p:sp>
    </p:spTree>
    <p:extLst>
      <p:ext uri="{BB962C8B-B14F-4D97-AF65-F5344CB8AC3E}">
        <p14:creationId xmlns:p14="http://schemas.microsoft.com/office/powerpoint/2010/main" val="33579803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5" name="Google Shape;135;p5"/>
          <p:cNvCxnSpPr/>
          <p:nvPr/>
        </p:nvCxnSpPr>
        <p:spPr>
          <a:xfrm>
            <a:off x="-6231" y="987344"/>
            <a:ext cx="6225039" cy="0"/>
          </a:xfrm>
          <a:prstGeom prst="straightConnector1">
            <a:avLst/>
          </a:prstGeom>
          <a:noFill/>
          <a:ln w="38100" cap="flat" cmpd="sng">
            <a:solidFill>
              <a:srgbClr val="C55A11"/>
            </a:solidFill>
            <a:prstDash val="solid"/>
            <a:miter lim="800000"/>
            <a:headEnd type="none" w="sm" len="sm"/>
            <a:tailEnd type="none" w="sm" len="sm"/>
          </a:ln>
        </p:spPr>
      </p:cxnSp>
      <p:sp>
        <p:nvSpPr>
          <p:cNvPr id="137" name="Google Shape;137;p5"/>
          <p:cNvSpPr/>
          <p:nvPr/>
        </p:nvSpPr>
        <p:spPr>
          <a:xfrm>
            <a:off x="294833" y="189181"/>
            <a:ext cx="5622911" cy="346218"/>
          </a:xfrm>
          <a:prstGeom prst="rect">
            <a:avLst/>
          </a:prstGeom>
          <a:noFill/>
          <a:ln>
            <a:noFill/>
          </a:ln>
        </p:spPr>
        <p:txBody>
          <a:bodyPr spcFirstLastPara="1" wrap="square" lIns="68569" tIns="34275" rIns="68569" bIns="34275" anchor="t" anchorCtr="0">
            <a:spAutoFit/>
          </a:bodyPr>
          <a:lstStyle/>
          <a:p>
            <a:r>
              <a:rPr lang="en-US" sz="1800" b="1" dirty="0">
                <a:solidFill>
                  <a:srgbClr val="C00000"/>
                </a:solidFill>
              </a:rPr>
              <a:t>Generative AI and its Applications </a:t>
            </a:r>
          </a:p>
        </p:txBody>
      </p:sp>
      <p:sp>
        <p:nvSpPr>
          <p:cNvPr id="138" name="Google Shape;138;p5"/>
          <p:cNvSpPr txBox="1"/>
          <p:nvPr/>
        </p:nvSpPr>
        <p:spPr>
          <a:xfrm>
            <a:off x="294834" y="496768"/>
            <a:ext cx="6563167" cy="346218"/>
          </a:xfrm>
          <a:prstGeom prst="rect">
            <a:avLst/>
          </a:prstGeom>
          <a:noFill/>
          <a:ln>
            <a:noFill/>
          </a:ln>
        </p:spPr>
        <p:txBody>
          <a:bodyPr spcFirstLastPara="1" wrap="square" lIns="68569" tIns="34275" rIns="68569" bIns="34275" anchor="t" anchorCtr="0">
            <a:spAutoFit/>
          </a:bodyPr>
          <a:lstStyle/>
          <a:p>
            <a:r>
              <a:rPr lang="en-US" sz="1800" b="1" dirty="0">
                <a:solidFill>
                  <a:srgbClr val="0070C0"/>
                </a:solidFill>
                <a:latin typeface="Calibri"/>
                <a:ea typeface="Calibri"/>
                <a:cs typeface="Calibri"/>
                <a:sym typeface="Calibri"/>
              </a:rPr>
              <a:t>BERT</a:t>
            </a:r>
            <a:endParaRPr sz="1800" b="1" dirty="0">
              <a:solidFill>
                <a:srgbClr val="0070C0"/>
              </a:solidFill>
              <a:latin typeface="Calibri"/>
              <a:ea typeface="Calibri"/>
              <a:cs typeface="Calibri"/>
              <a:sym typeface="Calibri"/>
            </a:endParaRPr>
          </a:p>
        </p:txBody>
      </p:sp>
      <p:sp>
        <p:nvSpPr>
          <p:cNvPr id="139" name="Google Shape;139;p5"/>
          <p:cNvSpPr txBox="1"/>
          <p:nvPr/>
        </p:nvSpPr>
        <p:spPr>
          <a:xfrm>
            <a:off x="463879" y="1294932"/>
            <a:ext cx="6225075" cy="1964105"/>
          </a:xfrm>
          <a:prstGeom prst="rect">
            <a:avLst/>
          </a:prstGeom>
          <a:noFill/>
          <a:ln>
            <a:noFill/>
          </a:ln>
        </p:spPr>
        <p:txBody>
          <a:bodyPr spcFirstLastPara="1" wrap="square" lIns="68569" tIns="68569" rIns="68569" bIns="68569" anchor="t" anchorCtr="0">
            <a:spAutoFit/>
          </a:bodyPr>
          <a:lstStyle/>
          <a:p>
            <a:pPr>
              <a:lnSpc>
                <a:spcPct val="115000"/>
              </a:lnSpc>
              <a:spcBef>
                <a:spcPts val="1425"/>
              </a:spcBef>
            </a:pPr>
            <a:r>
              <a:rPr lang="en-US" sz="1800" dirty="0">
                <a:solidFill>
                  <a:srgbClr val="1A1A1A"/>
                </a:solidFill>
                <a:highlight>
                  <a:srgbClr val="FFFFFF"/>
                </a:highlight>
                <a:latin typeface="Calibri" panose="020F0502020204030204" pitchFamily="34" charset="0"/>
                <a:cs typeface="Calibri" panose="020F0502020204030204" pitchFamily="34" charset="0"/>
              </a:rPr>
              <a:t>Lots of the major AI companies are also building BERT versions:</a:t>
            </a:r>
            <a:endParaRPr sz="1800" dirty="0">
              <a:solidFill>
                <a:srgbClr val="1A1A1A"/>
              </a:solidFill>
              <a:highlight>
                <a:srgbClr val="FFFFFF"/>
              </a:highlight>
              <a:latin typeface="Calibri" panose="020F0502020204030204" pitchFamily="34" charset="0"/>
              <a:cs typeface="Calibri" panose="020F0502020204030204" pitchFamily="34" charset="0"/>
            </a:endParaRPr>
          </a:p>
          <a:p>
            <a:pPr marL="342900" indent="-257175" algn="just">
              <a:lnSpc>
                <a:spcPct val="115000"/>
              </a:lnSpc>
              <a:spcBef>
                <a:spcPts val="2850"/>
              </a:spcBef>
              <a:buClr>
                <a:srgbClr val="1A1A1A"/>
              </a:buClr>
              <a:buSzPts val="1800"/>
              <a:buChar char="●"/>
            </a:pPr>
            <a:r>
              <a:rPr lang="en-US" sz="1800" dirty="0">
                <a:solidFill>
                  <a:srgbClr val="1A1A1A"/>
                </a:solidFill>
                <a:highlight>
                  <a:srgbClr val="FFFFFF"/>
                </a:highlight>
                <a:latin typeface="Calibri" panose="020F0502020204030204" pitchFamily="34" charset="0"/>
                <a:cs typeface="Calibri" panose="020F0502020204030204" pitchFamily="34" charset="0"/>
              </a:rPr>
              <a:t>Microsoft extends on BERT with </a:t>
            </a:r>
            <a:r>
              <a:rPr lang="en-US" sz="1800" dirty="0">
                <a:solidFill>
                  <a:schemeClr val="hlink"/>
                </a:solidFill>
                <a:highlight>
                  <a:srgbClr val="FFFFFF"/>
                </a:highlight>
                <a:uFill>
                  <a:noFill/>
                </a:uFill>
                <a:latin typeface="Calibri" panose="020F0502020204030204" pitchFamily="34" charset="0"/>
                <a:cs typeface="Calibri" panose="020F0502020204030204" pitchFamily="34" charset="0"/>
                <a:hlinkClick r:id="rId3"/>
              </a:rPr>
              <a:t>MT-DNN</a:t>
            </a:r>
            <a:r>
              <a:rPr lang="en-US" sz="1800" dirty="0">
                <a:solidFill>
                  <a:srgbClr val="1A1A1A"/>
                </a:solidFill>
                <a:highlight>
                  <a:srgbClr val="FFFFFF"/>
                </a:highlight>
                <a:latin typeface="Calibri" panose="020F0502020204030204" pitchFamily="34" charset="0"/>
                <a:cs typeface="Calibri" panose="020F0502020204030204" pitchFamily="34" charset="0"/>
              </a:rPr>
              <a:t> (Multi-Task Deep Neural Network).</a:t>
            </a:r>
            <a:endParaRPr sz="1800" dirty="0">
              <a:solidFill>
                <a:srgbClr val="1A1A1A"/>
              </a:solidFill>
              <a:highlight>
                <a:srgbClr val="FFFFFF"/>
              </a:highlight>
              <a:latin typeface="Calibri" panose="020F0502020204030204" pitchFamily="34" charset="0"/>
              <a:cs typeface="Calibri" panose="020F0502020204030204" pitchFamily="34" charset="0"/>
            </a:endParaRPr>
          </a:p>
          <a:p>
            <a:pPr marL="342900" indent="-257175">
              <a:lnSpc>
                <a:spcPct val="115000"/>
              </a:lnSpc>
              <a:buClr>
                <a:srgbClr val="1A1A1A"/>
              </a:buClr>
              <a:buSzPts val="1800"/>
              <a:buChar char="●"/>
            </a:pPr>
            <a:r>
              <a:rPr lang="en-US" sz="1800" dirty="0">
                <a:solidFill>
                  <a:schemeClr val="hlink"/>
                </a:solidFill>
                <a:highlight>
                  <a:srgbClr val="FFFFFF"/>
                </a:highlight>
                <a:uFill>
                  <a:noFill/>
                </a:uFill>
                <a:latin typeface="Calibri" panose="020F0502020204030204" pitchFamily="34" charset="0"/>
                <a:cs typeface="Calibri" panose="020F0502020204030204" pitchFamily="34" charset="0"/>
                <a:hlinkClick r:id="rId4"/>
              </a:rPr>
              <a:t>RoBERTa</a:t>
            </a:r>
            <a:r>
              <a:rPr lang="en-US" sz="1800" dirty="0">
                <a:solidFill>
                  <a:srgbClr val="1A1A1A"/>
                </a:solidFill>
                <a:highlight>
                  <a:srgbClr val="FFFFFF"/>
                </a:highlight>
                <a:latin typeface="Calibri" panose="020F0502020204030204" pitchFamily="34" charset="0"/>
                <a:cs typeface="Calibri" panose="020F0502020204030204" pitchFamily="34" charset="0"/>
              </a:rPr>
              <a:t> from Facebook.</a:t>
            </a:r>
            <a:endParaRPr sz="1800" dirty="0">
              <a:solidFill>
                <a:srgbClr val="1A1A1A"/>
              </a:solidFill>
              <a:highlight>
                <a:srgbClr val="FFFFFF"/>
              </a:highlight>
              <a:latin typeface="Calibri" panose="020F0502020204030204" pitchFamily="34" charset="0"/>
              <a:cs typeface="Calibri" panose="020F0502020204030204" pitchFamily="34" charset="0"/>
            </a:endParaRPr>
          </a:p>
        </p:txBody>
      </p:sp>
      <p:sp>
        <p:nvSpPr>
          <p:cNvPr id="2" name="object 6">
            <a:extLst>
              <a:ext uri="{FF2B5EF4-FFF2-40B4-BE49-F238E27FC236}">
                <a16:creationId xmlns:a16="http://schemas.microsoft.com/office/drawing/2014/main" id="{EF222D13-E265-43C2-A8F7-356ED680774A}"/>
              </a:ext>
            </a:extLst>
          </p:cNvPr>
          <p:cNvSpPr/>
          <p:nvPr/>
        </p:nvSpPr>
        <p:spPr>
          <a:xfrm>
            <a:off x="8304129" y="53623"/>
            <a:ext cx="739525" cy="1172718"/>
          </a:xfrm>
          <a:prstGeom prst="rect">
            <a:avLst/>
          </a:prstGeom>
          <a:blipFill>
            <a:blip r:embed="rId5" cstate="print"/>
            <a:stretch>
              <a:fillRect/>
            </a:stretch>
          </a:blipFill>
        </p:spPr>
        <p:txBody>
          <a:bodyPr wrap="square" lIns="0" tIns="0" rIns="0" bIns="0" rtlCol="0"/>
          <a:lstStyle/>
          <a:p>
            <a:endParaRPr sz="945"/>
          </a:p>
        </p:txBody>
      </p:sp>
    </p:spTree>
    <p:extLst>
      <p:ext uri="{BB962C8B-B14F-4D97-AF65-F5344CB8AC3E}">
        <p14:creationId xmlns:p14="http://schemas.microsoft.com/office/powerpoint/2010/main" val="29221111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60"/>
        <p:cNvGrpSpPr/>
        <p:nvPr/>
      </p:nvGrpSpPr>
      <p:grpSpPr>
        <a:xfrm>
          <a:off x="0" y="0"/>
          <a:ext cx="0" cy="0"/>
          <a:chOff x="0" y="0"/>
          <a:chExt cx="0" cy="0"/>
        </a:xfrm>
      </p:grpSpPr>
      <p:sp>
        <p:nvSpPr>
          <p:cNvPr id="961" name="Google Shape;961;p100"/>
          <p:cNvSpPr/>
          <p:nvPr/>
        </p:nvSpPr>
        <p:spPr>
          <a:xfrm>
            <a:off x="520425" y="1415450"/>
            <a:ext cx="5844000" cy="54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r>
              <a:rPr lang="en-GB" sz="2800" b="1">
                <a:latin typeface="Calibri"/>
                <a:ea typeface="Calibri"/>
                <a:cs typeface="Calibri"/>
                <a:sym typeface="Calibri"/>
              </a:rPr>
              <a:t>Generative AI and its Applications</a:t>
            </a:r>
            <a:endParaRPr sz="600" b="0" i="0" u="none" strike="noStrike" cap="none">
              <a:solidFill>
                <a:srgbClr val="000000"/>
              </a:solidFill>
              <a:latin typeface="Arial"/>
              <a:ea typeface="Arial"/>
              <a:cs typeface="Arial"/>
              <a:sym typeface="Arial"/>
            </a:endParaRPr>
          </a:p>
        </p:txBody>
      </p:sp>
      <p:sp>
        <p:nvSpPr>
          <p:cNvPr id="962" name="Google Shape;962;p100"/>
          <p:cNvSpPr/>
          <p:nvPr/>
        </p:nvSpPr>
        <p:spPr>
          <a:xfrm>
            <a:off x="520425" y="1761875"/>
            <a:ext cx="1959000" cy="626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600"/>
              <a:buFont typeface="Arial"/>
              <a:buNone/>
            </a:pPr>
            <a:r>
              <a:rPr lang="en-GB" sz="2000" b="1" i="0" u="none" strike="noStrike" cap="none">
                <a:solidFill>
                  <a:srgbClr val="2F5496"/>
                </a:solidFill>
                <a:latin typeface="Calibri"/>
                <a:ea typeface="Calibri"/>
                <a:cs typeface="Calibri"/>
                <a:sym typeface="Calibri"/>
              </a:rPr>
              <a:t>(</a:t>
            </a:r>
            <a:r>
              <a:rPr lang="en-GB" sz="2000" b="1">
                <a:solidFill>
                  <a:srgbClr val="2F5496"/>
                </a:solidFill>
                <a:latin typeface="Calibri"/>
                <a:ea typeface="Calibri"/>
                <a:cs typeface="Calibri"/>
                <a:sym typeface="Calibri"/>
              </a:rPr>
              <a:t>UE22CS342BA9</a:t>
            </a:r>
            <a:r>
              <a:rPr lang="en-GB" sz="2000" b="1" i="0" u="none" strike="noStrike" cap="none">
                <a:solidFill>
                  <a:srgbClr val="2F5496"/>
                </a:solidFill>
                <a:latin typeface="Calibri"/>
                <a:ea typeface="Calibri"/>
                <a:cs typeface="Calibri"/>
                <a:sym typeface="Calibri"/>
              </a:rPr>
              <a:t>)</a:t>
            </a:r>
            <a:endParaRPr sz="2000" b="1" i="0" u="none" strike="noStrike" cap="none">
              <a:solidFill>
                <a:srgbClr val="2F5496"/>
              </a:solidFill>
              <a:latin typeface="Calibri"/>
              <a:ea typeface="Calibri"/>
              <a:cs typeface="Calibri"/>
              <a:sym typeface="Calibri"/>
            </a:endParaRPr>
          </a:p>
        </p:txBody>
      </p:sp>
      <p:sp>
        <p:nvSpPr>
          <p:cNvPr id="963" name="Google Shape;963;p100"/>
          <p:cNvSpPr/>
          <p:nvPr/>
        </p:nvSpPr>
        <p:spPr>
          <a:xfrm>
            <a:off x="520425" y="4213096"/>
            <a:ext cx="5844000" cy="423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GB" sz="1800" b="1" i="0" u="none" strike="noStrike" cap="none">
                <a:solidFill>
                  <a:srgbClr val="000000"/>
                </a:solidFill>
                <a:latin typeface="Calibri"/>
                <a:ea typeface="Calibri"/>
                <a:cs typeface="Calibri"/>
                <a:sym typeface="Calibri"/>
              </a:rPr>
              <a:t>Dr. </a:t>
            </a:r>
            <a:r>
              <a:rPr lang="en-GB" sz="1800" b="1">
                <a:latin typeface="Calibri"/>
                <a:ea typeface="Calibri"/>
                <a:cs typeface="Calibri"/>
                <a:sym typeface="Calibri"/>
              </a:rPr>
              <a:t>Pooja Agarwal</a:t>
            </a:r>
            <a:endParaRPr sz="1800" b="1" i="0" u="none" strike="noStrike" cap="none">
              <a:solidFill>
                <a:srgbClr val="000000"/>
              </a:solidFill>
              <a:latin typeface="Calibri"/>
              <a:ea typeface="Calibri"/>
              <a:cs typeface="Calibri"/>
              <a:sym typeface="Calibri"/>
            </a:endParaRPr>
          </a:p>
        </p:txBody>
      </p:sp>
      <p:sp>
        <p:nvSpPr>
          <p:cNvPr id="964" name="Google Shape;964;p100"/>
          <p:cNvSpPr/>
          <p:nvPr/>
        </p:nvSpPr>
        <p:spPr>
          <a:xfrm>
            <a:off x="520437" y="4479694"/>
            <a:ext cx="5844000" cy="268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GB" b="0" i="0" u="none" strike="noStrike" cap="none">
                <a:solidFill>
                  <a:srgbClr val="000000"/>
                </a:solidFill>
                <a:latin typeface="Calibri"/>
                <a:ea typeface="Calibri"/>
                <a:cs typeface="Calibri"/>
                <a:sym typeface="Calibri"/>
              </a:rPr>
              <a:t>Department of Computer Science and Engineering</a:t>
            </a:r>
            <a:endParaRPr b="0" i="0" u="none" strike="noStrike" cap="none">
              <a:solidFill>
                <a:srgbClr val="000000"/>
              </a:solidFill>
              <a:latin typeface="Calibri"/>
              <a:ea typeface="Calibri"/>
              <a:cs typeface="Calibri"/>
              <a:sym typeface="Calibri"/>
            </a:endParaRPr>
          </a:p>
        </p:txBody>
      </p:sp>
      <p:grpSp>
        <p:nvGrpSpPr>
          <p:cNvPr id="965" name="Google Shape;965;p100"/>
          <p:cNvGrpSpPr/>
          <p:nvPr/>
        </p:nvGrpSpPr>
        <p:grpSpPr>
          <a:xfrm>
            <a:off x="298326" y="4213338"/>
            <a:ext cx="831571" cy="722759"/>
            <a:chOff x="313939" y="5489794"/>
            <a:chExt cx="1066800" cy="1077941"/>
          </a:xfrm>
        </p:grpSpPr>
        <p:sp>
          <p:nvSpPr>
            <p:cNvPr id="966" name="Google Shape;966;p100"/>
            <p:cNvSpPr/>
            <p:nvPr/>
          </p:nvSpPr>
          <p:spPr>
            <a:xfrm rot="5400000">
              <a:off x="824539" y="6011535"/>
              <a:ext cx="45600" cy="1066800"/>
            </a:xfrm>
            <a:prstGeom prst="rect">
              <a:avLst/>
            </a:prstGeom>
            <a:solidFill>
              <a:srgbClr val="F4B08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a:solidFill>
                  <a:srgbClr val="FFFFFF"/>
                </a:solidFill>
                <a:latin typeface="Calibri"/>
                <a:ea typeface="Calibri"/>
                <a:cs typeface="Calibri"/>
                <a:sym typeface="Calibri"/>
              </a:endParaRPr>
            </a:p>
          </p:txBody>
        </p:sp>
        <p:sp>
          <p:nvSpPr>
            <p:cNvPr id="967" name="Google Shape;967;p100"/>
            <p:cNvSpPr/>
            <p:nvPr/>
          </p:nvSpPr>
          <p:spPr>
            <a:xfrm rot="10800000">
              <a:off x="313963" y="5489794"/>
              <a:ext cx="45600" cy="1066800"/>
            </a:xfrm>
            <a:prstGeom prst="rect">
              <a:avLst/>
            </a:prstGeom>
            <a:solidFill>
              <a:srgbClr val="F4B08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a:solidFill>
                  <a:srgbClr val="FFFFFF"/>
                </a:solidFill>
                <a:latin typeface="Calibri"/>
                <a:ea typeface="Calibri"/>
                <a:cs typeface="Calibri"/>
                <a:sym typeface="Calibri"/>
              </a:endParaRPr>
            </a:p>
          </p:txBody>
        </p:sp>
      </p:grpSp>
      <p:cxnSp>
        <p:nvCxnSpPr>
          <p:cNvPr id="968" name="Google Shape;968;p100"/>
          <p:cNvCxnSpPr/>
          <p:nvPr/>
        </p:nvCxnSpPr>
        <p:spPr>
          <a:xfrm rot="10800000" flipH="1">
            <a:off x="53611" y="1916375"/>
            <a:ext cx="6161100" cy="45900"/>
          </a:xfrm>
          <a:prstGeom prst="straightConnector1">
            <a:avLst/>
          </a:prstGeom>
          <a:noFill/>
          <a:ln w="38100" cap="flat" cmpd="sng">
            <a:solidFill>
              <a:srgbClr val="DFA267"/>
            </a:solidFill>
            <a:prstDash val="solid"/>
            <a:miter lim="800000"/>
            <a:headEnd type="none" w="sm" len="sm"/>
            <a:tailEnd type="none" w="sm" len="sm"/>
          </a:ln>
        </p:spPr>
      </p:cxnSp>
      <p:sp>
        <p:nvSpPr>
          <p:cNvPr id="970" name="Google Shape;970;p100"/>
          <p:cNvSpPr txBox="1"/>
          <p:nvPr/>
        </p:nvSpPr>
        <p:spPr>
          <a:xfrm>
            <a:off x="520425" y="2435300"/>
            <a:ext cx="69057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GB" sz="2400" b="1">
                <a:solidFill>
                  <a:srgbClr val="C55A11"/>
                </a:solidFill>
                <a:latin typeface="Calibri"/>
                <a:ea typeface="Calibri"/>
                <a:cs typeface="Calibri"/>
                <a:sym typeface="Calibri"/>
              </a:rPr>
              <a:t>GPT</a:t>
            </a:r>
            <a:endParaRPr/>
          </a:p>
        </p:txBody>
      </p:sp>
      <p:sp>
        <p:nvSpPr>
          <p:cNvPr id="2" name="object 6">
            <a:extLst>
              <a:ext uri="{FF2B5EF4-FFF2-40B4-BE49-F238E27FC236}">
                <a16:creationId xmlns:a16="http://schemas.microsoft.com/office/drawing/2014/main" id="{4FA87ECA-D62F-516E-1AE8-5023A9845329}"/>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spTree>
    <p:extLst>
      <p:ext uri="{BB962C8B-B14F-4D97-AF65-F5344CB8AC3E}">
        <p14:creationId xmlns:p14="http://schemas.microsoft.com/office/powerpoint/2010/main" val="4879215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Shape 116"/>
        <p:cNvGrpSpPr/>
        <p:nvPr/>
      </p:nvGrpSpPr>
      <p:grpSpPr>
        <a:xfrm>
          <a:off x="0" y="0"/>
          <a:ext cx="0" cy="0"/>
          <a:chOff x="0" y="0"/>
          <a:chExt cx="0" cy="0"/>
        </a:xfrm>
      </p:grpSpPr>
      <p:cxnSp>
        <p:nvCxnSpPr>
          <p:cNvPr id="117" name="Google Shape;117;p3"/>
          <p:cNvCxnSpPr/>
          <p:nvPr/>
        </p:nvCxnSpPr>
        <p:spPr>
          <a:xfrm>
            <a:off x="-6231" y="987344"/>
            <a:ext cx="6225039" cy="0"/>
          </a:xfrm>
          <a:prstGeom prst="straightConnector1">
            <a:avLst/>
          </a:prstGeom>
          <a:noFill/>
          <a:ln w="38100" cap="flat" cmpd="sng">
            <a:solidFill>
              <a:srgbClr val="C55A11"/>
            </a:solidFill>
            <a:prstDash val="solid"/>
            <a:miter lim="800000"/>
            <a:headEnd type="none" w="sm" len="sm"/>
            <a:tailEnd type="none" w="sm" len="sm"/>
          </a:ln>
        </p:spPr>
      </p:cxnSp>
      <p:pic>
        <p:nvPicPr>
          <p:cNvPr id="118" name="Google Shape;118;p3" descr="A close up of a logo&#10;&#10;Description automatically generated"/>
          <p:cNvPicPr preferRelativeResize="0"/>
          <p:nvPr/>
        </p:nvPicPr>
        <p:blipFill rotWithShape="1">
          <a:blip r:embed="rId3">
            <a:alphaModFix/>
          </a:blip>
          <a:srcRect/>
          <a:stretch/>
        </p:blipFill>
        <p:spPr>
          <a:xfrm>
            <a:off x="7994639" y="352418"/>
            <a:ext cx="700199" cy="1049222"/>
          </a:xfrm>
          <a:prstGeom prst="rect">
            <a:avLst/>
          </a:prstGeom>
          <a:noFill/>
          <a:ln>
            <a:noFill/>
          </a:ln>
        </p:spPr>
      </p:pic>
      <p:sp>
        <p:nvSpPr>
          <p:cNvPr id="119" name="Google Shape;119;p3"/>
          <p:cNvSpPr/>
          <p:nvPr/>
        </p:nvSpPr>
        <p:spPr>
          <a:xfrm>
            <a:off x="294833" y="189181"/>
            <a:ext cx="5622911" cy="346218"/>
          </a:xfrm>
          <a:prstGeom prst="rect">
            <a:avLst/>
          </a:prstGeom>
          <a:noFill/>
          <a:ln>
            <a:noFill/>
          </a:ln>
        </p:spPr>
        <p:txBody>
          <a:bodyPr spcFirstLastPara="1" wrap="square" lIns="68569" tIns="34275" rIns="68569" bIns="34275" anchor="t" anchorCtr="0">
            <a:spAutoFit/>
          </a:bodyPr>
          <a:lstStyle/>
          <a:p>
            <a:r>
              <a:rPr lang="en-US" sz="1800" b="1">
                <a:solidFill>
                  <a:srgbClr val="C55A11"/>
                </a:solidFill>
                <a:latin typeface="Calibri"/>
                <a:ea typeface="Calibri"/>
                <a:cs typeface="Calibri"/>
                <a:sym typeface="Calibri"/>
              </a:rPr>
              <a:t>NATURAL LANGUAGE PROCESSING</a:t>
            </a:r>
            <a:endParaRPr sz="1050"/>
          </a:p>
        </p:txBody>
      </p:sp>
      <p:pic>
        <p:nvPicPr>
          <p:cNvPr id="3" name="Picture 2">
            <a:extLst>
              <a:ext uri="{FF2B5EF4-FFF2-40B4-BE49-F238E27FC236}">
                <a16:creationId xmlns:a16="http://schemas.microsoft.com/office/drawing/2014/main" id="{29A8D073-4BF6-9146-BB51-A15E13E8B739}"/>
              </a:ext>
            </a:extLst>
          </p:cNvPr>
          <p:cNvPicPr>
            <a:picLocks noChangeAspect="1"/>
          </p:cNvPicPr>
          <p:nvPr/>
        </p:nvPicPr>
        <p:blipFill>
          <a:blip r:embed="rId4"/>
          <a:stretch>
            <a:fillRect/>
          </a:stretch>
        </p:blipFill>
        <p:spPr>
          <a:xfrm>
            <a:off x="449162" y="1162050"/>
            <a:ext cx="7115175" cy="3981450"/>
          </a:xfrm>
          <a:prstGeom prst="rect">
            <a:avLst/>
          </a:prstGeom>
        </p:spPr>
      </p:pic>
      <p:sp>
        <p:nvSpPr>
          <p:cNvPr id="7" name="Google Shape;120;p3">
            <a:extLst>
              <a:ext uri="{FF2B5EF4-FFF2-40B4-BE49-F238E27FC236}">
                <a16:creationId xmlns:a16="http://schemas.microsoft.com/office/drawing/2014/main" id="{82082C5E-BA9E-6C4D-AA9B-429FD49CDE62}"/>
              </a:ext>
            </a:extLst>
          </p:cNvPr>
          <p:cNvSpPr txBox="1"/>
          <p:nvPr/>
        </p:nvSpPr>
        <p:spPr>
          <a:xfrm>
            <a:off x="294834" y="619471"/>
            <a:ext cx="6563167" cy="346218"/>
          </a:xfrm>
          <a:prstGeom prst="rect">
            <a:avLst/>
          </a:prstGeom>
          <a:noFill/>
          <a:ln>
            <a:noFill/>
          </a:ln>
        </p:spPr>
        <p:txBody>
          <a:bodyPr spcFirstLastPara="1" wrap="square" lIns="68569" tIns="34275" rIns="68569" bIns="34275" anchor="t" anchorCtr="0">
            <a:spAutoFit/>
          </a:bodyPr>
          <a:lstStyle/>
          <a:p>
            <a:pPr lvl="0"/>
            <a:r>
              <a:rPr lang="en-US" sz="1800" b="1" dirty="0">
                <a:solidFill>
                  <a:srgbClr val="0070C0"/>
                </a:solidFill>
                <a:latin typeface="Calibri"/>
                <a:ea typeface="Calibri"/>
                <a:cs typeface="Calibri"/>
                <a:sym typeface="Calibri"/>
              </a:rPr>
              <a:t>GPT(</a:t>
            </a:r>
            <a:r>
              <a:rPr lang="en-IN" sz="1800" b="1" dirty="0">
                <a:solidFill>
                  <a:srgbClr val="0070C0"/>
                </a:solidFill>
                <a:latin typeface="Calibri" panose="020F0502020204030204" pitchFamily="34" charset="0"/>
                <a:cs typeface="Calibri" panose="020F0502020204030204" pitchFamily="34" charset="0"/>
              </a:rPr>
              <a:t>Generative Pre-training Transformer)</a:t>
            </a:r>
            <a:endParaRPr sz="1800" b="1" dirty="0">
              <a:solidFill>
                <a:srgbClr val="0070C0"/>
              </a:solidFill>
              <a:latin typeface="Calibri"/>
              <a:ea typeface="Calibri"/>
              <a:cs typeface="Calibri"/>
              <a:sym typeface="Calibri"/>
            </a:endParaRPr>
          </a:p>
        </p:txBody>
      </p:sp>
    </p:spTree>
    <p:extLst>
      <p:ext uri="{BB962C8B-B14F-4D97-AF65-F5344CB8AC3E}">
        <p14:creationId xmlns:p14="http://schemas.microsoft.com/office/powerpoint/2010/main" val="31694116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Shape 116"/>
        <p:cNvGrpSpPr/>
        <p:nvPr/>
      </p:nvGrpSpPr>
      <p:grpSpPr>
        <a:xfrm>
          <a:off x="0" y="0"/>
          <a:ext cx="0" cy="0"/>
          <a:chOff x="0" y="0"/>
          <a:chExt cx="0" cy="0"/>
        </a:xfrm>
      </p:grpSpPr>
      <p:cxnSp>
        <p:nvCxnSpPr>
          <p:cNvPr id="117" name="Google Shape;117;p3"/>
          <p:cNvCxnSpPr/>
          <p:nvPr/>
        </p:nvCxnSpPr>
        <p:spPr>
          <a:xfrm>
            <a:off x="-6231" y="987344"/>
            <a:ext cx="6225039" cy="0"/>
          </a:xfrm>
          <a:prstGeom prst="straightConnector1">
            <a:avLst/>
          </a:prstGeom>
          <a:noFill/>
          <a:ln w="38100" cap="flat" cmpd="sng">
            <a:solidFill>
              <a:srgbClr val="C55A11"/>
            </a:solidFill>
            <a:prstDash val="solid"/>
            <a:miter lim="800000"/>
            <a:headEnd type="none" w="sm" len="sm"/>
            <a:tailEnd type="none" w="sm" len="sm"/>
          </a:ln>
        </p:spPr>
      </p:cxnSp>
      <p:pic>
        <p:nvPicPr>
          <p:cNvPr id="118" name="Google Shape;118;p3" descr="A close up of a logo&#10;&#10;Description automatically generated"/>
          <p:cNvPicPr preferRelativeResize="0"/>
          <p:nvPr/>
        </p:nvPicPr>
        <p:blipFill rotWithShape="1">
          <a:blip r:embed="rId3">
            <a:alphaModFix/>
          </a:blip>
          <a:srcRect/>
          <a:stretch/>
        </p:blipFill>
        <p:spPr>
          <a:xfrm>
            <a:off x="7994639" y="352418"/>
            <a:ext cx="700199" cy="1049222"/>
          </a:xfrm>
          <a:prstGeom prst="rect">
            <a:avLst/>
          </a:prstGeom>
          <a:noFill/>
          <a:ln>
            <a:noFill/>
          </a:ln>
        </p:spPr>
      </p:pic>
      <p:sp>
        <p:nvSpPr>
          <p:cNvPr id="119" name="Google Shape;119;p3"/>
          <p:cNvSpPr/>
          <p:nvPr/>
        </p:nvSpPr>
        <p:spPr>
          <a:xfrm>
            <a:off x="294833" y="189181"/>
            <a:ext cx="5622911" cy="346218"/>
          </a:xfrm>
          <a:prstGeom prst="rect">
            <a:avLst/>
          </a:prstGeom>
          <a:noFill/>
          <a:ln>
            <a:noFill/>
          </a:ln>
        </p:spPr>
        <p:txBody>
          <a:bodyPr spcFirstLastPara="1" wrap="square" lIns="68569" tIns="34275" rIns="68569" bIns="34275" anchor="t" anchorCtr="0">
            <a:spAutoFit/>
          </a:bodyPr>
          <a:lstStyle/>
          <a:p>
            <a:r>
              <a:rPr lang="en-US" sz="1800" b="1">
                <a:solidFill>
                  <a:srgbClr val="C55A11"/>
                </a:solidFill>
                <a:latin typeface="Calibri"/>
                <a:ea typeface="Calibri"/>
                <a:cs typeface="Calibri"/>
                <a:sym typeface="Calibri"/>
              </a:rPr>
              <a:t>NATURAL LANGUAGE PROCESSING</a:t>
            </a:r>
            <a:endParaRPr sz="1050"/>
          </a:p>
        </p:txBody>
      </p:sp>
      <p:sp>
        <p:nvSpPr>
          <p:cNvPr id="120" name="Google Shape;120;p3"/>
          <p:cNvSpPr txBox="1"/>
          <p:nvPr/>
        </p:nvSpPr>
        <p:spPr>
          <a:xfrm>
            <a:off x="294834" y="496768"/>
            <a:ext cx="6563167" cy="346218"/>
          </a:xfrm>
          <a:prstGeom prst="rect">
            <a:avLst/>
          </a:prstGeom>
          <a:noFill/>
          <a:ln>
            <a:noFill/>
          </a:ln>
        </p:spPr>
        <p:txBody>
          <a:bodyPr spcFirstLastPara="1" wrap="square" lIns="68569" tIns="34275" rIns="68569" bIns="34275" anchor="t" anchorCtr="0">
            <a:spAutoFit/>
          </a:bodyPr>
          <a:lstStyle/>
          <a:p>
            <a:pPr lvl="0"/>
            <a:r>
              <a:rPr lang="en-US" sz="1800" b="1" dirty="0">
                <a:solidFill>
                  <a:srgbClr val="0070C0"/>
                </a:solidFill>
                <a:latin typeface="Calibri"/>
                <a:ea typeface="Calibri"/>
                <a:cs typeface="Calibri"/>
                <a:sym typeface="Calibri"/>
              </a:rPr>
              <a:t>GPT(</a:t>
            </a:r>
            <a:r>
              <a:rPr lang="en-IN" sz="1800" b="1" dirty="0">
                <a:solidFill>
                  <a:srgbClr val="0070C0"/>
                </a:solidFill>
                <a:latin typeface="Calibri" panose="020F0502020204030204" pitchFamily="34" charset="0"/>
                <a:cs typeface="Calibri" panose="020F0502020204030204" pitchFamily="34" charset="0"/>
              </a:rPr>
              <a:t>Generative Pre-training Transformer)</a:t>
            </a:r>
            <a:endParaRPr sz="1800" b="1" dirty="0">
              <a:solidFill>
                <a:srgbClr val="0070C0"/>
              </a:solidFill>
              <a:latin typeface="Calibri"/>
              <a:ea typeface="Calibri"/>
              <a:cs typeface="Calibri"/>
              <a:sym typeface="Calibri"/>
            </a:endParaRPr>
          </a:p>
        </p:txBody>
      </p:sp>
      <p:sp>
        <p:nvSpPr>
          <p:cNvPr id="2" name="Rectangle 1">
            <a:extLst>
              <a:ext uri="{FF2B5EF4-FFF2-40B4-BE49-F238E27FC236}">
                <a16:creationId xmlns:a16="http://schemas.microsoft.com/office/drawing/2014/main" id="{B1F72FBE-ECEE-F44D-B5E0-F6B765D763B8}"/>
              </a:ext>
            </a:extLst>
          </p:cNvPr>
          <p:cNvSpPr/>
          <p:nvPr/>
        </p:nvSpPr>
        <p:spPr>
          <a:xfrm>
            <a:off x="449163" y="1150604"/>
            <a:ext cx="6408838" cy="3093154"/>
          </a:xfrm>
          <a:prstGeom prst="rect">
            <a:avLst/>
          </a:prstGeom>
        </p:spPr>
        <p:txBody>
          <a:bodyPr wrap="square">
            <a:spAutoFit/>
          </a:bodyPr>
          <a:lstStyle/>
          <a:p>
            <a:r>
              <a:rPr lang="en-IN" sz="1500" dirty="0">
                <a:solidFill>
                  <a:srgbClr val="111111"/>
                </a:solidFill>
                <a:latin typeface="Calibri" panose="020F0502020204030204" pitchFamily="34" charset="0"/>
                <a:cs typeface="Calibri" panose="020F0502020204030204" pitchFamily="34" charset="0"/>
              </a:rPr>
              <a:t>Following the similar idea of </a:t>
            </a:r>
            <a:r>
              <a:rPr lang="en-IN" sz="1500" dirty="0" err="1">
                <a:solidFill>
                  <a:srgbClr val="111111"/>
                </a:solidFill>
                <a:latin typeface="Calibri" panose="020F0502020204030204" pitchFamily="34" charset="0"/>
                <a:cs typeface="Calibri" panose="020F0502020204030204" pitchFamily="34" charset="0"/>
              </a:rPr>
              <a:t>ELMo</a:t>
            </a:r>
            <a:r>
              <a:rPr lang="en-IN" sz="1500" dirty="0">
                <a:solidFill>
                  <a:srgbClr val="111111"/>
                </a:solidFill>
                <a:latin typeface="Calibri" panose="020F0502020204030204" pitchFamily="34" charset="0"/>
                <a:cs typeface="Calibri" panose="020F0502020204030204" pitchFamily="34" charset="0"/>
              </a:rPr>
              <a:t>, </a:t>
            </a:r>
            <a:r>
              <a:rPr lang="en-IN" sz="1500" dirty="0" err="1">
                <a:solidFill>
                  <a:srgbClr val="111111"/>
                </a:solidFill>
                <a:latin typeface="Calibri" panose="020F0502020204030204" pitchFamily="34" charset="0"/>
                <a:cs typeface="Calibri" panose="020F0502020204030204" pitchFamily="34" charset="0"/>
              </a:rPr>
              <a:t>OpenAI</a:t>
            </a:r>
            <a:r>
              <a:rPr lang="en-IN" sz="1500" dirty="0">
                <a:solidFill>
                  <a:srgbClr val="111111"/>
                </a:solidFill>
                <a:latin typeface="Calibri" panose="020F0502020204030204" pitchFamily="34" charset="0"/>
                <a:cs typeface="Calibri" panose="020F0502020204030204" pitchFamily="34" charset="0"/>
              </a:rPr>
              <a:t> </a:t>
            </a:r>
            <a:r>
              <a:rPr lang="en-IN" sz="1500" b="1" dirty="0">
                <a:solidFill>
                  <a:srgbClr val="111111"/>
                </a:solidFill>
                <a:latin typeface="Calibri" panose="020F0502020204030204" pitchFamily="34" charset="0"/>
                <a:cs typeface="Calibri" panose="020F0502020204030204" pitchFamily="34" charset="0"/>
              </a:rPr>
              <a:t>GPT</a:t>
            </a:r>
            <a:r>
              <a:rPr lang="en-IN" sz="1500" dirty="0">
                <a:solidFill>
                  <a:srgbClr val="111111"/>
                </a:solidFill>
                <a:latin typeface="Calibri" panose="020F0502020204030204" pitchFamily="34" charset="0"/>
                <a:cs typeface="Calibri" panose="020F0502020204030204" pitchFamily="34" charset="0"/>
              </a:rPr>
              <a:t> (</a:t>
            </a:r>
            <a:r>
              <a:rPr lang="en-IN" sz="1500" dirty="0">
                <a:solidFill>
                  <a:srgbClr val="E0491F"/>
                </a:solidFill>
                <a:latin typeface="Calibri" panose="020F0502020204030204" pitchFamily="34" charset="0"/>
                <a:cs typeface="Calibri" panose="020F0502020204030204" pitchFamily="34" charset="0"/>
                <a:hlinkClick r:id="rId4"/>
              </a:rPr>
              <a:t>Radford et al., 2018</a:t>
            </a:r>
            <a:r>
              <a:rPr lang="en-IN" sz="1500" dirty="0">
                <a:solidFill>
                  <a:srgbClr val="111111"/>
                </a:solidFill>
                <a:latin typeface="Calibri" panose="020F0502020204030204" pitchFamily="34" charset="0"/>
                <a:cs typeface="Calibri" panose="020F0502020204030204" pitchFamily="34" charset="0"/>
              </a:rPr>
              <a:t>), expands the </a:t>
            </a:r>
            <a:r>
              <a:rPr lang="en-IN" sz="1500" dirty="0">
                <a:solidFill>
                  <a:srgbClr val="FF0000"/>
                </a:solidFill>
                <a:latin typeface="Calibri" panose="020F0502020204030204" pitchFamily="34" charset="0"/>
                <a:cs typeface="Calibri" panose="020F0502020204030204" pitchFamily="34" charset="0"/>
              </a:rPr>
              <a:t>unsupervised language model </a:t>
            </a:r>
            <a:r>
              <a:rPr lang="en-IN" sz="1500" dirty="0">
                <a:solidFill>
                  <a:srgbClr val="111111"/>
                </a:solidFill>
                <a:latin typeface="Calibri" panose="020F0502020204030204" pitchFamily="34" charset="0"/>
                <a:cs typeface="Calibri" panose="020F0502020204030204" pitchFamily="34" charset="0"/>
              </a:rPr>
              <a:t>to a much larger scale by training on a giant collection of free text corpora. </a:t>
            </a:r>
          </a:p>
          <a:p>
            <a:endParaRPr lang="en-IN" sz="1500" dirty="0">
              <a:solidFill>
                <a:srgbClr val="111111"/>
              </a:solidFill>
              <a:latin typeface="Calibri" panose="020F0502020204030204" pitchFamily="34" charset="0"/>
              <a:cs typeface="Calibri" panose="020F0502020204030204" pitchFamily="34" charset="0"/>
            </a:endParaRPr>
          </a:p>
          <a:p>
            <a:r>
              <a:rPr lang="en-IN" sz="1500" dirty="0">
                <a:solidFill>
                  <a:srgbClr val="111111"/>
                </a:solidFill>
                <a:latin typeface="Calibri" panose="020F0502020204030204" pitchFamily="34" charset="0"/>
                <a:cs typeface="Calibri" panose="020F0502020204030204" pitchFamily="34" charset="0"/>
              </a:rPr>
              <a:t>Despite of the similarity, GPT has two major differences from </a:t>
            </a:r>
            <a:r>
              <a:rPr lang="en-IN" sz="1500" dirty="0" err="1">
                <a:solidFill>
                  <a:srgbClr val="111111"/>
                </a:solidFill>
                <a:latin typeface="Calibri" panose="020F0502020204030204" pitchFamily="34" charset="0"/>
                <a:cs typeface="Calibri" panose="020F0502020204030204" pitchFamily="34" charset="0"/>
              </a:rPr>
              <a:t>ELMo</a:t>
            </a:r>
            <a:r>
              <a:rPr lang="en-IN" sz="1500" dirty="0">
                <a:solidFill>
                  <a:srgbClr val="111111"/>
                </a:solidFill>
                <a:latin typeface="Calibri" panose="020F0502020204030204" pitchFamily="34" charset="0"/>
                <a:cs typeface="Calibri" panose="020F0502020204030204" pitchFamily="34" charset="0"/>
              </a:rPr>
              <a:t>.</a:t>
            </a:r>
          </a:p>
          <a:p>
            <a:endParaRPr lang="en-IN" sz="1500" dirty="0">
              <a:solidFill>
                <a:srgbClr val="111111"/>
              </a:solidFill>
              <a:latin typeface="Calibri" panose="020F0502020204030204" pitchFamily="34" charset="0"/>
              <a:cs typeface="Calibri" panose="020F0502020204030204" pitchFamily="34" charset="0"/>
            </a:endParaRPr>
          </a:p>
          <a:p>
            <a:pPr>
              <a:buFont typeface="+mj-lt"/>
              <a:buAutoNum type="arabicPeriod"/>
            </a:pPr>
            <a:r>
              <a:rPr lang="en-IN" sz="1500" dirty="0">
                <a:solidFill>
                  <a:srgbClr val="111111"/>
                </a:solidFill>
                <a:latin typeface="Calibri" panose="020F0502020204030204" pitchFamily="34" charset="0"/>
                <a:cs typeface="Calibri" panose="020F0502020204030204" pitchFamily="34" charset="0"/>
              </a:rPr>
              <a:t>The model architectures are different: </a:t>
            </a:r>
            <a:r>
              <a:rPr lang="en-IN" sz="1500" dirty="0" err="1">
                <a:solidFill>
                  <a:srgbClr val="111111"/>
                </a:solidFill>
                <a:latin typeface="Calibri" panose="020F0502020204030204" pitchFamily="34" charset="0"/>
                <a:cs typeface="Calibri" panose="020F0502020204030204" pitchFamily="34" charset="0"/>
              </a:rPr>
              <a:t>ELMo</a:t>
            </a:r>
            <a:r>
              <a:rPr lang="en-IN" sz="1500" dirty="0">
                <a:solidFill>
                  <a:srgbClr val="111111"/>
                </a:solidFill>
                <a:latin typeface="Calibri" panose="020F0502020204030204" pitchFamily="34" charset="0"/>
                <a:cs typeface="Calibri" panose="020F0502020204030204" pitchFamily="34" charset="0"/>
              </a:rPr>
              <a:t> uses a shallow </a:t>
            </a:r>
            <a:r>
              <a:rPr lang="en-IN" sz="1500" dirty="0">
                <a:solidFill>
                  <a:srgbClr val="E20042"/>
                </a:solidFill>
                <a:latin typeface="Calibri" panose="020F0502020204030204" pitchFamily="34" charset="0"/>
                <a:cs typeface="Calibri" panose="020F0502020204030204" pitchFamily="34" charset="0"/>
              </a:rPr>
              <a:t>concatenation of independently trained left-to-right and right-to-left multi-layer LSTMs</a:t>
            </a:r>
            <a:r>
              <a:rPr lang="en-IN" sz="1500" dirty="0">
                <a:solidFill>
                  <a:srgbClr val="111111"/>
                </a:solidFill>
                <a:latin typeface="Calibri" panose="020F0502020204030204" pitchFamily="34" charset="0"/>
                <a:cs typeface="Calibri" panose="020F0502020204030204" pitchFamily="34" charset="0"/>
              </a:rPr>
              <a:t>, while </a:t>
            </a:r>
            <a:r>
              <a:rPr lang="en-IN" sz="1500" dirty="0">
                <a:solidFill>
                  <a:srgbClr val="DA1FCD"/>
                </a:solidFill>
                <a:latin typeface="Calibri" panose="020F0502020204030204" pitchFamily="34" charset="0"/>
                <a:cs typeface="Calibri" panose="020F0502020204030204" pitchFamily="34" charset="0"/>
              </a:rPr>
              <a:t>GPT is a multi-layer transformer decoder.</a:t>
            </a:r>
          </a:p>
          <a:p>
            <a:pPr>
              <a:buFont typeface="+mj-lt"/>
              <a:buAutoNum type="arabicPeriod"/>
            </a:pPr>
            <a:endParaRPr lang="en-IN" sz="1500" dirty="0">
              <a:solidFill>
                <a:srgbClr val="111111"/>
              </a:solidFill>
              <a:latin typeface="Calibri" panose="020F0502020204030204" pitchFamily="34" charset="0"/>
              <a:cs typeface="Calibri" panose="020F0502020204030204" pitchFamily="34" charset="0"/>
            </a:endParaRPr>
          </a:p>
          <a:p>
            <a:pPr>
              <a:buFont typeface="+mj-lt"/>
              <a:buAutoNum type="arabicPeriod"/>
            </a:pPr>
            <a:r>
              <a:rPr lang="en-IN" sz="1500" dirty="0">
                <a:solidFill>
                  <a:srgbClr val="111111"/>
                </a:solidFill>
                <a:latin typeface="Calibri" panose="020F0502020204030204" pitchFamily="34" charset="0"/>
                <a:cs typeface="Calibri" panose="020F0502020204030204" pitchFamily="34" charset="0"/>
              </a:rPr>
              <a:t>The use of </a:t>
            </a:r>
            <a:r>
              <a:rPr lang="en-IN" sz="1500" dirty="0">
                <a:solidFill>
                  <a:srgbClr val="FF0000"/>
                </a:solidFill>
                <a:latin typeface="Calibri" panose="020F0502020204030204" pitchFamily="34" charset="0"/>
                <a:cs typeface="Calibri" panose="020F0502020204030204" pitchFamily="34" charset="0"/>
              </a:rPr>
              <a:t>contextualized embeddings in downstream tasks</a:t>
            </a:r>
            <a:r>
              <a:rPr lang="en-IN" sz="1500" dirty="0">
                <a:solidFill>
                  <a:srgbClr val="111111"/>
                </a:solidFill>
                <a:latin typeface="Calibri" panose="020F0502020204030204" pitchFamily="34" charset="0"/>
                <a:cs typeface="Calibri" panose="020F0502020204030204" pitchFamily="34" charset="0"/>
              </a:rPr>
              <a:t> are different: </a:t>
            </a:r>
            <a:r>
              <a:rPr lang="en-IN" sz="1500" dirty="0" err="1">
                <a:solidFill>
                  <a:srgbClr val="111111"/>
                </a:solidFill>
                <a:latin typeface="Calibri" panose="020F0502020204030204" pitchFamily="34" charset="0"/>
                <a:cs typeface="Calibri" panose="020F0502020204030204" pitchFamily="34" charset="0"/>
              </a:rPr>
              <a:t>ELMo</a:t>
            </a:r>
            <a:r>
              <a:rPr lang="en-IN" sz="1500" dirty="0">
                <a:solidFill>
                  <a:srgbClr val="111111"/>
                </a:solidFill>
                <a:latin typeface="Calibri" panose="020F0502020204030204" pitchFamily="34" charset="0"/>
                <a:cs typeface="Calibri" panose="020F0502020204030204" pitchFamily="34" charset="0"/>
              </a:rPr>
              <a:t> feeds embeddings into models customized for specific tasks as additional features, while GPT fine-tunes the same base model for all end tasks.</a:t>
            </a:r>
          </a:p>
        </p:txBody>
      </p:sp>
    </p:spTree>
    <p:extLst>
      <p:ext uri="{BB962C8B-B14F-4D97-AF65-F5344CB8AC3E}">
        <p14:creationId xmlns:p14="http://schemas.microsoft.com/office/powerpoint/2010/main" val="1125675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blinds(horizontal)">
                                      <p:cBhvr>
                                        <p:cTn id="7" dur="500"/>
                                        <p:tgtEl>
                                          <p:spTgt spid="2">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
                                            <p:txEl>
                                              <p:pRg st="4" end="4"/>
                                            </p:txEl>
                                          </p:spTgt>
                                        </p:tgtEl>
                                        <p:attrNameLst>
                                          <p:attrName>style.visibility</p:attrName>
                                        </p:attrNameLst>
                                      </p:cBhvr>
                                      <p:to>
                                        <p:strVal val="visible"/>
                                      </p:to>
                                    </p:set>
                                    <p:animEffect transition="in" filter="blinds(horizontal)">
                                      <p:cBhvr>
                                        <p:cTn id="10" dur="500"/>
                                        <p:tgtEl>
                                          <p:spTgt spid="2">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
                                            <p:txEl>
                                              <p:pRg st="6" end="6"/>
                                            </p:txEl>
                                          </p:spTgt>
                                        </p:tgtEl>
                                        <p:attrNameLst>
                                          <p:attrName>style.visibility</p:attrName>
                                        </p:attrNameLst>
                                      </p:cBhvr>
                                      <p:to>
                                        <p:strVal val="visible"/>
                                      </p:to>
                                    </p:set>
                                    <p:animEffect transition="in" filter="blinds(horizontal)">
                                      <p:cBhvr>
                                        <p:cTn id="15"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Shape 116"/>
        <p:cNvGrpSpPr/>
        <p:nvPr/>
      </p:nvGrpSpPr>
      <p:grpSpPr>
        <a:xfrm>
          <a:off x="0" y="0"/>
          <a:ext cx="0" cy="0"/>
          <a:chOff x="0" y="0"/>
          <a:chExt cx="0" cy="0"/>
        </a:xfrm>
      </p:grpSpPr>
      <p:cxnSp>
        <p:nvCxnSpPr>
          <p:cNvPr id="117" name="Google Shape;117;p3"/>
          <p:cNvCxnSpPr/>
          <p:nvPr/>
        </p:nvCxnSpPr>
        <p:spPr>
          <a:xfrm>
            <a:off x="-6231" y="987344"/>
            <a:ext cx="6225039" cy="0"/>
          </a:xfrm>
          <a:prstGeom prst="straightConnector1">
            <a:avLst/>
          </a:prstGeom>
          <a:noFill/>
          <a:ln w="38100" cap="flat" cmpd="sng">
            <a:solidFill>
              <a:srgbClr val="C55A11"/>
            </a:solidFill>
            <a:prstDash val="solid"/>
            <a:miter lim="800000"/>
            <a:headEnd type="none" w="sm" len="sm"/>
            <a:tailEnd type="none" w="sm" len="sm"/>
          </a:ln>
        </p:spPr>
      </p:cxnSp>
      <p:pic>
        <p:nvPicPr>
          <p:cNvPr id="118" name="Google Shape;118;p3" descr="A close up of a logo&#10;&#10;Description automatically generated"/>
          <p:cNvPicPr preferRelativeResize="0"/>
          <p:nvPr/>
        </p:nvPicPr>
        <p:blipFill rotWithShape="1">
          <a:blip r:embed="rId3">
            <a:alphaModFix/>
          </a:blip>
          <a:srcRect/>
          <a:stretch/>
        </p:blipFill>
        <p:spPr>
          <a:xfrm>
            <a:off x="7994639" y="352418"/>
            <a:ext cx="700199" cy="1049222"/>
          </a:xfrm>
          <a:prstGeom prst="rect">
            <a:avLst/>
          </a:prstGeom>
          <a:noFill/>
          <a:ln>
            <a:noFill/>
          </a:ln>
        </p:spPr>
      </p:pic>
      <p:sp>
        <p:nvSpPr>
          <p:cNvPr id="119" name="Google Shape;119;p3"/>
          <p:cNvSpPr/>
          <p:nvPr/>
        </p:nvSpPr>
        <p:spPr>
          <a:xfrm>
            <a:off x="294833" y="189181"/>
            <a:ext cx="5622911" cy="346218"/>
          </a:xfrm>
          <a:prstGeom prst="rect">
            <a:avLst/>
          </a:prstGeom>
          <a:noFill/>
          <a:ln>
            <a:noFill/>
          </a:ln>
        </p:spPr>
        <p:txBody>
          <a:bodyPr spcFirstLastPara="1" wrap="square" lIns="68569" tIns="34275" rIns="68569" bIns="34275" anchor="t" anchorCtr="0">
            <a:spAutoFit/>
          </a:bodyPr>
          <a:lstStyle/>
          <a:p>
            <a:r>
              <a:rPr lang="en-US" sz="1800" b="1" dirty="0">
                <a:solidFill>
                  <a:srgbClr val="C55A11"/>
                </a:solidFill>
                <a:latin typeface="Calibri"/>
                <a:ea typeface="Calibri"/>
                <a:cs typeface="Calibri"/>
                <a:sym typeface="Calibri"/>
              </a:rPr>
              <a:t>NATURAL LANGUAGE PROCESSING</a:t>
            </a:r>
            <a:endParaRPr sz="1050" dirty="0"/>
          </a:p>
        </p:txBody>
      </p:sp>
      <p:sp>
        <p:nvSpPr>
          <p:cNvPr id="120" name="Google Shape;120;p3"/>
          <p:cNvSpPr txBox="1"/>
          <p:nvPr/>
        </p:nvSpPr>
        <p:spPr>
          <a:xfrm>
            <a:off x="294834" y="496768"/>
            <a:ext cx="6563167" cy="346218"/>
          </a:xfrm>
          <a:prstGeom prst="rect">
            <a:avLst/>
          </a:prstGeom>
          <a:noFill/>
          <a:ln>
            <a:noFill/>
          </a:ln>
        </p:spPr>
        <p:txBody>
          <a:bodyPr spcFirstLastPara="1" wrap="square" lIns="68569" tIns="34275" rIns="68569" bIns="34275" anchor="t" anchorCtr="0">
            <a:spAutoFit/>
          </a:bodyPr>
          <a:lstStyle/>
          <a:p>
            <a:pPr lvl="0"/>
            <a:r>
              <a:rPr lang="en-US" sz="1800" b="1" dirty="0">
                <a:solidFill>
                  <a:srgbClr val="0070C0"/>
                </a:solidFill>
                <a:latin typeface="Calibri"/>
                <a:ea typeface="Calibri"/>
                <a:cs typeface="Calibri"/>
                <a:sym typeface="Calibri"/>
              </a:rPr>
              <a:t>GPT(</a:t>
            </a:r>
            <a:r>
              <a:rPr lang="en-IN" sz="1800" b="1" dirty="0">
                <a:solidFill>
                  <a:srgbClr val="0070C0"/>
                </a:solidFill>
                <a:latin typeface="Calibri" panose="020F0502020204030204" pitchFamily="34" charset="0"/>
                <a:cs typeface="Calibri" panose="020F0502020204030204" pitchFamily="34" charset="0"/>
              </a:rPr>
              <a:t>Generative Pre-training Transformer)</a:t>
            </a:r>
            <a:endParaRPr sz="1800" b="1" dirty="0">
              <a:solidFill>
                <a:srgbClr val="0070C0"/>
              </a:solidFill>
              <a:latin typeface="Calibri"/>
              <a:ea typeface="Calibri"/>
              <a:cs typeface="Calibri"/>
              <a:sym typeface="Calibri"/>
            </a:endParaRPr>
          </a:p>
        </p:txBody>
      </p:sp>
      <p:sp>
        <p:nvSpPr>
          <p:cNvPr id="3" name="Rectangle 2">
            <a:extLst>
              <a:ext uri="{FF2B5EF4-FFF2-40B4-BE49-F238E27FC236}">
                <a16:creationId xmlns:a16="http://schemas.microsoft.com/office/drawing/2014/main" id="{1BD2D586-58E9-004E-8758-768D67AC4F37}"/>
              </a:ext>
            </a:extLst>
          </p:cNvPr>
          <p:cNvSpPr/>
          <p:nvPr/>
        </p:nvSpPr>
        <p:spPr>
          <a:xfrm>
            <a:off x="449162" y="1124641"/>
            <a:ext cx="3777429" cy="3554819"/>
          </a:xfrm>
          <a:prstGeom prst="rect">
            <a:avLst/>
          </a:prstGeom>
        </p:spPr>
        <p:txBody>
          <a:bodyPr wrap="square">
            <a:spAutoFit/>
          </a:bodyPr>
          <a:lstStyle/>
          <a:p>
            <a:pPr marL="257175" indent="-257175" algn="just">
              <a:buFont typeface="Wingdings" pitchFamily="2" charset="2"/>
              <a:buChar char="v"/>
            </a:pPr>
            <a:r>
              <a:rPr lang="en-IN" sz="1500" dirty="0">
                <a:solidFill>
                  <a:srgbClr val="111111"/>
                </a:solidFill>
                <a:latin typeface="Calibri" panose="020F0502020204030204" pitchFamily="34" charset="0"/>
                <a:cs typeface="Calibri" panose="020F0502020204030204" pitchFamily="34" charset="0"/>
              </a:rPr>
              <a:t>Compared to the original transformer architecture, the </a:t>
            </a:r>
            <a:r>
              <a:rPr lang="en-IN" sz="1500" dirty="0">
                <a:solidFill>
                  <a:srgbClr val="C00000"/>
                </a:solidFill>
                <a:latin typeface="Calibri" panose="020F0502020204030204" pitchFamily="34" charset="0"/>
                <a:cs typeface="Calibri" panose="020F0502020204030204" pitchFamily="34" charset="0"/>
              </a:rPr>
              <a:t>transformer decoder model discards the encoder part</a:t>
            </a:r>
            <a:r>
              <a:rPr lang="en-IN" sz="1500" dirty="0">
                <a:solidFill>
                  <a:srgbClr val="111111"/>
                </a:solidFill>
                <a:latin typeface="Calibri" panose="020F0502020204030204" pitchFamily="34" charset="0"/>
                <a:cs typeface="Calibri" panose="020F0502020204030204" pitchFamily="34" charset="0"/>
              </a:rPr>
              <a:t>, so there is only one single input sentence rather than two separate source and target sequences.</a:t>
            </a:r>
          </a:p>
          <a:p>
            <a:pPr marL="257175" indent="-257175" algn="just">
              <a:buFont typeface="Wingdings" pitchFamily="2" charset="2"/>
              <a:buChar char="v"/>
            </a:pPr>
            <a:r>
              <a:rPr lang="en-IN" sz="1500" dirty="0">
                <a:latin typeface="Calibri" panose="020F0502020204030204" pitchFamily="34" charset="0"/>
                <a:cs typeface="Calibri" panose="020F0502020204030204" pitchFamily="34" charset="0"/>
              </a:rPr>
              <a:t>This model applies </a:t>
            </a:r>
            <a:r>
              <a:rPr lang="en-IN" sz="1500" dirty="0">
                <a:solidFill>
                  <a:srgbClr val="C00000"/>
                </a:solidFill>
                <a:latin typeface="Calibri" panose="020F0502020204030204" pitchFamily="34" charset="0"/>
                <a:cs typeface="Calibri" panose="020F0502020204030204" pitchFamily="34" charset="0"/>
              </a:rPr>
              <a:t>multiple transformer blocks </a:t>
            </a:r>
            <a:r>
              <a:rPr lang="en-IN" sz="1500" dirty="0">
                <a:latin typeface="Calibri" panose="020F0502020204030204" pitchFamily="34" charset="0"/>
                <a:cs typeface="Calibri" panose="020F0502020204030204" pitchFamily="34" charset="0"/>
              </a:rPr>
              <a:t>over the embeddings of input sequences. </a:t>
            </a:r>
          </a:p>
          <a:p>
            <a:pPr marL="257175" indent="-257175" algn="just">
              <a:buFont typeface="Wingdings" pitchFamily="2" charset="2"/>
              <a:buChar char="v"/>
            </a:pPr>
            <a:r>
              <a:rPr lang="en-IN" sz="1500" dirty="0">
                <a:latin typeface="Calibri" panose="020F0502020204030204" pitchFamily="34" charset="0"/>
                <a:cs typeface="Calibri" panose="020F0502020204030204" pitchFamily="34" charset="0"/>
              </a:rPr>
              <a:t>Each block contains a </a:t>
            </a:r>
            <a:r>
              <a:rPr lang="en-IN" sz="1500" dirty="0">
                <a:solidFill>
                  <a:srgbClr val="C00000"/>
                </a:solidFill>
                <a:latin typeface="Calibri" panose="020F0502020204030204" pitchFamily="34" charset="0"/>
                <a:cs typeface="Calibri" panose="020F0502020204030204" pitchFamily="34" charset="0"/>
              </a:rPr>
              <a:t>masked </a:t>
            </a:r>
            <a:r>
              <a:rPr lang="en-IN" sz="1500" i="1" dirty="0">
                <a:solidFill>
                  <a:srgbClr val="C00000"/>
                </a:solidFill>
                <a:latin typeface="Calibri" panose="020F0502020204030204" pitchFamily="34" charset="0"/>
                <a:cs typeface="Calibri" panose="020F0502020204030204" pitchFamily="34" charset="0"/>
              </a:rPr>
              <a:t>multi-headed self-attention</a:t>
            </a:r>
            <a:r>
              <a:rPr lang="en-IN" sz="1500" dirty="0">
                <a:solidFill>
                  <a:srgbClr val="C00000"/>
                </a:solidFill>
                <a:latin typeface="Calibri" panose="020F0502020204030204" pitchFamily="34" charset="0"/>
                <a:cs typeface="Calibri" panose="020F0502020204030204" pitchFamily="34" charset="0"/>
              </a:rPr>
              <a:t> layer and a </a:t>
            </a:r>
            <a:r>
              <a:rPr lang="en-IN" sz="1500" i="1" dirty="0">
                <a:solidFill>
                  <a:srgbClr val="C00000"/>
                </a:solidFill>
                <a:latin typeface="Calibri" panose="020F0502020204030204" pitchFamily="34" charset="0"/>
                <a:cs typeface="Calibri" panose="020F0502020204030204" pitchFamily="34" charset="0"/>
              </a:rPr>
              <a:t>pointwise feed-forward</a:t>
            </a:r>
            <a:r>
              <a:rPr lang="en-IN" sz="1500" dirty="0">
                <a:solidFill>
                  <a:srgbClr val="C00000"/>
                </a:solidFill>
                <a:latin typeface="Calibri" panose="020F0502020204030204" pitchFamily="34" charset="0"/>
                <a:cs typeface="Calibri" panose="020F0502020204030204" pitchFamily="34" charset="0"/>
              </a:rPr>
              <a:t> layer. </a:t>
            </a:r>
          </a:p>
          <a:p>
            <a:pPr marL="257175" indent="-257175" algn="just">
              <a:buFont typeface="Wingdings" pitchFamily="2" charset="2"/>
              <a:buChar char="v"/>
            </a:pPr>
            <a:r>
              <a:rPr lang="en-IN" sz="1500" dirty="0">
                <a:latin typeface="Calibri" panose="020F0502020204030204" pitchFamily="34" charset="0"/>
                <a:cs typeface="Calibri" panose="020F0502020204030204" pitchFamily="34" charset="0"/>
              </a:rPr>
              <a:t>The final output produces a distribution over target tokens after </a:t>
            </a:r>
            <a:r>
              <a:rPr lang="en-IN" sz="1500" dirty="0" err="1">
                <a:latin typeface="Calibri" panose="020F0502020204030204" pitchFamily="34" charset="0"/>
                <a:cs typeface="Calibri" panose="020F0502020204030204" pitchFamily="34" charset="0"/>
              </a:rPr>
              <a:t>softmax</a:t>
            </a:r>
            <a:r>
              <a:rPr lang="en-IN" sz="1500" dirty="0">
                <a:latin typeface="Calibri" panose="020F0502020204030204" pitchFamily="34" charset="0"/>
                <a:cs typeface="Calibri" panose="020F0502020204030204" pitchFamily="34" charset="0"/>
              </a:rPr>
              <a:t> normalization.</a:t>
            </a:r>
            <a:endParaRPr lang="en-US" sz="1500" dirty="0">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05F2EAF7-9620-2940-84FC-B18F0F97E46B}"/>
              </a:ext>
            </a:extLst>
          </p:cNvPr>
          <p:cNvPicPr>
            <a:picLocks noChangeAspect="1"/>
          </p:cNvPicPr>
          <p:nvPr/>
        </p:nvPicPr>
        <p:blipFill>
          <a:blip r:embed="rId4"/>
          <a:stretch>
            <a:fillRect/>
          </a:stretch>
        </p:blipFill>
        <p:spPr>
          <a:xfrm>
            <a:off x="4226590" y="1547533"/>
            <a:ext cx="5044910" cy="3147617"/>
          </a:xfrm>
          <a:prstGeom prst="rect">
            <a:avLst/>
          </a:prstGeom>
        </p:spPr>
      </p:pic>
    </p:spTree>
    <p:extLst>
      <p:ext uri="{BB962C8B-B14F-4D97-AF65-F5344CB8AC3E}">
        <p14:creationId xmlns:p14="http://schemas.microsoft.com/office/powerpoint/2010/main" val="1331323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Shape 116"/>
        <p:cNvGrpSpPr/>
        <p:nvPr/>
      </p:nvGrpSpPr>
      <p:grpSpPr>
        <a:xfrm>
          <a:off x="0" y="0"/>
          <a:ext cx="0" cy="0"/>
          <a:chOff x="0" y="0"/>
          <a:chExt cx="0" cy="0"/>
        </a:xfrm>
      </p:grpSpPr>
      <p:cxnSp>
        <p:nvCxnSpPr>
          <p:cNvPr id="117" name="Google Shape;117;p3"/>
          <p:cNvCxnSpPr/>
          <p:nvPr/>
        </p:nvCxnSpPr>
        <p:spPr>
          <a:xfrm>
            <a:off x="-6231" y="987344"/>
            <a:ext cx="6225039" cy="0"/>
          </a:xfrm>
          <a:prstGeom prst="straightConnector1">
            <a:avLst/>
          </a:prstGeom>
          <a:noFill/>
          <a:ln w="38100" cap="flat" cmpd="sng">
            <a:solidFill>
              <a:srgbClr val="C55A11"/>
            </a:solidFill>
            <a:prstDash val="solid"/>
            <a:miter lim="800000"/>
            <a:headEnd type="none" w="sm" len="sm"/>
            <a:tailEnd type="none" w="sm" len="sm"/>
          </a:ln>
        </p:spPr>
      </p:cxnSp>
      <p:pic>
        <p:nvPicPr>
          <p:cNvPr id="118" name="Google Shape;118;p3" descr="A close up of a logo&#10;&#10;Description automatically generated"/>
          <p:cNvPicPr preferRelativeResize="0"/>
          <p:nvPr/>
        </p:nvPicPr>
        <p:blipFill rotWithShape="1">
          <a:blip r:embed="rId3">
            <a:alphaModFix/>
          </a:blip>
          <a:srcRect/>
          <a:stretch/>
        </p:blipFill>
        <p:spPr>
          <a:xfrm>
            <a:off x="7994639" y="352418"/>
            <a:ext cx="700199" cy="1049222"/>
          </a:xfrm>
          <a:prstGeom prst="rect">
            <a:avLst/>
          </a:prstGeom>
          <a:noFill/>
          <a:ln>
            <a:noFill/>
          </a:ln>
        </p:spPr>
      </p:pic>
      <p:sp>
        <p:nvSpPr>
          <p:cNvPr id="119" name="Google Shape;119;p3"/>
          <p:cNvSpPr/>
          <p:nvPr/>
        </p:nvSpPr>
        <p:spPr>
          <a:xfrm>
            <a:off x="294833" y="189181"/>
            <a:ext cx="5622911" cy="346218"/>
          </a:xfrm>
          <a:prstGeom prst="rect">
            <a:avLst/>
          </a:prstGeom>
          <a:noFill/>
          <a:ln>
            <a:noFill/>
          </a:ln>
        </p:spPr>
        <p:txBody>
          <a:bodyPr spcFirstLastPara="1" wrap="square" lIns="68569" tIns="34275" rIns="68569" bIns="34275" anchor="t" anchorCtr="0">
            <a:spAutoFit/>
          </a:bodyPr>
          <a:lstStyle/>
          <a:p>
            <a:r>
              <a:rPr lang="en-US" sz="1800" b="1">
                <a:solidFill>
                  <a:srgbClr val="C55A11"/>
                </a:solidFill>
                <a:latin typeface="Calibri"/>
                <a:ea typeface="Calibri"/>
                <a:cs typeface="Calibri"/>
                <a:sym typeface="Calibri"/>
              </a:rPr>
              <a:t>NATURAL LANGUAGE PROCESSING</a:t>
            </a:r>
            <a:endParaRPr sz="1050"/>
          </a:p>
        </p:txBody>
      </p:sp>
      <p:sp>
        <p:nvSpPr>
          <p:cNvPr id="120" name="Google Shape;120;p3"/>
          <p:cNvSpPr txBox="1"/>
          <p:nvPr/>
        </p:nvSpPr>
        <p:spPr>
          <a:xfrm>
            <a:off x="294834" y="496768"/>
            <a:ext cx="6563167" cy="346218"/>
          </a:xfrm>
          <a:prstGeom prst="rect">
            <a:avLst/>
          </a:prstGeom>
          <a:noFill/>
          <a:ln>
            <a:noFill/>
          </a:ln>
        </p:spPr>
        <p:txBody>
          <a:bodyPr spcFirstLastPara="1" wrap="square" lIns="68569" tIns="34275" rIns="68569" bIns="34275" anchor="t" anchorCtr="0">
            <a:spAutoFit/>
          </a:bodyPr>
          <a:lstStyle/>
          <a:p>
            <a:pPr lvl="0"/>
            <a:r>
              <a:rPr lang="en-US" sz="1800" b="1" dirty="0">
                <a:solidFill>
                  <a:srgbClr val="0070C0"/>
                </a:solidFill>
                <a:latin typeface="Calibri"/>
                <a:ea typeface="Calibri"/>
                <a:cs typeface="Calibri"/>
                <a:sym typeface="Calibri"/>
              </a:rPr>
              <a:t>GPT(</a:t>
            </a:r>
            <a:r>
              <a:rPr lang="en-IN" sz="1800" b="1" dirty="0">
                <a:solidFill>
                  <a:srgbClr val="0070C0"/>
                </a:solidFill>
                <a:latin typeface="Calibri" panose="020F0502020204030204" pitchFamily="34" charset="0"/>
                <a:cs typeface="Calibri" panose="020F0502020204030204" pitchFamily="34" charset="0"/>
              </a:rPr>
              <a:t>Generative Pre-training Transformer)</a:t>
            </a:r>
            <a:endParaRPr sz="1800" b="1" dirty="0">
              <a:solidFill>
                <a:srgbClr val="0070C0"/>
              </a:solidFill>
              <a:latin typeface="Calibri"/>
              <a:ea typeface="Calibri"/>
              <a:cs typeface="Calibri"/>
              <a:sym typeface="Calibri"/>
            </a:endParaRPr>
          </a:p>
        </p:txBody>
      </p:sp>
      <p:sp>
        <p:nvSpPr>
          <p:cNvPr id="2" name="TextBox 1">
            <a:extLst>
              <a:ext uri="{FF2B5EF4-FFF2-40B4-BE49-F238E27FC236}">
                <a16:creationId xmlns:a16="http://schemas.microsoft.com/office/drawing/2014/main" id="{F27D08FC-DEBC-0346-82D3-52359831D7EF}"/>
              </a:ext>
            </a:extLst>
          </p:cNvPr>
          <p:cNvSpPr txBox="1"/>
          <p:nvPr/>
        </p:nvSpPr>
        <p:spPr>
          <a:xfrm>
            <a:off x="449163" y="1249580"/>
            <a:ext cx="7014479" cy="1477328"/>
          </a:xfrm>
          <a:prstGeom prst="rect">
            <a:avLst/>
          </a:prstGeom>
          <a:noFill/>
        </p:spPr>
        <p:txBody>
          <a:bodyPr wrap="square" rtlCol="0">
            <a:spAutoFit/>
          </a:bodyPr>
          <a:lstStyle/>
          <a:p>
            <a:r>
              <a:rPr lang="en-IN" sz="1500" dirty="0">
                <a:latin typeface="Calibri" panose="020F0502020204030204" pitchFamily="34" charset="0"/>
                <a:cs typeface="Calibri" panose="020F0502020204030204" pitchFamily="34" charset="0"/>
              </a:rPr>
              <a:t>The loss is the negative log-likelihood, same as </a:t>
            </a:r>
            <a:r>
              <a:rPr lang="en-IN" sz="1500" dirty="0">
                <a:latin typeface="Calibri" panose="020F0502020204030204" pitchFamily="34" charset="0"/>
                <a:cs typeface="Calibri" panose="020F0502020204030204" pitchFamily="34" charset="0"/>
                <a:hlinkClick r:id="rId4"/>
              </a:rPr>
              <a:t>ELMo</a:t>
            </a:r>
            <a:r>
              <a:rPr lang="en-IN" sz="1500" dirty="0">
                <a:latin typeface="Calibri" panose="020F0502020204030204" pitchFamily="34" charset="0"/>
                <a:cs typeface="Calibri" panose="020F0502020204030204" pitchFamily="34" charset="0"/>
              </a:rPr>
              <a:t>, but without backward computation. </a:t>
            </a:r>
          </a:p>
          <a:p>
            <a:r>
              <a:rPr lang="en-IN" sz="1500" dirty="0">
                <a:latin typeface="Calibri" panose="020F0502020204030204" pitchFamily="34" charset="0"/>
                <a:cs typeface="Calibri" panose="020F0502020204030204" pitchFamily="34" charset="0"/>
              </a:rPr>
              <a:t>Let’s say, the context window of the size k is located before the target word and the loss would be:</a:t>
            </a:r>
            <a:br>
              <a:rPr lang="en-IN" sz="1500" dirty="0">
                <a:latin typeface="Calibri" panose="020F0502020204030204" pitchFamily="34" charset="0"/>
                <a:cs typeface="Calibri" panose="020F0502020204030204" pitchFamily="34" charset="0"/>
              </a:rPr>
            </a:br>
            <a:endParaRPr lang="en-IN" sz="1500" dirty="0">
              <a:latin typeface="Calibri" panose="020F0502020204030204" pitchFamily="34" charset="0"/>
              <a:cs typeface="Calibri" panose="020F0502020204030204" pitchFamily="34" charset="0"/>
            </a:endParaRPr>
          </a:p>
          <a:p>
            <a:endParaRPr lang="en-US" sz="1500" dirty="0">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00FA5334-66CA-BF4E-AAE9-FCFD7A68A73D}"/>
              </a:ext>
            </a:extLst>
          </p:cNvPr>
          <p:cNvPicPr>
            <a:picLocks noChangeAspect="1"/>
          </p:cNvPicPr>
          <p:nvPr/>
        </p:nvPicPr>
        <p:blipFill>
          <a:blip r:embed="rId5"/>
          <a:stretch>
            <a:fillRect/>
          </a:stretch>
        </p:blipFill>
        <p:spPr>
          <a:xfrm>
            <a:off x="1927973" y="2281254"/>
            <a:ext cx="3314700" cy="933450"/>
          </a:xfrm>
          <a:prstGeom prst="rect">
            <a:avLst/>
          </a:prstGeom>
        </p:spPr>
      </p:pic>
    </p:spTree>
    <p:extLst>
      <p:ext uri="{BB962C8B-B14F-4D97-AF65-F5344CB8AC3E}">
        <p14:creationId xmlns:p14="http://schemas.microsoft.com/office/powerpoint/2010/main" val="36086952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4D0097D8-05F2-E760-0A26-EFD1D03F4D75}"/>
            </a:ext>
          </a:extLst>
        </p:cNvPr>
        <p:cNvGrpSpPr/>
        <p:nvPr/>
      </p:nvGrpSpPr>
      <p:grpSpPr>
        <a:xfrm>
          <a:off x="0" y="0"/>
          <a:ext cx="0" cy="0"/>
          <a:chOff x="0" y="0"/>
          <a:chExt cx="0" cy="0"/>
        </a:xfrm>
      </p:grpSpPr>
      <p:cxnSp>
        <p:nvCxnSpPr>
          <p:cNvPr id="117" name="Google Shape;117;p3">
            <a:extLst>
              <a:ext uri="{FF2B5EF4-FFF2-40B4-BE49-F238E27FC236}">
                <a16:creationId xmlns:a16="http://schemas.microsoft.com/office/drawing/2014/main" id="{157F1621-F50D-519A-D362-370B1E561C52}"/>
              </a:ext>
            </a:extLst>
          </p:cNvPr>
          <p:cNvCxnSpPr/>
          <p:nvPr/>
        </p:nvCxnSpPr>
        <p:spPr>
          <a:xfrm>
            <a:off x="-6231" y="987344"/>
            <a:ext cx="6225039" cy="0"/>
          </a:xfrm>
          <a:prstGeom prst="straightConnector1">
            <a:avLst/>
          </a:prstGeom>
          <a:noFill/>
          <a:ln w="38100" cap="flat" cmpd="sng">
            <a:solidFill>
              <a:srgbClr val="C55A11"/>
            </a:solidFill>
            <a:prstDash val="solid"/>
            <a:miter lim="800000"/>
            <a:headEnd type="none" w="sm" len="sm"/>
            <a:tailEnd type="none" w="sm" len="sm"/>
          </a:ln>
        </p:spPr>
      </p:cxnSp>
      <p:sp>
        <p:nvSpPr>
          <p:cNvPr id="120" name="Google Shape;120;p3">
            <a:extLst>
              <a:ext uri="{FF2B5EF4-FFF2-40B4-BE49-F238E27FC236}">
                <a16:creationId xmlns:a16="http://schemas.microsoft.com/office/drawing/2014/main" id="{36F64676-F5CB-2D14-6FB6-3580A40AE8D7}"/>
              </a:ext>
            </a:extLst>
          </p:cNvPr>
          <p:cNvSpPr txBox="1"/>
          <p:nvPr/>
        </p:nvSpPr>
        <p:spPr>
          <a:xfrm>
            <a:off x="294834" y="496768"/>
            <a:ext cx="6851690" cy="346218"/>
          </a:xfrm>
          <a:prstGeom prst="rect">
            <a:avLst/>
          </a:prstGeom>
          <a:noFill/>
          <a:ln>
            <a:noFill/>
          </a:ln>
        </p:spPr>
        <p:txBody>
          <a:bodyPr spcFirstLastPara="1" wrap="square" lIns="68569" tIns="34275" rIns="68569" bIns="34275" anchor="t" anchorCtr="0">
            <a:spAutoFit/>
          </a:bodyPr>
          <a:lstStyle/>
          <a:p>
            <a:pPr lvl="0"/>
            <a:r>
              <a:rPr lang="en-US" sz="1800" b="1" dirty="0">
                <a:solidFill>
                  <a:srgbClr val="0070C0"/>
                </a:solidFill>
                <a:latin typeface="Calibri"/>
                <a:ea typeface="Calibri"/>
                <a:cs typeface="Calibri"/>
                <a:sym typeface="Calibri"/>
              </a:rPr>
              <a:t>GPT(</a:t>
            </a:r>
            <a:r>
              <a:rPr lang="en-IN" sz="1800" b="1" dirty="0">
                <a:solidFill>
                  <a:srgbClr val="0070C0"/>
                </a:solidFill>
                <a:latin typeface="Calibri" panose="020F0502020204030204" pitchFamily="34" charset="0"/>
                <a:cs typeface="Calibri" panose="020F0502020204030204" pitchFamily="34" charset="0"/>
              </a:rPr>
              <a:t>Generative Pre-training Transformer) – DECODER BASED MODEL</a:t>
            </a:r>
            <a:endParaRPr sz="1800" b="1" dirty="0">
              <a:solidFill>
                <a:srgbClr val="0070C0"/>
              </a:solidFill>
              <a:latin typeface="Calibri"/>
              <a:ea typeface="Calibri"/>
              <a:cs typeface="Calibri"/>
              <a:sym typeface="Calibri"/>
            </a:endParaRPr>
          </a:p>
        </p:txBody>
      </p:sp>
      <p:sp>
        <p:nvSpPr>
          <p:cNvPr id="5" name="object 6">
            <a:extLst>
              <a:ext uri="{FF2B5EF4-FFF2-40B4-BE49-F238E27FC236}">
                <a16:creationId xmlns:a16="http://schemas.microsoft.com/office/drawing/2014/main" id="{6FA1E5FC-212A-C807-BA2D-DC9DC4A77B7A}"/>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sp>
        <p:nvSpPr>
          <p:cNvPr id="2" name="Google Shape;139;p5">
            <a:extLst>
              <a:ext uri="{FF2B5EF4-FFF2-40B4-BE49-F238E27FC236}">
                <a16:creationId xmlns:a16="http://schemas.microsoft.com/office/drawing/2014/main" id="{8CEF0ADD-CE3B-76F8-3494-6B4A51C45034}"/>
              </a:ext>
            </a:extLst>
          </p:cNvPr>
          <p:cNvSpPr txBox="1"/>
          <p:nvPr/>
        </p:nvSpPr>
        <p:spPr>
          <a:xfrm>
            <a:off x="294834" y="1131703"/>
            <a:ext cx="7721333" cy="3405012"/>
          </a:xfrm>
          <a:prstGeom prst="rect">
            <a:avLst/>
          </a:prstGeom>
          <a:noFill/>
          <a:ln>
            <a:noFill/>
          </a:ln>
        </p:spPr>
        <p:txBody>
          <a:bodyPr spcFirstLastPara="1" wrap="square" lIns="68569" tIns="68569" rIns="68569" bIns="68569" anchor="t" anchorCtr="0">
            <a:spAutoFit/>
          </a:bodyPr>
          <a:lstStyle/>
          <a:p>
            <a:pPr>
              <a:lnSpc>
                <a:spcPct val="115000"/>
              </a:lnSpc>
              <a:spcBef>
                <a:spcPts val="1425"/>
              </a:spcBef>
            </a:pPr>
            <a:r>
              <a:rPr lang="en-US" sz="1800" dirty="0">
                <a:solidFill>
                  <a:srgbClr val="1A1A1A"/>
                </a:solidFill>
                <a:highlight>
                  <a:srgbClr val="FFFFFF"/>
                </a:highlight>
                <a:latin typeface="Calibri" panose="020F0502020204030204" pitchFamily="34" charset="0"/>
                <a:cs typeface="Calibri" panose="020F0502020204030204" pitchFamily="34" charset="0"/>
              </a:rPr>
              <a:t>The </a:t>
            </a:r>
            <a:r>
              <a:rPr lang="en-US" sz="1800" dirty="0">
                <a:solidFill>
                  <a:srgbClr val="1A1A1A"/>
                </a:solidFill>
                <a:highlight>
                  <a:srgbClr val="FFFF00"/>
                </a:highlight>
                <a:latin typeface="Calibri" panose="020F0502020204030204" pitchFamily="34" charset="0"/>
                <a:cs typeface="Calibri" panose="020F0502020204030204" pitchFamily="34" charset="0"/>
              </a:rPr>
              <a:t>Encoder Transformer </a:t>
            </a:r>
            <a:r>
              <a:rPr lang="en-US" sz="1800" dirty="0">
                <a:solidFill>
                  <a:srgbClr val="1A1A1A"/>
                </a:solidFill>
                <a:highlight>
                  <a:srgbClr val="FFFFFF"/>
                </a:highlight>
                <a:latin typeface="Calibri" panose="020F0502020204030204" pitchFamily="34" charset="0"/>
                <a:cs typeface="Calibri" panose="020F0502020204030204" pitchFamily="34" charset="0"/>
              </a:rPr>
              <a:t>are great at capturing the contexts in sequences. BUT they </a:t>
            </a:r>
            <a:r>
              <a:rPr lang="en-US" sz="1800" dirty="0">
                <a:solidFill>
                  <a:srgbClr val="1A1A1A"/>
                </a:solidFill>
                <a:highlight>
                  <a:srgbClr val="FFFF00"/>
                </a:highlight>
                <a:latin typeface="Calibri" panose="020F0502020204030204" pitchFamily="34" charset="0"/>
                <a:cs typeface="Calibri" panose="020F0502020204030204" pitchFamily="34" charset="0"/>
              </a:rPr>
              <a:t>can not generate the sequences of texts.</a:t>
            </a:r>
          </a:p>
          <a:p>
            <a:pPr>
              <a:lnSpc>
                <a:spcPct val="115000"/>
              </a:lnSpc>
              <a:spcBef>
                <a:spcPts val="1425"/>
              </a:spcBef>
            </a:pPr>
            <a:r>
              <a:rPr lang="en-US" sz="1800" dirty="0">
                <a:solidFill>
                  <a:srgbClr val="1A1A1A"/>
                </a:solidFill>
                <a:highlight>
                  <a:srgbClr val="FFFFFF"/>
                </a:highlight>
                <a:latin typeface="Calibri" panose="020F0502020204030204" pitchFamily="34" charset="0"/>
                <a:cs typeface="Calibri" panose="020F0502020204030204" pitchFamily="34" charset="0"/>
              </a:rPr>
              <a:t> Decoder based models are trained to </a:t>
            </a:r>
            <a:r>
              <a:rPr lang="en-US" sz="1800" b="1" dirty="0">
                <a:solidFill>
                  <a:srgbClr val="1A1A1A"/>
                </a:solidFill>
                <a:highlight>
                  <a:srgbClr val="FFFFFF"/>
                </a:highlight>
                <a:latin typeface="Calibri" panose="020F0502020204030204" pitchFamily="34" charset="0"/>
                <a:cs typeface="Calibri" panose="020F0502020204030204" pitchFamily="34" charset="0"/>
              </a:rPr>
              <a:t>generate coherent and contextually relevant text</a:t>
            </a:r>
            <a:r>
              <a:rPr lang="en-US" sz="1800" dirty="0">
                <a:solidFill>
                  <a:srgbClr val="1A1A1A"/>
                </a:solidFill>
                <a:highlight>
                  <a:srgbClr val="FFFFFF"/>
                </a:highlight>
                <a:latin typeface="Calibri" panose="020F0502020204030204" pitchFamily="34" charset="0"/>
                <a:cs typeface="Calibri" panose="020F0502020204030204" pitchFamily="34" charset="0"/>
              </a:rPr>
              <a:t> by </a:t>
            </a:r>
            <a:r>
              <a:rPr lang="en-US" sz="1800" b="1" dirty="0">
                <a:solidFill>
                  <a:srgbClr val="1A1A1A"/>
                </a:solidFill>
                <a:highlight>
                  <a:srgbClr val="FFFFFF"/>
                </a:highlight>
                <a:latin typeface="Calibri" panose="020F0502020204030204" pitchFamily="34" charset="0"/>
                <a:cs typeface="Calibri" panose="020F0502020204030204" pitchFamily="34" charset="0"/>
              </a:rPr>
              <a:t>autoregressively predicting the next </a:t>
            </a:r>
            <a:r>
              <a:rPr lang="en-US" sz="1800" dirty="0">
                <a:solidFill>
                  <a:srgbClr val="1A1A1A"/>
                </a:solidFill>
                <a:highlight>
                  <a:srgbClr val="FFFFFF"/>
                </a:highlight>
                <a:latin typeface="Calibri" panose="020F0502020204030204" pitchFamily="34" charset="0"/>
                <a:cs typeface="Calibri" panose="020F0502020204030204" pitchFamily="34" charset="0"/>
              </a:rPr>
              <a:t>word or token based on the preceding ones.</a:t>
            </a:r>
          </a:p>
          <a:p>
            <a:pPr>
              <a:lnSpc>
                <a:spcPct val="115000"/>
              </a:lnSpc>
              <a:spcBef>
                <a:spcPts val="1425"/>
              </a:spcBef>
            </a:pPr>
            <a:r>
              <a:rPr lang="en-US" sz="1800" dirty="0">
                <a:solidFill>
                  <a:srgbClr val="1A1A1A"/>
                </a:solidFill>
                <a:highlight>
                  <a:srgbClr val="FFFFFF"/>
                </a:highlight>
                <a:latin typeface="Calibri" panose="020F0502020204030204" pitchFamily="34" charset="0"/>
                <a:cs typeface="Calibri" panose="020F0502020204030204" pitchFamily="34" charset="0"/>
              </a:rPr>
              <a:t>Some of the most common decoder-based models are GPT-2 and GPT-3 proposed by OpenAI.</a:t>
            </a:r>
          </a:p>
          <a:p>
            <a:pPr>
              <a:lnSpc>
                <a:spcPct val="115000"/>
              </a:lnSpc>
              <a:spcBef>
                <a:spcPts val="1425"/>
              </a:spcBef>
            </a:pPr>
            <a:r>
              <a:rPr lang="en-US" sz="1800" dirty="0">
                <a:solidFill>
                  <a:srgbClr val="1A1A1A"/>
                </a:solidFill>
                <a:highlight>
                  <a:srgbClr val="FFFFFF"/>
                </a:highlight>
                <a:latin typeface="Calibri" panose="020F0502020204030204" pitchFamily="34" charset="0"/>
                <a:cs typeface="Calibri" panose="020F0502020204030204" pitchFamily="34" charset="0"/>
              </a:rPr>
              <a:t>GPT is trained on the </a:t>
            </a:r>
            <a:r>
              <a:rPr lang="en-US" sz="1800" dirty="0" err="1">
                <a:solidFill>
                  <a:srgbClr val="1A1A1A"/>
                </a:solidFill>
                <a:highlight>
                  <a:srgbClr val="FFFFFF"/>
                </a:highlight>
                <a:latin typeface="Calibri" panose="020F0502020204030204" pitchFamily="34" charset="0"/>
                <a:cs typeface="Calibri" panose="020F0502020204030204" pitchFamily="34" charset="0"/>
              </a:rPr>
              <a:t>Boookcorpus</a:t>
            </a:r>
            <a:r>
              <a:rPr lang="en-US" sz="1800" dirty="0">
                <a:solidFill>
                  <a:srgbClr val="1A1A1A"/>
                </a:solidFill>
                <a:highlight>
                  <a:srgbClr val="FFFFFF"/>
                </a:highlight>
                <a:latin typeface="Calibri" panose="020F0502020204030204" pitchFamily="34" charset="0"/>
                <a:cs typeface="Calibri" panose="020F0502020204030204" pitchFamily="34" charset="0"/>
              </a:rPr>
              <a:t>  500 M words.</a:t>
            </a:r>
            <a:endParaRPr sz="1800" dirty="0">
              <a:solidFill>
                <a:srgbClr val="1A1A1A"/>
              </a:solidFill>
              <a:highlight>
                <a:srgbClr val="FFFFFF"/>
              </a:highligh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930106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18D024E9-B505-1CA4-65B8-B499B4FCE785}"/>
            </a:ext>
          </a:extLst>
        </p:cNvPr>
        <p:cNvGrpSpPr/>
        <p:nvPr/>
      </p:nvGrpSpPr>
      <p:grpSpPr>
        <a:xfrm>
          <a:off x="0" y="0"/>
          <a:ext cx="0" cy="0"/>
          <a:chOff x="0" y="0"/>
          <a:chExt cx="0" cy="0"/>
        </a:xfrm>
      </p:grpSpPr>
      <p:cxnSp>
        <p:nvCxnSpPr>
          <p:cNvPr id="117" name="Google Shape;117;p3">
            <a:extLst>
              <a:ext uri="{FF2B5EF4-FFF2-40B4-BE49-F238E27FC236}">
                <a16:creationId xmlns:a16="http://schemas.microsoft.com/office/drawing/2014/main" id="{2F5F1824-DEF8-3FE4-5126-7E273130A50D}"/>
              </a:ext>
            </a:extLst>
          </p:cNvPr>
          <p:cNvCxnSpPr/>
          <p:nvPr/>
        </p:nvCxnSpPr>
        <p:spPr>
          <a:xfrm>
            <a:off x="-6231" y="987344"/>
            <a:ext cx="6225039" cy="0"/>
          </a:xfrm>
          <a:prstGeom prst="straightConnector1">
            <a:avLst/>
          </a:prstGeom>
          <a:noFill/>
          <a:ln w="38100" cap="flat" cmpd="sng">
            <a:solidFill>
              <a:srgbClr val="C55A11"/>
            </a:solidFill>
            <a:prstDash val="solid"/>
            <a:miter lim="800000"/>
            <a:headEnd type="none" w="sm" len="sm"/>
            <a:tailEnd type="none" w="sm" len="sm"/>
          </a:ln>
        </p:spPr>
      </p:cxnSp>
      <p:sp>
        <p:nvSpPr>
          <p:cNvPr id="120" name="Google Shape;120;p3">
            <a:extLst>
              <a:ext uri="{FF2B5EF4-FFF2-40B4-BE49-F238E27FC236}">
                <a16:creationId xmlns:a16="http://schemas.microsoft.com/office/drawing/2014/main" id="{E39E9866-302A-D972-68D6-84426A6EC164}"/>
              </a:ext>
            </a:extLst>
          </p:cNvPr>
          <p:cNvSpPr txBox="1"/>
          <p:nvPr/>
        </p:nvSpPr>
        <p:spPr>
          <a:xfrm>
            <a:off x="294834" y="496768"/>
            <a:ext cx="6563167" cy="346218"/>
          </a:xfrm>
          <a:prstGeom prst="rect">
            <a:avLst/>
          </a:prstGeom>
          <a:noFill/>
          <a:ln>
            <a:noFill/>
          </a:ln>
        </p:spPr>
        <p:txBody>
          <a:bodyPr spcFirstLastPara="1" wrap="square" lIns="68569" tIns="34275" rIns="68569" bIns="34275" anchor="t" anchorCtr="0">
            <a:spAutoFit/>
          </a:bodyPr>
          <a:lstStyle/>
          <a:p>
            <a:pPr lvl="0"/>
            <a:r>
              <a:rPr lang="en-US" sz="1800" b="1" dirty="0">
                <a:solidFill>
                  <a:srgbClr val="0070C0"/>
                </a:solidFill>
                <a:latin typeface="Calibri"/>
                <a:ea typeface="Calibri"/>
                <a:cs typeface="Calibri"/>
                <a:sym typeface="Calibri"/>
              </a:rPr>
              <a:t>GPT(</a:t>
            </a:r>
            <a:r>
              <a:rPr lang="en-IN" sz="1800" b="1" dirty="0">
                <a:solidFill>
                  <a:srgbClr val="0070C0"/>
                </a:solidFill>
                <a:latin typeface="Calibri" panose="020F0502020204030204" pitchFamily="34" charset="0"/>
                <a:cs typeface="Calibri" panose="020F0502020204030204" pitchFamily="34" charset="0"/>
              </a:rPr>
              <a:t>Generative Pre-training Transformer)</a:t>
            </a:r>
            <a:endParaRPr sz="1800" b="1" dirty="0">
              <a:solidFill>
                <a:srgbClr val="0070C0"/>
              </a:solidFill>
              <a:latin typeface="Calibri"/>
              <a:ea typeface="Calibri"/>
              <a:cs typeface="Calibri"/>
              <a:sym typeface="Calibri"/>
            </a:endParaRPr>
          </a:p>
        </p:txBody>
      </p:sp>
      <p:sp>
        <p:nvSpPr>
          <p:cNvPr id="5" name="object 6">
            <a:extLst>
              <a:ext uri="{FF2B5EF4-FFF2-40B4-BE49-F238E27FC236}">
                <a16:creationId xmlns:a16="http://schemas.microsoft.com/office/drawing/2014/main" id="{867C64E6-056F-7DA9-6D17-A963EA5C0A19}"/>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pic>
        <p:nvPicPr>
          <p:cNvPr id="3" name="Picture 2">
            <a:extLst>
              <a:ext uri="{FF2B5EF4-FFF2-40B4-BE49-F238E27FC236}">
                <a16:creationId xmlns:a16="http://schemas.microsoft.com/office/drawing/2014/main" id="{0719D85F-CAC6-0EBE-CF29-3AA449BFF438}"/>
              </a:ext>
            </a:extLst>
          </p:cNvPr>
          <p:cNvPicPr>
            <a:picLocks noChangeAspect="1"/>
          </p:cNvPicPr>
          <p:nvPr/>
        </p:nvPicPr>
        <p:blipFill>
          <a:blip r:embed="rId4"/>
          <a:stretch>
            <a:fillRect/>
          </a:stretch>
        </p:blipFill>
        <p:spPr>
          <a:xfrm>
            <a:off x="0" y="1695342"/>
            <a:ext cx="9144000" cy="1752816"/>
          </a:xfrm>
          <a:prstGeom prst="rect">
            <a:avLst/>
          </a:prstGeom>
        </p:spPr>
      </p:pic>
    </p:spTree>
    <p:extLst>
      <p:ext uri="{BB962C8B-B14F-4D97-AF65-F5344CB8AC3E}">
        <p14:creationId xmlns:p14="http://schemas.microsoft.com/office/powerpoint/2010/main" val="39318321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46662BA5-64B6-BEAE-C54F-982F6921F518}"/>
            </a:ext>
          </a:extLst>
        </p:cNvPr>
        <p:cNvGrpSpPr/>
        <p:nvPr/>
      </p:nvGrpSpPr>
      <p:grpSpPr>
        <a:xfrm>
          <a:off x="0" y="0"/>
          <a:ext cx="0" cy="0"/>
          <a:chOff x="0" y="0"/>
          <a:chExt cx="0" cy="0"/>
        </a:xfrm>
      </p:grpSpPr>
      <p:cxnSp>
        <p:nvCxnSpPr>
          <p:cNvPr id="117" name="Google Shape;117;p3">
            <a:extLst>
              <a:ext uri="{FF2B5EF4-FFF2-40B4-BE49-F238E27FC236}">
                <a16:creationId xmlns:a16="http://schemas.microsoft.com/office/drawing/2014/main" id="{BC8E8F8E-6645-1ADD-04A3-9CD3AFF6FAFF}"/>
              </a:ext>
            </a:extLst>
          </p:cNvPr>
          <p:cNvCxnSpPr/>
          <p:nvPr/>
        </p:nvCxnSpPr>
        <p:spPr>
          <a:xfrm>
            <a:off x="0" y="489922"/>
            <a:ext cx="6225039" cy="0"/>
          </a:xfrm>
          <a:prstGeom prst="straightConnector1">
            <a:avLst/>
          </a:prstGeom>
          <a:noFill/>
          <a:ln w="38100" cap="flat" cmpd="sng">
            <a:solidFill>
              <a:srgbClr val="C55A11"/>
            </a:solidFill>
            <a:prstDash val="solid"/>
            <a:miter lim="800000"/>
            <a:headEnd type="none" w="sm" len="sm"/>
            <a:tailEnd type="none" w="sm" len="sm"/>
          </a:ln>
        </p:spPr>
      </p:cxnSp>
      <p:sp>
        <p:nvSpPr>
          <p:cNvPr id="120" name="Google Shape;120;p3">
            <a:extLst>
              <a:ext uri="{FF2B5EF4-FFF2-40B4-BE49-F238E27FC236}">
                <a16:creationId xmlns:a16="http://schemas.microsoft.com/office/drawing/2014/main" id="{517EB67B-4D3A-3945-66F4-BBEF350DF720}"/>
              </a:ext>
            </a:extLst>
          </p:cNvPr>
          <p:cNvSpPr txBox="1"/>
          <p:nvPr/>
        </p:nvSpPr>
        <p:spPr>
          <a:xfrm>
            <a:off x="301065" y="-654"/>
            <a:ext cx="6563167" cy="346218"/>
          </a:xfrm>
          <a:prstGeom prst="rect">
            <a:avLst/>
          </a:prstGeom>
          <a:noFill/>
          <a:ln>
            <a:noFill/>
          </a:ln>
        </p:spPr>
        <p:txBody>
          <a:bodyPr spcFirstLastPara="1" wrap="square" lIns="68569" tIns="34275" rIns="68569" bIns="34275" anchor="t" anchorCtr="0">
            <a:spAutoFit/>
          </a:bodyPr>
          <a:lstStyle/>
          <a:p>
            <a:pPr lvl="0"/>
            <a:r>
              <a:rPr lang="en-US" sz="1800" b="1" dirty="0">
                <a:solidFill>
                  <a:srgbClr val="0070C0"/>
                </a:solidFill>
                <a:latin typeface="Calibri"/>
                <a:ea typeface="Calibri"/>
                <a:cs typeface="Calibri"/>
                <a:sym typeface="Calibri"/>
              </a:rPr>
              <a:t>GPT(</a:t>
            </a:r>
            <a:r>
              <a:rPr lang="en-IN" sz="1800" b="1" dirty="0">
                <a:solidFill>
                  <a:srgbClr val="0070C0"/>
                </a:solidFill>
                <a:latin typeface="Calibri" panose="020F0502020204030204" pitchFamily="34" charset="0"/>
                <a:cs typeface="Calibri" panose="020F0502020204030204" pitchFamily="34" charset="0"/>
              </a:rPr>
              <a:t>Generative Pre-training Transformer)</a:t>
            </a:r>
            <a:endParaRPr sz="1800" b="1" dirty="0">
              <a:solidFill>
                <a:srgbClr val="0070C0"/>
              </a:solidFill>
              <a:latin typeface="Calibri"/>
              <a:ea typeface="Calibri"/>
              <a:cs typeface="Calibri"/>
              <a:sym typeface="Calibri"/>
            </a:endParaRPr>
          </a:p>
        </p:txBody>
      </p:sp>
      <p:sp>
        <p:nvSpPr>
          <p:cNvPr id="5" name="object 6">
            <a:extLst>
              <a:ext uri="{FF2B5EF4-FFF2-40B4-BE49-F238E27FC236}">
                <a16:creationId xmlns:a16="http://schemas.microsoft.com/office/drawing/2014/main" id="{ADE04A55-5CC4-E88B-E591-EDC22E21B36F}"/>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pic>
        <p:nvPicPr>
          <p:cNvPr id="4" name="Picture 3">
            <a:extLst>
              <a:ext uri="{FF2B5EF4-FFF2-40B4-BE49-F238E27FC236}">
                <a16:creationId xmlns:a16="http://schemas.microsoft.com/office/drawing/2014/main" id="{FCAAAF37-BDB1-A98E-9BC9-0BD7B91F29F1}"/>
              </a:ext>
            </a:extLst>
          </p:cNvPr>
          <p:cNvPicPr>
            <a:picLocks noChangeAspect="1"/>
          </p:cNvPicPr>
          <p:nvPr/>
        </p:nvPicPr>
        <p:blipFill>
          <a:blip r:embed="rId4"/>
          <a:stretch>
            <a:fillRect/>
          </a:stretch>
        </p:blipFill>
        <p:spPr>
          <a:xfrm>
            <a:off x="-58680" y="595909"/>
            <a:ext cx="4940433" cy="3001280"/>
          </a:xfrm>
          <a:prstGeom prst="rect">
            <a:avLst/>
          </a:prstGeom>
        </p:spPr>
      </p:pic>
      <p:pic>
        <p:nvPicPr>
          <p:cNvPr id="7" name="Picture 6">
            <a:extLst>
              <a:ext uri="{FF2B5EF4-FFF2-40B4-BE49-F238E27FC236}">
                <a16:creationId xmlns:a16="http://schemas.microsoft.com/office/drawing/2014/main" id="{F686AB46-4695-D2F6-D69C-EA6258028FF8}"/>
              </a:ext>
            </a:extLst>
          </p:cNvPr>
          <p:cNvPicPr>
            <a:picLocks noChangeAspect="1"/>
          </p:cNvPicPr>
          <p:nvPr/>
        </p:nvPicPr>
        <p:blipFill>
          <a:blip r:embed="rId5"/>
          <a:stretch>
            <a:fillRect/>
          </a:stretch>
        </p:blipFill>
        <p:spPr>
          <a:xfrm>
            <a:off x="2925192" y="2096549"/>
            <a:ext cx="6218808" cy="2701276"/>
          </a:xfrm>
          <a:prstGeom prst="rect">
            <a:avLst/>
          </a:prstGeom>
        </p:spPr>
      </p:pic>
    </p:spTree>
    <p:extLst>
      <p:ext uri="{BB962C8B-B14F-4D97-AF65-F5344CB8AC3E}">
        <p14:creationId xmlns:p14="http://schemas.microsoft.com/office/powerpoint/2010/main" val="7375307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9BE48489-1053-73A6-93B8-ADB2B3E337DA}"/>
            </a:ext>
          </a:extLst>
        </p:cNvPr>
        <p:cNvGrpSpPr/>
        <p:nvPr/>
      </p:nvGrpSpPr>
      <p:grpSpPr>
        <a:xfrm>
          <a:off x="0" y="0"/>
          <a:ext cx="0" cy="0"/>
          <a:chOff x="0" y="0"/>
          <a:chExt cx="0" cy="0"/>
        </a:xfrm>
      </p:grpSpPr>
      <p:cxnSp>
        <p:nvCxnSpPr>
          <p:cNvPr id="117" name="Google Shape;117;p3">
            <a:extLst>
              <a:ext uri="{FF2B5EF4-FFF2-40B4-BE49-F238E27FC236}">
                <a16:creationId xmlns:a16="http://schemas.microsoft.com/office/drawing/2014/main" id="{5291088D-0BAA-1BC3-3F94-995934A77AA2}"/>
              </a:ext>
            </a:extLst>
          </p:cNvPr>
          <p:cNvCxnSpPr/>
          <p:nvPr/>
        </p:nvCxnSpPr>
        <p:spPr>
          <a:xfrm>
            <a:off x="0" y="489922"/>
            <a:ext cx="6225039" cy="0"/>
          </a:xfrm>
          <a:prstGeom prst="straightConnector1">
            <a:avLst/>
          </a:prstGeom>
          <a:noFill/>
          <a:ln w="38100" cap="flat" cmpd="sng">
            <a:solidFill>
              <a:srgbClr val="C55A11"/>
            </a:solidFill>
            <a:prstDash val="solid"/>
            <a:miter lim="800000"/>
            <a:headEnd type="none" w="sm" len="sm"/>
            <a:tailEnd type="none" w="sm" len="sm"/>
          </a:ln>
        </p:spPr>
      </p:cxnSp>
      <p:sp>
        <p:nvSpPr>
          <p:cNvPr id="120" name="Google Shape;120;p3">
            <a:extLst>
              <a:ext uri="{FF2B5EF4-FFF2-40B4-BE49-F238E27FC236}">
                <a16:creationId xmlns:a16="http://schemas.microsoft.com/office/drawing/2014/main" id="{6E87F0D7-C2E7-4CCD-EDDB-030DF8C4B810}"/>
              </a:ext>
            </a:extLst>
          </p:cNvPr>
          <p:cNvSpPr txBox="1"/>
          <p:nvPr/>
        </p:nvSpPr>
        <p:spPr>
          <a:xfrm>
            <a:off x="301065" y="-654"/>
            <a:ext cx="6563167" cy="346218"/>
          </a:xfrm>
          <a:prstGeom prst="rect">
            <a:avLst/>
          </a:prstGeom>
          <a:noFill/>
          <a:ln>
            <a:noFill/>
          </a:ln>
        </p:spPr>
        <p:txBody>
          <a:bodyPr spcFirstLastPara="1" wrap="square" lIns="68569" tIns="34275" rIns="68569" bIns="34275" anchor="t" anchorCtr="0">
            <a:spAutoFit/>
          </a:bodyPr>
          <a:lstStyle/>
          <a:p>
            <a:pPr lvl="0"/>
            <a:r>
              <a:rPr lang="en-US" sz="1800" b="1" dirty="0">
                <a:solidFill>
                  <a:srgbClr val="0070C0"/>
                </a:solidFill>
                <a:latin typeface="Calibri"/>
                <a:ea typeface="Calibri"/>
                <a:cs typeface="Calibri"/>
                <a:sym typeface="Calibri"/>
              </a:rPr>
              <a:t>GPT(</a:t>
            </a:r>
            <a:r>
              <a:rPr lang="en-IN" sz="1800" b="1" dirty="0">
                <a:solidFill>
                  <a:srgbClr val="0070C0"/>
                </a:solidFill>
                <a:latin typeface="Calibri" panose="020F0502020204030204" pitchFamily="34" charset="0"/>
                <a:cs typeface="Calibri" panose="020F0502020204030204" pitchFamily="34" charset="0"/>
              </a:rPr>
              <a:t>Generative Pre-training Transformer)</a:t>
            </a:r>
            <a:endParaRPr sz="1800" b="1" dirty="0">
              <a:solidFill>
                <a:srgbClr val="0070C0"/>
              </a:solidFill>
              <a:latin typeface="Calibri"/>
              <a:ea typeface="Calibri"/>
              <a:cs typeface="Calibri"/>
              <a:sym typeface="Calibri"/>
            </a:endParaRPr>
          </a:p>
        </p:txBody>
      </p:sp>
      <p:sp>
        <p:nvSpPr>
          <p:cNvPr id="5" name="object 6">
            <a:extLst>
              <a:ext uri="{FF2B5EF4-FFF2-40B4-BE49-F238E27FC236}">
                <a16:creationId xmlns:a16="http://schemas.microsoft.com/office/drawing/2014/main" id="{0A33A9A9-4534-62F3-A4CF-EE0F7C1CA289}"/>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pic>
        <p:nvPicPr>
          <p:cNvPr id="3" name="Picture 2">
            <a:extLst>
              <a:ext uri="{FF2B5EF4-FFF2-40B4-BE49-F238E27FC236}">
                <a16:creationId xmlns:a16="http://schemas.microsoft.com/office/drawing/2014/main" id="{130D1D5A-6C2E-7153-7586-D6279EB259A4}"/>
              </a:ext>
            </a:extLst>
          </p:cNvPr>
          <p:cNvPicPr>
            <a:picLocks noChangeAspect="1"/>
          </p:cNvPicPr>
          <p:nvPr/>
        </p:nvPicPr>
        <p:blipFill>
          <a:blip r:embed="rId4"/>
          <a:stretch>
            <a:fillRect/>
          </a:stretch>
        </p:blipFill>
        <p:spPr>
          <a:xfrm>
            <a:off x="100346" y="1226341"/>
            <a:ext cx="8515350" cy="3038475"/>
          </a:xfrm>
          <a:prstGeom prst="rect">
            <a:avLst/>
          </a:prstGeom>
        </p:spPr>
      </p:pic>
    </p:spTree>
    <p:extLst>
      <p:ext uri="{BB962C8B-B14F-4D97-AF65-F5344CB8AC3E}">
        <p14:creationId xmlns:p14="http://schemas.microsoft.com/office/powerpoint/2010/main" val="13079267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74"/>
        <p:cNvGrpSpPr/>
        <p:nvPr/>
      </p:nvGrpSpPr>
      <p:grpSpPr>
        <a:xfrm>
          <a:off x="0" y="0"/>
          <a:ext cx="0" cy="0"/>
          <a:chOff x="0" y="0"/>
          <a:chExt cx="0" cy="0"/>
        </a:xfrm>
      </p:grpSpPr>
      <p:sp>
        <p:nvSpPr>
          <p:cNvPr id="975" name="Google Shape;975;p101"/>
          <p:cNvSpPr txBox="1"/>
          <p:nvPr/>
        </p:nvSpPr>
        <p:spPr>
          <a:xfrm>
            <a:off x="17400" y="870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a:solidFill>
                  <a:srgbClr val="C55A11"/>
                </a:solidFill>
                <a:latin typeface="Calibri"/>
                <a:ea typeface="Calibri"/>
                <a:cs typeface="Calibri"/>
                <a:sym typeface="Calibri"/>
              </a:rPr>
              <a:t>GPT</a:t>
            </a:r>
            <a:endParaRPr sz="1800">
              <a:solidFill>
                <a:schemeClr val="dk2"/>
              </a:solidFill>
            </a:endParaRPr>
          </a:p>
        </p:txBody>
      </p:sp>
      <p:cxnSp>
        <p:nvCxnSpPr>
          <p:cNvPr id="976" name="Google Shape;976;p101"/>
          <p:cNvCxnSpPr/>
          <p:nvPr/>
        </p:nvCxnSpPr>
        <p:spPr>
          <a:xfrm>
            <a:off x="-8" y="599447"/>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977" name="Google Shape;977;p101"/>
          <p:cNvSpPr txBox="1"/>
          <p:nvPr/>
        </p:nvSpPr>
        <p:spPr>
          <a:xfrm>
            <a:off x="90950" y="861325"/>
            <a:ext cx="9109200" cy="4228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GB" sz="1900" b="1" dirty="0">
                <a:solidFill>
                  <a:schemeClr val="dk1"/>
                </a:solidFill>
              </a:rPr>
              <a:t>G</a:t>
            </a:r>
            <a:r>
              <a:rPr lang="en-GB" sz="1900" dirty="0">
                <a:solidFill>
                  <a:schemeClr val="dk1"/>
                </a:solidFill>
              </a:rPr>
              <a:t>enerative</a:t>
            </a:r>
            <a:r>
              <a:rPr lang="en-GB" sz="1900" b="1" dirty="0">
                <a:solidFill>
                  <a:schemeClr val="dk1"/>
                </a:solidFill>
              </a:rPr>
              <a:t> P</a:t>
            </a:r>
            <a:r>
              <a:rPr lang="en-GB" sz="1900" dirty="0">
                <a:solidFill>
                  <a:schemeClr val="dk1"/>
                </a:solidFill>
              </a:rPr>
              <a:t>retrained</a:t>
            </a:r>
            <a:r>
              <a:rPr lang="en-GB" sz="1900" b="1" dirty="0">
                <a:solidFill>
                  <a:schemeClr val="dk1"/>
                </a:solidFill>
              </a:rPr>
              <a:t> T</a:t>
            </a:r>
            <a:r>
              <a:rPr lang="en-GB" sz="1900" dirty="0">
                <a:solidFill>
                  <a:schemeClr val="dk1"/>
                </a:solidFill>
              </a:rPr>
              <a:t>ransformer</a:t>
            </a:r>
            <a:endParaRPr sz="1900" dirty="0">
              <a:solidFill>
                <a:schemeClr val="dk1"/>
              </a:solidFill>
            </a:endParaRPr>
          </a:p>
          <a:p>
            <a:pPr marL="0" lvl="0" indent="0" algn="l" rtl="0">
              <a:lnSpc>
                <a:spcPct val="115000"/>
              </a:lnSpc>
              <a:spcBef>
                <a:spcPts val="1200"/>
              </a:spcBef>
              <a:spcAft>
                <a:spcPts val="0"/>
              </a:spcAft>
              <a:buNone/>
            </a:pPr>
            <a:r>
              <a:rPr lang="en-GB" sz="1500" dirty="0">
                <a:solidFill>
                  <a:schemeClr val="dk1"/>
                </a:solidFill>
              </a:rPr>
              <a:t>GPT is based on the </a:t>
            </a:r>
            <a:br>
              <a:rPr lang="en-GB" sz="1500" dirty="0">
                <a:solidFill>
                  <a:schemeClr val="dk1"/>
                </a:solidFill>
              </a:rPr>
            </a:br>
            <a:r>
              <a:rPr lang="en-GB" sz="1500" dirty="0">
                <a:solidFill>
                  <a:schemeClr val="dk1"/>
                </a:solidFill>
              </a:rPr>
              <a:t>Decoder component of the </a:t>
            </a:r>
            <a:br>
              <a:rPr lang="en-GB" sz="1500" dirty="0">
                <a:solidFill>
                  <a:schemeClr val="dk1"/>
                </a:solidFill>
              </a:rPr>
            </a:br>
            <a:r>
              <a:rPr lang="en-GB" sz="1500" dirty="0">
                <a:solidFill>
                  <a:schemeClr val="dk1"/>
                </a:solidFill>
              </a:rPr>
              <a:t>transformer architecture.</a:t>
            </a:r>
            <a:endParaRPr sz="1500" dirty="0">
              <a:solidFill>
                <a:schemeClr val="dk1"/>
              </a:solidFill>
            </a:endParaRPr>
          </a:p>
          <a:p>
            <a:pPr marL="0" lvl="0" indent="0" algn="l" rtl="0">
              <a:lnSpc>
                <a:spcPct val="115000"/>
              </a:lnSpc>
              <a:spcBef>
                <a:spcPts val="1200"/>
              </a:spcBef>
              <a:spcAft>
                <a:spcPts val="0"/>
              </a:spcAft>
              <a:buNone/>
            </a:pPr>
            <a:endParaRPr sz="1500" dirty="0">
              <a:solidFill>
                <a:schemeClr val="dk1"/>
              </a:solidFill>
            </a:endParaRPr>
          </a:p>
          <a:p>
            <a:pPr marL="0" lvl="0" indent="0" algn="l" rtl="0">
              <a:lnSpc>
                <a:spcPct val="115000"/>
              </a:lnSpc>
              <a:spcBef>
                <a:spcPts val="1200"/>
              </a:spcBef>
              <a:spcAft>
                <a:spcPts val="0"/>
              </a:spcAft>
              <a:buNone/>
            </a:pPr>
            <a:r>
              <a:rPr lang="en-GB" sz="1500" dirty="0">
                <a:solidFill>
                  <a:schemeClr val="dk1"/>
                </a:solidFill>
                <a:latin typeface="Roboto"/>
                <a:ea typeface="Roboto"/>
                <a:cs typeface="Roboto"/>
                <a:sym typeface="Roboto"/>
              </a:rPr>
              <a:t>At its heart, the model processes input </a:t>
            </a:r>
            <a:br>
              <a:rPr lang="en-GB" sz="1500" dirty="0">
                <a:solidFill>
                  <a:schemeClr val="dk1"/>
                </a:solidFill>
                <a:latin typeface="Roboto"/>
                <a:ea typeface="Roboto"/>
                <a:cs typeface="Roboto"/>
                <a:sym typeface="Roboto"/>
              </a:rPr>
            </a:br>
            <a:r>
              <a:rPr lang="en-GB" sz="1500" dirty="0">
                <a:solidFill>
                  <a:schemeClr val="dk1"/>
                </a:solidFill>
                <a:latin typeface="Roboto"/>
                <a:ea typeface="Roboto"/>
                <a:cs typeface="Roboto"/>
                <a:sym typeface="Roboto"/>
              </a:rPr>
              <a:t>tokens through multiple stacked </a:t>
            </a:r>
            <a:br>
              <a:rPr lang="en-GB" sz="1500" dirty="0">
                <a:solidFill>
                  <a:schemeClr val="dk1"/>
                </a:solidFill>
                <a:latin typeface="Roboto"/>
                <a:ea typeface="Roboto"/>
                <a:cs typeface="Roboto"/>
                <a:sym typeface="Roboto"/>
              </a:rPr>
            </a:br>
            <a:r>
              <a:rPr lang="en-GB" sz="1500" dirty="0">
                <a:solidFill>
                  <a:schemeClr val="dk1"/>
                </a:solidFill>
                <a:latin typeface="Roboto"/>
                <a:ea typeface="Roboto"/>
                <a:cs typeface="Roboto"/>
                <a:sym typeface="Roboto"/>
              </a:rPr>
              <a:t>transformer layers, each containing </a:t>
            </a:r>
            <a:br>
              <a:rPr lang="en-GB" sz="1500" dirty="0">
                <a:solidFill>
                  <a:schemeClr val="dk1"/>
                </a:solidFill>
                <a:latin typeface="Roboto"/>
                <a:ea typeface="Roboto"/>
                <a:cs typeface="Roboto"/>
                <a:sym typeface="Roboto"/>
              </a:rPr>
            </a:br>
            <a:r>
              <a:rPr lang="en-GB" sz="1500" dirty="0">
                <a:solidFill>
                  <a:schemeClr val="dk1"/>
                </a:solidFill>
                <a:latin typeface="Roboto"/>
                <a:ea typeface="Roboto"/>
                <a:cs typeface="Roboto"/>
                <a:sym typeface="Roboto"/>
              </a:rPr>
              <a:t>self-attention mechanisms and </a:t>
            </a:r>
            <a:br>
              <a:rPr lang="en-GB" sz="1500" dirty="0">
                <a:solidFill>
                  <a:schemeClr val="dk1"/>
                </a:solidFill>
                <a:latin typeface="Roboto"/>
                <a:ea typeface="Roboto"/>
                <a:cs typeface="Roboto"/>
                <a:sym typeface="Roboto"/>
              </a:rPr>
            </a:br>
            <a:r>
              <a:rPr lang="en-GB" sz="1500" dirty="0">
                <a:solidFill>
                  <a:schemeClr val="dk1"/>
                </a:solidFill>
                <a:latin typeface="Roboto"/>
                <a:ea typeface="Roboto"/>
                <a:cs typeface="Roboto"/>
                <a:sym typeface="Roboto"/>
              </a:rPr>
              <a:t>feedforward neural networks</a:t>
            </a:r>
            <a:endParaRPr sz="1800" dirty="0">
              <a:solidFill>
                <a:schemeClr val="dk1"/>
              </a:solidFill>
            </a:endParaRPr>
          </a:p>
          <a:p>
            <a:pPr marL="0" lvl="0" indent="0" algn="l" rtl="0">
              <a:lnSpc>
                <a:spcPct val="115000"/>
              </a:lnSpc>
              <a:spcBef>
                <a:spcPts val="1200"/>
              </a:spcBef>
              <a:spcAft>
                <a:spcPts val="0"/>
              </a:spcAft>
              <a:buNone/>
            </a:pPr>
            <a:endParaRPr sz="1500" dirty="0">
              <a:solidFill>
                <a:schemeClr val="dk1"/>
              </a:solidFill>
            </a:endParaRPr>
          </a:p>
          <a:p>
            <a:pPr marL="457200" lvl="0" indent="0" algn="l" rtl="0">
              <a:lnSpc>
                <a:spcPct val="115000"/>
              </a:lnSpc>
              <a:spcBef>
                <a:spcPts val="1200"/>
              </a:spcBef>
              <a:spcAft>
                <a:spcPts val="0"/>
              </a:spcAft>
              <a:buNone/>
            </a:pPr>
            <a:endParaRPr sz="1500" dirty="0">
              <a:solidFill>
                <a:schemeClr val="dk1"/>
              </a:solidFill>
              <a:latin typeface="Roboto"/>
              <a:ea typeface="Roboto"/>
              <a:cs typeface="Roboto"/>
              <a:sym typeface="Roboto"/>
            </a:endParaRPr>
          </a:p>
          <a:p>
            <a:pPr marL="0" lvl="0" indent="0" algn="l" rtl="0">
              <a:lnSpc>
                <a:spcPct val="115000"/>
              </a:lnSpc>
              <a:spcBef>
                <a:spcPts val="1200"/>
              </a:spcBef>
              <a:spcAft>
                <a:spcPts val="0"/>
              </a:spcAft>
              <a:buNone/>
            </a:pPr>
            <a:endParaRPr sz="1500" dirty="0">
              <a:solidFill>
                <a:schemeClr val="dk1"/>
              </a:solidFill>
            </a:endParaRPr>
          </a:p>
          <a:p>
            <a:pPr marL="0" lvl="0" indent="0" algn="l" rtl="0">
              <a:lnSpc>
                <a:spcPct val="115000"/>
              </a:lnSpc>
              <a:spcBef>
                <a:spcPts val="1200"/>
              </a:spcBef>
              <a:spcAft>
                <a:spcPts val="1200"/>
              </a:spcAft>
              <a:buNone/>
            </a:pPr>
            <a:endParaRPr sz="1500" dirty="0">
              <a:solidFill>
                <a:schemeClr val="dk1"/>
              </a:solidFill>
            </a:endParaRPr>
          </a:p>
        </p:txBody>
      </p:sp>
      <p:sp>
        <p:nvSpPr>
          <p:cNvPr id="979" name="Google Shape;979;p101"/>
          <p:cNvSpPr txBox="1"/>
          <p:nvPr/>
        </p:nvSpPr>
        <p:spPr>
          <a:xfrm>
            <a:off x="0" y="4622400"/>
            <a:ext cx="2766600" cy="52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solidFill>
                  <a:schemeClr val="dk2"/>
                </a:solidFill>
              </a:rPr>
              <a:t>References:</a:t>
            </a:r>
            <a:endParaRPr sz="800">
              <a:solidFill>
                <a:schemeClr val="dk2"/>
              </a:solidFill>
            </a:endParaRPr>
          </a:p>
          <a:p>
            <a:pPr marL="0" lvl="0" indent="0" algn="l" rtl="0">
              <a:spcBef>
                <a:spcPts val="0"/>
              </a:spcBef>
              <a:spcAft>
                <a:spcPts val="0"/>
              </a:spcAft>
              <a:buNone/>
            </a:pPr>
            <a:r>
              <a:rPr lang="en-GB" sz="800" u="sng">
                <a:solidFill>
                  <a:schemeClr val="hlink"/>
                </a:solidFill>
                <a:hlinkClick r:id="rId3"/>
              </a:rPr>
              <a:t>Book: Build a Large Language Model (From Scratch) </a:t>
            </a:r>
            <a:endParaRPr sz="800">
              <a:solidFill>
                <a:schemeClr val="dk2"/>
              </a:solidFill>
            </a:endParaRPr>
          </a:p>
          <a:p>
            <a:pPr marL="0" lvl="0" indent="0" algn="l" rtl="0">
              <a:spcBef>
                <a:spcPts val="0"/>
              </a:spcBef>
              <a:spcAft>
                <a:spcPts val="0"/>
              </a:spcAft>
              <a:buNone/>
            </a:pPr>
            <a:endParaRPr sz="800">
              <a:solidFill>
                <a:schemeClr val="dk2"/>
              </a:solidFill>
            </a:endParaRPr>
          </a:p>
        </p:txBody>
      </p:sp>
      <p:pic>
        <p:nvPicPr>
          <p:cNvPr id="980" name="Google Shape;980;p101"/>
          <p:cNvPicPr preferRelativeResize="0"/>
          <p:nvPr/>
        </p:nvPicPr>
        <p:blipFill>
          <a:blip r:embed="rId4">
            <a:alphaModFix/>
          </a:blip>
          <a:stretch>
            <a:fillRect/>
          </a:stretch>
        </p:blipFill>
        <p:spPr>
          <a:xfrm>
            <a:off x="5451801" y="836875"/>
            <a:ext cx="3529176" cy="4277424"/>
          </a:xfrm>
          <a:prstGeom prst="rect">
            <a:avLst/>
          </a:prstGeom>
          <a:noFill/>
          <a:ln>
            <a:noFill/>
          </a:ln>
        </p:spPr>
      </p:pic>
      <p:pic>
        <p:nvPicPr>
          <p:cNvPr id="981" name="Google Shape;981;p101"/>
          <p:cNvPicPr preferRelativeResize="0"/>
          <p:nvPr/>
        </p:nvPicPr>
        <p:blipFill>
          <a:blip r:embed="rId5">
            <a:alphaModFix/>
          </a:blip>
          <a:stretch>
            <a:fillRect/>
          </a:stretch>
        </p:blipFill>
        <p:spPr>
          <a:xfrm>
            <a:off x="3348625" y="3491950"/>
            <a:ext cx="2103175" cy="1536925"/>
          </a:xfrm>
          <a:prstGeom prst="rect">
            <a:avLst/>
          </a:prstGeom>
          <a:noFill/>
          <a:ln>
            <a:noFill/>
          </a:ln>
        </p:spPr>
      </p:pic>
      <p:sp>
        <p:nvSpPr>
          <p:cNvPr id="2" name="object 6">
            <a:extLst>
              <a:ext uri="{FF2B5EF4-FFF2-40B4-BE49-F238E27FC236}">
                <a16:creationId xmlns:a16="http://schemas.microsoft.com/office/drawing/2014/main" id="{0183AB8D-6256-6983-A14E-B868A94EC224}"/>
              </a:ext>
            </a:extLst>
          </p:cNvPr>
          <p:cNvSpPr/>
          <p:nvPr/>
        </p:nvSpPr>
        <p:spPr>
          <a:xfrm>
            <a:off x="8304129" y="53623"/>
            <a:ext cx="739525" cy="1172718"/>
          </a:xfrm>
          <a:prstGeom prst="rect">
            <a:avLst/>
          </a:prstGeom>
          <a:blipFill>
            <a:blip r:embed="rId6" cstate="print"/>
            <a:stretch>
              <a:fillRect/>
            </a:stretch>
          </a:blipFill>
        </p:spPr>
        <p:txBody>
          <a:bodyPr wrap="square" lIns="0" tIns="0" rIns="0" bIns="0" rtlCol="0"/>
          <a:lstStyle/>
          <a:p>
            <a:endParaRPr sz="945"/>
          </a:p>
        </p:txBody>
      </p:sp>
    </p:spTree>
    <p:extLst>
      <p:ext uri="{BB962C8B-B14F-4D97-AF65-F5344CB8AC3E}">
        <p14:creationId xmlns:p14="http://schemas.microsoft.com/office/powerpoint/2010/main" val="38098448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85"/>
        <p:cNvGrpSpPr/>
        <p:nvPr/>
      </p:nvGrpSpPr>
      <p:grpSpPr>
        <a:xfrm>
          <a:off x="0" y="0"/>
          <a:ext cx="0" cy="0"/>
          <a:chOff x="0" y="0"/>
          <a:chExt cx="0" cy="0"/>
        </a:xfrm>
      </p:grpSpPr>
      <p:sp>
        <p:nvSpPr>
          <p:cNvPr id="986" name="Google Shape;986;p102"/>
          <p:cNvSpPr txBox="1"/>
          <p:nvPr/>
        </p:nvSpPr>
        <p:spPr>
          <a:xfrm>
            <a:off x="17400" y="870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a:solidFill>
                  <a:srgbClr val="C55A11"/>
                </a:solidFill>
                <a:latin typeface="Calibri"/>
                <a:ea typeface="Calibri"/>
                <a:cs typeface="Calibri"/>
                <a:sym typeface="Calibri"/>
              </a:rPr>
              <a:t>GPT</a:t>
            </a:r>
            <a:endParaRPr sz="1800">
              <a:solidFill>
                <a:schemeClr val="dk2"/>
              </a:solidFill>
            </a:endParaRPr>
          </a:p>
        </p:txBody>
      </p:sp>
      <p:cxnSp>
        <p:nvCxnSpPr>
          <p:cNvPr id="987" name="Google Shape;987;p102"/>
          <p:cNvCxnSpPr/>
          <p:nvPr/>
        </p:nvCxnSpPr>
        <p:spPr>
          <a:xfrm>
            <a:off x="-8" y="599447"/>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988" name="Google Shape;988;p102"/>
          <p:cNvSpPr txBox="1"/>
          <p:nvPr/>
        </p:nvSpPr>
        <p:spPr>
          <a:xfrm>
            <a:off x="90950" y="861325"/>
            <a:ext cx="9109200" cy="4228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GB" sz="1900" b="1" dirty="0">
                <a:solidFill>
                  <a:schemeClr val="dk1"/>
                </a:solidFill>
              </a:rPr>
              <a:t>G</a:t>
            </a:r>
            <a:r>
              <a:rPr lang="en-GB" sz="1900" dirty="0">
                <a:solidFill>
                  <a:schemeClr val="dk1"/>
                </a:solidFill>
              </a:rPr>
              <a:t>enerative</a:t>
            </a:r>
            <a:r>
              <a:rPr lang="en-GB" sz="1900" b="1" dirty="0">
                <a:solidFill>
                  <a:schemeClr val="dk1"/>
                </a:solidFill>
              </a:rPr>
              <a:t> P</a:t>
            </a:r>
            <a:r>
              <a:rPr lang="en-GB" sz="1900" dirty="0">
                <a:solidFill>
                  <a:schemeClr val="dk1"/>
                </a:solidFill>
              </a:rPr>
              <a:t>retrained</a:t>
            </a:r>
            <a:r>
              <a:rPr lang="en-GB" sz="1900" b="1" dirty="0">
                <a:solidFill>
                  <a:schemeClr val="dk1"/>
                </a:solidFill>
              </a:rPr>
              <a:t> T</a:t>
            </a:r>
            <a:r>
              <a:rPr lang="en-GB" sz="1900" dirty="0">
                <a:solidFill>
                  <a:schemeClr val="dk1"/>
                </a:solidFill>
              </a:rPr>
              <a:t>ransformer</a:t>
            </a:r>
            <a:endParaRPr sz="1900" dirty="0">
              <a:solidFill>
                <a:schemeClr val="dk1"/>
              </a:solidFill>
            </a:endParaRPr>
          </a:p>
          <a:p>
            <a:pPr marL="0" lvl="0" indent="0" algn="l" rtl="0">
              <a:lnSpc>
                <a:spcPct val="115000"/>
              </a:lnSpc>
              <a:spcBef>
                <a:spcPts val="1200"/>
              </a:spcBef>
              <a:spcAft>
                <a:spcPts val="0"/>
              </a:spcAft>
              <a:buNone/>
            </a:pPr>
            <a:r>
              <a:rPr lang="en-GB" sz="1500" dirty="0">
                <a:solidFill>
                  <a:schemeClr val="dk1"/>
                </a:solidFill>
              </a:rPr>
              <a:t>GPT is based on the </a:t>
            </a:r>
            <a:br>
              <a:rPr lang="en-GB" sz="1500" dirty="0">
                <a:solidFill>
                  <a:schemeClr val="dk1"/>
                </a:solidFill>
              </a:rPr>
            </a:br>
            <a:r>
              <a:rPr lang="en-GB" sz="1500" dirty="0">
                <a:solidFill>
                  <a:schemeClr val="dk1"/>
                </a:solidFill>
              </a:rPr>
              <a:t>Decoder component of the </a:t>
            </a:r>
            <a:br>
              <a:rPr lang="en-GB" sz="1500" dirty="0">
                <a:solidFill>
                  <a:schemeClr val="dk1"/>
                </a:solidFill>
              </a:rPr>
            </a:br>
            <a:r>
              <a:rPr lang="en-GB" sz="1500" dirty="0">
                <a:solidFill>
                  <a:schemeClr val="dk1"/>
                </a:solidFill>
              </a:rPr>
              <a:t>transformer architecture.</a:t>
            </a:r>
            <a:endParaRPr sz="1500" dirty="0">
              <a:solidFill>
                <a:schemeClr val="dk1"/>
              </a:solidFill>
            </a:endParaRPr>
          </a:p>
          <a:p>
            <a:pPr marL="0" lvl="0" indent="0" algn="l" rtl="0">
              <a:lnSpc>
                <a:spcPct val="115000"/>
              </a:lnSpc>
              <a:spcBef>
                <a:spcPts val="1200"/>
              </a:spcBef>
              <a:spcAft>
                <a:spcPts val="0"/>
              </a:spcAft>
              <a:buNone/>
            </a:pPr>
            <a:endParaRPr sz="1500" dirty="0">
              <a:solidFill>
                <a:schemeClr val="dk1"/>
              </a:solidFill>
            </a:endParaRPr>
          </a:p>
          <a:p>
            <a:pPr marL="0" lvl="0" indent="0" algn="l" rtl="0">
              <a:lnSpc>
                <a:spcPct val="115000"/>
              </a:lnSpc>
              <a:spcBef>
                <a:spcPts val="1200"/>
              </a:spcBef>
              <a:spcAft>
                <a:spcPts val="0"/>
              </a:spcAft>
              <a:buNone/>
            </a:pPr>
            <a:r>
              <a:rPr lang="en-GB" sz="1500" dirty="0">
                <a:solidFill>
                  <a:schemeClr val="dk1"/>
                </a:solidFill>
                <a:latin typeface="Roboto"/>
                <a:ea typeface="Roboto"/>
                <a:cs typeface="Roboto"/>
                <a:sym typeface="Roboto"/>
              </a:rPr>
              <a:t>At its heart, the model processes input </a:t>
            </a:r>
            <a:br>
              <a:rPr lang="en-GB" sz="1500" dirty="0">
                <a:solidFill>
                  <a:schemeClr val="dk1"/>
                </a:solidFill>
                <a:latin typeface="Roboto"/>
                <a:ea typeface="Roboto"/>
                <a:cs typeface="Roboto"/>
                <a:sym typeface="Roboto"/>
              </a:rPr>
            </a:br>
            <a:r>
              <a:rPr lang="en-GB" sz="1500" dirty="0">
                <a:solidFill>
                  <a:schemeClr val="dk1"/>
                </a:solidFill>
                <a:latin typeface="Roboto"/>
                <a:ea typeface="Roboto"/>
                <a:cs typeface="Roboto"/>
                <a:sym typeface="Roboto"/>
              </a:rPr>
              <a:t>tokens through multiple stacked </a:t>
            </a:r>
            <a:br>
              <a:rPr lang="en-GB" sz="1500" dirty="0">
                <a:solidFill>
                  <a:schemeClr val="dk1"/>
                </a:solidFill>
                <a:latin typeface="Roboto"/>
                <a:ea typeface="Roboto"/>
                <a:cs typeface="Roboto"/>
                <a:sym typeface="Roboto"/>
              </a:rPr>
            </a:br>
            <a:r>
              <a:rPr lang="en-GB" sz="1500" dirty="0">
                <a:solidFill>
                  <a:schemeClr val="dk1"/>
                </a:solidFill>
                <a:latin typeface="Roboto"/>
                <a:ea typeface="Roboto"/>
                <a:cs typeface="Roboto"/>
                <a:sym typeface="Roboto"/>
              </a:rPr>
              <a:t>transformer layers, each containing </a:t>
            </a:r>
            <a:br>
              <a:rPr lang="en-GB" sz="1500" dirty="0">
                <a:solidFill>
                  <a:schemeClr val="dk1"/>
                </a:solidFill>
                <a:latin typeface="Roboto"/>
                <a:ea typeface="Roboto"/>
                <a:cs typeface="Roboto"/>
                <a:sym typeface="Roboto"/>
              </a:rPr>
            </a:br>
            <a:r>
              <a:rPr lang="en-GB" sz="1500" dirty="0">
                <a:solidFill>
                  <a:schemeClr val="dk1"/>
                </a:solidFill>
                <a:latin typeface="Roboto"/>
                <a:ea typeface="Roboto"/>
                <a:cs typeface="Roboto"/>
                <a:sym typeface="Roboto"/>
              </a:rPr>
              <a:t>self-attention mechanisms and </a:t>
            </a:r>
            <a:br>
              <a:rPr lang="en-GB" sz="1500" dirty="0">
                <a:solidFill>
                  <a:schemeClr val="dk1"/>
                </a:solidFill>
                <a:latin typeface="Roboto"/>
                <a:ea typeface="Roboto"/>
                <a:cs typeface="Roboto"/>
                <a:sym typeface="Roboto"/>
              </a:rPr>
            </a:br>
            <a:r>
              <a:rPr lang="en-GB" sz="1500" dirty="0">
                <a:solidFill>
                  <a:schemeClr val="dk1"/>
                </a:solidFill>
                <a:latin typeface="Roboto"/>
                <a:ea typeface="Roboto"/>
                <a:cs typeface="Roboto"/>
                <a:sym typeface="Roboto"/>
              </a:rPr>
              <a:t>feedforward neural networks</a:t>
            </a:r>
            <a:endParaRPr sz="1800" dirty="0">
              <a:solidFill>
                <a:schemeClr val="dk1"/>
              </a:solidFill>
            </a:endParaRPr>
          </a:p>
          <a:p>
            <a:pPr marL="0" lvl="0" indent="0" algn="l" rtl="0">
              <a:lnSpc>
                <a:spcPct val="115000"/>
              </a:lnSpc>
              <a:spcBef>
                <a:spcPts val="1200"/>
              </a:spcBef>
              <a:spcAft>
                <a:spcPts val="0"/>
              </a:spcAft>
              <a:buNone/>
            </a:pPr>
            <a:endParaRPr sz="1500" dirty="0">
              <a:solidFill>
                <a:schemeClr val="dk1"/>
              </a:solidFill>
            </a:endParaRPr>
          </a:p>
          <a:p>
            <a:pPr marL="457200" lvl="0" indent="0" algn="l" rtl="0">
              <a:lnSpc>
                <a:spcPct val="115000"/>
              </a:lnSpc>
              <a:spcBef>
                <a:spcPts val="1200"/>
              </a:spcBef>
              <a:spcAft>
                <a:spcPts val="0"/>
              </a:spcAft>
              <a:buNone/>
            </a:pPr>
            <a:endParaRPr sz="1500" dirty="0">
              <a:solidFill>
                <a:schemeClr val="dk1"/>
              </a:solidFill>
              <a:latin typeface="Roboto"/>
              <a:ea typeface="Roboto"/>
              <a:cs typeface="Roboto"/>
              <a:sym typeface="Roboto"/>
            </a:endParaRPr>
          </a:p>
          <a:p>
            <a:pPr marL="0" lvl="0" indent="0" algn="l" rtl="0">
              <a:lnSpc>
                <a:spcPct val="115000"/>
              </a:lnSpc>
              <a:spcBef>
                <a:spcPts val="1200"/>
              </a:spcBef>
              <a:spcAft>
                <a:spcPts val="0"/>
              </a:spcAft>
              <a:buNone/>
            </a:pPr>
            <a:endParaRPr sz="1500" dirty="0">
              <a:solidFill>
                <a:schemeClr val="dk1"/>
              </a:solidFill>
            </a:endParaRPr>
          </a:p>
          <a:p>
            <a:pPr marL="0" lvl="0" indent="0" algn="l" rtl="0">
              <a:lnSpc>
                <a:spcPct val="115000"/>
              </a:lnSpc>
              <a:spcBef>
                <a:spcPts val="1200"/>
              </a:spcBef>
              <a:spcAft>
                <a:spcPts val="1200"/>
              </a:spcAft>
              <a:buNone/>
            </a:pPr>
            <a:endParaRPr sz="1500" dirty="0">
              <a:solidFill>
                <a:schemeClr val="dk1"/>
              </a:solidFill>
            </a:endParaRPr>
          </a:p>
        </p:txBody>
      </p:sp>
      <p:sp>
        <p:nvSpPr>
          <p:cNvPr id="990" name="Google Shape;990;p102"/>
          <p:cNvSpPr txBox="1"/>
          <p:nvPr/>
        </p:nvSpPr>
        <p:spPr>
          <a:xfrm>
            <a:off x="0" y="4622400"/>
            <a:ext cx="2766600" cy="52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solidFill>
                  <a:schemeClr val="dk2"/>
                </a:solidFill>
              </a:rPr>
              <a:t>References:</a:t>
            </a:r>
            <a:endParaRPr sz="800">
              <a:solidFill>
                <a:schemeClr val="dk2"/>
              </a:solidFill>
            </a:endParaRPr>
          </a:p>
          <a:p>
            <a:pPr marL="0" lvl="0" indent="0" algn="l" rtl="0">
              <a:spcBef>
                <a:spcPts val="0"/>
              </a:spcBef>
              <a:spcAft>
                <a:spcPts val="0"/>
              </a:spcAft>
              <a:buNone/>
            </a:pPr>
            <a:r>
              <a:rPr lang="en-GB" sz="800" u="sng">
                <a:solidFill>
                  <a:schemeClr val="hlink"/>
                </a:solidFill>
                <a:hlinkClick r:id="rId3"/>
              </a:rPr>
              <a:t>Book: Build a Large Language Model (From Scratch) </a:t>
            </a:r>
            <a:endParaRPr sz="800">
              <a:solidFill>
                <a:schemeClr val="dk2"/>
              </a:solidFill>
            </a:endParaRPr>
          </a:p>
          <a:p>
            <a:pPr marL="0" lvl="0" indent="0" algn="l" rtl="0">
              <a:spcBef>
                <a:spcPts val="0"/>
              </a:spcBef>
              <a:spcAft>
                <a:spcPts val="0"/>
              </a:spcAft>
              <a:buNone/>
            </a:pPr>
            <a:endParaRPr sz="800">
              <a:solidFill>
                <a:schemeClr val="dk2"/>
              </a:solidFill>
            </a:endParaRPr>
          </a:p>
        </p:txBody>
      </p:sp>
      <p:pic>
        <p:nvPicPr>
          <p:cNvPr id="991" name="Google Shape;991;p102"/>
          <p:cNvPicPr preferRelativeResize="0"/>
          <p:nvPr/>
        </p:nvPicPr>
        <p:blipFill>
          <a:blip r:embed="rId4">
            <a:alphaModFix/>
          </a:blip>
          <a:stretch>
            <a:fillRect/>
          </a:stretch>
        </p:blipFill>
        <p:spPr>
          <a:xfrm>
            <a:off x="3957347" y="1389197"/>
            <a:ext cx="4700850" cy="3474550"/>
          </a:xfrm>
          <a:prstGeom prst="rect">
            <a:avLst/>
          </a:prstGeom>
          <a:noFill/>
          <a:ln>
            <a:noFill/>
          </a:ln>
        </p:spPr>
      </p:pic>
      <p:sp>
        <p:nvSpPr>
          <p:cNvPr id="2" name="object 6">
            <a:extLst>
              <a:ext uri="{FF2B5EF4-FFF2-40B4-BE49-F238E27FC236}">
                <a16:creationId xmlns:a16="http://schemas.microsoft.com/office/drawing/2014/main" id="{996FF6F1-335B-BB2D-9C69-1E3DEFA28CEB}"/>
              </a:ext>
            </a:extLst>
          </p:cNvPr>
          <p:cNvSpPr/>
          <p:nvPr/>
        </p:nvSpPr>
        <p:spPr>
          <a:xfrm>
            <a:off x="8304129" y="53623"/>
            <a:ext cx="739525" cy="1172718"/>
          </a:xfrm>
          <a:prstGeom prst="rect">
            <a:avLst/>
          </a:prstGeom>
          <a:blipFill>
            <a:blip r:embed="rId5" cstate="print"/>
            <a:stretch>
              <a:fillRect/>
            </a:stretch>
          </a:blipFill>
        </p:spPr>
        <p:txBody>
          <a:bodyPr wrap="square" lIns="0" tIns="0" rIns="0" bIns="0" rtlCol="0"/>
          <a:lstStyle/>
          <a:p>
            <a:endParaRPr sz="945"/>
          </a:p>
        </p:txBody>
      </p:sp>
    </p:spTree>
    <p:extLst>
      <p:ext uri="{BB962C8B-B14F-4D97-AF65-F5344CB8AC3E}">
        <p14:creationId xmlns:p14="http://schemas.microsoft.com/office/powerpoint/2010/main" val="9550043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95"/>
        <p:cNvGrpSpPr/>
        <p:nvPr/>
      </p:nvGrpSpPr>
      <p:grpSpPr>
        <a:xfrm>
          <a:off x="0" y="0"/>
          <a:ext cx="0" cy="0"/>
          <a:chOff x="0" y="0"/>
          <a:chExt cx="0" cy="0"/>
        </a:xfrm>
      </p:grpSpPr>
      <p:sp>
        <p:nvSpPr>
          <p:cNvPr id="996" name="Google Shape;996;p103"/>
          <p:cNvSpPr txBox="1"/>
          <p:nvPr/>
        </p:nvSpPr>
        <p:spPr>
          <a:xfrm>
            <a:off x="17400" y="870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a:solidFill>
                  <a:srgbClr val="C55A11"/>
                </a:solidFill>
                <a:latin typeface="Calibri"/>
                <a:ea typeface="Calibri"/>
                <a:cs typeface="Calibri"/>
                <a:sym typeface="Calibri"/>
              </a:rPr>
              <a:t>GPT</a:t>
            </a:r>
            <a:endParaRPr sz="1800">
              <a:solidFill>
                <a:schemeClr val="dk2"/>
              </a:solidFill>
            </a:endParaRPr>
          </a:p>
        </p:txBody>
      </p:sp>
      <p:cxnSp>
        <p:nvCxnSpPr>
          <p:cNvPr id="997" name="Google Shape;997;p103"/>
          <p:cNvCxnSpPr/>
          <p:nvPr/>
        </p:nvCxnSpPr>
        <p:spPr>
          <a:xfrm>
            <a:off x="-8" y="599447"/>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998" name="Google Shape;998;p103"/>
          <p:cNvSpPr txBox="1"/>
          <p:nvPr/>
        </p:nvSpPr>
        <p:spPr>
          <a:xfrm>
            <a:off x="90950" y="861325"/>
            <a:ext cx="9109200" cy="4228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0"/>
              </a:spcAft>
              <a:buClr>
                <a:schemeClr val="dk1"/>
              </a:buClr>
              <a:buSzPts val="1100"/>
              <a:buFont typeface="Arial"/>
              <a:buNone/>
            </a:pPr>
            <a:r>
              <a:rPr lang="en-GB" sz="1700">
                <a:solidFill>
                  <a:schemeClr val="dk1"/>
                </a:solidFill>
              </a:rPr>
              <a:t>Key Components</a:t>
            </a:r>
            <a:endParaRPr sz="1700">
              <a:solidFill>
                <a:schemeClr val="dk1"/>
              </a:solidFill>
            </a:endParaRPr>
          </a:p>
          <a:p>
            <a:pPr marL="0" lvl="0" indent="0" algn="l" rtl="0">
              <a:lnSpc>
                <a:spcPct val="100000"/>
              </a:lnSpc>
              <a:spcBef>
                <a:spcPts val="400"/>
              </a:spcBef>
              <a:spcAft>
                <a:spcPts val="0"/>
              </a:spcAft>
              <a:buClr>
                <a:schemeClr val="dk1"/>
              </a:buClr>
              <a:buSzPts val="1100"/>
              <a:buFont typeface="Arial"/>
              <a:buNone/>
            </a:pPr>
            <a:r>
              <a:rPr lang="en-GB" sz="1300" b="1">
                <a:solidFill>
                  <a:schemeClr val="dk1"/>
                </a:solidFill>
                <a:latin typeface="Roboto"/>
                <a:ea typeface="Roboto"/>
                <a:cs typeface="Roboto"/>
                <a:sym typeface="Roboto"/>
              </a:rPr>
              <a:t>Token Processing</a:t>
            </a:r>
            <a:endParaRPr sz="1300" b="1">
              <a:solidFill>
                <a:schemeClr val="dk1"/>
              </a:solidFill>
              <a:latin typeface="Roboto"/>
              <a:ea typeface="Roboto"/>
              <a:cs typeface="Roboto"/>
              <a:sym typeface="Roboto"/>
            </a:endParaRPr>
          </a:p>
          <a:p>
            <a:pPr marL="0" lvl="0" indent="0" algn="l" rtl="0">
              <a:lnSpc>
                <a:spcPct val="100000"/>
              </a:lnSpc>
              <a:spcBef>
                <a:spcPts val="1200"/>
              </a:spcBef>
              <a:spcAft>
                <a:spcPts val="0"/>
              </a:spcAft>
              <a:buClr>
                <a:schemeClr val="dk1"/>
              </a:buClr>
              <a:buSzPts val="1100"/>
              <a:buFont typeface="Arial"/>
              <a:buNone/>
            </a:pPr>
            <a:r>
              <a:rPr lang="en-GB" sz="1300">
                <a:solidFill>
                  <a:schemeClr val="dk1"/>
                </a:solidFill>
                <a:latin typeface="Roboto"/>
                <a:ea typeface="Roboto"/>
                <a:cs typeface="Roboto"/>
                <a:sym typeface="Roboto"/>
              </a:rPr>
              <a:t>When text enters the system, it undergoes two crucial encoding steps:</a:t>
            </a:r>
            <a:endParaRPr sz="1300">
              <a:solidFill>
                <a:schemeClr val="dk1"/>
              </a:solidFill>
              <a:latin typeface="Roboto"/>
              <a:ea typeface="Roboto"/>
              <a:cs typeface="Roboto"/>
              <a:sym typeface="Roboto"/>
            </a:endParaRPr>
          </a:p>
          <a:p>
            <a:pPr marL="457200" lvl="0" indent="-311150" algn="l" rtl="0">
              <a:lnSpc>
                <a:spcPct val="100000"/>
              </a:lnSpc>
              <a:spcBef>
                <a:spcPts val="1200"/>
              </a:spcBef>
              <a:spcAft>
                <a:spcPts val="0"/>
              </a:spcAft>
              <a:buClr>
                <a:schemeClr val="dk1"/>
              </a:buClr>
              <a:buSzPts val="1300"/>
              <a:buFont typeface="Roboto"/>
              <a:buChar char="●"/>
            </a:pPr>
            <a:r>
              <a:rPr lang="en-GB" sz="1300">
                <a:solidFill>
                  <a:schemeClr val="dk1"/>
                </a:solidFill>
                <a:latin typeface="Roboto"/>
                <a:ea typeface="Roboto"/>
                <a:cs typeface="Roboto"/>
                <a:sym typeface="Roboto"/>
              </a:rPr>
              <a:t>Token embeddings convert words into vector representations</a:t>
            </a:r>
            <a:endParaRPr sz="1300">
              <a:solidFill>
                <a:schemeClr val="dk1"/>
              </a:solidFill>
              <a:latin typeface="Roboto"/>
              <a:ea typeface="Roboto"/>
              <a:cs typeface="Roboto"/>
              <a:sym typeface="Roboto"/>
            </a:endParaRPr>
          </a:p>
          <a:p>
            <a:pPr marL="457200" lvl="0" indent="-311150" algn="l" rtl="0">
              <a:lnSpc>
                <a:spcPct val="100000"/>
              </a:lnSpc>
              <a:spcBef>
                <a:spcPts val="0"/>
              </a:spcBef>
              <a:spcAft>
                <a:spcPts val="0"/>
              </a:spcAft>
              <a:buClr>
                <a:schemeClr val="dk1"/>
              </a:buClr>
              <a:buSzPts val="1300"/>
              <a:buFont typeface="Roboto"/>
              <a:buChar char="●"/>
            </a:pPr>
            <a:r>
              <a:rPr lang="en-GB" sz="1300">
                <a:solidFill>
                  <a:schemeClr val="dk1"/>
                </a:solidFill>
                <a:latin typeface="Roboto"/>
                <a:ea typeface="Roboto"/>
                <a:cs typeface="Roboto"/>
                <a:sym typeface="Roboto"/>
              </a:rPr>
              <a:t>Positional encodings add sequence information to maintain word order</a:t>
            </a:r>
            <a:endParaRPr sz="1300">
              <a:solidFill>
                <a:schemeClr val="hlink"/>
              </a:solidFill>
              <a:latin typeface="Courier New"/>
              <a:ea typeface="Courier New"/>
              <a:cs typeface="Courier New"/>
              <a:sym typeface="Courier New"/>
            </a:endParaRPr>
          </a:p>
          <a:p>
            <a:pPr marL="0" lvl="0" indent="0" algn="l" rtl="0">
              <a:lnSpc>
                <a:spcPct val="100000"/>
              </a:lnSpc>
              <a:spcBef>
                <a:spcPts val="600"/>
              </a:spcBef>
              <a:spcAft>
                <a:spcPts val="0"/>
              </a:spcAft>
              <a:buClr>
                <a:schemeClr val="dk1"/>
              </a:buClr>
              <a:buSzPts val="1100"/>
              <a:buFont typeface="Arial"/>
              <a:buNone/>
            </a:pPr>
            <a:r>
              <a:rPr lang="en-GB" sz="1300" b="1">
                <a:solidFill>
                  <a:schemeClr val="dk1"/>
                </a:solidFill>
                <a:latin typeface="Roboto"/>
                <a:ea typeface="Roboto"/>
                <a:cs typeface="Roboto"/>
                <a:sym typeface="Roboto"/>
              </a:rPr>
              <a:t>Self-Attention Mechanism</a:t>
            </a:r>
            <a:endParaRPr sz="1300" b="1">
              <a:solidFill>
                <a:schemeClr val="dk1"/>
              </a:solidFill>
              <a:latin typeface="Roboto"/>
              <a:ea typeface="Roboto"/>
              <a:cs typeface="Roboto"/>
              <a:sym typeface="Roboto"/>
            </a:endParaRPr>
          </a:p>
          <a:p>
            <a:pPr marL="0" lvl="0" indent="0" algn="l" rtl="0">
              <a:lnSpc>
                <a:spcPct val="100000"/>
              </a:lnSpc>
              <a:spcBef>
                <a:spcPts val="1200"/>
              </a:spcBef>
              <a:spcAft>
                <a:spcPts val="0"/>
              </a:spcAft>
              <a:buClr>
                <a:schemeClr val="dk1"/>
              </a:buClr>
              <a:buSzPts val="1100"/>
              <a:buFont typeface="Arial"/>
              <a:buNone/>
            </a:pPr>
            <a:r>
              <a:rPr lang="en-GB" sz="1300">
                <a:solidFill>
                  <a:schemeClr val="dk1"/>
                </a:solidFill>
                <a:latin typeface="Roboto"/>
                <a:ea typeface="Roboto"/>
                <a:cs typeface="Roboto"/>
                <a:sym typeface="Roboto"/>
              </a:rPr>
              <a:t>The self-attention mechanism is what gives GPT its contextual understanding capabilities. It processes input through three main components:</a:t>
            </a:r>
            <a:endParaRPr sz="1300">
              <a:solidFill>
                <a:schemeClr val="dk1"/>
              </a:solidFill>
              <a:latin typeface="Roboto"/>
              <a:ea typeface="Roboto"/>
              <a:cs typeface="Roboto"/>
              <a:sym typeface="Roboto"/>
            </a:endParaRPr>
          </a:p>
          <a:p>
            <a:pPr marL="457200" lvl="0" indent="-311150" algn="l" rtl="0">
              <a:lnSpc>
                <a:spcPct val="100000"/>
              </a:lnSpc>
              <a:spcBef>
                <a:spcPts val="1200"/>
              </a:spcBef>
              <a:spcAft>
                <a:spcPts val="0"/>
              </a:spcAft>
              <a:buClr>
                <a:schemeClr val="dk1"/>
              </a:buClr>
              <a:buSzPts val="1300"/>
              <a:buFont typeface="Roboto"/>
              <a:buChar char="●"/>
            </a:pPr>
            <a:r>
              <a:rPr lang="en-GB" sz="1300">
                <a:solidFill>
                  <a:schemeClr val="dk1"/>
                </a:solidFill>
                <a:latin typeface="Roboto"/>
                <a:ea typeface="Roboto"/>
                <a:cs typeface="Roboto"/>
                <a:sym typeface="Roboto"/>
              </a:rPr>
              <a:t>Query vectors</a:t>
            </a:r>
            <a:endParaRPr sz="1300">
              <a:solidFill>
                <a:schemeClr val="dk1"/>
              </a:solidFill>
              <a:latin typeface="Roboto"/>
              <a:ea typeface="Roboto"/>
              <a:cs typeface="Roboto"/>
              <a:sym typeface="Roboto"/>
            </a:endParaRPr>
          </a:p>
          <a:p>
            <a:pPr marL="457200" lvl="0" indent="-311150" algn="l" rtl="0">
              <a:lnSpc>
                <a:spcPct val="100000"/>
              </a:lnSpc>
              <a:spcBef>
                <a:spcPts val="0"/>
              </a:spcBef>
              <a:spcAft>
                <a:spcPts val="0"/>
              </a:spcAft>
              <a:buClr>
                <a:schemeClr val="dk1"/>
              </a:buClr>
              <a:buSzPts val="1300"/>
              <a:buFont typeface="Roboto"/>
              <a:buChar char="●"/>
            </a:pPr>
            <a:r>
              <a:rPr lang="en-GB" sz="1300">
                <a:solidFill>
                  <a:schemeClr val="dk1"/>
                </a:solidFill>
                <a:latin typeface="Roboto"/>
                <a:ea typeface="Roboto"/>
                <a:cs typeface="Roboto"/>
                <a:sym typeface="Roboto"/>
              </a:rPr>
              <a:t>Key vectors</a:t>
            </a:r>
            <a:endParaRPr sz="1300">
              <a:solidFill>
                <a:schemeClr val="dk1"/>
              </a:solidFill>
              <a:latin typeface="Roboto"/>
              <a:ea typeface="Roboto"/>
              <a:cs typeface="Roboto"/>
              <a:sym typeface="Roboto"/>
            </a:endParaRPr>
          </a:p>
          <a:p>
            <a:pPr marL="457200" lvl="0" indent="-311150" algn="l" rtl="0">
              <a:lnSpc>
                <a:spcPct val="100000"/>
              </a:lnSpc>
              <a:spcBef>
                <a:spcPts val="0"/>
              </a:spcBef>
              <a:spcAft>
                <a:spcPts val="0"/>
              </a:spcAft>
              <a:buClr>
                <a:schemeClr val="dk1"/>
              </a:buClr>
              <a:buSzPts val="1300"/>
              <a:buFont typeface="Roboto"/>
              <a:buChar char="●"/>
            </a:pPr>
            <a:r>
              <a:rPr lang="en-GB" sz="1300">
                <a:solidFill>
                  <a:schemeClr val="dk1"/>
                </a:solidFill>
                <a:latin typeface="Roboto"/>
                <a:ea typeface="Roboto"/>
                <a:cs typeface="Roboto"/>
                <a:sym typeface="Roboto"/>
              </a:rPr>
              <a:t>Value vectors</a:t>
            </a:r>
            <a:endParaRPr sz="1300">
              <a:solidFill>
                <a:schemeClr val="dk1"/>
              </a:solidFill>
              <a:latin typeface="Roboto"/>
              <a:ea typeface="Roboto"/>
              <a:cs typeface="Roboto"/>
              <a:sym typeface="Roboto"/>
            </a:endParaRPr>
          </a:p>
          <a:p>
            <a:pPr marL="0" lvl="0" indent="0" algn="l" rtl="0">
              <a:lnSpc>
                <a:spcPct val="100000"/>
              </a:lnSpc>
              <a:spcBef>
                <a:spcPts val="1200"/>
              </a:spcBef>
              <a:spcAft>
                <a:spcPts val="0"/>
              </a:spcAft>
              <a:buNone/>
            </a:pPr>
            <a:r>
              <a:rPr lang="en-GB" sz="1300">
                <a:solidFill>
                  <a:schemeClr val="dk1"/>
                </a:solidFill>
                <a:latin typeface="Roboto"/>
                <a:ea typeface="Roboto"/>
                <a:cs typeface="Roboto"/>
                <a:sym typeface="Roboto"/>
              </a:rPr>
              <a:t>These vectors work together to compute attention scores, allowing the model to weigh the importance of different words in relation to each other</a:t>
            </a:r>
            <a:endParaRPr sz="1600">
              <a:solidFill>
                <a:schemeClr val="dk1"/>
              </a:solidFill>
            </a:endParaRPr>
          </a:p>
          <a:p>
            <a:pPr marL="0" lvl="0" indent="0" algn="l" rtl="0">
              <a:lnSpc>
                <a:spcPct val="115000"/>
              </a:lnSpc>
              <a:spcBef>
                <a:spcPts val="1200"/>
              </a:spcBef>
              <a:spcAft>
                <a:spcPts val="0"/>
              </a:spcAft>
              <a:buNone/>
            </a:pPr>
            <a:endParaRPr sz="1500">
              <a:solidFill>
                <a:schemeClr val="dk1"/>
              </a:solidFill>
            </a:endParaRPr>
          </a:p>
          <a:p>
            <a:pPr marL="457200" lvl="0" indent="0" algn="l" rtl="0">
              <a:lnSpc>
                <a:spcPct val="115000"/>
              </a:lnSpc>
              <a:spcBef>
                <a:spcPts val="1200"/>
              </a:spcBef>
              <a:spcAft>
                <a:spcPts val="0"/>
              </a:spcAft>
              <a:buNone/>
            </a:pPr>
            <a:endParaRPr sz="1500">
              <a:solidFill>
                <a:schemeClr val="dk1"/>
              </a:solidFill>
              <a:latin typeface="Roboto"/>
              <a:ea typeface="Roboto"/>
              <a:cs typeface="Roboto"/>
              <a:sym typeface="Roboto"/>
            </a:endParaRPr>
          </a:p>
          <a:p>
            <a:pPr marL="0" lvl="0" indent="0" algn="l" rtl="0">
              <a:lnSpc>
                <a:spcPct val="115000"/>
              </a:lnSpc>
              <a:spcBef>
                <a:spcPts val="1200"/>
              </a:spcBef>
              <a:spcAft>
                <a:spcPts val="0"/>
              </a:spcAft>
              <a:buNone/>
            </a:pPr>
            <a:endParaRPr sz="1500">
              <a:solidFill>
                <a:schemeClr val="dk1"/>
              </a:solidFill>
            </a:endParaRPr>
          </a:p>
          <a:p>
            <a:pPr marL="0" lvl="0" indent="0" algn="l" rtl="0">
              <a:lnSpc>
                <a:spcPct val="115000"/>
              </a:lnSpc>
              <a:spcBef>
                <a:spcPts val="1200"/>
              </a:spcBef>
              <a:spcAft>
                <a:spcPts val="1200"/>
              </a:spcAft>
              <a:buNone/>
            </a:pPr>
            <a:endParaRPr sz="1500">
              <a:solidFill>
                <a:schemeClr val="dk1"/>
              </a:solidFill>
            </a:endParaRPr>
          </a:p>
        </p:txBody>
      </p:sp>
      <p:sp>
        <p:nvSpPr>
          <p:cNvPr id="1000" name="Google Shape;1000;p103"/>
          <p:cNvSpPr txBox="1"/>
          <p:nvPr/>
        </p:nvSpPr>
        <p:spPr>
          <a:xfrm>
            <a:off x="0" y="4622400"/>
            <a:ext cx="2766600" cy="52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600">
                <a:solidFill>
                  <a:schemeClr val="dk2"/>
                </a:solidFill>
              </a:rPr>
              <a:t>References:</a:t>
            </a:r>
            <a:endParaRPr sz="600">
              <a:solidFill>
                <a:schemeClr val="dk2"/>
              </a:solidFill>
            </a:endParaRPr>
          </a:p>
          <a:p>
            <a:pPr marL="0" lvl="0" indent="0" algn="l" rtl="0">
              <a:spcBef>
                <a:spcPts val="0"/>
              </a:spcBef>
              <a:spcAft>
                <a:spcPts val="0"/>
              </a:spcAft>
              <a:buNone/>
            </a:pPr>
            <a:r>
              <a:rPr lang="en-GB" sz="600" u="sng">
                <a:solidFill>
                  <a:schemeClr val="hlink"/>
                </a:solidFill>
                <a:hlinkClick r:id="rId3"/>
              </a:rPr>
              <a:t>Blog: </a:t>
            </a:r>
            <a:r>
              <a:rPr lang="en-GB" sz="600" b="1" u="sng">
                <a:solidFill>
                  <a:schemeClr val="hlink"/>
                </a:solidFill>
                <a:highlight>
                  <a:srgbClr val="FFFFFF"/>
                </a:highlight>
                <a:hlinkClick r:id="rId3"/>
              </a:rPr>
              <a:t>A Deep Dive into GPT's Transformer Architecture: Understanding Self-Attention Mechanisms</a:t>
            </a:r>
            <a:endParaRPr sz="600" b="1">
              <a:solidFill>
                <a:srgbClr val="15171A"/>
              </a:solidFill>
              <a:highlight>
                <a:srgbClr val="FFFFFF"/>
              </a:highlight>
            </a:endParaRPr>
          </a:p>
          <a:p>
            <a:pPr marL="0" lvl="0" indent="0" algn="l" rtl="0">
              <a:spcBef>
                <a:spcPts val="0"/>
              </a:spcBef>
              <a:spcAft>
                <a:spcPts val="0"/>
              </a:spcAft>
              <a:buNone/>
            </a:pPr>
            <a:endParaRPr sz="600">
              <a:solidFill>
                <a:schemeClr val="dk2"/>
              </a:solidFill>
            </a:endParaRPr>
          </a:p>
          <a:p>
            <a:pPr marL="0" lvl="0" indent="0" algn="l" rtl="0">
              <a:spcBef>
                <a:spcPts val="0"/>
              </a:spcBef>
              <a:spcAft>
                <a:spcPts val="0"/>
              </a:spcAft>
              <a:buNone/>
            </a:pPr>
            <a:endParaRPr sz="600">
              <a:solidFill>
                <a:schemeClr val="dk2"/>
              </a:solidFill>
            </a:endParaRPr>
          </a:p>
        </p:txBody>
      </p:sp>
      <p:sp>
        <p:nvSpPr>
          <p:cNvPr id="2" name="object 6">
            <a:extLst>
              <a:ext uri="{FF2B5EF4-FFF2-40B4-BE49-F238E27FC236}">
                <a16:creationId xmlns:a16="http://schemas.microsoft.com/office/drawing/2014/main" id="{C7F714B7-F13E-EC85-4AF3-994258BA4C20}"/>
              </a:ext>
            </a:extLst>
          </p:cNvPr>
          <p:cNvSpPr/>
          <p:nvPr/>
        </p:nvSpPr>
        <p:spPr>
          <a:xfrm>
            <a:off x="8304129" y="53623"/>
            <a:ext cx="739525" cy="1172718"/>
          </a:xfrm>
          <a:prstGeom prst="rect">
            <a:avLst/>
          </a:prstGeom>
          <a:blipFill>
            <a:blip r:embed="rId4" cstate="print"/>
            <a:stretch>
              <a:fillRect/>
            </a:stretch>
          </a:blipFill>
        </p:spPr>
        <p:txBody>
          <a:bodyPr wrap="square" lIns="0" tIns="0" rIns="0" bIns="0" rtlCol="0"/>
          <a:lstStyle/>
          <a:p>
            <a:endParaRPr sz="945"/>
          </a:p>
        </p:txBody>
      </p:sp>
    </p:spTree>
    <p:extLst>
      <p:ext uri="{BB962C8B-B14F-4D97-AF65-F5344CB8AC3E}">
        <p14:creationId xmlns:p14="http://schemas.microsoft.com/office/powerpoint/2010/main" val="5712810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004"/>
        <p:cNvGrpSpPr/>
        <p:nvPr/>
      </p:nvGrpSpPr>
      <p:grpSpPr>
        <a:xfrm>
          <a:off x="0" y="0"/>
          <a:ext cx="0" cy="0"/>
          <a:chOff x="0" y="0"/>
          <a:chExt cx="0" cy="0"/>
        </a:xfrm>
      </p:grpSpPr>
      <p:sp>
        <p:nvSpPr>
          <p:cNvPr id="1005" name="Google Shape;1005;p104"/>
          <p:cNvSpPr txBox="1"/>
          <p:nvPr/>
        </p:nvSpPr>
        <p:spPr>
          <a:xfrm>
            <a:off x="17400" y="870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a:solidFill>
                  <a:srgbClr val="C55A11"/>
                </a:solidFill>
                <a:latin typeface="Calibri"/>
                <a:ea typeface="Calibri"/>
                <a:cs typeface="Calibri"/>
                <a:sym typeface="Calibri"/>
              </a:rPr>
              <a:t>GPT Architecture</a:t>
            </a:r>
            <a:endParaRPr sz="1800">
              <a:solidFill>
                <a:schemeClr val="dk2"/>
              </a:solidFill>
            </a:endParaRPr>
          </a:p>
        </p:txBody>
      </p:sp>
      <p:cxnSp>
        <p:nvCxnSpPr>
          <p:cNvPr id="1006" name="Google Shape;1006;p104"/>
          <p:cNvCxnSpPr/>
          <p:nvPr/>
        </p:nvCxnSpPr>
        <p:spPr>
          <a:xfrm>
            <a:off x="-8" y="599447"/>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1007" name="Google Shape;1007;p104"/>
          <p:cNvSpPr txBox="1"/>
          <p:nvPr/>
        </p:nvSpPr>
        <p:spPr>
          <a:xfrm>
            <a:off x="34800" y="861325"/>
            <a:ext cx="9109200" cy="4228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GB" sz="1500" dirty="0">
                <a:solidFill>
                  <a:schemeClr val="dk1"/>
                </a:solidFill>
              </a:rPr>
              <a:t>Let's take a closer look at the general GPT (Generative Pretrained Transformer).</a:t>
            </a:r>
            <a:endParaRPr sz="1500" dirty="0">
              <a:solidFill>
                <a:schemeClr val="dk1"/>
              </a:solidFill>
            </a:endParaRPr>
          </a:p>
          <a:p>
            <a:pPr marL="0" lvl="0" indent="0" algn="l" rtl="0">
              <a:lnSpc>
                <a:spcPct val="115000"/>
              </a:lnSpc>
              <a:spcBef>
                <a:spcPts val="1200"/>
              </a:spcBef>
              <a:spcAft>
                <a:spcPts val="0"/>
              </a:spcAft>
              <a:buNone/>
            </a:pPr>
            <a:r>
              <a:rPr lang="en-GB" sz="1500" dirty="0">
                <a:solidFill>
                  <a:schemeClr val="dk1"/>
                </a:solidFill>
              </a:rPr>
              <a:t>GPT models are highly capable text completion/generation models.</a:t>
            </a:r>
            <a:endParaRPr sz="1500" dirty="0">
              <a:solidFill>
                <a:schemeClr val="dk1"/>
              </a:solidFill>
            </a:endParaRPr>
          </a:p>
          <a:p>
            <a:pPr marL="0" lvl="0" indent="0" algn="l" rtl="0">
              <a:lnSpc>
                <a:spcPct val="115000"/>
              </a:lnSpc>
              <a:spcBef>
                <a:spcPts val="1200"/>
              </a:spcBef>
              <a:spcAft>
                <a:spcPts val="0"/>
              </a:spcAft>
              <a:buNone/>
            </a:pPr>
            <a:r>
              <a:rPr lang="en-GB" sz="1500" dirty="0">
                <a:solidFill>
                  <a:schemeClr val="dk1"/>
                </a:solidFill>
              </a:rPr>
              <a:t>They can perform a variety of tasks beyond text generation, such as:</a:t>
            </a:r>
            <a:endParaRPr sz="1500" dirty="0">
              <a:solidFill>
                <a:schemeClr val="dk1"/>
              </a:solidFill>
            </a:endParaRPr>
          </a:p>
          <a:p>
            <a:pPr marL="457200" lvl="0" indent="-323850" algn="l" rtl="0">
              <a:lnSpc>
                <a:spcPct val="115000"/>
              </a:lnSpc>
              <a:spcBef>
                <a:spcPts val="1200"/>
              </a:spcBef>
              <a:spcAft>
                <a:spcPts val="0"/>
              </a:spcAft>
              <a:buClr>
                <a:schemeClr val="dk1"/>
              </a:buClr>
              <a:buSzPts val="1500"/>
              <a:buChar char="●"/>
            </a:pPr>
            <a:r>
              <a:rPr lang="en-GB" sz="1500" b="1" dirty="0">
                <a:solidFill>
                  <a:schemeClr val="dk1"/>
                </a:solidFill>
              </a:rPr>
              <a:t>Spelling correction</a:t>
            </a:r>
            <a:endParaRPr sz="1500" b="1" dirty="0">
              <a:solidFill>
                <a:schemeClr val="dk1"/>
              </a:solidFill>
            </a:endParaRPr>
          </a:p>
          <a:p>
            <a:pPr marL="457200" lvl="0" indent="-323850" algn="l" rtl="0">
              <a:lnSpc>
                <a:spcPct val="115000"/>
              </a:lnSpc>
              <a:spcBef>
                <a:spcPts val="0"/>
              </a:spcBef>
              <a:spcAft>
                <a:spcPts val="0"/>
              </a:spcAft>
              <a:buClr>
                <a:schemeClr val="dk1"/>
              </a:buClr>
              <a:buSzPts val="1500"/>
              <a:buChar char="●"/>
            </a:pPr>
            <a:r>
              <a:rPr lang="en-GB" sz="1500" b="1" dirty="0">
                <a:solidFill>
                  <a:schemeClr val="dk1"/>
                </a:solidFill>
              </a:rPr>
              <a:t>Text classification</a:t>
            </a:r>
            <a:endParaRPr sz="1500" b="1" dirty="0">
              <a:solidFill>
                <a:schemeClr val="dk1"/>
              </a:solidFill>
            </a:endParaRPr>
          </a:p>
          <a:p>
            <a:pPr marL="457200" lvl="0" indent="-323850" algn="l" rtl="0">
              <a:lnSpc>
                <a:spcPct val="115000"/>
              </a:lnSpc>
              <a:spcBef>
                <a:spcPts val="0"/>
              </a:spcBef>
              <a:spcAft>
                <a:spcPts val="0"/>
              </a:spcAft>
              <a:buClr>
                <a:schemeClr val="dk1"/>
              </a:buClr>
              <a:buSzPts val="1500"/>
              <a:buChar char="●"/>
            </a:pPr>
            <a:r>
              <a:rPr lang="en-GB" sz="1500" b="1" dirty="0">
                <a:solidFill>
                  <a:schemeClr val="dk1"/>
                </a:solidFill>
              </a:rPr>
              <a:t>Language translation</a:t>
            </a:r>
            <a:endParaRPr sz="1500" b="1" dirty="0">
              <a:solidFill>
                <a:schemeClr val="dk1"/>
              </a:solidFill>
            </a:endParaRPr>
          </a:p>
          <a:p>
            <a:pPr marL="0" lvl="0" indent="0" algn="l" rtl="0">
              <a:lnSpc>
                <a:spcPct val="115000"/>
              </a:lnSpc>
              <a:spcBef>
                <a:spcPts val="1200"/>
              </a:spcBef>
              <a:spcAft>
                <a:spcPts val="0"/>
              </a:spcAft>
              <a:buNone/>
            </a:pPr>
            <a:r>
              <a:rPr lang="en-GB" sz="1500" dirty="0">
                <a:solidFill>
                  <a:schemeClr val="dk1"/>
                </a:solidFill>
              </a:rPr>
              <a:t>This versatility is remarkable, considering that GPT models are trained on a relatively simple task: </a:t>
            </a:r>
            <a:r>
              <a:rPr lang="en-GB" sz="1500" b="1" dirty="0">
                <a:solidFill>
                  <a:schemeClr val="dk1"/>
                </a:solidFill>
              </a:rPr>
              <a:t>next-word prediction</a:t>
            </a:r>
            <a:r>
              <a:rPr lang="en-GB" sz="1500" dirty="0">
                <a:solidFill>
                  <a:schemeClr val="dk1"/>
                </a:solidFill>
              </a:rPr>
              <a:t>.</a:t>
            </a:r>
            <a:endParaRPr sz="1500" dirty="0">
              <a:solidFill>
                <a:schemeClr val="dk1"/>
              </a:solidFill>
            </a:endParaRPr>
          </a:p>
          <a:p>
            <a:pPr marL="0" lvl="0" indent="0" algn="l" rtl="0">
              <a:lnSpc>
                <a:spcPct val="115000"/>
              </a:lnSpc>
              <a:spcBef>
                <a:spcPts val="0"/>
              </a:spcBef>
              <a:spcAft>
                <a:spcPts val="0"/>
              </a:spcAft>
              <a:buNone/>
            </a:pPr>
            <a:endParaRPr sz="1500" dirty="0">
              <a:solidFill>
                <a:schemeClr val="dk1"/>
              </a:solidFill>
            </a:endParaRPr>
          </a:p>
          <a:p>
            <a:pPr marL="0" lvl="0" indent="0" algn="l" rtl="0">
              <a:lnSpc>
                <a:spcPct val="115000"/>
              </a:lnSpc>
              <a:spcBef>
                <a:spcPts val="0"/>
              </a:spcBef>
              <a:spcAft>
                <a:spcPts val="0"/>
              </a:spcAft>
              <a:buNone/>
            </a:pPr>
            <a:endParaRPr sz="1500" dirty="0">
              <a:solidFill>
                <a:schemeClr val="dk1"/>
              </a:solidFill>
            </a:endParaRPr>
          </a:p>
          <a:p>
            <a:pPr marL="0" lvl="0" indent="0" algn="l" rtl="0">
              <a:lnSpc>
                <a:spcPct val="115000"/>
              </a:lnSpc>
              <a:spcBef>
                <a:spcPts val="0"/>
              </a:spcBef>
              <a:spcAft>
                <a:spcPts val="0"/>
              </a:spcAft>
              <a:buNone/>
            </a:pPr>
            <a:endParaRPr sz="1500" dirty="0">
              <a:solidFill>
                <a:schemeClr val="dk1"/>
              </a:solidFill>
            </a:endParaRPr>
          </a:p>
          <a:p>
            <a:pPr marL="0" lvl="0" indent="0" algn="l" rtl="0">
              <a:lnSpc>
                <a:spcPct val="115000"/>
              </a:lnSpc>
              <a:spcBef>
                <a:spcPts val="0"/>
              </a:spcBef>
              <a:spcAft>
                <a:spcPts val="0"/>
              </a:spcAft>
              <a:buNone/>
            </a:pPr>
            <a:endParaRPr sz="1500" dirty="0">
              <a:solidFill>
                <a:schemeClr val="dk1"/>
              </a:solidFill>
            </a:endParaRPr>
          </a:p>
          <a:p>
            <a:pPr marL="0" lvl="0" indent="0" algn="l" rtl="0">
              <a:spcBef>
                <a:spcPts val="0"/>
              </a:spcBef>
              <a:spcAft>
                <a:spcPts val="0"/>
              </a:spcAft>
              <a:buNone/>
            </a:pPr>
            <a:r>
              <a:rPr lang="en-GB" sz="800" dirty="0">
                <a:solidFill>
                  <a:schemeClr val="dk2"/>
                </a:solidFill>
              </a:rPr>
              <a:t>References:</a:t>
            </a:r>
            <a:endParaRPr sz="800" dirty="0">
              <a:solidFill>
                <a:schemeClr val="dk2"/>
              </a:solidFill>
            </a:endParaRPr>
          </a:p>
          <a:p>
            <a:pPr marL="0" lvl="0" indent="0" algn="l" rtl="0">
              <a:spcBef>
                <a:spcPts val="0"/>
              </a:spcBef>
              <a:spcAft>
                <a:spcPts val="0"/>
              </a:spcAft>
              <a:buNone/>
            </a:pPr>
            <a:r>
              <a:rPr lang="en-GB" sz="800" u="sng" dirty="0">
                <a:solidFill>
                  <a:schemeClr val="hlink"/>
                </a:solidFill>
                <a:hlinkClick r:id="rId3"/>
              </a:rPr>
              <a:t>Book: Build a Large Language Model (From Scratch) </a:t>
            </a:r>
            <a:endParaRPr sz="800" dirty="0">
              <a:solidFill>
                <a:schemeClr val="dk2"/>
              </a:solidFill>
            </a:endParaRPr>
          </a:p>
          <a:p>
            <a:pPr marL="0" lvl="0" indent="0" algn="l" rtl="0">
              <a:spcBef>
                <a:spcPts val="0"/>
              </a:spcBef>
              <a:spcAft>
                <a:spcPts val="0"/>
              </a:spcAft>
              <a:buNone/>
            </a:pPr>
            <a:endParaRPr sz="800" dirty="0">
              <a:solidFill>
                <a:schemeClr val="dk2"/>
              </a:solidFill>
            </a:endParaRPr>
          </a:p>
          <a:p>
            <a:pPr marL="0" lvl="0" indent="0" algn="l" rtl="0">
              <a:lnSpc>
                <a:spcPct val="115000"/>
              </a:lnSpc>
              <a:spcBef>
                <a:spcPts val="1200"/>
              </a:spcBef>
              <a:spcAft>
                <a:spcPts val="0"/>
              </a:spcAft>
              <a:buNone/>
            </a:pPr>
            <a:endParaRPr sz="1500" dirty="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1500" dirty="0">
              <a:solidFill>
                <a:schemeClr val="dk1"/>
              </a:solidFill>
            </a:endParaRPr>
          </a:p>
          <a:p>
            <a:pPr marL="0" lvl="0" indent="0" algn="l" rtl="0">
              <a:lnSpc>
                <a:spcPct val="115000"/>
              </a:lnSpc>
              <a:spcBef>
                <a:spcPts val="1200"/>
              </a:spcBef>
              <a:spcAft>
                <a:spcPts val="0"/>
              </a:spcAft>
              <a:buNone/>
            </a:pPr>
            <a:endParaRPr sz="1500" dirty="0">
              <a:solidFill>
                <a:schemeClr val="dk1"/>
              </a:solidFill>
            </a:endParaRPr>
          </a:p>
          <a:p>
            <a:pPr marL="0" lvl="0" indent="0" algn="l" rtl="0">
              <a:lnSpc>
                <a:spcPct val="115000"/>
              </a:lnSpc>
              <a:spcBef>
                <a:spcPts val="1200"/>
              </a:spcBef>
              <a:spcAft>
                <a:spcPts val="0"/>
              </a:spcAft>
              <a:buNone/>
            </a:pPr>
            <a:endParaRPr sz="1500" b="1" dirty="0">
              <a:solidFill>
                <a:schemeClr val="dk1"/>
              </a:solidFill>
            </a:endParaRPr>
          </a:p>
          <a:p>
            <a:pPr marL="0" lvl="0" indent="0" algn="l" rtl="0">
              <a:lnSpc>
                <a:spcPct val="115000"/>
              </a:lnSpc>
              <a:spcBef>
                <a:spcPts val="1200"/>
              </a:spcBef>
              <a:spcAft>
                <a:spcPts val="0"/>
              </a:spcAft>
              <a:buNone/>
            </a:pPr>
            <a:endParaRPr sz="1800" b="1" dirty="0">
              <a:solidFill>
                <a:schemeClr val="dk1"/>
              </a:solidFill>
              <a:latin typeface="Times New Roman"/>
              <a:ea typeface="Times New Roman"/>
              <a:cs typeface="Times New Roman"/>
              <a:sym typeface="Times New Roman"/>
            </a:endParaRPr>
          </a:p>
          <a:p>
            <a:pPr marL="0" lvl="0" indent="0" algn="l" rtl="0">
              <a:lnSpc>
                <a:spcPct val="115000"/>
              </a:lnSpc>
              <a:spcBef>
                <a:spcPts val="600"/>
              </a:spcBef>
              <a:spcAft>
                <a:spcPts val="0"/>
              </a:spcAft>
              <a:buNone/>
            </a:pPr>
            <a:endParaRPr sz="1800" b="1" dirty="0">
              <a:solidFill>
                <a:schemeClr val="dk1"/>
              </a:solidFill>
              <a:latin typeface="Times New Roman"/>
              <a:ea typeface="Times New Roman"/>
              <a:cs typeface="Times New Roman"/>
              <a:sym typeface="Times New Roman"/>
            </a:endParaRPr>
          </a:p>
          <a:p>
            <a:pPr marL="0" lvl="0" indent="0" algn="l" rtl="0">
              <a:lnSpc>
                <a:spcPct val="115000"/>
              </a:lnSpc>
              <a:spcBef>
                <a:spcPts val="600"/>
              </a:spcBef>
              <a:spcAft>
                <a:spcPts val="0"/>
              </a:spcAft>
              <a:buNone/>
            </a:pPr>
            <a:endParaRPr sz="1800" dirty="0">
              <a:solidFill>
                <a:schemeClr val="dk1"/>
              </a:solidFill>
              <a:latin typeface="Times New Roman"/>
              <a:ea typeface="Times New Roman"/>
              <a:cs typeface="Times New Roman"/>
              <a:sym typeface="Times New Roman"/>
            </a:endParaRPr>
          </a:p>
          <a:p>
            <a:pPr marL="0" lvl="0" indent="0" algn="l" rtl="0">
              <a:spcBef>
                <a:spcPts val="600"/>
              </a:spcBef>
              <a:spcAft>
                <a:spcPts val="0"/>
              </a:spcAft>
              <a:buNone/>
            </a:pPr>
            <a:endParaRPr sz="1500" dirty="0">
              <a:solidFill>
                <a:schemeClr val="dk2"/>
              </a:solidFill>
            </a:endParaRPr>
          </a:p>
        </p:txBody>
      </p:sp>
      <p:sp>
        <p:nvSpPr>
          <p:cNvPr id="2" name="object 6">
            <a:extLst>
              <a:ext uri="{FF2B5EF4-FFF2-40B4-BE49-F238E27FC236}">
                <a16:creationId xmlns:a16="http://schemas.microsoft.com/office/drawing/2014/main" id="{0F2FCD6A-C8AB-CC2D-89D4-ED8048A1A1DA}"/>
              </a:ext>
            </a:extLst>
          </p:cNvPr>
          <p:cNvSpPr/>
          <p:nvPr/>
        </p:nvSpPr>
        <p:spPr>
          <a:xfrm>
            <a:off x="8304129" y="53623"/>
            <a:ext cx="739525" cy="1172718"/>
          </a:xfrm>
          <a:prstGeom prst="rect">
            <a:avLst/>
          </a:prstGeom>
          <a:blipFill>
            <a:blip r:embed="rId4" cstate="print"/>
            <a:stretch>
              <a:fillRect/>
            </a:stretch>
          </a:blipFill>
        </p:spPr>
        <p:txBody>
          <a:bodyPr wrap="square" lIns="0" tIns="0" rIns="0" bIns="0" rtlCol="0"/>
          <a:lstStyle/>
          <a:p>
            <a:endParaRPr sz="945"/>
          </a:p>
        </p:txBody>
      </p:sp>
    </p:spTree>
    <p:extLst>
      <p:ext uri="{BB962C8B-B14F-4D97-AF65-F5344CB8AC3E}">
        <p14:creationId xmlns:p14="http://schemas.microsoft.com/office/powerpoint/2010/main" val="35020071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012"/>
        <p:cNvGrpSpPr/>
        <p:nvPr/>
      </p:nvGrpSpPr>
      <p:grpSpPr>
        <a:xfrm>
          <a:off x="0" y="0"/>
          <a:ext cx="0" cy="0"/>
          <a:chOff x="0" y="0"/>
          <a:chExt cx="0" cy="0"/>
        </a:xfrm>
      </p:grpSpPr>
      <p:sp>
        <p:nvSpPr>
          <p:cNvPr id="1013" name="Google Shape;1013;p105"/>
          <p:cNvSpPr txBox="1"/>
          <p:nvPr/>
        </p:nvSpPr>
        <p:spPr>
          <a:xfrm>
            <a:off x="17400" y="870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a:solidFill>
                  <a:srgbClr val="C55A11"/>
                </a:solidFill>
                <a:latin typeface="Calibri"/>
                <a:ea typeface="Calibri"/>
                <a:cs typeface="Calibri"/>
                <a:sym typeface="Calibri"/>
              </a:rPr>
              <a:t>GPT Architecture</a:t>
            </a:r>
            <a:endParaRPr sz="1800">
              <a:solidFill>
                <a:schemeClr val="dk2"/>
              </a:solidFill>
            </a:endParaRPr>
          </a:p>
        </p:txBody>
      </p:sp>
      <p:cxnSp>
        <p:nvCxnSpPr>
          <p:cNvPr id="1014" name="Google Shape;1014;p105"/>
          <p:cNvCxnSpPr/>
          <p:nvPr/>
        </p:nvCxnSpPr>
        <p:spPr>
          <a:xfrm>
            <a:off x="-8" y="599447"/>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1015" name="Google Shape;1015;p105"/>
          <p:cNvSpPr txBox="1"/>
          <p:nvPr/>
        </p:nvSpPr>
        <p:spPr>
          <a:xfrm>
            <a:off x="90950" y="861325"/>
            <a:ext cx="9109200" cy="4228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GB" sz="1600" b="1">
                <a:solidFill>
                  <a:schemeClr val="dk1"/>
                </a:solidFill>
              </a:rPr>
              <a:t>Next-Word Prediction Task</a:t>
            </a:r>
            <a:endParaRPr sz="1600" b="1">
              <a:solidFill>
                <a:schemeClr val="dk1"/>
              </a:solidFill>
            </a:endParaRPr>
          </a:p>
          <a:p>
            <a:pPr marL="457200" lvl="0" indent="-323850" algn="l" rtl="0">
              <a:lnSpc>
                <a:spcPct val="115000"/>
              </a:lnSpc>
              <a:spcBef>
                <a:spcPts val="1200"/>
              </a:spcBef>
              <a:spcAft>
                <a:spcPts val="0"/>
              </a:spcAft>
              <a:buClr>
                <a:schemeClr val="dk1"/>
              </a:buClr>
              <a:buSzPts val="1500"/>
              <a:buChar char="●"/>
            </a:pPr>
            <a:r>
              <a:rPr lang="en-GB" sz="1500">
                <a:solidFill>
                  <a:schemeClr val="dk1"/>
                </a:solidFill>
              </a:rPr>
              <a:t>The next-word prediction task is a form of </a:t>
            </a:r>
            <a:r>
              <a:rPr lang="en-GB" sz="1500" b="1">
                <a:solidFill>
                  <a:schemeClr val="dk1"/>
                </a:solidFill>
              </a:rPr>
              <a:t>self-supervised learning</a:t>
            </a:r>
            <a:r>
              <a:rPr lang="en-GB" sz="1500">
                <a:solidFill>
                  <a:schemeClr val="dk1"/>
                </a:solidFill>
              </a:rPr>
              <a:t>.</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GB" sz="1500" b="1">
                <a:solidFill>
                  <a:schemeClr val="dk1"/>
                </a:solidFill>
              </a:rPr>
              <a:t>Self-supervised learning</a:t>
            </a:r>
            <a:r>
              <a:rPr lang="en-GB" sz="1500">
                <a:solidFill>
                  <a:schemeClr val="dk1"/>
                </a:solidFill>
              </a:rPr>
              <a:t> is a type of self-labeling where explicit labels for training data are not required.</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GB" sz="1500">
                <a:solidFill>
                  <a:schemeClr val="dk1"/>
                </a:solidFill>
              </a:rPr>
              <a:t>Instead of manually labeling data, the structure of the data itself is used:</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GB" sz="1500">
                <a:solidFill>
                  <a:schemeClr val="dk1"/>
                </a:solidFill>
              </a:rPr>
              <a:t>The </a:t>
            </a:r>
            <a:r>
              <a:rPr lang="en-GB" sz="1500" b="1">
                <a:solidFill>
                  <a:schemeClr val="dk1"/>
                </a:solidFill>
              </a:rPr>
              <a:t>next word</a:t>
            </a:r>
            <a:r>
              <a:rPr lang="en-GB" sz="1500">
                <a:solidFill>
                  <a:schemeClr val="dk1"/>
                </a:solidFill>
              </a:rPr>
              <a:t> in a sentence or document serves as the label the model predicts.</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GB" sz="1500" b="1">
                <a:solidFill>
                  <a:schemeClr val="dk1"/>
                </a:solidFill>
              </a:rPr>
              <a:t>Advantages of this approach:</a:t>
            </a:r>
            <a:endParaRPr sz="1500" b="1">
              <a:solidFill>
                <a:schemeClr val="dk1"/>
              </a:solidFill>
            </a:endParaRPr>
          </a:p>
          <a:p>
            <a:pPr marL="914400" lvl="1" indent="-323850" algn="l" rtl="0">
              <a:lnSpc>
                <a:spcPct val="115000"/>
              </a:lnSpc>
              <a:spcBef>
                <a:spcPts val="0"/>
              </a:spcBef>
              <a:spcAft>
                <a:spcPts val="0"/>
              </a:spcAft>
              <a:buClr>
                <a:schemeClr val="dk1"/>
              </a:buClr>
              <a:buSzPts val="1500"/>
              <a:buChar char="○"/>
            </a:pPr>
            <a:r>
              <a:rPr lang="en-GB" sz="1500">
                <a:solidFill>
                  <a:schemeClr val="dk1"/>
                </a:solidFill>
              </a:rPr>
              <a:t>Labels are created "on the fly."</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GB" sz="1500">
                <a:solidFill>
                  <a:schemeClr val="dk1"/>
                </a:solidFill>
              </a:rPr>
              <a:t>Enables the use of </a:t>
            </a:r>
            <a:r>
              <a:rPr lang="en-GB" sz="1500" b="1">
                <a:solidFill>
                  <a:schemeClr val="dk1"/>
                </a:solidFill>
              </a:rPr>
              <a:t>massive unlabeled text datasets</a:t>
            </a:r>
            <a:r>
              <a:rPr lang="en-GB" sz="1500">
                <a:solidFill>
                  <a:schemeClr val="dk1"/>
                </a:solidFill>
              </a:rPr>
              <a:t> for training.</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GB" sz="1500">
                <a:solidFill>
                  <a:schemeClr val="dk1"/>
                </a:solidFill>
              </a:rPr>
              <a:t>This approach allows GPT models to learn from vast amounts of data, improving their performance and generalization</a:t>
            </a:r>
            <a:endParaRPr sz="1500">
              <a:solidFill>
                <a:schemeClr val="dk1"/>
              </a:solidFill>
            </a:endParaRPr>
          </a:p>
        </p:txBody>
      </p:sp>
      <p:sp>
        <p:nvSpPr>
          <p:cNvPr id="1017" name="Google Shape;1017;p105"/>
          <p:cNvSpPr txBox="1"/>
          <p:nvPr/>
        </p:nvSpPr>
        <p:spPr>
          <a:xfrm>
            <a:off x="0" y="4622400"/>
            <a:ext cx="2766600" cy="52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solidFill>
                  <a:schemeClr val="dk2"/>
                </a:solidFill>
              </a:rPr>
              <a:t>References:</a:t>
            </a:r>
            <a:endParaRPr sz="800">
              <a:solidFill>
                <a:schemeClr val="dk2"/>
              </a:solidFill>
            </a:endParaRPr>
          </a:p>
          <a:p>
            <a:pPr marL="0" lvl="0" indent="0" algn="l" rtl="0">
              <a:spcBef>
                <a:spcPts val="0"/>
              </a:spcBef>
              <a:spcAft>
                <a:spcPts val="0"/>
              </a:spcAft>
              <a:buNone/>
            </a:pPr>
            <a:r>
              <a:rPr lang="en-GB" sz="800" u="sng">
                <a:solidFill>
                  <a:schemeClr val="hlink"/>
                </a:solidFill>
                <a:hlinkClick r:id="rId3"/>
              </a:rPr>
              <a:t>Book: Build a Large Language Model (From Scratch) </a:t>
            </a:r>
            <a:endParaRPr sz="800">
              <a:solidFill>
                <a:schemeClr val="dk2"/>
              </a:solidFill>
            </a:endParaRPr>
          </a:p>
          <a:p>
            <a:pPr marL="0" lvl="0" indent="0" algn="l" rtl="0">
              <a:spcBef>
                <a:spcPts val="0"/>
              </a:spcBef>
              <a:spcAft>
                <a:spcPts val="0"/>
              </a:spcAft>
              <a:buNone/>
            </a:pPr>
            <a:endParaRPr sz="800">
              <a:solidFill>
                <a:schemeClr val="dk2"/>
              </a:solidFill>
            </a:endParaRPr>
          </a:p>
        </p:txBody>
      </p:sp>
      <p:sp>
        <p:nvSpPr>
          <p:cNvPr id="2" name="object 6">
            <a:extLst>
              <a:ext uri="{FF2B5EF4-FFF2-40B4-BE49-F238E27FC236}">
                <a16:creationId xmlns:a16="http://schemas.microsoft.com/office/drawing/2014/main" id="{85DC8798-4061-5A83-B7DD-1FE3538B77E3}"/>
              </a:ext>
            </a:extLst>
          </p:cNvPr>
          <p:cNvSpPr/>
          <p:nvPr/>
        </p:nvSpPr>
        <p:spPr>
          <a:xfrm>
            <a:off x="8304129" y="53623"/>
            <a:ext cx="739525" cy="1172718"/>
          </a:xfrm>
          <a:prstGeom prst="rect">
            <a:avLst/>
          </a:prstGeom>
          <a:blipFill>
            <a:blip r:embed="rId4" cstate="print"/>
            <a:stretch>
              <a:fillRect/>
            </a:stretch>
          </a:blipFill>
        </p:spPr>
        <p:txBody>
          <a:bodyPr wrap="square" lIns="0" tIns="0" rIns="0" bIns="0" rtlCol="0"/>
          <a:lstStyle/>
          <a:p>
            <a:endParaRPr sz="945"/>
          </a:p>
        </p:txBody>
      </p:sp>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E6BDA651-9A30-C64F-B71C-FA3D21E0AE4C}"/>
                  </a:ext>
                </a:extLst>
              </p14:cNvPr>
              <p14:cNvContentPartPr/>
              <p14:nvPr/>
            </p14:nvContentPartPr>
            <p14:xfrm>
              <a:off x="1894680" y="2896200"/>
              <a:ext cx="195120" cy="11520"/>
            </p14:xfrm>
          </p:contentPart>
        </mc:Choice>
        <mc:Fallback xmlns="">
          <p:pic>
            <p:nvPicPr>
              <p:cNvPr id="3" name="Ink 2">
                <a:extLst>
                  <a:ext uri="{FF2B5EF4-FFF2-40B4-BE49-F238E27FC236}">
                    <a16:creationId xmlns:a16="http://schemas.microsoft.com/office/drawing/2014/main" id="{E6BDA651-9A30-C64F-B71C-FA3D21E0AE4C}"/>
                  </a:ext>
                </a:extLst>
              </p:cNvPr>
              <p:cNvPicPr/>
              <p:nvPr/>
            </p:nvPicPr>
            <p:blipFill>
              <a:blip r:embed="rId6"/>
              <a:stretch>
                <a:fillRect/>
              </a:stretch>
            </p:blipFill>
            <p:spPr>
              <a:xfrm>
                <a:off x="1885320" y="2886840"/>
                <a:ext cx="213840" cy="30240"/>
              </a:xfrm>
              <a:prstGeom prst="rect">
                <a:avLst/>
              </a:prstGeom>
            </p:spPr>
          </p:pic>
        </mc:Fallback>
      </mc:AlternateContent>
    </p:spTree>
    <p:extLst>
      <p:ext uri="{BB962C8B-B14F-4D97-AF65-F5344CB8AC3E}">
        <p14:creationId xmlns:p14="http://schemas.microsoft.com/office/powerpoint/2010/main" val="26169859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021"/>
        <p:cNvGrpSpPr/>
        <p:nvPr/>
      </p:nvGrpSpPr>
      <p:grpSpPr>
        <a:xfrm>
          <a:off x="0" y="0"/>
          <a:ext cx="0" cy="0"/>
          <a:chOff x="0" y="0"/>
          <a:chExt cx="0" cy="0"/>
        </a:xfrm>
      </p:grpSpPr>
      <p:sp>
        <p:nvSpPr>
          <p:cNvPr id="1022" name="Google Shape;1022;p106"/>
          <p:cNvSpPr txBox="1"/>
          <p:nvPr/>
        </p:nvSpPr>
        <p:spPr>
          <a:xfrm>
            <a:off x="17400" y="870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a:solidFill>
                  <a:srgbClr val="C55A11"/>
                </a:solidFill>
                <a:latin typeface="Calibri"/>
                <a:ea typeface="Calibri"/>
                <a:cs typeface="Calibri"/>
                <a:sym typeface="Calibri"/>
              </a:rPr>
              <a:t>GPT Architecture</a:t>
            </a:r>
            <a:endParaRPr sz="1800">
              <a:solidFill>
                <a:schemeClr val="dk2"/>
              </a:solidFill>
            </a:endParaRPr>
          </a:p>
        </p:txBody>
      </p:sp>
      <p:cxnSp>
        <p:nvCxnSpPr>
          <p:cNvPr id="1023" name="Google Shape;1023;p106"/>
          <p:cNvCxnSpPr/>
          <p:nvPr/>
        </p:nvCxnSpPr>
        <p:spPr>
          <a:xfrm>
            <a:off x="-8" y="599447"/>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1024" name="Google Shape;1024;p106"/>
          <p:cNvSpPr txBox="1"/>
          <p:nvPr/>
        </p:nvSpPr>
        <p:spPr>
          <a:xfrm>
            <a:off x="90950" y="861325"/>
            <a:ext cx="9109200" cy="4228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GB" sz="1500" b="1">
                <a:solidFill>
                  <a:schemeClr val="dk1"/>
                </a:solidFill>
              </a:rPr>
              <a:t>GPT Architecture</a:t>
            </a:r>
            <a:endParaRPr sz="1500" b="1">
              <a:solidFill>
                <a:schemeClr val="dk1"/>
              </a:solidFill>
            </a:endParaRPr>
          </a:p>
          <a:p>
            <a:pPr marL="457200" lvl="0" indent="-323850" algn="l" rtl="0">
              <a:lnSpc>
                <a:spcPct val="115000"/>
              </a:lnSpc>
              <a:spcBef>
                <a:spcPts val="1200"/>
              </a:spcBef>
              <a:spcAft>
                <a:spcPts val="0"/>
              </a:spcAft>
              <a:buClr>
                <a:schemeClr val="dk1"/>
              </a:buClr>
              <a:buSzPts val="1500"/>
              <a:buChar char="●"/>
            </a:pPr>
            <a:r>
              <a:rPr lang="en-GB" sz="1500">
                <a:solidFill>
                  <a:schemeClr val="dk1"/>
                </a:solidFill>
              </a:rPr>
              <a:t>The GPT architecture is relatively simple compared to the original Transformer architecture (More on this later).</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GB" sz="1500">
                <a:solidFill>
                  <a:schemeClr val="dk1"/>
                </a:solidFill>
              </a:rPr>
              <a:t>It consists of </a:t>
            </a:r>
            <a:r>
              <a:rPr lang="en-GB" sz="1500" b="1">
                <a:solidFill>
                  <a:schemeClr val="dk1"/>
                </a:solidFill>
              </a:rPr>
              <a:t>only the decoder part</a:t>
            </a:r>
            <a:r>
              <a:rPr lang="en-GB" sz="1500">
                <a:solidFill>
                  <a:schemeClr val="dk1"/>
                </a:solidFill>
              </a:rPr>
              <a:t> (more on this in the next section) of the Transformer model, without the encoder.</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GB" sz="1500" b="1">
                <a:solidFill>
                  <a:schemeClr val="dk1"/>
                </a:solidFill>
              </a:rPr>
              <a:t>Key characteristics of GPT architecture:</a:t>
            </a:r>
            <a:endParaRPr sz="1500" b="1">
              <a:solidFill>
                <a:schemeClr val="dk1"/>
              </a:solidFill>
            </a:endParaRPr>
          </a:p>
          <a:p>
            <a:pPr marL="914400" lvl="1" indent="-323850" algn="l" rtl="0">
              <a:lnSpc>
                <a:spcPct val="115000"/>
              </a:lnSpc>
              <a:spcBef>
                <a:spcPts val="0"/>
              </a:spcBef>
              <a:spcAft>
                <a:spcPts val="0"/>
              </a:spcAft>
              <a:buClr>
                <a:schemeClr val="dk1"/>
              </a:buClr>
              <a:buSzPts val="1500"/>
              <a:buChar char="○"/>
            </a:pPr>
            <a:r>
              <a:rPr lang="en-GB" sz="1500">
                <a:solidFill>
                  <a:schemeClr val="dk1"/>
                </a:solidFill>
              </a:rPr>
              <a:t>It is a </a:t>
            </a:r>
            <a:r>
              <a:rPr lang="en-GB" sz="1500" b="1">
                <a:solidFill>
                  <a:schemeClr val="dk1"/>
                </a:solidFill>
              </a:rPr>
              <a:t>decoder-style model</a:t>
            </a:r>
            <a:r>
              <a:rPr lang="en-GB" sz="1500">
                <a:solidFill>
                  <a:schemeClr val="dk1"/>
                </a:solidFill>
              </a:rPr>
              <a:t>.</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GB" sz="1500">
                <a:solidFill>
                  <a:schemeClr val="dk1"/>
                </a:solidFill>
              </a:rPr>
              <a:t>It generates text by predicting one word at a time, making it an </a:t>
            </a:r>
            <a:r>
              <a:rPr lang="en-GB" sz="1500" b="1">
                <a:solidFill>
                  <a:schemeClr val="dk1"/>
                </a:solidFill>
              </a:rPr>
              <a:t>autoregressive model</a:t>
            </a:r>
            <a:r>
              <a:rPr lang="en-GB" sz="1500">
                <a:solidFill>
                  <a:schemeClr val="dk1"/>
                </a:solidFill>
              </a:rPr>
              <a:t>.</a:t>
            </a:r>
            <a:endParaRPr sz="1500">
              <a:solidFill>
                <a:schemeClr val="dk1"/>
              </a:solidFill>
            </a:endParaRPr>
          </a:p>
          <a:p>
            <a:pPr marL="457200" lvl="0" indent="0" algn="l" rtl="0">
              <a:lnSpc>
                <a:spcPct val="115000"/>
              </a:lnSpc>
              <a:spcBef>
                <a:spcPts val="1200"/>
              </a:spcBef>
              <a:spcAft>
                <a:spcPts val="1200"/>
              </a:spcAft>
              <a:buNone/>
            </a:pPr>
            <a:endParaRPr sz="1600" b="1">
              <a:solidFill>
                <a:schemeClr val="dk1"/>
              </a:solidFill>
            </a:endParaRPr>
          </a:p>
        </p:txBody>
      </p:sp>
      <p:pic>
        <p:nvPicPr>
          <p:cNvPr id="1026" name="Google Shape;1026;p106"/>
          <p:cNvPicPr preferRelativeResize="0"/>
          <p:nvPr/>
        </p:nvPicPr>
        <p:blipFill>
          <a:blip r:embed="rId3">
            <a:alphaModFix/>
          </a:blip>
          <a:stretch>
            <a:fillRect/>
          </a:stretch>
        </p:blipFill>
        <p:spPr>
          <a:xfrm>
            <a:off x="1699167" y="3441762"/>
            <a:ext cx="4901750" cy="2002800"/>
          </a:xfrm>
          <a:prstGeom prst="rect">
            <a:avLst/>
          </a:prstGeom>
          <a:noFill/>
          <a:ln>
            <a:noFill/>
          </a:ln>
        </p:spPr>
      </p:pic>
      <p:sp>
        <p:nvSpPr>
          <p:cNvPr id="1027" name="Google Shape;1027;p106"/>
          <p:cNvSpPr txBox="1"/>
          <p:nvPr/>
        </p:nvSpPr>
        <p:spPr>
          <a:xfrm>
            <a:off x="0" y="4622400"/>
            <a:ext cx="2766600" cy="52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solidFill>
                  <a:schemeClr val="dk2"/>
                </a:solidFill>
              </a:rPr>
              <a:t>References:</a:t>
            </a:r>
            <a:endParaRPr sz="800">
              <a:solidFill>
                <a:schemeClr val="dk2"/>
              </a:solidFill>
            </a:endParaRPr>
          </a:p>
          <a:p>
            <a:pPr marL="0" lvl="0" indent="0" algn="l" rtl="0">
              <a:spcBef>
                <a:spcPts val="0"/>
              </a:spcBef>
              <a:spcAft>
                <a:spcPts val="0"/>
              </a:spcAft>
              <a:buNone/>
            </a:pPr>
            <a:r>
              <a:rPr lang="en-GB" sz="800" u="sng">
                <a:solidFill>
                  <a:schemeClr val="hlink"/>
                </a:solidFill>
                <a:hlinkClick r:id="rId4"/>
              </a:rPr>
              <a:t>Book: Build a Large Language Model (From Scratch) </a:t>
            </a:r>
            <a:endParaRPr sz="800">
              <a:solidFill>
                <a:schemeClr val="dk2"/>
              </a:solidFill>
            </a:endParaRPr>
          </a:p>
          <a:p>
            <a:pPr marL="0" lvl="0" indent="0" algn="l" rtl="0">
              <a:spcBef>
                <a:spcPts val="0"/>
              </a:spcBef>
              <a:spcAft>
                <a:spcPts val="0"/>
              </a:spcAft>
              <a:buNone/>
            </a:pPr>
            <a:endParaRPr sz="800">
              <a:solidFill>
                <a:schemeClr val="dk2"/>
              </a:solidFill>
            </a:endParaRPr>
          </a:p>
        </p:txBody>
      </p:sp>
      <p:sp>
        <p:nvSpPr>
          <p:cNvPr id="2" name="object 6">
            <a:extLst>
              <a:ext uri="{FF2B5EF4-FFF2-40B4-BE49-F238E27FC236}">
                <a16:creationId xmlns:a16="http://schemas.microsoft.com/office/drawing/2014/main" id="{4ABD0016-1E4A-4484-F606-799C8998C822}"/>
              </a:ext>
            </a:extLst>
          </p:cNvPr>
          <p:cNvSpPr/>
          <p:nvPr/>
        </p:nvSpPr>
        <p:spPr>
          <a:xfrm>
            <a:off x="8304129" y="53623"/>
            <a:ext cx="739525" cy="1172718"/>
          </a:xfrm>
          <a:prstGeom prst="rect">
            <a:avLst/>
          </a:prstGeom>
          <a:blipFill>
            <a:blip r:embed="rId5" cstate="print"/>
            <a:stretch>
              <a:fillRect/>
            </a:stretch>
          </a:blipFill>
        </p:spPr>
        <p:txBody>
          <a:bodyPr wrap="square" lIns="0" tIns="0" rIns="0" bIns="0" rtlCol="0"/>
          <a:lstStyle/>
          <a:p>
            <a:endParaRPr sz="945"/>
          </a:p>
        </p:txBody>
      </p:sp>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59CF375C-BE29-DBB4-34D1-23DC13F618CE}"/>
                  </a:ext>
                </a:extLst>
              </p14:cNvPr>
              <p14:cNvContentPartPr/>
              <p14:nvPr/>
            </p14:nvContentPartPr>
            <p14:xfrm>
              <a:off x="1977120" y="2295360"/>
              <a:ext cx="1885320" cy="25200"/>
            </p14:xfrm>
          </p:contentPart>
        </mc:Choice>
        <mc:Fallback xmlns="">
          <p:pic>
            <p:nvPicPr>
              <p:cNvPr id="3" name="Ink 2">
                <a:extLst>
                  <a:ext uri="{FF2B5EF4-FFF2-40B4-BE49-F238E27FC236}">
                    <a16:creationId xmlns:a16="http://schemas.microsoft.com/office/drawing/2014/main" id="{59CF375C-BE29-DBB4-34D1-23DC13F618CE}"/>
                  </a:ext>
                </a:extLst>
              </p:cNvPr>
              <p:cNvPicPr/>
              <p:nvPr/>
            </p:nvPicPr>
            <p:blipFill>
              <a:blip r:embed="rId7"/>
              <a:stretch>
                <a:fillRect/>
              </a:stretch>
            </p:blipFill>
            <p:spPr>
              <a:xfrm>
                <a:off x="1967760" y="2286000"/>
                <a:ext cx="1904040" cy="43920"/>
              </a:xfrm>
              <a:prstGeom prst="rect">
                <a:avLst/>
              </a:prstGeom>
            </p:spPr>
          </p:pic>
        </mc:Fallback>
      </mc:AlternateContent>
    </p:spTree>
    <p:extLst>
      <p:ext uri="{BB962C8B-B14F-4D97-AF65-F5344CB8AC3E}">
        <p14:creationId xmlns:p14="http://schemas.microsoft.com/office/powerpoint/2010/main" val="18832870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031"/>
        <p:cNvGrpSpPr/>
        <p:nvPr/>
      </p:nvGrpSpPr>
      <p:grpSpPr>
        <a:xfrm>
          <a:off x="0" y="0"/>
          <a:ext cx="0" cy="0"/>
          <a:chOff x="0" y="0"/>
          <a:chExt cx="0" cy="0"/>
        </a:xfrm>
      </p:grpSpPr>
      <p:sp>
        <p:nvSpPr>
          <p:cNvPr id="1032" name="Google Shape;1032;p107"/>
          <p:cNvSpPr txBox="1"/>
          <p:nvPr/>
        </p:nvSpPr>
        <p:spPr>
          <a:xfrm>
            <a:off x="17400" y="870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a:solidFill>
                  <a:srgbClr val="C55A11"/>
                </a:solidFill>
                <a:latin typeface="Calibri"/>
                <a:ea typeface="Calibri"/>
                <a:cs typeface="Calibri"/>
                <a:sym typeface="Calibri"/>
              </a:rPr>
              <a:t>GPT Architecture</a:t>
            </a:r>
            <a:endParaRPr sz="1800">
              <a:solidFill>
                <a:schemeClr val="dk2"/>
              </a:solidFill>
            </a:endParaRPr>
          </a:p>
        </p:txBody>
      </p:sp>
      <p:cxnSp>
        <p:nvCxnSpPr>
          <p:cNvPr id="1033" name="Google Shape;1033;p107"/>
          <p:cNvCxnSpPr/>
          <p:nvPr/>
        </p:nvCxnSpPr>
        <p:spPr>
          <a:xfrm>
            <a:off x="-8" y="599447"/>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1034" name="Google Shape;1034;p107"/>
          <p:cNvSpPr txBox="1"/>
          <p:nvPr/>
        </p:nvSpPr>
        <p:spPr>
          <a:xfrm>
            <a:off x="90950" y="861325"/>
            <a:ext cx="9109200" cy="4228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GB" sz="1500" b="1" dirty="0">
                <a:solidFill>
                  <a:schemeClr val="dk1"/>
                </a:solidFill>
                <a:highlight>
                  <a:srgbClr val="FFFF00"/>
                </a:highlight>
              </a:rPr>
              <a:t>Autoregressive Models</a:t>
            </a:r>
            <a:endParaRPr sz="1500" b="1" dirty="0">
              <a:solidFill>
                <a:schemeClr val="dk1"/>
              </a:solidFill>
              <a:highlight>
                <a:srgbClr val="FFFF00"/>
              </a:highlight>
            </a:endParaRPr>
          </a:p>
          <a:p>
            <a:pPr marL="457200" lvl="0" indent="-323850" algn="l" rtl="0">
              <a:lnSpc>
                <a:spcPct val="115000"/>
              </a:lnSpc>
              <a:spcBef>
                <a:spcPts val="1200"/>
              </a:spcBef>
              <a:spcAft>
                <a:spcPts val="0"/>
              </a:spcAft>
              <a:buClr>
                <a:schemeClr val="dk1"/>
              </a:buClr>
              <a:buSzPts val="1500"/>
              <a:buChar char="●"/>
            </a:pPr>
            <a:r>
              <a:rPr lang="en-GB" sz="1500" dirty="0">
                <a:solidFill>
                  <a:schemeClr val="dk1"/>
                </a:solidFill>
              </a:rPr>
              <a:t>GPT models are considered </a:t>
            </a:r>
            <a:r>
              <a:rPr lang="en-GB" sz="1500" b="1" dirty="0">
                <a:solidFill>
                  <a:schemeClr val="dk1"/>
                </a:solidFill>
              </a:rPr>
              <a:t>autoregressive</a:t>
            </a:r>
            <a:r>
              <a:rPr lang="en-GB" sz="1500" dirty="0">
                <a:solidFill>
                  <a:schemeClr val="dk1"/>
                </a:solidFill>
              </a:rPr>
              <a:t> because:</a:t>
            </a:r>
            <a:endParaRPr sz="1500" dirty="0">
              <a:solidFill>
                <a:schemeClr val="dk1"/>
              </a:solidFill>
            </a:endParaRPr>
          </a:p>
          <a:p>
            <a:pPr marL="914400" lvl="1" indent="-323850" algn="l" rtl="0">
              <a:lnSpc>
                <a:spcPct val="115000"/>
              </a:lnSpc>
              <a:spcBef>
                <a:spcPts val="0"/>
              </a:spcBef>
              <a:spcAft>
                <a:spcPts val="0"/>
              </a:spcAft>
              <a:buClr>
                <a:schemeClr val="dk1"/>
              </a:buClr>
              <a:buSzPts val="1500"/>
              <a:buChar char="○"/>
            </a:pPr>
            <a:r>
              <a:rPr lang="en-GB" sz="1500" dirty="0">
                <a:solidFill>
                  <a:schemeClr val="dk1"/>
                </a:solidFill>
              </a:rPr>
              <a:t>They incorporate their previous outputs as </a:t>
            </a:r>
            <a:br>
              <a:rPr lang="en-GB" sz="1500" dirty="0">
                <a:solidFill>
                  <a:schemeClr val="dk1"/>
                </a:solidFill>
              </a:rPr>
            </a:br>
            <a:r>
              <a:rPr lang="en-GB" sz="1500" dirty="0">
                <a:solidFill>
                  <a:schemeClr val="dk1"/>
                </a:solidFill>
              </a:rPr>
              <a:t>inputs for future predictions.</a:t>
            </a:r>
            <a:endParaRPr sz="1500" dirty="0">
              <a:solidFill>
                <a:schemeClr val="dk1"/>
              </a:solidFill>
            </a:endParaRPr>
          </a:p>
          <a:p>
            <a:pPr marL="914400" lvl="1" indent="-323850" algn="l" rtl="0">
              <a:lnSpc>
                <a:spcPct val="115000"/>
              </a:lnSpc>
              <a:spcBef>
                <a:spcPts val="0"/>
              </a:spcBef>
              <a:spcAft>
                <a:spcPts val="0"/>
              </a:spcAft>
              <a:buClr>
                <a:schemeClr val="dk1"/>
              </a:buClr>
              <a:buSzPts val="1500"/>
              <a:buChar char="○"/>
            </a:pPr>
            <a:r>
              <a:rPr lang="en-GB" sz="1500" dirty="0">
                <a:solidFill>
                  <a:schemeClr val="dk1"/>
                </a:solidFill>
              </a:rPr>
              <a:t>Each new word is chosen based on the </a:t>
            </a:r>
            <a:br>
              <a:rPr lang="en-GB" sz="1500" dirty="0">
                <a:solidFill>
                  <a:schemeClr val="dk1"/>
                </a:solidFill>
              </a:rPr>
            </a:br>
            <a:r>
              <a:rPr lang="en-GB" sz="1500" dirty="0">
                <a:solidFill>
                  <a:schemeClr val="dk1"/>
                </a:solidFill>
              </a:rPr>
              <a:t>sequence of words that precedes it.</a:t>
            </a:r>
            <a:endParaRPr sz="1500" dirty="0">
              <a:solidFill>
                <a:schemeClr val="dk1"/>
              </a:solidFill>
            </a:endParaRPr>
          </a:p>
          <a:p>
            <a:pPr marL="457200" lvl="0" indent="-323850" algn="l" rtl="0">
              <a:lnSpc>
                <a:spcPct val="115000"/>
              </a:lnSpc>
              <a:spcBef>
                <a:spcPts val="0"/>
              </a:spcBef>
              <a:spcAft>
                <a:spcPts val="0"/>
              </a:spcAft>
              <a:buClr>
                <a:schemeClr val="dk1"/>
              </a:buClr>
              <a:buSzPts val="1500"/>
              <a:buChar char="●"/>
            </a:pPr>
            <a:r>
              <a:rPr lang="en-GB" sz="1500" dirty="0">
                <a:solidFill>
                  <a:schemeClr val="dk1"/>
                </a:solidFill>
              </a:rPr>
              <a:t>This autoregressive nature improves the </a:t>
            </a:r>
            <a:br>
              <a:rPr lang="en-GB" sz="1500" dirty="0">
                <a:solidFill>
                  <a:schemeClr val="dk1"/>
                </a:solidFill>
              </a:rPr>
            </a:br>
            <a:r>
              <a:rPr lang="en-GB" sz="1500" b="1" dirty="0">
                <a:solidFill>
                  <a:schemeClr val="dk1"/>
                </a:solidFill>
              </a:rPr>
              <a:t>coherence</a:t>
            </a:r>
            <a:r>
              <a:rPr lang="en-GB" sz="1500" dirty="0">
                <a:solidFill>
                  <a:schemeClr val="dk1"/>
                </a:solidFill>
              </a:rPr>
              <a:t> of the generated text.</a:t>
            </a:r>
            <a:endParaRPr sz="1500" dirty="0">
              <a:solidFill>
                <a:schemeClr val="dk1"/>
              </a:solidFill>
            </a:endParaRPr>
          </a:p>
          <a:p>
            <a:pPr marL="914400" lvl="0" indent="0" algn="l" rtl="0">
              <a:lnSpc>
                <a:spcPct val="115000"/>
              </a:lnSpc>
              <a:spcBef>
                <a:spcPts val="1200"/>
              </a:spcBef>
              <a:spcAft>
                <a:spcPts val="0"/>
              </a:spcAft>
              <a:buNone/>
            </a:pPr>
            <a:endParaRPr sz="1500" b="1" dirty="0">
              <a:solidFill>
                <a:schemeClr val="dk1"/>
              </a:solidFill>
            </a:endParaRPr>
          </a:p>
          <a:p>
            <a:pPr marL="457200" lvl="0" indent="0" algn="l" rtl="0">
              <a:lnSpc>
                <a:spcPct val="115000"/>
              </a:lnSpc>
              <a:spcBef>
                <a:spcPts val="1200"/>
              </a:spcBef>
              <a:spcAft>
                <a:spcPts val="1200"/>
              </a:spcAft>
              <a:buNone/>
            </a:pPr>
            <a:endParaRPr sz="1600" b="1" dirty="0">
              <a:solidFill>
                <a:schemeClr val="dk1"/>
              </a:solidFill>
            </a:endParaRPr>
          </a:p>
        </p:txBody>
      </p:sp>
      <p:pic>
        <p:nvPicPr>
          <p:cNvPr id="1036" name="Google Shape;1036;p107"/>
          <p:cNvPicPr preferRelativeResize="0"/>
          <p:nvPr/>
        </p:nvPicPr>
        <p:blipFill>
          <a:blip r:embed="rId3">
            <a:alphaModFix/>
          </a:blip>
          <a:stretch>
            <a:fillRect/>
          </a:stretch>
        </p:blipFill>
        <p:spPr>
          <a:xfrm>
            <a:off x="5447700" y="1904050"/>
            <a:ext cx="3566024" cy="3185775"/>
          </a:xfrm>
          <a:prstGeom prst="rect">
            <a:avLst/>
          </a:prstGeom>
          <a:noFill/>
          <a:ln>
            <a:noFill/>
          </a:ln>
        </p:spPr>
      </p:pic>
      <p:sp>
        <p:nvSpPr>
          <p:cNvPr id="1037" name="Google Shape;1037;p107"/>
          <p:cNvSpPr txBox="1"/>
          <p:nvPr/>
        </p:nvSpPr>
        <p:spPr>
          <a:xfrm>
            <a:off x="0" y="4622400"/>
            <a:ext cx="2766600" cy="52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solidFill>
                  <a:schemeClr val="dk2"/>
                </a:solidFill>
              </a:rPr>
              <a:t>References:</a:t>
            </a:r>
            <a:endParaRPr sz="800">
              <a:solidFill>
                <a:schemeClr val="dk2"/>
              </a:solidFill>
            </a:endParaRPr>
          </a:p>
          <a:p>
            <a:pPr marL="0" lvl="0" indent="0" algn="l" rtl="0">
              <a:spcBef>
                <a:spcPts val="0"/>
              </a:spcBef>
              <a:spcAft>
                <a:spcPts val="0"/>
              </a:spcAft>
              <a:buNone/>
            </a:pPr>
            <a:r>
              <a:rPr lang="en-GB" sz="800" u="sng">
                <a:solidFill>
                  <a:schemeClr val="hlink"/>
                </a:solidFill>
                <a:hlinkClick r:id="rId4"/>
              </a:rPr>
              <a:t>Book: Build a Large Language Model (From Scratch) </a:t>
            </a:r>
            <a:endParaRPr sz="800">
              <a:solidFill>
                <a:schemeClr val="dk2"/>
              </a:solidFill>
            </a:endParaRPr>
          </a:p>
          <a:p>
            <a:pPr marL="0" lvl="0" indent="0" algn="l" rtl="0">
              <a:spcBef>
                <a:spcPts val="0"/>
              </a:spcBef>
              <a:spcAft>
                <a:spcPts val="0"/>
              </a:spcAft>
              <a:buNone/>
            </a:pPr>
            <a:endParaRPr sz="800">
              <a:solidFill>
                <a:schemeClr val="dk2"/>
              </a:solidFill>
            </a:endParaRPr>
          </a:p>
        </p:txBody>
      </p:sp>
      <p:sp>
        <p:nvSpPr>
          <p:cNvPr id="2" name="object 6">
            <a:extLst>
              <a:ext uri="{FF2B5EF4-FFF2-40B4-BE49-F238E27FC236}">
                <a16:creationId xmlns:a16="http://schemas.microsoft.com/office/drawing/2014/main" id="{BD2C2D3F-C7D1-CBFE-FB94-AE6A4017E2E8}"/>
              </a:ext>
            </a:extLst>
          </p:cNvPr>
          <p:cNvSpPr/>
          <p:nvPr/>
        </p:nvSpPr>
        <p:spPr>
          <a:xfrm>
            <a:off x="8304129" y="53623"/>
            <a:ext cx="739525" cy="1172718"/>
          </a:xfrm>
          <a:prstGeom prst="rect">
            <a:avLst/>
          </a:prstGeom>
          <a:blipFill>
            <a:blip r:embed="rId5" cstate="print"/>
            <a:stretch>
              <a:fillRect/>
            </a:stretch>
          </a:blipFill>
        </p:spPr>
        <p:txBody>
          <a:bodyPr wrap="square" lIns="0" tIns="0" rIns="0" bIns="0" rtlCol="0"/>
          <a:lstStyle/>
          <a:p>
            <a:endParaRPr sz="945"/>
          </a:p>
        </p:txBody>
      </p:sp>
    </p:spTree>
    <p:extLst>
      <p:ext uri="{BB962C8B-B14F-4D97-AF65-F5344CB8AC3E}">
        <p14:creationId xmlns:p14="http://schemas.microsoft.com/office/powerpoint/2010/main" val="27870186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041"/>
        <p:cNvGrpSpPr/>
        <p:nvPr/>
      </p:nvGrpSpPr>
      <p:grpSpPr>
        <a:xfrm>
          <a:off x="0" y="0"/>
          <a:ext cx="0" cy="0"/>
          <a:chOff x="0" y="0"/>
          <a:chExt cx="0" cy="0"/>
        </a:xfrm>
      </p:grpSpPr>
      <p:sp>
        <p:nvSpPr>
          <p:cNvPr id="1042" name="Google Shape;1042;p108"/>
          <p:cNvSpPr txBox="1"/>
          <p:nvPr/>
        </p:nvSpPr>
        <p:spPr>
          <a:xfrm>
            <a:off x="90950" y="861325"/>
            <a:ext cx="9109200" cy="4228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1800"/>
              </a:spcBef>
              <a:spcAft>
                <a:spcPts val="0"/>
              </a:spcAft>
              <a:buClr>
                <a:schemeClr val="dk1"/>
              </a:buClr>
              <a:buSzPts val="1100"/>
              <a:buFont typeface="Arial"/>
              <a:buNone/>
            </a:pPr>
            <a:r>
              <a:rPr lang="en-GB" sz="1700" dirty="0">
                <a:solidFill>
                  <a:schemeClr val="dk1"/>
                </a:solidFill>
                <a:highlight>
                  <a:srgbClr val="FFFF00"/>
                </a:highlight>
              </a:rPr>
              <a:t>Processing Pipeline</a:t>
            </a:r>
            <a:endParaRPr sz="1700" dirty="0">
              <a:solidFill>
                <a:schemeClr val="dk1"/>
              </a:solidFill>
              <a:highlight>
                <a:srgbClr val="FFFF00"/>
              </a:highlight>
            </a:endParaRPr>
          </a:p>
          <a:p>
            <a:pPr marL="0" lvl="0" indent="0" algn="l" rtl="0">
              <a:lnSpc>
                <a:spcPct val="100000"/>
              </a:lnSpc>
              <a:spcBef>
                <a:spcPts val="400"/>
              </a:spcBef>
              <a:spcAft>
                <a:spcPts val="0"/>
              </a:spcAft>
              <a:buClr>
                <a:schemeClr val="dk1"/>
              </a:buClr>
              <a:buSzPts val="1100"/>
              <a:buFont typeface="Arial"/>
              <a:buNone/>
            </a:pPr>
            <a:r>
              <a:rPr lang="en-GB" sz="1300" b="1" dirty="0">
                <a:solidFill>
                  <a:schemeClr val="dk1"/>
                </a:solidFill>
                <a:latin typeface="Roboto"/>
                <a:ea typeface="Roboto"/>
                <a:cs typeface="Roboto"/>
                <a:sym typeface="Roboto"/>
              </a:rPr>
              <a:t>Input Processing</a:t>
            </a:r>
            <a:endParaRPr sz="1300" b="1" dirty="0">
              <a:solidFill>
                <a:schemeClr val="dk1"/>
              </a:solidFill>
              <a:latin typeface="Roboto"/>
              <a:ea typeface="Roboto"/>
              <a:cs typeface="Roboto"/>
              <a:sym typeface="Roboto"/>
            </a:endParaRPr>
          </a:p>
          <a:p>
            <a:pPr marL="0" lvl="0" indent="0" algn="l" rtl="0">
              <a:lnSpc>
                <a:spcPct val="100000"/>
              </a:lnSpc>
              <a:spcBef>
                <a:spcPts val="1200"/>
              </a:spcBef>
              <a:spcAft>
                <a:spcPts val="0"/>
              </a:spcAft>
              <a:buClr>
                <a:schemeClr val="dk1"/>
              </a:buClr>
              <a:buSzPts val="1100"/>
              <a:buFont typeface="Arial"/>
              <a:buNone/>
            </a:pPr>
            <a:r>
              <a:rPr lang="en-GB" sz="1300" dirty="0">
                <a:solidFill>
                  <a:schemeClr val="dk1"/>
                </a:solidFill>
                <a:latin typeface="Roboto"/>
                <a:ea typeface="Roboto"/>
                <a:cs typeface="Roboto"/>
                <a:sym typeface="Roboto"/>
              </a:rPr>
              <a:t>The model first tokenizes input text into smaller units and converts them into embeddings. These embeddings then receive positional information to maintain sequence order.</a:t>
            </a:r>
            <a:endParaRPr sz="1300" dirty="0">
              <a:solidFill>
                <a:schemeClr val="dk1"/>
              </a:solidFill>
              <a:latin typeface="Roboto"/>
              <a:ea typeface="Roboto"/>
              <a:cs typeface="Roboto"/>
              <a:sym typeface="Roboto"/>
            </a:endParaRPr>
          </a:p>
          <a:p>
            <a:pPr marL="0" lvl="0" indent="0" algn="l" rtl="0">
              <a:lnSpc>
                <a:spcPct val="100000"/>
              </a:lnSpc>
              <a:spcBef>
                <a:spcPts val="1200"/>
              </a:spcBef>
              <a:spcAft>
                <a:spcPts val="0"/>
              </a:spcAft>
              <a:buClr>
                <a:schemeClr val="dk1"/>
              </a:buClr>
              <a:buSzPts val="1100"/>
              <a:buFont typeface="Arial"/>
              <a:buNone/>
            </a:pPr>
            <a:r>
              <a:rPr lang="en-GB" sz="1300" b="1" dirty="0">
                <a:solidFill>
                  <a:schemeClr val="dk1"/>
                </a:solidFill>
                <a:latin typeface="Roboto"/>
                <a:ea typeface="Roboto"/>
                <a:cs typeface="Roboto"/>
                <a:sym typeface="Roboto"/>
              </a:rPr>
              <a:t>Transformer Layers</a:t>
            </a:r>
            <a:endParaRPr sz="1300" b="1" dirty="0">
              <a:solidFill>
                <a:schemeClr val="dk1"/>
              </a:solidFill>
              <a:latin typeface="Roboto"/>
              <a:ea typeface="Roboto"/>
              <a:cs typeface="Roboto"/>
              <a:sym typeface="Roboto"/>
            </a:endParaRPr>
          </a:p>
          <a:p>
            <a:pPr marL="0" lvl="0" indent="0" algn="l" rtl="0">
              <a:lnSpc>
                <a:spcPct val="100000"/>
              </a:lnSpc>
              <a:spcBef>
                <a:spcPts val="1200"/>
              </a:spcBef>
              <a:spcAft>
                <a:spcPts val="0"/>
              </a:spcAft>
              <a:buClr>
                <a:schemeClr val="dk1"/>
              </a:buClr>
              <a:buSzPts val="1100"/>
              <a:buFont typeface="Arial"/>
              <a:buNone/>
            </a:pPr>
            <a:r>
              <a:rPr lang="en-GB" sz="1300" dirty="0">
                <a:solidFill>
                  <a:schemeClr val="dk1"/>
                </a:solidFill>
                <a:latin typeface="Roboto"/>
                <a:ea typeface="Roboto"/>
                <a:cs typeface="Roboto"/>
                <a:sym typeface="Roboto"/>
              </a:rPr>
              <a:t>Each transformer layer contains:</a:t>
            </a:r>
            <a:endParaRPr sz="1300" dirty="0">
              <a:solidFill>
                <a:schemeClr val="dk1"/>
              </a:solidFill>
              <a:latin typeface="Roboto"/>
              <a:ea typeface="Roboto"/>
              <a:cs typeface="Roboto"/>
              <a:sym typeface="Roboto"/>
            </a:endParaRPr>
          </a:p>
          <a:p>
            <a:pPr marL="457200" lvl="0" indent="-311150" algn="l" rtl="0">
              <a:lnSpc>
                <a:spcPct val="100000"/>
              </a:lnSpc>
              <a:spcBef>
                <a:spcPts val="1200"/>
              </a:spcBef>
              <a:spcAft>
                <a:spcPts val="0"/>
              </a:spcAft>
              <a:buClr>
                <a:schemeClr val="dk1"/>
              </a:buClr>
              <a:buSzPts val="1300"/>
              <a:buFont typeface="Roboto"/>
              <a:buChar char="●"/>
            </a:pPr>
            <a:r>
              <a:rPr lang="en-GB" sz="1300" dirty="0">
                <a:solidFill>
                  <a:schemeClr val="dk1"/>
                </a:solidFill>
                <a:latin typeface="Roboto"/>
                <a:ea typeface="Roboto"/>
                <a:cs typeface="Roboto"/>
                <a:sym typeface="Roboto"/>
              </a:rPr>
              <a:t>A multi-head self-attention mechanism</a:t>
            </a:r>
            <a:endParaRPr sz="1300" dirty="0">
              <a:solidFill>
                <a:schemeClr val="dk1"/>
              </a:solidFill>
              <a:latin typeface="Roboto"/>
              <a:ea typeface="Roboto"/>
              <a:cs typeface="Roboto"/>
              <a:sym typeface="Roboto"/>
            </a:endParaRPr>
          </a:p>
          <a:p>
            <a:pPr marL="457200" lvl="0" indent="-311150" algn="l" rtl="0">
              <a:lnSpc>
                <a:spcPct val="100000"/>
              </a:lnSpc>
              <a:spcBef>
                <a:spcPts val="0"/>
              </a:spcBef>
              <a:spcAft>
                <a:spcPts val="0"/>
              </a:spcAft>
              <a:buClr>
                <a:schemeClr val="dk1"/>
              </a:buClr>
              <a:buSzPts val="1300"/>
              <a:buFont typeface="Roboto"/>
              <a:buChar char="●"/>
            </a:pPr>
            <a:r>
              <a:rPr lang="en-GB" sz="1300" dirty="0">
                <a:solidFill>
                  <a:schemeClr val="dk1"/>
                </a:solidFill>
                <a:latin typeface="Roboto"/>
                <a:ea typeface="Roboto"/>
                <a:cs typeface="Roboto"/>
                <a:sym typeface="Roboto"/>
              </a:rPr>
              <a:t>A feed-forward neural network</a:t>
            </a:r>
            <a:endParaRPr sz="1300" dirty="0">
              <a:solidFill>
                <a:schemeClr val="dk1"/>
              </a:solidFill>
              <a:latin typeface="Roboto"/>
              <a:ea typeface="Roboto"/>
              <a:cs typeface="Roboto"/>
              <a:sym typeface="Roboto"/>
            </a:endParaRPr>
          </a:p>
          <a:p>
            <a:pPr marL="457200" lvl="0" indent="-311150" algn="l" rtl="0">
              <a:lnSpc>
                <a:spcPct val="100000"/>
              </a:lnSpc>
              <a:spcBef>
                <a:spcPts val="0"/>
              </a:spcBef>
              <a:spcAft>
                <a:spcPts val="0"/>
              </a:spcAft>
              <a:buClr>
                <a:schemeClr val="dk1"/>
              </a:buClr>
              <a:buSzPts val="1300"/>
              <a:buFont typeface="Roboto"/>
              <a:buChar char="●"/>
            </a:pPr>
            <a:r>
              <a:rPr lang="en-GB" sz="1300" dirty="0">
                <a:solidFill>
                  <a:schemeClr val="dk1"/>
                </a:solidFill>
                <a:latin typeface="Roboto"/>
                <a:ea typeface="Roboto"/>
                <a:cs typeface="Roboto"/>
                <a:sym typeface="Roboto"/>
              </a:rPr>
              <a:t>Layer normalization components</a:t>
            </a:r>
            <a:endParaRPr sz="1300" dirty="0">
              <a:solidFill>
                <a:schemeClr val="dk1"/>
              </a:solidFill>
              <a:latin typeface="Roboto"/>
              <a:ea typeface="Roboto"/>
              <a:cs typeface="Roboto"/>
              <a:sym typeface="Roboto"/>
            </a:endParaRPr>
          </a:p>
          <a:p>
            <a:pPr marL="457200" lvl="0" indent="-311150" algn="l" rtl="0">
              <a:lnSpc>
                <a:spcPct val="100000"/>
              </a:lnSpc>
              <a:spcBef>
                <a:spcPts val="0"/>
              </a:spcBef>
              <a:spcAft>
                <a:spcPts val="0"/>
              </a:spcAft>
              <a:buClr>
                <a:schemeClr val="dk1"/>
              </a:buClr>
              <a:buSzPts val="1300"/>
              <a:buFont typeface="Roboto"/>
              <a:buChar char="●"/>
            </a:pPr>
            <a:r>
              <a:rPr lang="en-GB" sz="1300" dirty="0">
                <a:solidFill>
                  <a:schemeClr val="dk1"/>
                </a:solidFill>
                <a:latin typeface="Roboto"/>
                <a:ea typeface="Roboto"/>
                <a:cs typeface="Roboto"/>
                <a:sym typeface="Roboto"/>
              </a:rPr>
              <a:t>Residual connections</a:t>
            </a:r>
            <a:endParaRPr sz="1300" dirty="0">
              <a:solidFill>
                <a:schemeClr val="hlink"/>
              </a:solidFill>
              <a:latin typeface="Courier New"/>
              <a:ea typeface="Courier New"/>
              <a:cs typeface="Courier New"/>
              <a:sym typeface="Courier New"/>
            </a:endParaRPr>
          </a:p>
          <a:p>
            <a:pPr marL="0" lvl="0" indent="0" algn="l" rtl="0">
              <a:lnSpc>
                <a:spcPct val="100000"/>
              </a:lnSpc>
              <a:spcBef>
                <a:spcPts val="600"/>
              </a:spcBef>
              <a:spcAft>
                <a:spcPts val="0"/>
              </a:spcAft>
              <a:buClr>
                <a:schemeClr val="dk1"/>
              </a:buClr>
              <a:buSzPts val="1100"/>
              <a:buFont typeface="Arial"/>
              <a:buNone/>
            </a:pPr>
            <a:r>
              <a:rPr lang="en-GB" sz="1300" b="1" dirty="0">
                <a:solidFill>
                  <a:schemeClr val="dk1"/>
                </a:solidFill>
                <a:latin typeface="Roboto"/>
                <a:ea typeface="Roboto"/>
                <a:cs typeface="Roboto"/>
                <a:sym typeface="Roboto"/>
              </a:rPr>
              <a:t>Output Generation</a:t>
            </a:r>
            <a:endParaRPr sz="1300" b="1" dirty="0">
              <a:solidFill>
                <a:schemeClr val="dk1"/>
              </a:solidFill>
              <a:latin typeface="Roboto"/>
              <a:ea typeface="Roboto"/>
              <a:cs typeface="Roboto"/>
              <a:sym typeface="Roboto"/>
            </a:endParaRPr>
          </a:p>
          <a:p>
            <a:pPr marL="0" lvl="0" indent="0" algn="l" rtl="0">
              <a:lnSpc>
                <a:spcPct val="100000"/>
              </a:lnSpc>
              <a:spcBef>
                <a:spcPts val="1200"/>
              </a:spcBef>
              <a:spcAft>
                <a:spcPts val="1200"/>
              </a:spcAft>
              <a:buNone/>
            </a:pPr>
            <a:r>
              <a:rPr lang="en-GB" sz="1300" dirty="0">
                <a:solidFill>
                  <a:schemeClr val="dk1"/>
                </a:solidFill>
                <a:latin typeface="Roboto"/>
                <a:ea typeface="Roboto"/>
                <a:cs typeface="Roboto"/>
                <a:sym typeface="Roboto"/>
              </a:rPr>
              <a:t>The final layer produces probability distributions over the vocabulary, enabling the model to predict the most likely next token in a sequence</a:t>
            </a:r>
            <a:endParaRPr sz="1600" dirty="0">
              <a:solidFill>
                <a:schemeClr val="dk1"/>
              </a:solidFill>
            </a:endParaRPr>
          </a:p>
        </p:txBody>
      </p:sp>
      <p:sp>
        <p:nvSpPr>
          <p:cNvPr id="1043" name="Google Shape;1043;p108"/>
          <p:cNvSpPr txBox="1"/>
          <p:nvPr/>
        </p:nvSpPr>
        <p:spPr>
          <a:xfrm>
            <a:off x="17400" y="870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a:solidFill>
                  <a:srgbClr val="C55A11"/>
                </a:solidFill>
                <a:latin typeface="Calibri"/>
                <a:ea typeface="Calibri"/>
                <a:cs typeface="Calibri"/>
                <a:sym typeface="Calibri"/>
              </a:rPr>
              <a:t>GPT</a:t>
            </a:r>
            <a:endParaRPr sz="1800">
              <a:solidFill>
                <a:schemeClr val="dk2"/>
              </a:solidFill>
            </a:endParaRPr>
          </a:p>
        </p:txBody>
      </p:sp>
      <p:cxnSp>
        <p:nvCxnSpPr>
          <p:cNvPr id="1044" name="Google Shape;1044;p108"/>
          <p:cNvCxnSpPr/>
          <p:nvPr/>
        </p:nvCxnSpPr>
        <p:spPr>
          <a:xfrm>
            <a:off x="-8" y="599447"/>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1046" name="Google Shape;1046;p108"/>
          <p:cNvSpPr txBox="1"/>
          <p:nvPr/>
        </p:nvSpPr>
        <p:spPr>
          <a:xfrm>
            <a:off x="0" y="4622400"/>
            <a:ext cx="2766600" cy="52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600">
                <a:solidFill>
                  <a:schemeClr val="dk2"/>
                </a:solidFill>
              </a:rPr>
              <a:t>References:</a:t>
            </a:r>
            <a:endParaRPr sz="600">
              <a:solidFill>
                <a:schemeClr val="dk2"/>
              </a:solidFill>
            </a:endParaRPr>
          </a:p>
          <a:p>
            <a:pPr marL="0" lvl="0" indent="0" algn="l" rtl="0">
              <a:spcBef>
                <a:spcPts val="0"/>
              </a:spcBef>
              <a:spcAft>
                <a:spcPts val="0"/>
              </a:spcAft>
              <a:buNone/>
            </a:pPr>
            <a:r>
              <a:rPr lang="en-GB" sz="600" u="sng">
                <a:solidFill>
                  <a:schemeClr val="hlink"/>
                </a:solidFill>
                <a:hlinkClick r:id="rId3"/>
              </a:rPr>
              <a:t>Blog: </a:t>
            </a:r>
            <a:r>
              <a:rPr lang="en-GB" sz="600" b="1" u="sng">
                <a:solidFill>
                  <a:schemeClr val="hlink"/>
                </a:solidFill>
                <a:highlight>
                  <a:srgbClr val="FFFFFF"/>
                </a:highlight>
                <a:hlinkClick r:id="rId3"/>
              </a:rPr>
              <a:t>A Deep Dive into GPT's Transformer Architecture: Understanding Self-Attention Mechanisms</a:t>
            </a:r>
            <a:endParaRPr sz="600" b="1">
              <a:solidFill>
                <a:srgbClr val="15171A"/>
              </a:solidFill>
              <a:highlight>
                <a:srgbClr val="FFFFFF"/>
              </a:highlight>
            </a:endParaRPr>
          </a:p>
          <a:p>
            <a:pPr marL="0" lvl="0" indent="0" algn="l" rtl="0">
              <a:spcBef>
                <a:spcPts val="0"/>
              </a:spcBef>
              <a:spcAft>
                <a:spcPts val="0"/>
              </a:spcAft>
              <a:buNone/>
            </a:pPr>
            <a:endParaRPr sz="600">
              <a:solidFill>
                <a:schemeClr val="dk2"/>
              </a:solidFill>
            </a:endParaRPr>
          </a:p>
          <a:p>
            <a:pPr marL="0" lvl="0" indent="0" algn="l" rtl="0">
              <a:spcBef>
                <a:spcPts val="0"/>
              </a:spcBef>
              <a:spcAft>
                <a:spcPts val="0"/>
              </a:spcAft>
              <a:buNone/>
            </a:pPr>
            <a:endParaRPr sz="600">
              <a:solidFill>
                <a:schemeClr val="dk2"/>
              </a:solidFill>
            </a:endParaRPr>
          </a:p>
        </p:txBody>
      </p:sp>
      <p:sp>
        <p:nvSpPr>
          <p:cNvPr id="2" name="object 6">
            <a:extLst>
              <a:ext uri="{FF2B5EF4-FFF2-40B4-BE49-F238E27FC236}">
                <a16:creationId xmlns:a16="http://schemas.microsoft.com/office/drawing/2014/main" id="{DEAB575C-13A1-3DA3-DFBC-B5E08777446C}"/>
              </a:ext>
            </a:extLst>
          </p:cNvPr>
          <p:cNvSpPr/>
          <p:nvPr/>
        </p:nvSpPr>
        <p:spPr>
          <a:xfrm>
            <a:off x="8304129" y="53623"/>
            <a:ext cx="739525" cy="1172718"/>
          </a:xfrm>
          <a:prstGeom prst="rect">
            <a:avLst/>
          </a:prstGeom>
          <a:blipFill>
            <a:blip r:embed="rId4" cstate="print"/>
            <a:stretch>
              <a:fillRect/>
            </a:stretch>
          </a:blipFill>
        </p:spPr>
        <p:txBody>
          <a:bodyPr wrap="square" lIns="0" tIns="0" rIns="0" bIns="0" rtlCol="0"/>
          <a:lstStyle/>
          <a:p>
            <a:endParaRPr sz="945"/>
          </a:p>
        </p:txBody>
      </p:sp>
    </p:spTree>
    <p:extLst>
      <p:ext uri="{BB962C8B-B14F-4D97-AF65-F5344CB8AC3E}">
        <p14:creationId xmlns:p14="http://schemas.microsoft.com/office/powerpoint/2010/main" val="34218447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Shape 1050"/>
        <p:cNvGrpSpPr/>
        <p:nvPr/>
      </p:nvGrpSpPr>
      <p:grpSpPr>
        <a:xfrm>
          <a:off x="0" y="0"/>
          <a:ext cx="0" cy="0"/>
          <a:chOff x="0" y="0"/>
          <a:chExt cx="0" cy="0"/>
        </a:xfrm>
      </p:grpSpPr>
      <p:sp>
        <p:nvSpPr>
          <p:cNvPr id="1051" name="Google Shape;1051;p109"/>
          <p:cNvSpPr txBox="1"/>
          <p:nvPr/>
        </p:nvSpPr>
        <p:spPr>
          <a:xfrm>
            <a:off x="17400" y="870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a:solidFill>
                  <a:srgbClr val="C55A11"/>
                </a:solidFill>
                <a:latin typeface="Calibri"/>
                <a:ea typeface="Calibri"/>
                <a:cs typeface="Calibri"/>
                <a:sym typeface="Calibri"/>
              </a:rPr>
              <a:t>GPT</a:t>
            </a:r>
            <a:endParaRPr sz="1800">
              <a:solidFill>
                <a:schemeClr val="dk2"/>
              </a:solidFill>
            </a:endParaRPr>
          </a:p>
        </p:txBody>
      </p:sp>
      <p:cxnSp>
        <p:nvCxnSpPr>
          <p:cNvPr id="1052" name="Google Shape;1052;p109"/>
          <p:cNvCxnSpPr/>
          <p:nvPr/>
        </p:nvCxnSpPr>
        <p:spPr>
          <a:xfrm>
            <a:off x="-8" y="599447"/>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1053" name="Google Shape;1053;p109"/>
          <p:cNvSpPr txBox="1"/>
          <p:nvPr/>
        </p:nvSpPr>
        <p:spPr>
          <a:xfrm>
            <a:off x="90950" y="861325"/>
            <a:ext cx="9109200" cy="4228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GB" sz="1900" b="1" dirty="0">
                <a:solidFill>
                  <a:schemeClr val="dk1"/>
                </a:solidFill>
              </a:rPr>
              <a:t>G</a:t>
            </a:r>
            <a:r>
              <a:rPr lang="en-GB" sz="1900" dirty="0">
                <a:solidFill>
                  <a:schemeClr val="dk1"/>
                </a:solidFill>
              </a:rPr>
              <a:t>enerative</a:t>
            </a:r>
            <a:r>
              <a:rPr lang="en-GB" sz="1900" b="1" dirty="0">
                <a:solidFill>
                  <a:schemeClr val="dk1"/>
                </a:solidFill>
              </a:rPr>
              <a:t> P</a:t>
            </a:r>
            <a:r>
              <a:rPr lang="en-GB" sz="1900" dirty="0">
                <a:solidFill>
                  <a:schemeClr val="dk1"/>
                </a:solidFill>
              </a:rPr>
              <a:t>retrained</a:t>
            </a:r>
            <a:r>
              <a:rPr lang="en-GB" sz="1900" b="1" dirty="0">
                <a:solidFill>
                  <a:schemeClr val="dk1"/>
                </a:solidFill>
              </a:rPr>
              <a:t> T</a:t>
            </a:r>
            <a:r>
              <a:rPr lang="en-GB" sz="1900" dirty="0">
                <a:solidFill>
                  <a:schemeClr val="dk1"/>
                </a:solidFill>
              </a:rPr>
              <a:t>ransformer</a:t>
            </a:r>
            <a:endParaRPr sz="1900" dirty="0">
              <a:solidFill>
                <a:schemeClr val="dk1"/>
              </a:solidFill>
            </a:endParaRPr>
          </a:p>
          <a:p>
            <a:pPr marL="0" lvl="0" indent="0" algn="l" rtl="0">
              <a:lnSpc>
                <a:spcPct val="115000"/>
              </a:lnSpc>
              <a:spcBef>
                <a:spcPts val="1800"/>
              </a:spcBef>
              <a:spcAft>
                <a:spcPts val="0"/>
              </a:spcAft>
              <a:buClr>
                <a:schemeClr val="dk1"/>
              </a:buClr>
              <a:buSzPts val="1100"/>
              <a:buFont typeface="Arial"/>
              <a:buNone/>
            </a:pPr>
            <a:r>
              <a:rPr lang="en-GB" sz="1500" dirty="0">
                <a:solidFill>
                  <a:schemeClr val="dk1"/>
                </a:solidFill>
              </a:rPr>
              <a:t>Training Methodology</a:t>
            </a:r>
            <a:endParaRPr sz="1500" dirty="0">
              <a:solidFill>
                <a:schemeClr val="dk1"/>
              </a:solidFill>
            </a:endParaRPr>
          </a:p>
          <a:p>
            <a:pPr marL="0" lvl="0" indent="0" algn="l" rtl="0">
              <a:lnSpc>
                <a:spcPct val="115000"/>
              </a:lnSpc>
              <a:spcBef>
                <a:spcPts val="400"/>
              </a:spcBef>
              <a:spcAft>
                <a:spcPts val="0"/>
              </a:spcAft>
              <a:buClr>
                <a:schemeClr val="dk1"/>
              </a:buClr>
              <a:buSzPts val="1100"/>
              <a:buFont typeface="Arial"/>
              <a:buNone/>
            </a:pPr>
            <a:r>
              <a:rPr lang="en-GB" sz="1500" dirty="0">
                <a:solidFill>
                  <a:schemeClr val="dk1"/>
                </a:solidFill>
                <a:latin typeface="Roboto"/>
                <a:ea typeface="Roboto"/>
                <a:cs typeface="Roboto"/>
                <a:sym typeface="Roboto"/>
              </a:rPr>
              <a:t>GPT models undergo a two-phase training process:</a:t>
            </a:r>
            <a:endParaRPr sz="1500" dirty="0">
              <a:solidFill>
                <a:schemeClr val="dk1"/>
              </a:solidFill>
              <a:latin typeface="Roboto"/>
              <a:ea typeface="Roboto"/>
              <a:cs typeface="Roboto"/>
              <a:sym typeface="Roboto"/>
            </a:endParaRPr>
          </a:p>
          <a:p>
            <a:pPr marL="0" lvl="0" indent="0" algn="l" rtl="0">
              <a:lnSpc>
                <a:spcPct val="115000"/>
              </a:lnSpc>
              <a:spcBef>
                <a:spcPts val="1200"/>
              </a:spcBef>
              <a:spcAft>
                <a:spcPts val="0"/>
              </a:spcAft>
              <a:buClr>
                <a:schemeClr val="dk1"/>
              </a:buClr>
              <a:buSzPts val="1100"/>
              <a:buFont typeface="Arial"/>
              <a:buNone/>
            </a:pPr>
            <a:r>
              <a:rPr lang="en-GB" sz="1500" b="1" dirty="0">
                <a:solidFill>
                  <a:schemeClr val="dk1"/>
                </a:solidFill>
                <a:latin typeface="Roboto"/>
                <a:ea typeface="Roboto"/>
                <a:cs typeface="Roboto"/>
                <a:sym typeface="Roboto"/>
              </a:rPr>
              <a:t>Pre-training</a:t>
            </a:r>
            <a:endParaRPr sz="1500" b="1" dirty="0">
              <a:solidFill>
                <a:schemeClr val="dk1"/>
              </a:solidFill>
              <a:latin typeface="Roboto"/>
              <a:ea typeface="Roboto"/>
              <a:cs typeface="Roboto"/>
              <a:sym typeface="Roboto"/>
            </a:endParaRPr>
          </a:p>
          <a:p>
            <a:pPr marL="0" lvl="0" indent="0" algn="l" rtl="0">
              <a:lnSpc>
                <a:spcPct val="115000"/>
              </a:lnSpc>
              <a:spcBef>
                <a:spcPts val="1200"/>
              </a:spcBef>
              <a:spcAft>
                <a:spcPts val="0"/>
              </a:spcAft>
              <a:buClr>
                <a:schemeClr val="dk1"/>
              </a:buClr>
              <a:buSzPts val="1100"/>
              <a:buFont typeface="Arial"/>
              <a:buNone/>
            </a:pPr>
            <a:r>
              <a:rPr lang="en-GB" sz="1500" dirty="0">
                <a:solidFill>
                  <a:schemeClr val="dk1"/>
                </a:solidFill>
                <a:latin typeface="Roboto"/>
                <a:ea typeface="Roboto"/>
                <a:cs typeface="Roboto"/>
                <a:sym typeface="Roboto"/>
              </a:rPr>
              <a:t>During this phase, the model learns from vast amounts of text data, developing an understanding of language patterns and relationships.</a:t>
            </a:r>
            <a:endParaRPr sz="1500" dirty="0">
              <a:solidFill>
                <a:schemeClr val="dk1"/>
              </a:solidFill>
              <a:latin typeface="Roboto"/>
              <a:ea typeface="Roboto"/>
              <a:cs typeface="Roboto"/>
              <a:sym typeface="Roboto"/>
            </a:endParaRPr>
          </a:p>
          <a:p>
            <a:pPr marL="0" lvl="0" indent="0" algn="l" rtl="0">
              <a:lnSpc>
                <a:spcPct val="115000"/>
              </a:lnSpc>
              <a:spcBef>
                <a:spcPts val="1200"/>
              </a:spcBef>
              <a:spcAft>
                <a:spcPts val="0"/>
              </a:spcAft>
              <a:buClr>
                <a:schemeClr val="dk1"/>
              </a:buClr>
              <a:buSzPts val="1100"/>
              <a:buFont typeface="Arial"/>
              <a:buNone/>
            </a:pPr>
            <a:r>
              <a:rPr lang="en-GB" sz="1500" b="1" dirty="0">
                <a:solidFill>
                  <a:schemeClr val="dk1"/>
                </a:solidFill>
                <a:latin typeface="Roboto"/>
                <a:ea typeface="Roboto"/>
                <a:cs typeface="Roboto"/>
                <a:sym typeface="Roboto"/>
              </a:rPr>
              <a:t>Fine-tuning</a:t>
            </a:r>
            <a:endParaRPr sz="1500" b="1" dirty="0">
              <a:solidFill>
                <a:schemeClr val="dk1"/>
              </a:solidFill>
              <a:latin typeface="Roboto"/>
              <a:ea typeface="Roboto"/>
              <a:cs typeface="Roboto"/>
              <a:sym typeface="Roboto"/>
            </a:endParaRPr>
          </a:p>
          <a:p>
            <a:pPr marL="0" lvl="0" indent="0" algn="l" rtl="0">
              <a:lnSpc>
                <a:spcPct val="115000"/>
              </a:lnSpc>
              <a:spcBef>
                <a:spcPts val="1200"/>
              </a:spcBef>
              <a:spcAft>
                <a:spcPts val="0"/>
              </a:spcAft>
              <a:buNone/>
            </a:pPr>
            <a:r>
              <a:rPr lang="en-GB" sz="1500" dirty="0">
                <a:solidFill>
                  <a:schemeClr val="dk1"/>
                </a:solidFill>
                <a:latin typeface="Roboto"/>
                <a:ea typeface="Roboto"/>
                <a:cs typeface="Roboto"/>
                <a:sym typeface="Roboto"/>
              </a:rPr>
              <a:t>The model is then refined on specific tasks with human feedback, improving its ability to generate contextually appropriate responses</a:t>
            </a:r>
            <a:endParaRPr sz="1500" dirty="0">
              <a:solidFill>
                <a:schemeClr val="dk1"/>
              </a:solidFill>
            </a:endParaRPr>
          </a:p>
          <a:p>
            <a:pPr marL="0" lvl="0" indent="0" algn="l" rtl="0">
              <a:lnSpc>
                <a:spcPct val="115000"/>
              </a:lnSpc>
              <a:spcBef>
                <a:spcPts val="1200"/>
              </a:spcBef>
              <a:spcAft>
                <a:spcPts val="0"/>
              </a:spcAft>
              <a:buNone/>
            </a:pPr>
            <a:endParaRPr sz="1500" dirty="0">
              <a:solidFill>
                <a:schemeClr val="dk1"/>
              </a:solidFill>
            </a:endParaRPr>
          </a:p>
          <a:p>
            <a:pPr marL="457200" lvl="0" indent="0" algn="l" rtl="0">
              <a:lnSpc>
                <a:spcPct val="115000"/>
              </a:lnSpc>
              <a:spcBef>
                <a:spcPts val="1200"/>
              </a:spcBef>
              <a:spcAft>
                <a:spcPts val="0"/>
              </a:spcAft>
              <a:buNone/>
            </a:pPr>
            <a:endParaRPr sz="1500" dirty="0">
              <a:solidFill>
                <a:schemeClr val="dk1"/>
              </a:solidFill>
              <a:latin typeface="Roboto"/>
              <a:ea typeface="Roboto"/>
              <a:cs typeface="Roboto"/>
              <a:sym typeface="Roboto"/>
            </a:endParaRPr>
          </a:p>
          <a:p>
            <a:pPr marL="0" lvl="0" indent="0" algn="l" rtl="0">
              <a:lnSpc>
                <a:spcPct val="115000"/>
              </a:lnSpc>
              <a:spcBef>
                <a:spcPts val="1200"/>
              </a:spcBef>
              <a:spcAft>
                <a:spcPts val="0"/>
              </a:spcAft>
              <a:buNone/>
            </a:pPr>
            <a:endParaRPr sz="1500" dirty="0">
              <a:solidFill>
                <a:schemeClr val="dk1"/>
              </a:solidFill>
            </a:endParaRPr>
          </a:p>
          <a:p>
            <a:pPr marL="0" lvl="0" indent="0" algn="l" rtl="0">
              <a:lnSpc>
                <a:spcPct val="115000"/>
              </a:lnSpc>
              <a:spcBef>
                <a:spcPts val="1200"/>
              </a:spcBef>
              <a:spcAft>
                <a:spcPts val="1200"/>
              </a:spcAft>
              <a:buNone/>
            </a:pPr>
            <a:endParaRPr sz="1500" dirty="0">
              <a:solidFill>
                <a:schemeClr val="dk1"/>
              </a:solidFill>
            </a:endParaRPr>
          </a:p>
        </p:txBody>
      </p:sp>
      <p:sp>
        <p:nvSpPr>
          <p:cNvPr id="2" name="object 6">
            <a:extLst>
              <a:ext uri="{FF2B5EF4-FFF2-40B4-BE49-F238E27FC236}">
                <a16:creationId xmlns:a16="http://schemas.microsoft.com/office/drawing/2014/main" id="{B10F08F2-0B73-F72E-AEFF-EA595E88F09C}"/>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spTree>
    <p:extLst>
      <p:ext uri="{BB962C8B-B14F-4D97-AF65-F5344CB8AC3E}">
        <p14:creationId xmlns:p14="http://schemas.microsoft.com/office/powerpoint/2010/main" val="1285387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Shape 1058"/>
        <p:cNvGrpSpPr/>
        <p:nvPr/>
      </p:nvGrpSpPr>
      <p:grpSpPr>
        <a:xfrm>
          <a:off x="0" y="0"/>
          <a:ext cx="0" cy="0"/>
          <a:chOff x="0" y="0"/>
          <a:chExt cx="0" cy="0"/>
        </a:xfrm>
      </p:grpSpPr>
      <p:sp>
        <p:nvSpPr>
          <p:cNvPr id="1059" name="Google Shape;1059;p110"/>
          <p:cNvSpPr txBox="1"/>
          <p:nvPr/>
        </p:nvSpPr>
        <p:spPr>
          <a:xfrm>
            <a:off x="17400" y="870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a:solidFill>
                  <a:srgbClr val="C55A11"/>
                </a:solidFill>
                <a:latin typeface="Calibri"/>
                <a:ea typeface="Calibri"/>
                <a:cs typeface="Calibri"/>
                <a:sym typeface="Calibri"/>
              </a:rPr>
              <a:t>GPT</a:t>
            </a:r>
            <a:endParaRPr sz="1800">
              <a:solidFill>
                <a:schemeClr val="dk2"/>
              </a:solidFill>
            </a:endParaRPr>
          </a:p>
        </p:txBody>
      </p:sp>
      <p:cxnSp>
        <p:nvCxnSpPr>
          <p:cNvPr id="1060" name="Google Shape;1060;p110"/>
          <p:cNvCxnSpPr/>
          <p:nvPr/>
        </p:nvCxnSpPr>
        <p:spPr>
          <a:xfrm>
            <a:off x="-8" y="599447"/>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1061" name="Google Shape;1061;p110"/>
          <p:cNvSpPr txBox="1"/>
          <p:nvPr/>
        </p:nvSpPr>
        <p:spPr>
          <a:xfrm>
            <a:off x="90950" y="861325"/>
            <a:ext cx="9109200" cy="4228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GB" sz="1900" b="1">
                <a:solidFill>
                  <a:schemeClr val="dk1"/>
                </a:solidFill>
              </a:rPr>
              <a:t>G</a:t>
            </a:r>
            <a:r>
              <a:rPr lang="en-GB" sz="1900">
                <a:solidFill>
                  <a:schemeClr val="dk1"/>
                </a:solidFill>
              </a:rPr>
              <a:t>enerative</a:t>
            </a:r>
            <a:r>
              <a:rPr lang="en-GB" sz="1900" b="1">
                <a:solidFill>
                  <a:schemeClr val="dk1"/>
                </a:solidFill>
              </a:rPr>
              <a:t> P</a:t>
            </a:r>
            <a:r>
              <a:rPr lang="en-GB" sz="1900">
                <a:solidFill>
                  <a:schemeClr val="dk1"/>
                </a:solidFill>
              </a:rPr>
              <a:t>retrained</a:t>
            </a:r>
            <a:r>
              <a:rPr lang="en-GB" sz="1900" b="1">
                <a:solidFill>
                  <a:schemeClr val="dk1"/>
                </a:solidFill>
              </a:rPr>
              <a:t> T</a:t>
            </a:r>
            <a:r>
              <a:rPr lang="en-GB" sz="1900">
                <a:solidFill>
                  <a:schemeClr val="dk1"/>
                </a:solidFill>
              </a:rPr>
              <a:t>ransformer</a:t>
            </a:r>
            <a:endParaRPr sz="1900">
              <a:solidFill>
                <a:schemeClr val="dk1"/>
              </a:solidFill>
            </a:endParaRPr>
          </a:p>
          <a:p>
            <a:pPr marL="0" lvl="0" indent="0" algn="l" rtl="0">
              <a:lnSpc>
                <a:spcPct val="115000"/>
              </a:lnSpc>
              <a:spcBef>
                <a:spcPts val="1200"/>
              </a:spcBef>
              <a:spcAft>
                <a:spcPts val="0"/>
              </a:spcAft>
              <a:buNone/>
            </a:pPr>
            <a:endParaRPr sz="1100">
              <a:solidFill>
                <a:schemeClr val="dk1"/>
              </a:solidFill>
            </a:endParaRPr>
          </a:p>
          <a:p>
            <a:pPr marL="0" lvl="0" indent="0" algn="l" rtl="0">
              <a:lnSpc>
                <a:spcPct val="115000"/>
              </a:lnSpc>
              <a:spcBef>
                <a:spcPts val="1200"/>
              </a:spcBef>
              <a:spcAft>
                <a:spcPts val="0"/>
              </a:spcAft>
              <a:buNone/>
            </a:pPr>
            <a:endParaRPr sz="1100">
              <a:solidFill>
                <a:schemeClr val="dk1"/>
              </a:solidFill>
            </a:endParaRPr>
          </a:p>
          <a:p>
            <a:pPr marL="0" lvl="0" indent="0" algn="l" rtl="0">
              <a:lnSpc>
                <a:spcPct val="115000"/>
              </a:lnSpc>
              <a:spcBef>
                <a:spcPts val="1200"/>
              </a:spcBef>
              <a:spcAft>
                <a:spcPts val="0"/>
              </a:spcAft>
              <a:buNone/>
            </a:pPr>
            <a:endParaRPr sz="1100">
              <a:solidFill>
                <a:schemeClr val="dk1"/>
              </a:solidFill>
            </a:endParaRPr>
          </a:p>
          <a:p>
            <a:pPr marL="0" lvl="0" indent="0" algn="l" rtl="0">
              <a:lnSpc>
                <a:spcPct val="115000"/>
              </a:lnSpc>
              <a:spcBef>
                <a:spcPts val="1200"/>
              </a:spcBef>
              <a:spcAft>
                <a:spcPts val="0"/>
              </a:spcAft>
              <a:buNone/>
            </a:pPr>
            <a:endParaRPr sz="1100">
              <a:solidFill>
                <a:schemeClr val="dk1"/>
              </a:solidFill>
            </a:endParaRPr>
          </a:p>
          <a:p>
            <a:pPr marL="0" lvl="0" indent="0" algn="l" rtl="0">
              <a:lnSpc>
                <a:spcPct val="115000"/>
              </a:lnSpc>
              <a:spcBef>
                <a:spcPts val="1200"/>
              </a:spcBef>
              <a:spcAft>
                <a:spcPts val="0"/>
              </a:spcAft>
              <a:buNone/>
            </a:pPr>
            <a:endParaRPr sz="1100">
              <a:solidFill>
                <a:schemeClr val="dk1"/>
              </a:solidFill>
            </a:endParaRPr>
          </a:p>
          <a:p>
            <a:pPr marL="0" lvl="0" indent="0" algn="l" rtl="0">
              <a:lnSpc>
                <a:spcPct val="115000"/>
              </a:lnSpc>
              <a:spcBef>
                <a:spcPts val="1200"/>
              </a:spcBef>
              <a:spcAft>
                <a:spcPts val="0"/>
              </a:spcAft>
              <a:buNone/>
            </a:pPr>
            <a:endParaRPr sz="1100">
              <a:solidFill>
                <a:schemeClr val="dk1"/>
              </a:solidFill>
            </a:endParaRPr>
          </a:p>
          <a:p>
            <a:pPr marL="0" lvl="0" indent="0" algn="l" rtl="0">
              <a:lnSpc>
                <a:spcPct val="115000"/>
              </a:lnSpc>
              <a:spcBef>
                <a:spcPts val="1200"/>
              </a:spcBef>
              <a:spcAft>
                <a:spcPts val="0"/>
              </a:spcAft>
              <a:buNone/>
            </a:pPr>
            <a:endParaRPr sz="1100">
              <a:solidFill>
                <a:schemeClr val="dk1"/>
              </a:solidFill>
            </a:endParaRPr>
          </a:p>
          <a:p>
            <a:pPr marL="0" lvl="0" indent="0" algn="l" rtl="0">
              <a:lnSpc>
                <a:spcPct val="115000"/>
              </a:lnSpc>
              <a:spcBef>
                <a:spcPts val="1200"/>
              </a:spcBef>
              <a:spcAft>
                <a:spcPts val="0"/>
              </a:spcAft>
              <a:buNone/>
            </a:pPr>
            <a:r>
              <a:rPr lang="en-GB" sz="1100">
                <a:solidFill>
                  <a:schemeClr val="dk1"/>
                </a:solidFill>
              </a:rPr>
              <a:t>Figure: </a:t>
            </a:r>
            <a:br>
              <a:rPr lang="en-GB" sz="1100">
                <a:solidFill>
                  <a:schemeClr val="dk1"/>
                </a:solidFill>
              </a:rPr>
            </a:br>
            <a:r>
              <a:rPr lang="en-GB" sz="1100">
                <a:solidFill>
                  <a:schemeClr val="dk1"/>
                </a:solidFill>
              </a:rPr>
              <a:t>Two Stage Process</a:t>
            </a:r>
            <a:endParaRPr sz="1100">
              <a:solidFill>
                <a:schemeClr val="dk1"/>
              </a:solidFill>
            </a:endParaRPr>
          </a:p>
          <a:p>
            <a:pPr marL="0" lvl="0" indent="0" algn="l" rtl="0">
              <a:lnSpc>
                <a:spcPct val="115000"/>
              </a:lnSpc>
              <a:spcBef>
                <a:spcPts val="1200"/>
              </a:spcBef>
              <a:spcAft>
                <a:spcPts val="0"/>
              </a:spcAft>
              <a:buNone/>
            </a:pPr>
            <a:endParaRPr sz="1500">
              <a:solidFill>
                <a:schemeClr val="dk1"/>
              </a:solidFill>
            </a:endParaRPr>
          </a:p>
          <a:p>
            <a:pPr marL="0" lvl="0" indent="0" algn="l" rtl="0">
              <a:lnSpc>
                <a:spcPct val="115000"/>
              </a:lnSpc>
              <a:spcBef>
                <a:spcPts val="1200"/>
              </a:spcBef>
              <a:spcAft>
                <a:spcPts val="0"/>
              </a:spcAft>
              <a:buNone/>
            </a:pPr>
            <a:endParaRPr sz="1500">
              <a:solidFill>
                <a:schemeClr val="dk1"/>
              </a:solidFill>
            </a:endParaRPr>
          </a:p>
          <a:p>
            <a:pPr marL="457200" lvl="0" indent="0" algn="l" rtl="0">
              <a:lnSpc>
                <a:spcPct val="115000"/>
              </a:lnSpc>
              <a:spcBef>
                <a:spcPts val="1200"/>
              </a:spcBef>
              <a:spcAft>
                <a:spcPts val="0"/>
              </a:spcAft>
              <a:buNone/>
            </a:pPr>
            <a:endParaRPr sz="1500">
              <a:solidFill>
                <a:schemeClr val="dk1"/>
              </a:solidFill>
              <a:latin typeface="Roboto"/>
              <a:ea typeface="Roboto"/>
              <a:cs typeface="Roboto"/>
              <a:sym typeface="Roboto"/>
            </a:endParaRPr>
          </a:p>
          <a:p>
            <a:pPr marL="0" lvl="0" indent="0" algn="l" rtl="0">
              <a:lnSpc>
                <a:spcPct val="115000"/>
              </a:lnSpc>
              <a:spcBef>
                <a:spcPts val="1200"/>
              </a:spcBef>
              <a:spcAft>
                <a:spcPts val="0"/>
              </a:spcAft>
              <a:buNone/>
            </a:pPr>
            <a:endParaRPr sz="1500">
              <a:solidFill>
                <a:schemeClr val="dk1"/>
              </a:solidFill>
            </a:endParaRPr>
          </a:p>
          <a:p>
            <a:pPr marL="0" lvl="0" indent="0" algn="l" rtl="0">
              <a:lnSpc>
                <a:spcPct val="115000"/>
              </a:lnSpc>
              <a:spcBef>
                <a:spcPts val="1200"/>
              </a:spcBef>
              <a:spcAft>
                <a:spcPts val="1200"/>
              </a:spcAft>
              <a:buNone/>
            </a:pPr>
            <a:endParaRPr sz="1500">
              <a:solidFill>
                <a:schemeClr val="dk1"/>
              </a:solidFill>
            </a:endParaRPr>
          </a:p>
        </p:txBody>
      </p:sp>
      <p:sp>
        <p:nvSpPr>
          <p:cNvPr id="1063" name="Google Shape;1063;p110"/>
          <p:cNvSpPr txBox="1"/>
          <p:nvPr/>
        </p:nvSpPr>
        <p:spPr>
          <a:xfrm>
            <a:off x="0" y="4622400"/>
            <a:ext cx="2766600" cy="52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solidFill>
                  <a:schemeClr val="dk2"/>
                </a:solidFill>
              </a:rPr>
              <a:t>References:</a:t>
            </a:r>
            <a:endParaRPr sz="800">
              <a:solidFill>
                <a:schemeClr val="dk2"/>
              </a:solidFill>
            </a:endParaRPr>
          </a:p>
          <a:p>
            <a:pPr marL="0" lvl="0" indent="0" algn="l" rtl="0">
              <a:spcBef>
                <a:spcPts val="0"/>
              </a:spcBef>
              <a:spcAft>
                <a:spcPts val="0"/>
              </a:spcAft>
              <a:buNone/>
            </a:pPr>
            <a:r>
              <a:rPr lang="en-GB" sz="800" u="sng">
                <a:solidFill>
                  <a:schemeClr val="hlink"/>
                </a:solidFill>
                <a:hlinkClick r:id="rId3"/>
              </a:rPr>
              <a:t>Book: Build a Large Language Model (From Scratch) </a:t>
            </a:r>
            <a:endParaRPr sz="800">
              <a:solidFill>
                <a:schemeClr val="dk2"/>
              </a:solidFill>
            </a:endParaRPr>
          </a:p>
          <a:p>
            <a:pPr marL="0" lvl="0" indent="0" algn="l" rtl="0">
              <a:spcBef>
                <a:spcPts val="0"/>
              </a:spcBef>
              <a:spcAft>
                <a:spcPts val="0"/>
              </a:spcAft>
              <a:buNone/>
            </a:pPr>
            <a:endParaRPr sz="800">
              <a:solidFill>
                <a:schemeClr val="dk2"/>
              </a:solidFill>
            </a:endParaRPr>
          </a:p>
        </p:txBody>
      </p:sp>
      <p:pic>
        <p:nvPicPr>
          <p:cNvPr id="1064" name="Google Shape;1064;p110"/>
          <p:cNvPicPr preferRelativeResize="0"/>
          <p:nvPr/>
        </p:nvPicPr>
        <p:blipFill>
          <a:blip r:embed="rId4">
            <a:alphaModFix/>
          </a:blip>
          <a:stretch>
            <a:fillRect/>
          </a:stretch>
        </p:blipFill>
        <p:spPr>
          <a:xfrm>
            <a:off x="2862975" y="1507222"/>
            <a:ext cx="5493175" cy="2936725"/>
          </a:xfrm>
          <a:prstGeom prst="rect">
            <a:avLst/>
          </a:prstGeom>
          <a:noFill/>
          <a:ln>
            <a:noFill/>
          </a:ln>
        </p:spPr>
      </p:pic>
      <p:sp>
        <p:nvSpPr>
          <p:cNvPr id="2" name="object 6">
            <a:extLst>
              <a:ext uri="{FF2B5EF4-FFF2-40B4-BE49-F238E27FC236}">
                <a16:creationId xmlns:a16="http://schemas.microsoft.com/office/drawing/2014/main" id="{51951CE3-8E7C-AEE5-5724-5776B8793E5A}"/>
              </a:ext>
            </a:extLst>
          </p:cNvPr>
          <p:cNvSpPr/>
          <p:nvPr/>
        </p:nvSpPr>
        <p:spPr>
          <a:xfrm>
            <a:off x="8304129" y="53623"/>
            <a:ext cx="739525" cy="1172718"/>
          </a:xfrm>
          <a:prstGeom prst="rect">
            <a:avLst/>
          </a:prstGeom>
          <a:blipFill>
            <a:blip r:embed="rId5" cstate="print"/>
            <a:stretch>
              <a:fillRect/>
            </a:stretch>
          </a:blipFill>
        </p:spPr>
        <p:txBody>
          <a:bodyPr wrap="square" lIns="0" tIns="0" rIns="0" bIns="0" rtlCol="0"/>
          <a:lstStyle/>
          <a:p>
            <a:endParaRPr sz="945"/>
          </a:p>
        </p:txBody>
      </p:sp>
    </p:spTree>
    <p:extLst>
      <p:ext uri="{BB962C8B-B14F-4D97-AF65-F5344CB8AC3E}">
        <p14:creationId xmlns:p14="http://schemas.microsoft.com/office/powerpoint/2010/main" val="2263158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068"/>
        <p:cNvGrpSpPr/>
        <p:nvPr/>
      </p:nvGrpSpPr>
      <p:grpSpPr>
        <a:xfrm>
          <a:off x="0" y="0"/>
          <a:ext cx="0" cy="0"/>
          <a:chOff x="0" y="0"/>
          <a:chExt cx="0" cy="0"/>
        </a:xfrm>
      </p:grpSpPr>
      <p:sp>
        <p:nvSpPr>
          <p:cNvPr id="1069" name="Google Shape;1069;p111"/>
          <p:cNvSpPr txBox="1"/>
          <p:nvPr/>
        </p:nvSpPr>
        <p:spPr>
          <a:xfrm>
            <a:off x="17400" y="870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a:solidFill>
                  <a:srgbClr val="C55A11"/>
                </a:solidFill>
                <a:latin typeface="Calibri"/>
                <a:ea typeface="Calibri"/>
                <a:cs typeface="Calibri"/>
                <a:sym typeface="Calibri"/>
              </a:rPr>
              <a:t>GPT</a:t>
            </a:r>
            <a:endParaRPr sz="1800">
              <a:solidFill>
                <a:schemeClr val="dk2"/>
              </a:solidFill>
            </a:endParaRPr>
          </a:p>
        </p:txBody>
      </p:sp>
      <p:cxnSp>
        <p:nvCxnSpPr>
          <p:cNvPr id="1070" name="Google Shape;1070;p111"/>
          <p:cNvCxnSpPr/>
          <p:nvPr/>
        </p:nvCxnSpPr>
        <p:spPr>
          <a:xfrm>
            <a:off x="-8" y="599447"/>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1071" name="Google Shape;1071;p111"/>
          <p:cNvSpPr txBox="1"/>
          <p:nvPr/>
        </p:nvSpPr>
        <p:spPr>
          <a:xfrm>
            <a:off x="100346" y="685425"/>
            <a:ext cx="9109200" cy="4228500"/>
          </a:xfrm>
          <a:prstGeom prst="rect">
            <a:avLst/>
          </a:prstGeom>
          <a:noFill/>
          <a:ln>
            <a:noFill/>
          </a:ln>
        </p:spPr>
        <p:txBody>
          <a:bodyPr spcFirstLastPara="1" wrap="square" lIns="91425" tIns="91425" rIns="91425" bIns="91425" anchor="t" anchorCtr="0">
            <a:noAutofit/>
          </a:bodyPr>
          <a:lstStyle/>
          <a:p>
            <a:pPr>
              <a:spcBef>
                <a:spcPts val="1200"/>
              </a:spcBef>
              <a:buClr>
                <a:schemeClr val="dk1"/>
              </a:buClr>
              <a:buSzPts val="1100"/>
            </a:pPr>
            <a:r>
              <a:rPr lang="en-IN" sz="1200" dirty="0">
                <a:solidFill>
                  <a:schemeClr val="dk1"/>
                </a:solidFill>
              </a:rPr>
              <a:t>GPT models, particularly GPT-3 and GPT-4, are primarily used for generative tasks due to their autoregressive nature. Here are some key applications:</a:t>
            </a:r>
          </a:p>
          <a:p>
            <a:pPr>
              <a:spcBef>
                <a:spcPts val="1200"/>
              </a:spcBef>
              <a:buClr>
                <a:schemeClr val="dk1"/>
              </a:buClr>
              <a:buSzPts val="1100"/>
              <a:tabLst>
                <a:tab pos="457200" algn="l"/>
              </a:tabLst>
            </a:pPr>
            <a:r>
              <a:rPr lang="en-IN" sz="1200" b="1" u="sng" dirty="0">
                <a:solidFill>
                  <a:schemeClr val="dk1"/>
                </a:solidFill>
              </a:rPr>
              <a:t>Text Generation:</a:t>
            </a:r>
          </a:p>
          <a:p>
            <a:pPr>
              <a:spcBef>
                <a:spcPts val="1200"/>
              </a:spcBef>
              <a:buClr>
                <a:schemeClr val="dk1"/>
              </a:buClr>
              <a:buSzPts val="1100"/>
              <a:tabLst>
                <a:tab pos="914400" algn="l"/>
              </a:tabLst>
            </a:pPr>
            <a:r>
              <a:rPr lang="en-IN" sz="1200" dirty="0">
                <a:solidFill>
                  <a:schemeClr val="dk1"/>
                </a:solidFill>
              </a:rPr>
              <a:t>	Task: Generating coherent and contextually relevant text based on a given prompt.</a:t>
            </a:r>
          </a:p>
          <a:p>
            <a:pPr>
              <a:spcBef>
                <a:spcPts val="1200"/>
              </a:spcBef>
              <a:buClr>
                <a:schemeClr val="dk1"/>
              </a:buClr>
              <a:buSzPts val="1100"/>
              <a:tabLst>
                <a:tab pos="914400" algn="l"/>
              </a:tabLst>
            </a:pPr>
            <a:r>
              <a:rPr lang="en-IN" sz="1200" dirty="0">
                <a:solidFill>
                  <a:schemeClr val="dk1"/>
                </a:solidFill>
              </a:rPr>
              <a:t>	Example: Writing essays, stories, or articles.</a:t>
            </a:r>
          </a:p>
          <a:p>
            <a:pPr>
              <a:spcBef>
                <a:spcPts val="1200"/>
              </a:spcBef>
              <a:buClr>
                <a:schemeClr val="dk1"/>
              </a:buClr>
              <a:buSzPts val="1100"/>
              <a:tabLst>
                <a:tab pos="914400" algn="l"/>
              </a:tabLst>
            </a:pPr>
            <a:r>
              <a:rPr lang="en-IN" sz="1200" b="1" dirty="0">
                <a:solidFill>
                  <a:schemeClr val="dk1"/>
                </a:solidFill>
              </a:rPr>
              <a:t>Text Completion:</a:t>
            </a:r>
          </a:p>
          <a:p>
            <a:pPr>
              <a:spcBef>
                <a:spcPts val="1200"/>
              </a:spcBef>
              <a:buClr>
                <a:schemeClr val="dk1"/>
              </a:buClr>
              <a:buSzPts val="1100"/>
              <a:tabLst>
                <a:tab pos="914400" algn="l"/>
              </a:tabLst>
            </a:pPr>
            <a:r>
              <a:rPr lang="en-IN" sz="1200" dirty="0">
                <a:solidFill>
                  <a:schemeClr val="dk1"/>
                </a:solidFill>
              </a:rPr>
              <a:t>	Task: Completing a given piece of text.</a:t>
            </a:r>
          </a:p>
          <a:p>
            <a:pPr>
              <a:spcBef>
                <a:spcPts val="1200"/>
              </a:spcBef>
              <a:buClr>
                <a:schemeClr val="dk1"/>
              </a:buClr>
              <a:buSzPts val="1100"/>
              <a:tabLst>
                <a:tab pos="914400" algn="l"/>
              </a:tabLst>
            </a:pPr>
            <a:r>
              <a:rPr lang="en-IN" sz="1200" dirty="0">
                <a:solidFill>
                  <a:schemeClr val="dk1"/>
                </a:solidFill>
              </a:rPr>
              <a:t>	Example: Autocompleting sentences or paragraphs in writing applications.</a:t>
            </a:r>
          </a:p>
          <a:p>
            <a:pPr>
              <a:spcBef>
                <a:spcPts val="1200"/>
              </a:spcBef>
              <a:buClr>
                <a:schemeClr val="dk1"/>
              </a:buClr>
              <a:buSzPts val="1100"/>
              <a:tabLst>
                <a:tab pos="914400" algn="l"/>
              </a:tabLst>
            </a:pPr>
            <a:r>
              <a:rPr lang="en-IN" sz="1200" b="1" dirty="0">
                <a:solidFill>
                  <a:schemeClr val="dk1"/>
                </a:solidFill>
              </a:rPr>
              <a:t>Conversational Agents:</a:t>
            </a:r>
          </a:p>
          <a:p>
            <a:pPr>
              <a:spcBef>
                <a:spcPts val="1200"/>
              </a:spcBef>
              <a:buClr>
                <a:schemeClr val="dk1"/>
              </a:buClr>
              <a:buSzPts val="1100"/>
              <a:tabLst>
                <a:tab pos="914400" algn="l"/>
              </a:tabLst>
            </a:pPr>
            <a:r>
              <a:rPr lang="en-IN" sz="1200" dirty="0">
                <a:solidFill>
                  <a:schemeClr val="dk1"/>
                </a:solidFill>
              </a:rPr>
              <a:t>	Task: Creating chatbots and virtual assistants that can engage in natural conversations.</a:t>
            </a:r>
          </a:p>
          <a:p>
            <a:pPr>
              <a:spcBef>
                <a:spcPts val="1200"/>
              </a:spcBef>
              <a:buClr>
                <a:schemeClr val="dk1"/>
              </a:buClr>
              <a:buSzPts val="1100"/>
              <a:tabLst>
                <a:tab pos="914400" algn="l"/>
              </a:tabLst>
            </a:pPr>
            <a:r>
              <a:rPr lang="en-IN" sz="1200" dirty="0">
                <a:solidFill>
                  <a:schemeClr val="dk1"/>
                </a:solidFill>
              </a:rPr>
              <a:t>	Example: Customer support chatbots.</a:t>
            </a:r>
          </a:p>
          <a:p>
            <a:pPr marL="0" lvl="0" indent="0" algn="l" rtl="0">
              <a:lnSpc>
                <a:spcPct val="115000"/>
              </a:lnSpc>
              <a:spcBef>
                <a:spcPts val="1200"/>
              </a:spcBef>
              <a:spcAft>
                <a:spcPts val="0"/>
              </a:spcAft>
              <a:buNone/>
            </a:pPr>
            <a:endParaRPr sz="1500" dirty="0">
              <a:solidFill>
                <a:schemeClr val="dk1"/>
              </a:solidFill>
            </a:endParaRPr>
          </a:p>
          <a:p>
            <a:pPr marL="457200" lvl="0" indent="0" algn="l" rtl="0">
              <a:lnSpc>
                <a:spcPct val="115000"/>
              </a:lnSpc>
              <a:spcBef>
                <a:spcPts val="1200"/>
              </a:spcBef>
              <a:spcAft>
                <a:spcPts val="0"/>
              </a:spcAft>
              <a:buNone/>
            </a:pPr>
            <a:endParaRPr sz="1500" dirty="0">
              <a:solidFill>
                <a:schemeClr val="dk1"/>
              </a:solidFill>
              <a:latin typeface="Roboto"/>
              <a:ea typeface="Roboto"/>
              <a:cs typeface="Roboto"/>
              <a:sym typeface="Roboto"/>
            </a:endParaRPr>
          </a:p>
          <a:p>
            <a:pPr marL="0" lvl="0" indent="0" algn="l" rtl="0">
              <a:lnSpc>
                <a:spcPct val="115000"/>
              </a:lnSpc>
              <a:spcBef>
                <a:spcPts val="1200"/>
              </a:spcBef>
              <a:spcAft>
                <a:spcPts val="0"/>
              </a:spcAft>
              <a:buNone/>
            </a:pPr>
            <a:endParaRPr sz="1500" dirty="0">
              <a:solidFill>
                <a:schemeClr val="dk1"/>
              </a:solidFill>
            </a:endParaRPr>
          </a:p>
          <a:p>
            <a:pPr marL="0" lvl="0" indent="0" algn="l" rtl="0">
              <a:lnSpc>
                <a:spcPct val="115000"/>
              </a:lnSpc>
              <a:spcBef>
                <a:spcPts val="1200"/>
              </a:spcBef>
              <a:spcAft>
                <a:spcPts val="1200"/>
              </a:spcAft>
              <a:buNone/>
            </a:pPr>
            <a:endParaRPr sz="1500" dirty="0">
              <a:solidFill>
                <a:schemeClr val="dk1"/>
              </a:solidFill>
            </a:endParaRPr>
          </a:p>
        </p:txBody>
      </p:sp>
      <p:sp>
        <p:nvSpPr>
          <p:cNvPr id="2" name="object 6">
            <a:extLst>
              <a:ext uri="{FF2B5EF4-FFF2-40B4-BE49-F238E27FC236}">
                <a16:creationId xmlns:a16="http://schemas.microsoft.com/office/drawing/2014/main" id="{2FF421B1-0E56-25C0-57F9-BC0D390D78C7}"/>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spTree>
    <p:extLst>
      <p:ext uri="{BB962C8B-B14F-4D97-AF65-F5344CB8AC3E}">
        <p14:creationId xmlns:p14="http://schemas.microsoft.com/office/powerpoint/2010/main" val="3386349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068">
          <a:extLst>
            <a:ext uri="{FF2B5EF4-FFF2-40B4-BE49-F238E27FC236}">
              <a16:creationId xmlns:a16="http://schemas.microsoft.com/office/drawing/2014/main" id="{901EFD24-E473-B8E1-2399-17E7D9F319A4}"/>
            </a:ext>
          </a:extLst>
        </p:cNvPr>
        <p:cNvGrpSpPr/>
        <p:nvPr/>
      </p:nvGrpSpPr>
      <p:grpSpPr>
        <a:xfrm>
          <a:off x="0" y="0"/>
          <a:ext cx="0" cy="0"/>
          <a:chOff x="0" y="0"/>
          <a:chExt cx="0" cy="0"/>
        </a:xfrm>
      </p:grpSpPr>
      <p:sp>
        <p:nvSpPr>
          <p:cNvPr id="1069" name="Google Shape;1069;p111">
            <a:extLst>
              <a:ext uri="{FF2B5EF4-FFF2-40B4-BE49-F238E27FC236}">
                <a16:creationId xmlns:a16="http://schemas.microsoft.com/office/drawing/2014/main" id="{B6804EC1-037D-0C9B-5646-98B791FCE1A8}"/>
              </a:ext>
            </a:extLst>
          </p:cNvPr>
          <p:cNvSpPr txBox="1"/>
          <p:nvPr/>
        </p:nvSpPr>
        <p:spPr>
          <a:xfrm>
            <a:off x="17400" y="8700"/>
            <a:ext cx="9144000" cy="8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a:solidFill>
                  <a:srgbClr val="C55A11"/>
                </a:solidFill>
                <a:latin typeface="Calibri"/>
                <a:ea typeface="Calibri"/>
                <a:cs typeface="Calibri"/>
                <a:sym typeface="Calibri"/>
              </a:rPr>
              <a:t>GPT</a:t>
            </a:r>
            <a:endParaRPr sz="1800">
              <a:solidFill>
                <a:schemeClr val="dk2"/>
              </a:solidFill>
            </a:endParaRPr>
          </a:p>
        </p:txBody>
      </p:sp>
      <p:cxnSp>
        <p:nvCxnSpPr>
          <p:cNvPr id="1070" name="Google Shape;1070;p111">
            <a:extLst>
              <a:ext uri="{FF2B5EF4-FFF2-40B4-BE49-F238E27FC236}">
                <a16:creationId xmlns:a16="http://schemas.microsoft.com/office/drawing/2014/main" id="{9374D12F-3566-E370-DDFE-1869AAE61F37}"/>
              </a:ext>
            </a:extLst>
          </p:cNvPr>
          <p:cNvCxnSpPr/>
          <p:nvPr/>
        </p:nvCxnSpPr>
        <p:spPr>
          <a:xfrm>
            <a:off x="-8" y="599447"/>
            <a:ext cx="8300100" cy="0"/>
          </a:xfrm>
          <a:prstGeom prst="straightConnector1">
            <a:avLst/>
          </a:prstGeom>
          <a:noFill/>
          <a:ln w="38100" cap="flat" cmpd="sng">
            <a:solidFill>
              <a:srgbClr val="DFA267"/>
            </a:solidFill>
            <a:prstDash val="solid"/>
            <a:miter lim="800000"/>
            <a:headEnd type="none" w="sm" len="sm"/>
            <a:tailEnd type="none" w="sm" len="sm"/>
          </a:ln>
        </p:spPr>
      </p:cxnSp>
      <p:sp>
        <p:nvSpPr>
          <p:cNvPr id="1071" name="Google Shape;1071;p111">
            <a:extLst>
              <a:ext uri="{FF2B5EF4-FFF2-40B4-BE49-F238E27FC236}">
                <a16:creationId xmlns:a16="http://schemas.microsoft.com/office/drawing/2014/main" id="{65A071FB-B0E8-06DB-C0A6-DF67E9AF3CF5}"/>
              </a:ext>
            </a:extLst>
          </p:cNvPr>
          <p:cNvSpPr txBox="1"/>
          <p:nvPr/>
        </p:nvSpPr>
        <p:spPr>
          <a:xfrm>
            <a:off x="17400" y="639982"/>
            <a:ext cx="9109200" cy="4228500"/>
          </a:xfrm>
          <a:prstGeom prst="rect">
            <a:avLst/>
          </a:prstGeom>
          <a:noFill/>
          <a:ln>
            <a:noFill/>
          </a:ln>
        </p:spPr>
        <p:txBody>
          <a:bodyPr spcFirstLastPara="1" wrap="square" lIns="91425" tIns="91425" rIns="91425" bIns="91425" anchor="t" anchorCtr="0">
            <a:noAutofit/>
          </a:bodyPr>
          <a:lstStyle/>
          <a:p>
            <a:pPr lvl="0">
              <a:spcBef>
                <a:spcPts val="1200"/>
              </a:spcBef>
              <a:buClr>
                <a:schemeClr val="dk1"/>
              </a:buClr>
              <a:buSzPts val="1100"/>
              <a:tabLst>
                <a:tab pos="914400" algn="l"/>
              </a:tabLst>
            </a:pPr>
            <a:r>
              <a:rPr lang="en-US" sz="1200" b="1" u="sng" dirty="0">
                <a:solidFill>
                  <a:schemeClr val="dk1"/>
                </a:solidFill>
              </a:rPr>
              <a:t>Language Translation:</a:t>
            </a:r>
          </a:p>
          <a:p>
            <a:pPr marL="457200" lvl="1">
              <a:spcBef>
                <a:spcPts val="1200"/>
              </a:spcBef>
              <a:buClr>
                <a:schemeClr val="dk1"/>
              </a:buClr>
              <a:buSzPts val="1100"/>
              <a:tabLst>
                <a:tab pos="914400" algn="l"/>
              </a:tabLst>
            </a:pPr>
            <a:r>
              <a:rPr lang="en-US" sz="1200" dirty="0">
                <a:solidFill>
                  <a:schemeClr val="dk1"/>
                </a:solidFill>
              </a:rPr>
              <a:t>Task: Translating text from one language to another.</a:t>
            </a:r>
          </a:p>
          <a:p>
            <a:pPr marL="457200" lvl="1">
              <a:spcBef>
                <a:spcPts val="1200"/>
              </a:spcBef>
              <a:buClr>
                <a:schemeClr val="dk1"/>
              </a:buClr>
              <a:buSzPts val="1100"/>
              <a:tabLst>
                <a:tab pos="914400" algn="l"/>
              </a:tabLst>
            </a:pPr>
            <a:r>
              <a:rPr lang="en-US" sz="1200" dirty="0">
                <a:solidFill>
                  <a:schemeClr val="dk1"/>
                </a:solidFill>
              </a:rPr>
              <a:t>Example: Translating English text to Spanish.</a:t>
            </a:r>
          </a:p>
          <a:p>
            <a:pPr lvl="0">
              <a:spcBef>
                <a:spcPts val="1200"/>
              </a:spcBef>
              <a:buClr>
                <a:schemeClr val="dk1"/>
              </a:buClr>
              <a:buSzPts val="1100"/>
              <a:tabLst>
                <a:tab pos="914400" algn="l"/>
              </a:tabLst>
            </a:pPr>
            <a:r>
              <a:rPr lang="en-US" sz="1200" b="1" dirty="0">
                <a:solidFill>
                  <a:schemeClr val="dk1"/>
                </a:solidFill>
              </a:rPr>
              <a:t>Summarization:</a:t>
            </a:r>
          </a:p>
          <a:p>
            <a:pPr marL="457200" lvl="1">
              <a:spcBef>
                <a:spcPts val="1200"/>
              </a:spcBef>
              <a:buClr>
                <a:schemeClr val="dk1"/>
              </a:buClr>
              <a:buSzPts val="1100"/>
              <a:tabLst>
                <a:tab pos="914400" algn="l"/>
              </a:tabLst>
            </a:pPr>
            <a:r>
              <a:rPr lang="en-US" dirty="0"/>
              <a:t>Task: Generating summaries of longer texts.</a:t>
            </a:r>
          </a:p>
          <a:p>
            <a:pPr marL="457200" lvl="1">
              <a:spcBef>
                <a:spcPts val="1200"/>
              </a:spcBef>
              <a:buClr>
                <a:schemeClr val="dk1"/>
              </a:buClr>
              <a:buSzPts val="1100"/>
              <a:tabLst>
                <a:tab pos="914400" algn="l"/>
              </a:tabLst>
            </a:pPr>
            <a:r>
              <a:rPr lang="en-US" dirty="0"/>
              <a:t>Example: Summarizing news articl</a:t>
            </a:r>
            <a:r>
              <a:rPr lang="en-US" sz="1200" dirty="0">
                <a:solidFill>
                  <a:schemeClr val="dk1"/>
                </a:solidFill>
              </a:rPr>
              <a:t>es or research papers.</a:t>
            </a:r>
          </a:p>
          <a:p>
            <a:pPr lvl="0">
              <a:spcBef>
                <a:spcPts val="1200"/>
              </a:spcBef>
              <a:buClr>
                <a:schemeClr val="dk1"/>
              </a:buClr>
              <a:buSzPts val="1100"/>
              <a:tabLst>
                <a:tab pos="914400" algn="l"/>
              </a:tabLst>
            </a:pPr>
            <a:r>
              <a:rPr lang="en-US" sz="1200" b="1" dirty="0">
                <a:solidFill>
                  <a:schemeClr val="dk1"/>
                </a:solidFill>
              </a:rPr>
              <a:t>Creative Writing:</a:t>
            </a:r>
          </a:p>
          <a:p>
            <a:pPr marL="457200" lvl="1">
              <a:spcBef>
                <a:spcPts val="1200"/>
              </a:spcBef>
              <a:buClr>
                <a:schemeClr val="dk1"/>
              </a:buClr>
              <a:buSzPts val="1100"/>
              <a:tabLst>
                <a:tab pos="914400" algn="l"/>
              </a:tabLst>
            </a:pPr>
            <a:r>
              <a:rPr lang="en-US" sz="1200" dirty="0">
                <a:solidFill>
                  <a:schemeClr val="dk1"/>
                </a:solidFill>
              </a:rPr>
              <a:t>Task: Generating poetry, scripts, or other creative content.</a:t>
            </a:r>
          </a:p>
          <a:p>
            <a:pPr marL="457200" lvl="1">
              <a:spcBef>
                <a:spcPts val="1200"/>
              </a:spcBef>
              <a:buClr>
                <a:schemeClr val="dk1"/>
              </a:buClr>
              <a:buSzPts val="1100"/>
              <a:tabLst>
                <a:tab pos="914400" algn="l"/>
              </a:tabLst>
            </a:pPr>
            <a:r>
              <a:rPr lang="en-US" sz="1200" dirty="0">
                <a:solidFill>
                  <a:schemeClr val="dk1"/>
                </a:solidFill>
              </a:rPr>
              <a:t>Example: Writing poems or movie scripts.</a:t>
            </a:r>
          </a:p>
          <a:p>
            <a:pPr marL="0" lvl="0" indent="0">
              <a:spcBef>
                <a:spcPts val="1200"/>
              </a:spcBef>
              <a:buClr>
                <a:schemeClr val="dk1"/>
              </a:buClr>
              <a:buSzPts val="1100"/>
              <a:buFont typeface="Arial"/>
              <a:buNone/>
              <a:tabLst>
                <a:tab pos="914400" algn="l"/>
              </a:tabLst>
            </a:pPr>
            <a:endParaRPr lang="en-US" sz="1200" dirty="0">
              <a:solidFill>
                <a:schemeClr val="dk1"/>
              </a:solidFill>
            </a:endParaRPr>
          </a:p>
          <a:p>
            <a:pPr marL="457200" lvl="0" indent="0" algn="l" rtl="0">
              <a:lnSpc>
                <a:spcPct val="115000"/>
              </a:lnSpc>
              <a:spcBef>
                <a:spcPts val="1200"/>
              </a:spcBef>
              <a:spcAft>
                <a:spcPts val="0"/>
              </a:spcAft>
              <a:buNone/>
            </a:pPr>
            <a:endParaRPr sz="1500" dirty="0">
              <a:solidFill>
                <a:schemeClr val="dk1"/>
              </a:solidFill>
              <a:latin typeface="Roboto"/>
              <a:ea typeface="Roboto"/>
              <a:cs typeface="Roboto"/>
              <a:sym typeface="Roboto"/>
            </a:endParaRPr>
          </a:p>
          <a:p>
            <a:pPr marL="0" lvl="0" indent="0" algn="l" rtl="0">
              <a:lnSpc>
                <a:spcPct val="115000"/>
              </a:lnSpc>
              <a:spcBef>
                <a:spcPts val="1200"/>
              </a:spcBef>
              <a:spcAft>
                <a:spcPts val="0"/>
              </a:spcAft>
              <a:buNone/>
            </a:pPr>
            <a:endParaRPr sz="1500" dirty="0">
              <a:solidFill>
                <a:schemeClr val="dk1"/>
              </a:solidFill>
            </a:endParaRPr>
          </a:p>
          <a:p>
            <a:pPr marL="0" lvl="0" indent="0" algn="l" rtl="0">
              <a:lnSpc>
                <a:spcPct val="115000"/>
              </a:lnSpc>
              <a:spcBef>
                <a:spcPts val="1200"/>
              </a:spcBef>
              <a:spcAft>
                <a:spcPts val="1200"/>
              </a:spcAft>
              <a:buNone/>
            </a:pPr>
            <a:endParaRPr sz="1500" dirty="0">
              <a:solidFill>
                <a:schemeClr val="dk1"/>
              </a:solidFill>
            </a:endParaRPr>
          </a:p>
        </p:txBody>
      </p:sp>
      <p:sp>
        <p:nvSpPr>
          <p:cNvPr id="2" name="object 6">
            <a:extLst>
              <a:ext uri="{FF2B5EF4-FFF2-40B4-BE49-F238E27FC236}">
                <a16:creationId xmlns:a16="http://schemas.microsoft.com/office/drawing/2014/main" id="{4B19EB05-A5C1-6B16-7A85-CC4A5B2B1C77}"/>
              </a:ext>
            </a:extLst>
          </p:cNvPr>
          <p:cNvSpPr/>
          <p:nvPr/>
        </p:nvSpPr>
        <p:spPr>
          <a:xfrm>
            <a:off x="8304129" y="53623"/>
            <a:ext cx="739525" cy="1172718"/>
          </a:xfrm>
          <a:prstGeom prst="rect">
            <a:avLst/>
          </a:prstGeom>
          <a:blipFill>
            <a:blip r:embed="rId3" cstate="print"/>
            <a:stretch>
              <a:fillRect/>
            </a:stretch>
          </a:blipFill>
        </p:spPr>
        <p:txBody>
          <a:bodyPr wrap="square" lIns="0" tIns="0" rIns="0" bIns="0" rtlCol="0"/>
          <a:lstStyle/>
          <a:p>
            <a:endParaRPr sz="945"/>
          </a:p>
        </p:txBody>
      </p:sp>
    </p:spTree>
    <p:extLst>
      <p:ext uri="{BB962C8B-B14F-4D97-AF65-F5344CB8AC3E}">
        <p14:creationId xmlns:p14="http://schemas.microsoft.com/office/powerpoint/2010/main" val="13047820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0B2EBBF4-B61F-F990-1A70-6D3D9B9040C5}"/>
            </a:ext>
          </a:extLst>
        </p:cNvPr>
        <p:cNvGrpSpPr/>
        <p:nvPr/>
      </p:nvGrpSpPr>
      <p:grpSpPr>
        <a:xfrm>
          <a:off x="0" y="0"/>
          <a:ext cx="0" cy="0"/>
          <a:chOff x="0" y="0"/>
          <a:chExt cx="0" cy="0"/>
        </a:xfrm>
      </p:grpSpPr>
      <p:sp>
        <p:nvSpPr>
          <p:cNvPr id="55" name="Google Shape;55;p13">
            <a:extLst>
              <a:ext uri="{FF2B5EF4-FFF2-40B4-BE49-F238E27FC236}">
                <a16:creationId xmlns:a16="http://schemas.microsoft.com/office/drawing/2014/main" id="{61CFF66A-74F6-0204-A990-07842D233D67}"/>
              </a:ext>
            </a:extLst>
          </p:cNvPr>
          <p:cNvSpPr/>
          <p:nvPr/>
        </p:nvSpPr>
        <p:spPr>
          <a:xfrm>
            <a:off x="2989062" y="1363677"/>
            <a:ext cx="5590500" cy="721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endParaRPr sz="3000" b="0" i="0" u="none" strike="noStrike" cap="none" dirty="0">
              <a:solidFill>
                <a:srgbClr val="000000"/>
              </a:solidFill>
              <a:latin typeface="Arial"/>
              <a:ea typeface="Arial"/>
              <a:cs typeface="Arial"/>
              <a:sym typeface="Arial"/>
            </a:endParaRPr>
          </a:p>
        </p:txBody>
      </p:sp>
      <p:sp>
        <p:nvSpPr>
          <p:cNvPr id="56" name="Google Shape;56;p13">
            <a:extLst>
              <a:ext uri="{FF2B5EF4-FFF2-40B4-BE49-F238E27FC236}">
                <a16:creationId xmlns:a16="http://schemas.microsoft.com/office/drawing/2014/main" id="{868E61A2-A586-F723-3C34-39249A89C0AF}"/>
              </a:ext>
            </a:extLst>
          </p:cNvPr>
          <p:cNvSpPr/>
          <p:nvPr/>
        </p:nvSpPr>
        <p:spPr>
          <a:xfrm>
            <a:off x="3506709" y="2349491"/>
            <a:ext cx="6154951" cy="527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r>
              <a:rPr lang="en-GB" sz="2400" b="1" dirty="0">
                <a:solidFill>
                  <a:srgbClr val="2F5496"/>
                </a:solidFill>
                <a:latin typeface="Calibri"/>
                <a:ea typeface="Calibri"/>
                <a:cs typeface="Calibri"/>
                <a:sym typeface="Calibri"/>
              </a:rPr>
              <a:t>Thank You!</a:t>
            </a:r>
            <a:endParaRPr sz="2400" b="0" i="0" u="none" strike="noStrike" cap="none" dirty="0">
              <a:solidFill>
                <a:srgbClr val="000000"/>
              </a:solidFill>
              <a:latin typeface="Arial"/>
              <a:ea typeface="Arial"/>
              <a:cs typeface="Arial"/>
              <a:sym typeface="Arial"/>
            </a:endParaRPr>
          </a:p>
        </p:txBody>
      </p:sp>
      <p:cxnSp>
        <p:nvCxnSpPr>
          <p:cNvPr id="59" name="Google Shape;59;p13">
            <a:extLst>
              <a:ext uri="{FF2B5EF4-FFF2-40B4-BE49-F238E27FC236}">
                <a16:creationId xmlns:a16="http://schemas.microsoft.com/office/drawing/2014/main" id="{32D1745B-F0CB-7811-EFFC-467F7A8B2B51}"/>
              </a:ext>
            </a:extLst>
          </p:cNvPr>
          <p:cNvCxnSpPr/>
          <p:nvPr/>
        </p:nvCxnSpPr>
        <p:spPr>
          <a:xfrm>
            <a:off x="2989061" y="2794009"/>
            <a:ext cx="3416100" cy="0"/>
          </a:xfrm>
          <a:prstGeom prst="straightConnector1">
            <a:avLst/>
          </a:prstGeom>
          <a:noFill/>
          <a:ln w="38100" cap="flat" cmpd="sng">
            <a:solidFill>
              <a:srgbClr val="C55A11"/>
            </a:solidFill>
            <a:prstDash val="solid"/>
            <a:miter lim="800000"/>
            <a:headEnd type="none" w="sm" len="sm"/>
            <a:tailEnd type="none" w="sm" len="sm"/>
          </a:ln>
        </p:spPr>
      </p:cxnSp>
      <p:pic>
        <p:nvPicPr>
          <p:cNvPr id="2" name="object 6">
            <a:extLst>
              <a:ext uri="{FF2B5EF4-FFF2-40B4-BE49-F238E27FC236}">
                <a16:creationId xmlns:a16="http://schemas.microsoft.com/office/drawing/2014/main" id="{C4F65F1D-6DBE-68B0-6036-6FBF9CC164C4}"/>
              </a:ext>
            </a:extLst>
          </p:cNvPr>
          <p:cNvPicPr/>
          <p:nvPr/>
        </p:nvPicPr>
        <p:blipFill>
          <a:blip r:embed="rId3" cstate="print"/>
          <a:stretch>
            <a:fillRect/>
          </a:stretch>
        </p:blipFill>
        <p:spPr>
          <a:xfrm>
            <a:off x="616883" y="772992"/>
            <a:ext cx="1942934" cy="3597515"/>
          </a:xfrm>
          <a:prstGeom prst="rect">
            <a:avLst/>
          </a:prstGeom>
        </p:spPr>
      </p:pic>
    </p:spTree>
    <p:extLst>
      <p:ext uri="{BB962C8B-B14F-4D97-AF65-F5344CB8AC3E}">
        <p14:creationId xmlns:p14="http://schemas.microsoft.com/office/powerpoint/2010/main" val="4376471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3002</TotalTime>
  <Words>3493</Words>
  <Application>Microsoft Office PowerPoint</Application>
  <PresentationFormat>On-screen Show (16:9)</PresentationFormat>
  <Paragraphs>418</Paragraphs>
  <Slides>52</Slides>
  <Notes>52</Notes>
  <HiddenSlides>7</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52</vt:i4>
      </vt:variant>
    </vt:vector>
  </HeadingPairs>
  <TitlesOfParts>
    <vt:vector size="61" baseType="lpstr">
      <vt:lpstr>Arial</vt:lpstr>
      <vt:lpstr>Calibri</vt:lpstr>
      <vt:lpstr>Courier New</vt:lpstr>
      <vt:lpstr>Roboto</vt:lpstr>
      <vt:lpstr>source-serif-pro</vt:lpstr>
      <vt:lpstr>Symbol</vt:lpstr>
      <vt:lpstr>Times New Roman</vt:lpstr>
      <vt:lpstr>Wingdings</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Dr Pooja Agarwal</cp:lastModifiedBy>
  <cp:revision>104</cp:revision>
  <dcterms:modified xsi:type="dcterms:W3CDTF">2026-01-22T00:37:09Z</dcterms:modified>
</cp:coreProperties>
</file>