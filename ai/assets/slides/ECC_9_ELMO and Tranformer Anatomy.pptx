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1"/>
  </p:notesMasterIdLst>
  <p:sldIdLst>
    <p:sldId id="256" r:id="rId2"/>
    <p:sldId id="257" r:id="rId3"/>
    <p:sldId id="922" r:id="rId4"/>
    <p:sldId id="356" r:id="rId5"/>
    <p:sldId id="357" r:id="rId6"/>
    <p:sldId id="358" r:id="rId7"/>
    <p:sldId id="954" r:id="rId8"/>
    <p:sldId id="917" r:id="rId9"/>
    <p:sldId id="911" r:id="rId10"/>
    <p:sldId id="923" r:id="rId11"/>
    <p:sldId id="927" r:id="rId12"/>
    <p:sldId id="924" r:id="rId13"/>
    <p:sldId id="912" r:id="rId14"/>
    <p:sldId id="928" r:id="rId15"/>
    <p:sldId id="913" r:id="rId16"/>
    <p:sldId id="918" r:id="rId17"/>
    <p:sldId id="955" r:id="rId18"/>
    <p:sldId id="359" r:id="rId19"/>
    <p:sldId id="956" r:id="rId20"/>
    <p:sldId id="925" r:id="rId21"/>
    <p:sldId id="319" r:id="rId22"/>
    <p:sldId id="360" r:id="rId23"/>
    <p:sldId id="914" r:id="rId24"/>
    <p:sldId id="916" r:id="rId25"/>
    <p:sldId id="919" r:id="rId26"/>
    <p:sldId id="920" r:id="rId27"/>
    <p:sldId id="921" r:id="rId28"/>
    <p:sldId id="926" r:id="rId29"/>
    <p:sldId id="841" r:id="rId30"/>
    <p:sldId id="897" r:id="rId31"/>
    <p:sldId id="938" r:id="rId32"/>
    <p:sldId id="898" r:id="rId33"/>
    <p:sldId id="900" r:id="rId34"/>
    <p:sldId id="842" r:id="rId35"/>
    <p:sldId id="843" r:id="rId36"/>
    <p:sldId id="844" r:id="rId37"/>
    <p:sldId id="847" r:id="rId38"/>
    <p:sldId id="881" r:id="rId39"/>
    <p:sldId id="848" r:id="rId40"/>
    <p:sldId id="940" r:id="rId41"/>
    <p:sldId id="880" r:id="rId42"/>
    <p:sldId id="907" r:id="rId43"/>
    <p:sldId id="849" r:id="rId44"/>
    <p:sldId id="908" r:id="rId45"/>
    <p:sldId id="850" r:id="rId46"/>
    <p:sldId id="851" r:id="rId47"/>
    <p:sldId id="901" r:id="rId48"/>
    <p:sldId id="902" r:id="rId49"/>
    <p:sldId id="903" r:id="rId50"/>
    <p:sldId id="855" r:id="rId51"/>
    <p:sldId id="869" r:id="rId52"/>
    <p:sldId id="941" r:id="rId53"/>
    <p:sldId id="942" r:id="rId54"/>
    <p:sldId id="870" r:id="rId55"/>
    <p:sldId id="915" r:id="rId56"/>
    <p:sldId id="871" r:id="rId57"/>
    <p:sldId id="943" r:id="rId58"/>
    <p:sldId id="944" r:id="rId59"/>
    <p:sldId id="945" r:id="rId60"/>
    <p:sldId id="873" r:id="rId61"/>
    <p:sldId id="937" r:id="rId62"/>
    <p:sldId id="320" r:id="rId63"/>
    <p:sldId id="321" r:id="rId64"/>
    <p:sldId id="322" r:id="rId65"/>
    <p:sldId id="323" r:id="rId66"/>
    <p:sldId id="324" r:id="rId67"/>
    <p:sldId id="856" r:id="rId68"/>
    <p:sldId id="865" r:id="rId69"/>
    <p:sldId id="866" r:id="rId70"/>
    <p:sldId id="891" r:id="rId71"/>
    <p:sldId id="939" r:id="rId72"/>
    <p:sldId id="946" r:id="rId73"/>
    <p:sldId id="947" r:id="rId74"/>
    <p:sldId id="948" r:id="rId75"/>
    <p:sldId id="949" r:id="rId76"/>
    <p:sldId id="950" r:id="rId77"/>
    <p:sldId id="951" r:id="rId78"/>
    <p:sldId id="878" r:id="rId79"/>
    <p:sldId id="685" r:id="rId8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9T04:35:41.5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18489 10453 213 0,'0'0'0'0,"0"0"0"0,0 0 0 16,0 0 17-16,0 0-1 0,0 0-16 0,3 0 0 0,-3 0 33 15,5-6 1-15,-5 6-34 0,10-7 0 0,-10 7 31 16,16-3 0-16,-16 3-31 0,14-2 0 16,-14 2 21-16,4-2-1 0,-4 2-20 0,7 0 0 15,-7 0 16-15,4 0-1 0,-4 0-15 0,16 2 0 0,-1-1 11 16,3 0 1-16,1 0-12 0,7 4 0 0,-26-5-354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28949e6b4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28949e6b4_2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28949e6b4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228949e6b4_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28949e6b4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228949e6b4_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288fe26c03_1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288fe26c03_1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377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288fe26c03_1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3288fe26c03_1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3004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288fe26c03_1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288fe26c03_1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415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>
          <a:extLst>
            <a:ext uri="{FF2B5EF4-FFF2-40B4-BE49-F238E27FC236}">
              <a16:creationId xmlns:a16="http://schemas.microsoft.com/office/drawing/2014/main" id="{430F8232-995F-B1E6-9FE6-90C9D0CC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288fe26c03_1_376:notes">
            <a:extLst>
              <a:ext uri="{FF2B5EF4-FFF2-40B4-BE49-F238E27FC236}">
                <a16:creationId xmlns:a16="http://schemas.microsoft.com/office/drawing/2014/main" id="{27364101-CAAB-D5DA-B956-B846C0C09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288fe26c03_1_376:notes">
            <a:extLst>
              <a:ext uri="{FF2B5EF4-FFF2-40B4-BE49-F238E27FC236}">
                <a16:creationId xmlns:a16="http://schemas.microsoft.com/office/drawing/2014/main" id="{64D90C08-1100-77FE-45F4-4496FC7950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408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>
          <a:extLst>
            <a:ext uri="{FF2B5EF4-FFF2-40B4-BE49-F238E27FC236}">
              <a16:creationId xmlns:a16="http://schemas.microsoft.com/office/drawing/2014/main" id="{336E9C1C-E989-73D9-FF86-85380E225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288fe26c03_1_368:notes">
            <a:extLst>
              <a:ext uri="{FF2B5EF4-FFF2-40B4-BE49-F238E27FC236}">
                <a16:creationId xmlns:a16="http://schemas.microsoft.com/office/drawing/2014/main" id="{B355EB6F-E963-DC0D-DF29-0E259C3515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3288fe26c03_1_368:notes">
            <a:extLst>
              <a:ext uri="{FF2B5EF4-FFF2-40B4-BE49-F238E27FC236}">
                <a16:creationId xmlns:a16="http://schemas.microsoft.com/office/drawing/2014/main" id="{2A34D13E-DFFD-413B-E278-EA9564129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588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>
          <a:extLst>
            <a:ext uri="{FF2B5EF4-FFF2-40B4-BE49-F238E27FC236}">
              <a16:creationId xmlns:a16="http://schemas.microsoft.com/office/drawing/2014/main" id="{B64F13BA-7BB1-5188-4DC4-2C8F0C43B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288fe26c03_1_376:notes">
            <a:extLst>
              <a:ext uri="{FF2B5EF4-FFF2-40B4-BE49-F238E27FC236}">
                <a16:creationId xmlns:a16="http://schemas.microsoft.com/office/drawing/2014/main" id="{9321D1F4-838F-FA5D-C596-919527663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288fe26c03_1_376:notes">
            <a:extLst>
              <a:ext uri="{FF2B5EF4-FFF2-40B4-BE49-F238E27FC236}">
                <a16:creationId xmlns:a16="http://schemas.microsoft.com/office/drawing/2014/main" id="{9FAFA721-DFE5-FCDB-A06E-D75161DAC7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477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>
          <a:extLst>
            <a:ext uri="{FF2B5EF4-FFF2-40B4-BE49-F238E27FC236}">
              <a16:creationId xmlns:a16="http://schemas.microsoft.com/office/drawing/2014/main" id="{C44E26B1-9948-B559-ADD0-DD7B80ECB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288fe26c03_1_376:notes">
            <a:extLst>
              <a:ext uri="{FF2B5EF4-FFF2-40B4-BE49-F238E27FC236}">
                <a16:creationId xmlns:a16="http://schemas.microsoft.com/office/drawing/2014/main" id="{9A48E318-B4F4-49A7-01F3-1F66766786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288fe26c03_1_376:notes">
            <a:extLst>
              <a:ext uri="{FF2B5EF4-FFF2-40B4-BE49-F238E27FC236}">
                <a16:creationId xmlns:a16="http://schemas.microsoft.com/office/drawing/2014/main" id="{73382418-391B-5DAD-AC35-FF6E188C53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082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>
          <a:extLst>
            <a:ext uri="{FF2B5EF4-FFF2-40B4-BE49-F238E27FC236}">
              <a16:creationId xmlns:a16="http://schemas.microsoft.com/office/drawing/2014/main" id="{A1195F01-A905-87E5-DD6C-77EA145C0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288fe26c03_1_376:notes">
            <a:extLst>
              <a:ext uri="{FF2B5EF4-FFF2-40B4-BE49-F238E27FC236}">
                <a16:creationId xmlns:a16="http://schemas.microsoft.com/office/drawing/2014/main" id="{1452A87F-A777-4A76-B802-937D02863A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288fe26c03_1_376:notes">
            <a:extLst>
              <a:ext uri="{FF2B5EF4-FFF2-40B4-BE49-F238E27FC236}">
                <a16:creationId xmlns:a16="http://schemas.microsoft.com/office/drawing/2014/main" id="{A04D4EA7-F892-B073-29B6-9430F8CEC5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139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>
          <a:extLst>
            <a:ext uri="{FF2B5EF4-FFF2-40B4-BE49-F238E27FC236}">
              <a16:creationId xmlns:a16="http://schemas.microsoft.com/office/drawing/2014/main" id="{DC1495D8-51D6-15C9-936F-9301AC606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288fe26c03_1_376:notes">
            <a:extLst>
              <a:ext uri="{FF2B5EF4-FFF2-40B4-BE49-F238E27FC236}">
                <a16:creationId xmlns:a16="http://schemas.microsoft.com/office/drawing/2014/main" id="{76DFCEA5-FE6C-5DAF-5828-5D7A0EBB6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288fe26c03_1_376:notes">
            <a:extLst>
              <a:ext uri="{FF2B5EF4-FFF2-40B4-BE49-F238E27FC236}">
                <a16:creationId xmlns:a16="http://schemas.microsoft.com/office/drawing/2014/main" id="{7FA6E7B7-F6AC-35AE-F722-2B252EFD7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3576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>
          <a:extLst>
            <a:ext uri="{FF2B5EF4-FFF2-40B4-BE49-F238E27FC236}">
              <a16:creationId xmlns:a16="http://schemas.microsoft.com/office/drawing/2014/main" id="{641B1E6B-5FC8-E827-1243-BE68966AE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288fe26c03_1_376:notes">
            <a:extLst>
              <a:ext uri="{FF2B5EF4-FFF2-40B4-BE49-F238E27FC236}">
                <a16:creationId xmlns:a16="http://schemas.microsoft.com/office/drawing/2014/main" id="{54E3AE3B-90A8-FADD-D821-D83E496DB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288fe26c03_1_376:notes">
            <a:extLst>
              <a:ext uri="{FF2B5EF4-FFF2-40B4-BE49-F238E27FC236}">
                <a16:creationId xmlns:a16="http://schemas.microsoft.com/office/drawing/2014/main" id="{D90406A2-81B7-CFDD-2085-1017C20C39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553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>
          <a:extLst>
            <a:ext uri="{FF2B5EF4-FFF2-40B4-BE49-F238E27FC236}">
              <a16:creationId xmlns:a16="http://schemas.microsoft.com/office/drawing/2014/main" id="{5E0AF5D1-BE50-11B2-B6E0-27731EDBA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288fe26c03_1_376:notes">
            <a:extLst>
              <a:ext uri="{FF2B5EF4-FFF2-40B4-BE49-F238E27FC236}">
                <a16:creationId xmlns:a16="http://schemas.microsoft.com/office/drawing/2014/main" id="{974AA82E-30E1-5B39-ED1F-71E58BE783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288fe26c03_1_376:notes">
            <a:extLst>
              <a:ext uri="{FF2B5EF4-FFF2-40B4-BE49-F238E27FC236}">
                <a16:creationId xmlns:a16="http://schemas.microsoft.com/office/drawing/2014/main" id="{1028A5E2-00DD-2434-CC2F-4290E62690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9365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>
          <a:extLst>
            <a:ext uri="{FF2B5EF4-FFF2-40B4-BE49-F238E27FC236}">
              <a16:creationId xmlns:a16="http://schemas.microsoft.com/office/drawing/2014/main" id="{B49580CE-EF0D-ACEE-F61D-9AD531124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288fe26c03_1_376:notes">
            <a:extLst>
              <a:ext uri="{FF2B5EF4-FFF2-40B4-BE49-F238E27FC236}">
                <a16:creationId xmlns:a16="http://schemas.microsoft.com/office/drawing/2014/main" id="{340223EB-8A39-D65F-1741-F33847E333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288fe26c03_1_376:notes">
            <a:extLst>
              <a:ext uri="{FF2B5EF4-FFF2-40B4-BE49-F238E27FC236}">
                <a16:creationId xmlns:a16="http://schemas.microsoft.com/office/drawing/2014/main" id="{10FC9186-111C-B81E-8F24-3AC2E55AF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4065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>
          <a:extLst>
            <a:ext uri="{FF2B5EF4-FFF2-40B4-BE49-F238E27FC236}">
              <a16:creationId xmlns:a16="http://schemas.microsoft.com/office/drawing/2014/main" id="{FC7B8A4A-F97D-FB62-5E9A-0D1AB7D08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288fe26c03_1_376:notes">
            <a:extLst>
              <a:ext uri="{FF2B5EF4-FFF2-40B4-BE49-F238E27FC236}">
                <a16:creationId xmlns:a16="http://schemas.microsoft.com/office/drawing/2014/main" id="{3238B551-65BB-88C3-7612-CBECB8B1F2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288fe26c03_1_376:notes">
            <a:extLst>
              <a:ext uri="{FF2B5EF4-FFF2-40B4-BE49-F238E27FC236}">
                <a16:creationId xmlns:a16="http://schemas.microsoft.com/office/drawing/2014/main" id="{49A8BAD2-51F2-C948-B9DF-A7B1243BD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76942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>
          <a:extLst>
            <a:ext uri="{FF2B5EF4-FFF2-40B4-BE49-F238E27FC236}">
              <a16:creationId xmlns:a16="http://schemas.microsoft.com/office/drawing/2014/main" id="{F388F3F1-E141-B6A1-9FB8-BDF1AB22B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288fe26c03_1_376:notes">
            <a:extLst>
              <a:ext uri="{FF2B5EF4-FFF2-40B4-BE49-F238E27FC236}">
                <a16:creationId xmlns:a16="http://schemas.microsoft.com/office/drawing/2014/main" id="{0E22C514-6CFB-92C3-967C-8B1619900A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288fe26c03_1_376:notes">
            <a:extLst>
              <a:ext uri="{FF2B5EF4-FFF2-40B4-BE49-F238E27FC236}">
                <a16:creationId xmlns:a16="http://schemas.microsoft.com/office/drawing/2014/main" id="{0E3815E5-DAB8-7ED8-1325-7C1571037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20288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288fe26c03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3288fe26c03_1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8487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>
          <a:extLst>
            <a:ext uri="{FF2B5EF4-FFF2-40B4-BE49-F238E27FC236}">
              <a16:creationId xmlns:a16="http://schemas.microsoft.com/office/drawing/2014/main" id="{89DC30EF-46D1-3DDD-CEC0-05D706B5F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288fe26c03_1_387:notes">
            <a:extLst>
              <a:ext uri="{FF2B5EF4-FFF2-40B4-BE49-F238E27FC236}">
                <a16:creationId xmlns:a16="http://schemas.microsoft.com/office/drawing/2014/main" id="{21AE2580-8F9F-4895-BBBD-4C39AA581B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3288fe26c03_1_387:notes">
            <a:extLst>
              <a:ext uri="{FF2B5EF4-FFF2-40B4-BE49-F238E27FC236}">
                <a16:creationId xmlns:a16="http://schemas.microsoft.com/office/drawing/2014/main" id="{5481F7EA-2999-51F0-F144-CC9CE825F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04107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>
          <a:extLst>
            <a:ext uri="{FF2B5EF4-FFF2-40B4-BE49-F238E27FC236}">
              <a16:creationId xmlns:a16="http://schemas.microsoft.com/office/drawing/2014/main" id="{A26DD278-446C-5AAC-78F1-8C05F5FB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288fe26c03_1_387:notes">
            <a:extLst>
              <a:ext uri="{FF2B5EF4-FFF2-40B4-BE49-F238E27FC236}">
                <a16:creationId xmlns:a16="http://schemas.microsoft.com/office/drawing/2014/main" id="{50A2DBD0-09A8-5107-10E4-761311FBDF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3288fe26c03_1_387:notes">
            <a:extLst>
              <a:ext uri="{FF2B5EF4-FFF2-40B4-BE49-F238E27FC236}">
                <a16:creationId xmlns:a16="http://schemas.microsoft.com/office/drawing/2014/main" id="{509C51AD-DA2F-03B8-068E-8B1680F95A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40334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228949e6b4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228949e6b4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31699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288fe26c03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288fe26c03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1151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>
          <a:extLst>
            <a:ext uri="{FF2B5EF4-FFF2-40B4-BE49-F238E27FC236}">
              <a16:creationId xmlns:a16="http://schemas.microsoft.com/office/drawing/2014/main" id="{FB76291A-3319-09DE-3C72-7E0EF44F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288fe26c03_1_405:notes">
            <a:extLst>
              <a:ext uri="{FF2B5EF4-FFF2-40B4-BE49-F238E27FC236}">
                <a16:creationId xmlns:a16="http://schemas.microsoft.com/office/drawing/2014/main" id="{A20864E1-6D95-958B-2245-5C9A717F1B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288fe26c03_1_405:notes">
            <a:extLst>
              <a:ext uri="{FF2B5EF4-FFF2-40B4-BE49-F238E27FC236}">
                <a16:creationId xmlns:a16="http://schemas.microsoft.com/office/drawing/2014/main" id="{A837F207-7029-27A9-A1B5-CECB18975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1421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>
          <a:extLst>
            <a:ext uri="{FF2B5EF4-FFF2-40B4-BE49-F238E27FC236}">
              <a16:creationId xmlns:a16="http://schemas.microsoft.com/office/drawing/2014/main" id="{AC099253-A06D-9AC1-1C0D-7ABEAD71D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288fe26c03_1_405:notes">
            <a:extLst>
              <a:ext uri="{FF2B5EF4-FFF2-40B4-BE49-F238E27FC236}">
                <a16:creationId xmlns:a16="http://schemas.microsoft.com/office/drawing/2014/main" id="{48B3DB54-2B97-70B3-67DE-04924E1327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288fe26c03_1_405:notes">
            <a:extLst>
              <a:ext uri="{FF2B5EF4-FFF2-40B4-BE49-F238E27FC236}">
                <a16:creationId xmlns:a16="http://schemas.microsoft.com/office/drawing/2014/main" id="{39BA8455-B2DD-6C19-633E-6A80796C2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57068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>
          <a:extLst>
            <a:ext uri="{FF2B5EF4-FFF2-40B4-BE49-F238E27FC236}">
              <a16:creationId xmlns:a16="http://schemas.microsoft.com/office/drawing/2014/main" id="{B733247A-5B03-7DFB-CC98-230DF61E1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288fe26c03_1_405:notes">
            <a:extLst>
              <a:ext uri="{FF2B5EF4-FFF2-40B4-BE49-F238E27FC236}">
                <a16:creationId xmlns:a16="http://schemas.microsoft.com/office/drawing/2014/main" id="{93CA9F18-D8D5-146F-48FD-8D4BB9855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288fe26c03_1_405:notes">
            <a:extLst>
              <a:ext uri="{FF2B5EF4-FFF2-40B4-BE49-F238E27FC236}">
                <a16:creationId xmlns:a16="http://schemas.microsoft.com/office/drawing/2014/main" id="{D447FFB0-90FA-F45F-F023-E0DFB3A9DC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22329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>
          <a:extLst>
            <a:ext uri="{FF2B5EF4-FFF2-40B4-BE49-F238E27FC236}">
              <a16:creationId xmlns:a16="http://schemas.microsoft.com/office/drawing/2014/main" id="{01D7E04F-E69B-DA2F-63F4-BC65C611E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228949e6b4_6_0:notes">
            <a:extLst>
              <a:ext uri="{FF2B5EF4-FFF2-40B4-BE49-F238E27FC236}">
                <a16:creationId xmlns:a16="http://schemas.microsoft.com/office/drawing/2014/main" id="{090B3E48-8A1B-9050-FE77-894B891BC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228949e6b4_6_0:notes">
            <a:extLst>
              <a:ext uri="{FF2B5EF4-FFF2-40B4-BE49-F238E27FC236}">
                <a16:creationId xmlns:a16="http://schemas.microsoft.com/office/drawing/2014/main" id="{4AEC5BE0-A7C6-7735-1C33-7DE8E1462D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69412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228949e6b4_6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228949e6b4_6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5192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228949e6b4_6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228949e6b4_6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6047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228949e6b4_6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228949e6b4_6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81305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228949e6b4_6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228949e6b4_6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85944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228949e6b4_6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228949e6b4_6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7152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550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N18-120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clanthology.org/N18-1202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aclanthology.org/N18-1202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posts/2019-01-31-l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abs/1802.05365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arxiv.org/abs/1706.03762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iitm-pod.slides.com/arunprakash_ai/lecture-17-transformers-ce11cb#/0/21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stats.stackexchange.com/questions/421935/what-exactly-are-keys-queries-and-values-in-attention-mechanisms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hyperlink" Target="https://arxiv.org/abs/1706.03762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jpg"/><Relationship Id="rId7" Type="http://schemas.openxmlformats.org/officeDocument/2006/relationships/image" Target="../media/image5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.jpg"/><Relationship Id="rId7" Type="http://schemas.openxmlformats.org/officeDocument/2006/relationships/image" Target="../media/image5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42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ning.com/books/build-a-large-language-model-from-scratch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5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ttention_Is_All_You_Need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56.png"/><Relationship Id="rId4" Type="http://schemas.openxmlformats.org/officeDocument/2006/relationships/hyperlink" Target="https://www.manning.com/books/build-a-large-language-model-from-scratch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https://www.manning.com/books/build-a-large-language-model-from-scratch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https://www.manning.com/books/build-a-large-language-model-from-scratch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9.png"/><Relationship Id="rId4" Type="http://schemas.openxmlformats.org/officeDocument/2006/relationships/customXml" Target="../ink/ink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2989050" y="1565675"/>
            <a:ext cx="55905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0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989049" y="2234725"/>
            <a:ext cx="5538067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2400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, Transformer Anatomy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989062" y="3015824"/>
            <a:ext cx="5590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>
                <a:latin typeface="Calibri"/>
                <a:ea typeface="Calibri"/>
                <a:cs typeface="Calibri"/>
                <a:sym typeface="Calibri"/>
              </a:rPr>
              <a:t>Dr. Pooja Agarwal</a:t>
            </a: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2989062" y="3468103"/>
            <a:ext cx="5590500" cy="9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>
            <a:off x="2989061" y="2794009"/>
            <a:ext cx="3416100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object 6">
            <a:extLst>
              <a:ext uri="{FF2B5EF4-FFF2-40B4-BE49-F238E27FC236}">
                <a16:creationId xmlns:a16="http://schemas.microsoft.com/office/drawing/2014/main" id="{A6497DD2-3107-61B6-C794-CD0962D4BBC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883" y="772992"/>
            <a:ext cx="1942934" cy="35975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520425" y="1415450"/>
            <a:ext cx="5844000" cy="5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2800" b="1">
                <a:latin typeface="Calibri"/>
                <a:ea typeface="Calibri"/>
                <a:cs typeface="Calibri"/>
                <a:sym typeface="Calibri"/>
              </a:rPr>
              <a:t>Generative AI and its Applications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520425" y="1761875"/>
            <a:ext cx="19590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20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2000" b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UE23CS342BA4</a:t>
            </a:r>
            <a:r>
              <a:rPr lang="en-GB" sz="20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b="1" i="0" u="none" strike="noStrike" cap="none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14"/>
          <p:cNvGrpSpPr/>
          <p:nvPr/>
        </p:nvGrpSpPr>
        <p:grpSpPr>
          <a:xfrm>
            <a:off x="298326" y="4213338"/>
            <a:ext cx="831571" cy="722759"/>
            <a:chOff x="313939" y="5489794"/>
            <a:chExt cx="1066800" cy="1077941"/>
          </a:xfrm>
        </p:grpSpPr>
        <p:sp>
          <p:nvSpPr>
            <p:cNvPr id="69" name="Google Shape;69;p14"/>
            <p:cNvSpPr/>
            <p:nvPr/>
          </p:nvSpPr>
          <p:spPr>
            <a:xfrm rot="5400000">
              <a:off x="824539" y="6011535"/>
              <a:ext cx="45600" cy="1066800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 rot="10800000">
              <a:off x="313963" y="5489794"/>
              <a:ext cx="45600" cy="1066800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1" name="Google Shape;71;p14"/>
          <p:cNvCxnSpPr/>
          <p:nvPr/>
        </p:nvCxnSpPr>
        <p:spPr>
          <a:xfrm rot="10800000" flipH="1">
            <a:off x="53611" y="1916375"/>
            <a:ext cx="6161100" cy="4590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4"/>
          <p:cNvSpPr txBox="1"/>
          <p:nvPr/>
        </p:nvSpPr>
        <p:spPr>
          <a:xfrm>
            <a:off x="520425" y="2608167"/>
            <a:ext cx="6905700" cy="207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alibri"/>
                <a:ea typeface="Calibri"/>
                <a:cs typeface="Calibri"/>
                <a:sym typeface="Calibri"/>
              </a:rPr>
              <a:t>We have covered: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libri"/>
                <a:ea typeface="Calibri"/>
                <a:cs typeface="Calibri"/>
                <a:sym typeface="Calibri"/>
              </a:rPr>
              <a:t>LLM Basics and evolution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libri"/>
                <a:ea typeface="Calibri"/>
                <a:cs typeface="Calibri"/>
                <a:sym typeface="Calibri"/>
              </a:rPr>
              <a:t>NLP: Word Embeddings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libri"/>
                <a:ea typeface="Calibri"/>
                <a:cs typeface="Calibri"/>
                <a:sym typeface="Calibri"/>
              </a:rPr>
              <a:t>POS and NER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libri"/>
                <a:ea typeface="Calibri"/>
                <a:cs typeface="Calibri"/>
                <a:sym typeface="Calibri"/>
              </a:rPr>
              <a:t>Text Classification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alibri"/>
                <a:ea typeface="Calibri"/>
                <a:cs typeface="Calibri"/>
                <a:sym typeface="Calibri"/>
              </a:rPr>
              <a:t>We will now cover:-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r>
              <a:rPr lang="en-GB" dirty="0" err="1"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dirty="0">
                <a:latin typeface="Calibri"/>
                <a:ea typeface="Calibri"/>
                <a:cs typeface="Calibri"/>
                <a:sym typeface="Calibri"/>
              </a:rPr>
              <a:t>, Transformer Anatomy,</a:t>
            </a:r>
          </a:p>
          <a:p>
            <a:r>
              <a:rPr lang="en-GB" dirty="0">
                <a:latin typeface="Calibri"/>
                <a:ea typeface="Calibri"/>
                <a:cs typeface="Calibri"/>
                <a:sym typeface="Calibri"/>
              </a:rPr>
              <a:t> BERT,GPT, </a:t>
            </a:r>
            <a:r>
              <a:rPr lang="en-GB" dirty="0" err="1">
                <a:latin typeface="Calibri"/>
                <a:ea typeface="Calibri"/>
                <a:cs typeface="Calibri"/>
                <a:sym typeface="Calibri"/>
              </a:rPr>
              <a:t>ROBERTa</a:t>
            </a:r>
            <a:r>
              <a:rPr lang="en-GB" dirty="0">
                <a:latin typeface="Calibri"/>
                <a:ea typeface="Calibri"/>
                <a:cs typeface="Calibri"/>
                <a:sym typeface="Calibri"/>
              </a:rPr>
              <a:t>, BART architectures</a:t>
            </a:r>
            <a:endParaRPr lang="en-GB" sz="15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B9AF0C58-A7C8-A056-3ADD-BB0E1C92779B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520425" y="1415450"/>
            <a:ext cx="5844000" cy="5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2800" b="1">
                <a:latin typeface="Calibri"/>
                <a:ea typeface="Calibri"/>
                <a:cs typeface="Calibri"/>
                <a:sym typeface="Calibri"/>
              </a:rPr>
              <a:t>Generative AI and its Applications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520425" y="1761875"/>
            <a:ext cx="19590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20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2000" b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UE22CS342BA9</a:t>
            </a:r>
            <a:r>
              <a:rPr lang="en-GB" sz="20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b="1" i="0" u="none" strike="noStrike" cap="non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14"/>
          <p:cNvGrpSpPr/>
          <p:nvPr/>
        </p:nvGrpSpPr>
        <p:grpSpPr>
          <a:xfrm>
            <a:off x="298326" y="4213338"/>
            <a:ext cx="831571" cy="722759"/>
            <a:chOff x="313939" y="5489794"/>
            <a:chExt cx="1066800" cy="1077941"/>
          </a:xfrm>
        </p:grpSpPr>
        <p:sp>
          <p:nvSpPr>
            <p:cNvPr id="69" name="Google Shape;69;p14"/>
            <p:cNvSpPr/>
            <p:nvPr/>
          </p:nvSpPr>
          <p:spPr>
            <a:xfrm rot="5400000">
              <a:off x="824539" y="6011535"/>
              <a:ext cx="45600" cy="1066800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 rot="10800000">
              <a:off x="313963" y="5489794"/>
              <a:ext cx="45600" cy="1066800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1" name="Google Shape;71;p14"/>
          <p:cNvCxnSpPr/>
          <p:nvPr/>
        </p:nvCxnSpPr>
        <p:spPr>
          <a:xfrm rot="10800000" flipH="1">
            <a:off x="53611" y="1916375"/>
            <a:ext cx="6161100" cy="4590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object 6">
            <a:extLst>
              <a:ext uri="{FF2B5EF4-FFF2-40B4-BE49-F238E27FC236}">
                <a16:creationId xmlns:a16="http://schemas.microsoft.com/office/drawing/2014/main" id="{B9AF0C58-A7C8-A056-3ADD-BB0E1C92779B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DE57218-257C-E7C0-66B3-0AE3F7F08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59" y="2541898"/>
            <a:ext cx="816441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(2017):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Introduced the fundamental architecture for LLMs.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ELMo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(2018):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Leveraged context-sensitive embeddings using bi-directional LSTMs.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GPT (2018):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on transformer architecture for text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 (2018):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Utilized transformers bidirectionally for better context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(2019):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BERT with optimized training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BART (2019):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Combined encoder-decoder frameworks from BERT and GPT.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113"/>
          <p:cNvSpPr/>
          <p:nvPr/>
        </p:nvSpPr>
        <p:spPr>
          <a:xfrm>
            <a:off x="520425" y="1415450"/>
            <a:ext cx="5844000" cy="5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2800" b="1">
                <a:latin typeface="Calibri"/>
                <a:ea typeface="Calibri"/>
                <a:cs typeface="Calibri"/>
                <a:sym typeface="Calibri"/>
              </a:rPr>
              <a:t>Generative AI and its Applications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13"/>
          <p:cNvSpPr/>
          <p:nvPr/>
        </p:nvSpPr>
        <p:spPr>
          <a:xfrm>
            <a:off x="520425" y="1761875"/>
            <a:ext cx="19590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20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2000" b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UE22CS342BA9</a:t>
            </a:r>
            <a:r>
              <a:rPr lang="en-GB" sz="20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b="1" i="0" u="none" strike="noStrike" cap="non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113"/>
          <p:cNvSpPr/>
          <p:nvPr/>
        </p:nvSpPr>
        <p:spPr>
          <a:xfrm>
            <a:off x="520425" y="4213096"/>
            <a:ext cx="58440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lang="en-GB" sz="1800" b="1">
                <a:latin typeface="Calibri"/>
                <a:ea typeface="Calibri"/>
                <a:cs typeface="Calibri"/>
                <a:sym typeface="Calibri"/>
              </a:rPr>
              <a:t>Pooja Agarwal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113"/>
          <p:cNvSpPr/>
          <p:nvPr/>
        </p:nvSpPr>
        <p:spPr>
          <a:xfrm>
            <a:off x="520437" y="4479694"/>
            <a:ext cx="5844000" cy="2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5" name="Google Shape;1095;p113"/>
          <p:cNvGrpSpPr/>
          <p:nvPr/>
        </p:nvGrpSpPr>
        <p:grpSpPr>
          <a:xfrm>
            <a:off x="298326" y="4213338"/>
            <a:ext cx="831571" cy="722759"/>
            <a:chOff x="313939" y="5489794"/>
            <a:chExt cx="1066800" cy="1077941"/>
          </a:xfrm>
        </p:grpSpPr>
        <p:sp>
          <p:nvSpPr>
            <p:cNvPr id="1096" name="Google Shape;1096;p113"/>
            <p:cNvSpPr/>
            <p:nvPr/>
          </p:nvSpPr>
          <p:spPr>
            <a:xfrm rot="5400000">
              <a:off x="824539" y="6011535"/>
              <a:ext cx="45600" cy="1066800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113"/>
            <p:cNvSpPr/>
            <p:nvPr/>
          </p:nvSpPr>
          <p:spPr>
            <a:xfrm rot="10800000">
              <a:off x="313963" y="5489794"/>
              <a:ext cx="45600" cy="1066800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98" name="Google Shape;1098;p113"/>
          <p:cNvCxnSpPr/>
          <p:nvPr/>
        </p:nvCxnSpPr>
        <p:spPr>
          <a:xfrm rot="10800000" flipH="1">
            <a:off x="53611" y="1916375"/>
            <a:ext cx="6161100" cy="4590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0" name="Google Shape;1100;p113"/>
          <p:cNvSpPr txBox="1"/>
          <p:nvPr/>
        </p:nvSpPr>
        <p:spPr>
          <a:xfrm>
            <a:off x="520425" y="2435300"/>
            <a:ext cx="6905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endParaRPr/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C992560A-1063-9DD3-0284-01F925731C56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2676119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14"/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06" name="Google Shape;1106;p114"/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7" name="Google Shape;1107;p114"/>
          <p:cNvSpPr txBox="1"/>
          <p:nvPr/>
        </p:nvSpPr>
        <p:spPr>
          <a:xfrm>
            <a:off x="235267" y="539194"/>
            <a:ext cx="7829550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ELMo</a:t>
            </a:r>
            <a:r>
              <a:rPr lang="en-GB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(Embeddings from Language Models) represents a </a:t>
            </a:r>
            <a:r>
              <a:rPr lang="en-GB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groundbreaking approach to word embeddings</a:t>
            </a:r>
            <a:r>
              <a:rPr lang="en-GB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that fundamentally changed how we represent words in natural language processing. 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  <a:p>
            <a:pPr marL="3429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Released in 2018 by researchers at the Allen Institute for Artificial Intelligence and the University of Washington, </a:t>
            </a:r>
            <a:r>
              <a:rPr lang="en-GB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ELMo</a:t>
            </a:r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introduced the concept of contextual word representations, moving beyond the limitations of static word embeddings.</a:t>
            </a:r>
            <a:endParaRPr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0" name="Google Shape;1110;p114"/>
          <p:cNvSpPr txBox="1"/>
          <p:nvPr/>
        </p:nvSpPr>
        <p:spPr>
          <a:xfrm>
            <a:off x="-1" y="4622400"/>
            <a:ext cx="5731329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2"/>
                </a:solidFill>
              </a:rPr>
              <a:t>References:</a:t>
            </a:r>
            <a:endParaRPr sz="10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dirty="0">
                <a:solidFill>
                  <a:srgbClr val="446E9B"/>
                </a:solidFill>
                <a:effectLst/>
                <a:latin typeface="-apple-system"/>
                <a:hlinkClick r:id="rId3"/>
              </a:rPr>
              <a:t>Deep Contextualized Word Representations</a:t>
            </a:r>
            <a:r>
              <a:rPr lang="en-US" sz="1000" b="0" i="0" dirty="0">
                <a:solidFill>
                  <a:srgbClr val="212529"/>
                </a:solidFill>
                <a:effectLst/>
                <a:latin typeface="-apple-system"/>
              </a:rPr>
              <a:t> (Peters et al., NAACL 2018)</a:t>
            </a:r>
            <a:endParaRPr sz="10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2"/>
              </a:solidFill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518CDCE4-7C68-6DD2-067C-FB808C4C26C9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2108195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5"/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800" b="1" dirty="0">
                <a:solidFill>
                  <a:schemeClr val="accent4">
                    <a:lumMod val="50000"/>
                  </a:schemeClr>
                </a:solidFill>
              </a:rPr>
              <a:t>Architecture and Working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116" name="Google Shape;1116;p115"/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7" name="Google Shape;1117;p115"/>
          <p:cNvSpPr txBox="1"/>
          <p:nvPr/>
        </p:nvSpPr>
        <p:spPr>
          <a:xfrm>
            <a:off x="221507" y="600818"/>
            <a:ext cx="7674428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Bidirectional Processing</a:t>
            </a:r>
            <a:endParaRPr sz="24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GB" sz="24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ELMo</a:t>
            </a:r>
            <a:r>
              <a:rPr lang="en-GB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employs a two-layered bidirectional LSTM network that processes text in both forward and backward directions. </a:t>
            </a:r>
          </a:p>
          <a:p>
            <a:pPr marL="285750" lvl="0" indent="-2857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addresses the limitations of traditional word embeddings by introducing </a:t>
            </a:r>
            <a:r>
              <a:rPr lang="en-US" sz="24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ELMo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captures both the complex characteristics of word use (syntax and semantics) and how these uses vary across different contexts (polysemy).</a:t>
            </a: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BDF70271-9579-22E7-CAAE-89A9C02A2217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7F171-8598-6A10-4E94-3BD37480EF06}"/>
              </a:ext>
            </a:extLst>
          </p:cNvPr>
          <p:cNvSpPr txBox="1"/>
          <p:nvPr/>
        </p:nvSpPr>
        <p:spPr>
          <a:xfrm>
            <a:off x="221507" y="4738523"/>
            <a:ext cx="87357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446E9B"/>
                </a:solidFill>
                <a:effectLst/>
                <a:latin typeface="-apple-system"/>
                <a:hlinkClick r:id="rId4"/>
              </a:rPr>
              <a:t>Deep Contextualized Word Representations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 (Peters et al., NAACL 2018)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3161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>
          <a:extLst>
            <a:ext uri="{FF2B5EF4-FFF2-40B4-BE49-F238E27FC236}">
              <a16:creationId xmlns:a16="http://schemas.microsoft.com/office/drawing/2014/main" id="{CAD92804-5A5D-1533-EEB5-2D8DC158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5">
            <a:extLst>
              <a:ext uri="{FF2B5EF4-FFF2-40B4-BE49-F238E27FC236}">
                <a16:creationId xmlns:a16="http://schemas.microsoft.com/office/drawing/2014/main" id="{47B1B4F3-5215-D164-9168-07CED4752F0B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800" b="1" dirty="0">
                <a:solidFill>
                  <a:schemeClr val="accent4">
                    <a:lumMod val="50000"/>
                  </a:schemeClr>
                </a:solidFill>
              </a:rPr>
              <a:t>Architecture and Working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116" name="Google Shape;1116;p115">
            <a:extLst>
              <a:ext uri="{FF2B5EF4-FFF2-40B4-BE49-F238E27FC236}">
                <a16:creationId xmlns:a16="http://schemas.microsoft.com/office/drawing/2014/main" id="{9B634FAB-8CBF-DE9A-A190-F6BAD98A35D4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object 6">
            <a:extLst>
              <a:ext uri="{FF2B5EF4-FFF2-40B4-BE49-F238E27FC236}">
                <a16:creationId xmlns:a16="http://schemas.microsoft.com/office/drawing/2014/main" id="{A590887F-EF5D-423E-41F1-BCFEC1A59948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80368-E0EA-329A-9EBB-E24C7CE51CE5}"/>
              </a:ext>
            </a:extLst>
          </p:cNvPr>
          <p:cNvSpPr txBox="1"/>
          <p:nvPr/>
        </p:nvSpPr>
        <p:spPr>
          <a:xfrm>
            <a:off x="221507" y="4738523"/>
            <a:ext cx="87357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446E9B"/>
                </a:solidFill>
                <a:effectLst/>
                <a:latin typeface="-apple-system"/>
                <a:hlinkClick r:id="rId4"/>
              </a:rPr>
              <a:t>Deep Contextualized Word Representations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 (Peters et al., NAACL 2018)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387E8-9E85-B6DC-B600-C5F9A4AA5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00" y="1481887"/>
            <a:ext cx="9144000" cy="318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80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>
          <a:extLst>
            <a:ext uri="{FF2B5EF4-FFF2-40B4-BE49-F238E27FC236}">
              <a16:creationId xmlns:a16="http://schemas.microsoft.com/office/drawing/2014/main" id="{1A60F4E0-99D6-3173-C3DA-EFF29048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14">
            <a:extLst>
              <a:ext uri="{FF2B5EF4-FFF2-40B4-BE49-F238E27FC236}">
                <a16:creationId xmlns:a16="http://schemas.microsoft.com/office/drawing/2014/main" id="{7F512206-16F6-3459-8CFC-42DF598EE456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06" name="Google Shape;1106;p114">
            <a:extLst>
              <a:ext uri="{FF2B5EF4-FFF2-40B4-BE49-F238E27FC236}">
                <a16:creationId xmlns:a16="http://schemas.microsoft.com/office/drawing/2014/main" id="{3649887C-FC33-248A-48B6-C066EA845031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0" name="Google Shape;1110;p114">
            <a:extLst>
              <a:ext uri="{FF2B5EF4-FFF2-40B4-BE49-F238E27FC236}">
                <a16:creationId xmlns:a16="http://schemas.microsoft.com/office/drawing/2014/main" id="{54CE70A4-7B62-1F7E-A7F4-F37C0B0B2E52}"/>
              </a:ext>
            </a:extLst>
          </p:cNvPr>
          <p:cNvSpPr txBox="1"/>
          <p:nvPr/>
        </p:nvSpPr>
        <p:spPr>
          <a:xfrm>
            <a:off x="-1" y="4622400"/>
            <a:ext cx="5731329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2"/>
                </a:solidFill>
              </a:rPr>
              <a:t>References:</a:t>
            </a:r>
            <a:endParaRPr sz="10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 dirty="0">
                <a:hlinkClick r:id="rId3"/>
              </a:rPr>
              <a:t>Generalized Language Models | </a:t>
            </a:r>
            <a:r>
              <a:rPr lang="en-IN" sz="1100" dirty="0" err="1">
                <a:hlinkClick r:id="rId3"/>
              </a:rPr>
              <a:t>Lil'Log</a:t>
            </a:r>
            <a:endParaRPr sz="1000" dirty="0">
              <a:solidFill>
                <a:schemeClr val="dk2"/>
              </a:solidFill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24695D26-6270-EC4A-C1DE-BC844A4AAAB7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B5B2E-318B-8BA6-B004-A276D8C7A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20" y="920591"/>
            <a:ext cx="6207463" cy="351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26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>
          <a:extLst>
            <a:ext uri="{FF2B5EF4-FFF2-40B4-BE49-F238E27FC236}">
              <a16:creationId xmlns:a16="http://schemas.microsoft.com/office/drawing/2014/main" id="{A0F66672-1AB2-1BB8-C391-F1E044302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5">
            <a:extLst>
              <a:ext uri="{FF2B5EF4-FFF2-40B4-BE49-F238E27FC236}">
                <a16:creationId xmlns:a16="http://schemas.microsoft.com/office/drawing/2014/main" id="{CA03FF95-925C-C13C-72C8-1492A5A8A029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800" b="1" dirty="0">
                <a:solidFill>
                  <a:schemeClr val="accent4">
                    <a:lumMod val="50000"/>
                  </a:schemeClr>
                </a:solidFill>
              </a:rPr>
              <a:t>Architecture and Working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116" name="Google Shape;1116;p115">
            <a:extLst>
              <a:ext uri="{FF2B5EF4-FFF2-40B4-BE49-F238E27FC236}">
                <a16:creationId xmlns:a16="http://schemas.microsoft.com/office/drawing/2014/main" id="{D8EE1C19-B20E-6AFE-1180-E25C66593B18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7" name="Google Shape;1117;p115">
            <a:extLst>
              <a:ext uri="{FF2B5EF4-FFF2-40B4-BE49-F238E27FC236}">
                <a16:creationId xmlns:a16="http://schemas.microsoft.com/office/drawing/2014/main" id="{353ED259-73AC-CF80-77EE-4C8C4233316D}"/>
              </a:ext>
            </a:extLst>
          </p:cNvPr>
          <p:cNvSpPr txBox="1"/>
          <p:nvPr/>
        </p:nvSpPr>
        <p:spPr>
          <a:xfrm>
            <a:off x="312828" y="599447"/>
            <a:ext cx="7674428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Bidirectional Processing</a:t>
            </a:r>
            <a:endParaRPr sz="24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  <a:p>
            <a:pPr marL="285750" lvl="4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model begins with character-level tokenization, converting words into character embeddings before processing them through: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4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endParaRPr lang="en-US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	A forward pass capturing preceding context</a:t>
            </a:r>
          </a:p>
          <a:p>
            <a:pPr marL="342900" lvl="6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         A backward pass capturing subsequent context</a:t>
            </a:r>
          </a:p>
          <a:p>
            <a:pPr marL="342900" lvl="4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         Two LSTM layers with residual connections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DC5D015C-50B7-C5B7-646C-181790B5596E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14194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>
          <a:extLst>
            <a:ext uri="{FF2B5EF4-FFF2-40B4-BE49-F238E27FC236}">
              <a16:creationId xmlns:a16="http://schemas.microsoft.com/office/drawing/2014/main" id="{5EF9FA92-3F74-DC5C-B8DB-8E9E41453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5">
            <a:extLst>
              <a:ext uri="{FF2B5EF4-FFF2-40B4-BE49-F238E27FC236}">
                <a16:creationId xmlns:a16="http://schemas.microsoft.com/office/drawing/2014/main" id="{7A532D46-4FB6-A20E-3D06-DEE2CB79505B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800" b="1" dirty="0">
                <a:solidFill>
                  <a:schemeClr val="accent4">
                    <a:lumMod val="50000"/>
                  </a:schemeClr>
                </a:solidFill>
              </a:rPr>
              <a:t>Architecture and Working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116" name="Google Shape;1116;p115">
            <a:extLst>
              <a:ext uri="{FF2B5EF4-FFF2-40B4-BE49-F238E27FC236}">
                <a16:creationId xmlns:a16="http://schemas.microsoft.com/office/drawing/2014/main" id="{9C14FFDB-82AA-D6B9-A075-E70DC39036D4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7" name="Google Shape;1117;p115">
            <a:extLst>
              <a:ext uri="{FF2B5EF4-FFF2-40B4-BE49-F238E27FC236}">
                <a16:creationId xmlns:a16="http://schemas.microsoft.com/office/drawing/2014/main" id="{887E0655-D31D-80E1-BDDE-15203F91EB1A}"/>
              </a:ext>
            </a:extLst>
          </p:cNvPr>
          <p:cNvSpPr txBox="1"/>
          <p:nvPr/>
        </p:nvSpPr>
        <p:spPr>
          <a:xfrm>
            <a:off x="312828" y="599447"/>
            <a:ext cx="7674428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ELMO</a:t>
            </a:r>
            <a:endParaRPr sz="24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  <a:p>
            <a:pPr marL="285750" lvl="4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layers of ELMO capture syntactic features (e.g. POS tag)</a:t>
            </a:r>
          </a:p>
          <a:p>
            <a:pPr marL="285750" lvl="4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layers capture semantic feature (like word sense disambiguation)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80B6A1C7-762A-FAFD-98B8-BFC9F17A6570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161122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>
          <a:extLst>
            <a:ext uri="{FF2B5EF4-FFF2-40B4-BE49-F238E27FC236}">
              <a16:creationId xmlns:a16="http://schemas.microsoft.com/office/drawing/2014/main" id="{5AC73501-4DCA-2008-B56C-AAA4A33DA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5">
            <a:extLst>
              <a:ext uri="{FF2B5EF4-FFF2-40B4-BE49-F238E27FC236}">
                <a16:creationId xmlns:a16="http://schemas.microsoft.com/office/drawing/2014/main" id="{130C4FBF-31E2-CC48-7CC4-33C3DAFE1263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800" b="1" dirty="0">
                <a:solidFill>
                  <a:schemeClr val="accent4">
                    <a:lumMod val="50000"/>
                  </a:schemeClr>
                </a:solidFill>
              </a:rPr>
              <a:t>Architecture and Working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116" name="Google Shape;1116;p115">
            <a:extLst>
              <a:ext uri="{FF2B5EF4-FFF2-40B4-BE49-F238E27FC236}">
                <a16:creationId xmlns:a16="http://schemas.microsoft.com/office/drawing/2014/main" id="{274854CE-A529-6ADA-8C2E-4524F4CD38EB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7" name="Google Shape;1117;p115">
            <a:extLst>
              <a:ext uri="{FF2B5EF4-FFF2-40B4-BE49-F238E27FC236}">
                <a16:creationId xmlns:a16="http://schemas.microsoft.com/office/drawing/2014/main" id="{A7205A99-94FF-6577-A68E-BDEE55731B8B}"/>
              </a:ext>
            </a:extLst>
          </p:cNvPr>
          <p:cNvSpPr txBox="1"/>
          <p:nvPr/>
        </p:nvSpPr>
        <p:spPr>
          <a:xfrm>
            <a:off x="312828" y="599447"/>
            <a:ext cx="7674428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ELMO</a:t>
            </a:r>
            <a:endParaRPr sz="24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95FAFD2D-6AC0-3FBA-94D5-4CC460FF8123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B16BC3-9E44-47B2-F2F0-E372FF476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32" y="1156662"/>
            <a:ext cx="7388373" cy="384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8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>
          <a:extLst>
            <a:ext uri="{FF2B5EF4-FFF2-40B4-BE49-F238E27FC236}">
              <a16:creationId xmlns:a16="http://schemas.microsoft.com/office/drawing/2014/main" id="{07B1C28A-439E-632E-1057-D7F2326E8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5">
            <a:extLst>
              <a:ext uri="{FF2B5EF4-FFF2-40B4-BE49-F238E27FC236}">
                <a16:creationId xmlns:a16="http://schemas.microsoft.com/office/drawing/2014/main" id="{02C2B3A6-774B-8044-7413-513A09B007D4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800" b="1" dirty="0">
                <a:solidFill>
                  <a:schemeClr val="accent4">
                    <a:lumMod val="50000"/>
                  </a:schemeClr>
                </a:solidFill>
              </a:rPr>
              <a:t>Architecture and Working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116" name="Google Shape;1116;p115">
            <a:extLst>
              <a:ext uri="{FF2B5EF4-FFF2-40B4-BE49-F238E27FC236}">
                <a16:creationId xmlns:a16="http://schemas.microsoft.com/office/drawing/2014/main" id="{25FD227B-C186-3A35-A595-DADE7B2D301A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7" name="Google Shape;1117;p115">
            <a:extLst>
              <a:ext uri="{FF2B5EF4-FFF2-40B4-BE49-F238E27FC236}">
                <a16:creationId xmlns:a16="http://schemas.microsoft.com/office/drawing/2014/main" id="{A18EF76B-C22C-F5C3-9708-13BD0E5DCAC3}"/>
              </a:ext>
            </a:extLst>
          </p:cNvPr>
          <p:cNvSpPr txBox="1"/>
          <p:nvPr/>
        </p:nvSpPr>
        <p:spPr>
          <a:xfrm>
            <a:off x="312828" y="599447"/>
            <a:ext cx="7674428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ELMO</a:t>
            </a:r>
            <a:endParaRPr sz="24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4606EC1C-7CEA-C0C2-0104-8B00818D982B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3" name="Google Shape;1109;p114">
            <a:extLst>
              <a:ext uri="{FF2B5EF4-FFF2-40B4-BE49-F238E27FC236}">
                <a16:creationId xmlns:a16="http://schemas.microsoft.com/office/drawing/2014/main" id="{F8D2B1EF-6063-7664-2ADE-FA5F08F1BE1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1763" y="1654291"/>
            <a:ext cx="6786905" cy="2591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152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>
          <a:extLst>
            <a:ext uri="{FF2B5EF4-FFF2-40B4-BE49-F238E27FC236}">
              <a16:creationId xmlns:a16="http://schemas.microsoft.com/office/drawing/2014/main" id="{6C854D44-9462-1E7C-8A89-6B71BB4BA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5">
            <a:extLst>
              <a:ext uri="{FF2B5EF4-FFF2-40B4-BE49-F238E27FC236}">
                <a16:creationId xmlns:a16="http://schemas.microsoft.com/office/drawing/2014/main" id="{01731560-6E9C-E53A-A68D-1924BED3A14F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800" b="1" dirty="0">
                <a:solidFill>
                  <a:schemeClr val="accent4">
                    <a:lumMod val="50000"/>
                  </a:schemeClr>
                </a:solidFill>
              </a:rPr>
              <a:t>Architecture and Working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116" name="Google Shape;1116;p115">
            <a:extLst>
              <a:ext uri="{FF2B5EF4-FFF2-40B4-BE49-F238E27FC236}">
                <a16:creationId xmlns:a16="http://schemas.microsoft.com/office/drawing/2014/main" id="{333D198C-66A8-D4AF-745E-97E54A625F01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object 6">
            <a:extLst>
              <a:ext uri="{FF2B5EF4-FFF2-40B4-BE49-F238E27FC236}">
                <a16:creationId xmlns:a16="http://schemas.microsoft.com/office/drawing/2014/main" id="{77644378-029F-1D42-2541-DF8CA424F6CA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3FF233-1EC5-5B41-98B1-E10FFEFE449B}"/>
              </a:ext>
            </a:extLst>
          </p:cNvPr>
          <p:cNvSpPr/>
          <p:nvPr/>
        </p:nvSpPr>
        <p:spPr>
          <a:xfrm>
            <a:off x="323000" y="817800"/>
            <a:ext cx="78633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err="1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ELMo</a:t>
            </a:r>
            <a:r>
              <a:rPr lang="en-IN" sz="20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short for </a:t>
            </a:r>
            <a:r>
              <a:rPr lang="en-IN" sz="2000" b="1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Embeddings from Language Model</a:t>
            </a:r>
            <a:r>
              <a:rPr lang="en-IN" sz="20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(</a:t>
            </a:r>
            <a:r>
              <a:rPr lang="en-IN" sz="2000" dirty="0">
                <a:solidFill>
                  <a:srgbClr val="E0491F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Peters, et al, 2018</a:t>
            </a:r>
            <a:r>
              <a:rPr lang="en-IN" sz="20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learns contextualized word representation by pre-training a language model in an </a:t>
            </a:r>
            <a:r>
              <a:rPr lang="en-IN" sz="2000" i="1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unsupervised</a:t>
            </a:r>
            <a:r>
              <a:rPr lang="en-IN" sz="20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way.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8DDC29-46F6-2AFD-00A4-CC3850CCC0F7}"/>
              </a:ext>
            </a:extLst>
          </p:cNvPr>
          <p:cNvSpPr/>
          <p:nvPr/>
        </p:nvSpPr>
        <p:spPr>
          <a:xfrm>
            <a:off x="323000" y="1948260"/>
            <a:ext cx="804177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2000" dirty="0">
                <a:solidFill>
                  <a:srgbClr val="E200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bidirectional Language Model </a:t>
            </a:r>
            <a:r>
              <a:rPr lang="en-IN" sz="20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000" b="1" dirty="0" err="1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biLM</a:t>
            </a:r>
            <a:r>
              <a:rPr lang="en-IN" sz="20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is the foundation for </a:t>
            </a:r>
            <a:r>
              <a:rPr lang="en-IN" sz="2000" dirty="0" err="1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ELMo</a:t>
            </a:r>
            <a:r>
              <a:rPr lang="en-IN" sz="20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IN" sz="2000" dirty="0">
              <a:solidFill>
                <a:srgbClr val="11111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0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While the input is a sequence of n tokens, (x1,…,</a:t>
            </a:r>
            <a:r>
              <a:rPr lang="en-IN" sz="2000" dirty="0" err="1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r>
              <a:rPr lang="en-IN" sz="20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the language model learns to predict the probability of next token given the history.</a:t>
            </a:r>
          </a:p>
          <a:p>
            <a:pPr algn="just"/>
            <a:endParaRPr lang="en-IN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forward pass, the history contains words before the target token,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backward pass, the history contains words after the target token,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350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>
          <a:extLst>
            <a:ext uri="{FF2B5EF4-FFF2-40B4-BE49-F238E27FC236}">
              <a16:creationId xmlns:a16="http://schemas.microsoft.com/office/drawing/2014/main" id="{EC829C3F-6BE1-D60C-6979-989CCD66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5">
            <a:extLst>
              <a:ext uri="{FF2B5EF4-FFF2-40B4-BE49-F238E27FC236}">
                <a16:creationId xmlns:a16="http://schemas.microsoft.com/office/drawing/2014/main" id="{C5B08D26-685E-5B47-8951-6FE8299C8058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800" b="1" dirty="0">
                <a:solidFill>
                  <a:schemeClr val="accent4">
                    <a:lumMod val="50000"/>
                  </a:schemeClr>
                </a:solidFill>
              </a:rPr>
              <a:t>Architecture and Working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116" name="Google Shape;1116;p115">
            <a:extLst>
              <a:ext uri="{FF2B5EF4-FFF2-40B4-BE49-F238E27FC236}">
                <a16:creationId xmlns:a16="http://schemas.microsoft.com/office/drawing/2014/main" id="{CAAB495A-1DA8-18BC-1FD7-B6C065A01702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7" name="Google Shape;1117;p115">
            <a:extLst>
              <a:ext uri="{FF2B5EF4-FFF2-40B4-BE49-F238E27FC236}">
                <a16:creationId xmlns:a16="http://schemas.microsoft.com/office/drawing/2014/main" id="{66E6F25C-0D66-77C4-4EE8-8706F7470AAF}"/>
              </a:ext>
            </a:extLst>
          </p:cNvPr>
          <p:cNvSpPr txBox="1"/>
          <p:nvPr/>
        </p:nvSpPr>
        <p:spPr>
          <a:xfrm>
            <a:off x="312828" y="599447"/>
            <a:ext cx="7674428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Bidirectional Processing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Given a sequence of N tokens                      ,  a </a:t>
            </a:r>
            <a:r>
              <a:rPr lang="en-US" sz="20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 language model(LM)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computes the probability of the sequence by modeling the probability of token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given the history                    :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backward LM is similar to a forward LM, except it  runs over the sequence in reverse, predicting the  previous token given the future context</a:t>
            </a:r>
            <a:endParaRPr lang="en-IN" sz="2800" dirty="0"/>
          </a:p>
          <a:p>
            <a:pPr marL="3429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7F19F9D0-BF6E-4C5A-BAD2-EDFB4CD4E98A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5A024-E393-A30D-B4D0-35B774F20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316" y="1133958"/>
            <a:ext cx="1171739" cy="276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D9C555-BE08-5C9B-CD95-C65E03118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809" y="1798812"/>
            <a:ext cx="1047896" cy="323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016481-857A-C7B6-4127-87A997DA3B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3392" y="2238328"/>
            <a:ext cx="3877216" cy="666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9042A7-BE63-9EDD-E828-2945574D74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0023" y="3962253"/>
            <a:ext cx="4143953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5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>
          <a:extLst>
            <a:ext uri="{FF2B5EF4-FFF2-40B4-BE49-F238E27FC236}">
              <a16:creationId xmlns:a16="http://schemas.microsoft.com/office/drawing/2014/main" id="{B309F6B2-95DD-9FC3-7153-8BEB78FD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5">
            <a:extLst>
              <a:ext uri="{FF2B5EF4-FFF2-40B4-BE49-F238E27FC236}">
                <a16:creationId xmlns:a16="http://schemas.microsoft.com/office/drawing/2014/main" id="{074E4C23-A5A2-D31D-B1C1-C7B4120E2C67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800" b="1" dirty="0">
                <a:solidFill>
                  <a:schemeClr val="accent4">
                    <a:lumMod val="50000"/>
                  </a:schemeClr>
                </a:solidFill>
              </a:rPr>
              <a:t>Architecture and Working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116" name="Google Shape;1116;p115">
            <a:extLst>
              <a:ext uri="{FF2B5EF4-FFF2-40B4-BE49-F238E27FC236}">
                <a16:creationId xmlns:a16="http://schemas.microsoft.com/office/drawing/2014/main" id="{2C539AB8-32C4-1F1C-1F06-49C35B5A1A4C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7" name="Google Shape;1117;p115">
            <a:extLst>
              <a:ext uri="{FF2B5EF4-FFF2-40B4-BE49-F238E27FC236}">
                <a16:creationId xmlns:a16="http://schemas.microsoft.com/office/drawing/2014/main" id="{2F394BE6-1724-C29D-1A21-DEC0E449B371}"/>
              </a:ext>
            </a:extLst>
          </p:cNvPr>
          <p:cNvSpPr txBox="1"/>
          <p:nvPr/>
        </p:nvSpPr>
        <p:spPr>
          <a:xfrm>
            <a:off x="312828" y="599447"/>
            <a:ext cx="7674428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Bidirectional Processing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9CDCAC26-472E-0CFD-DF70-02042A8EBF3B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148711-7D91-B1E6-CADC-8779CF731DD8}"/>
                  </a:ext>
                </a:extLst>
              </p:cNvPr>
              <p:cNvSpPr txBox="1"/>
              <p:nvPr/>
            </p:nvSpPr>
            <p:spPr>
              <a:xfrm>
                <a:off x="383721" y="1145272"/>
                <a:ext cx="8172450" cy="3729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en-IN" sz="2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biLM</a:t>
                </a:r>
                <a:r>
                  <a:rPr lang="en-IN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combines both a </a:t>
                </a:r>
                <a:r>
                  <a:rPr lang="en-IN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forward and backward LM</a:t>
                </a:r>
                <a:r>
                  <a:rPr lang="en-IN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formulation jointly maximizes the </a:t>
                </a:r>
                <a:r>
                  <a:rPr lang="en-IN" sz="2000" dirty="0">
                    <a:solidFill>
                      <a:srgbClr val="0000F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log likelihood of the forward and backward directions:</a:t>
                </a:r>
              </a:p>
              <a:p>
                <a:endParaRPr lang="en-IN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𝑤h𝑒𝑟𝑒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𝐿𝑆𝑇𝑀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𝑟𝑒𝑝𝑟𝑒𝑠𝑒𝑛𝑡𝑠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𝑡h𝑒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𝑝𝑎𝑟𝑎𝑚𝑒𝑡𝑒𝑟𝑠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𝑜𝑓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𝑡h𝑒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𝑓𝑜𝑟𝑤𝑎𝑟𝑑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𝐿𝑆𝑇𝑀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𝑛𝑒𝑡𝑤𝑜𝑟𝑘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𝑎𝑛𝑑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⃖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𝐿𝑆𝑇𝑀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𝑟𝑒𝑝𝑟𝑒𝑠𝑒𝑛𝑡𝑠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𝑏𝑎𝑐𝑘𝑤𝑎𝑟𝑑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𝐿𝑆𝑇𝑀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𝑛𝑒𝑡𝑤𝑜𝑟𝑘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148711-7D91-B1E6-CADC-8779CF731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21" y="1145272"/>
                <a:ext cx="8172450" cy="3729867"/>
              </a:xfrm>
              <a:prstGeom prst="rect">
                <a:avLst/>
              </a:prstGeom>
              <a:blipFill>
                <a:blip r:embed="rId4"/>
                <a:stretch>
                  <a:fillRect l="-671" t="-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E3B50A7-B122-5C74-26C7-C001A9D4A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133" y="2123087"/>
            <a:ext cx="6161334" cy="158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68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>
          <a:extLst>
            <a:ext uri="{FF2B5EF4-FFF2-40B4-BE49-F238E27FC236}">
              <a16:creationId xmlns:a16="http://schemas.microsoft.com/office/drawing/2014/main" id="{16516C80-D776-E54E-9602-7A8F959A1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5">
            <a:extLst>
              <a:ext uri="{FF2B5EF4-FFF2-40B4-BE49-F238E27FC236}">
                <a16:creationId xmlns:a16="http://schemas.microsoft.com/office/drawing/2014/main" id="{B7ECD985-5966-2FE6-ACA8-C6939CDB8514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800" b="1" dirty="0">
                <a:solidFill>
                  <a:schemeClr val="accent4">
                    <a:lumMod val="50000"/>
                  </a:schemeClr>
                </a:solidFill>
              </a:rPr>
              <a:t>Architecture and Working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116" name="Google Shape;1116;p115">
            <a:extLst>
              <a:ext uri="{FF2B5EF4-FFF2-40B4-BE49-F238E27FC236}">
                <a16:creationId xmlns:a16="http://schemas.microsoft.com/office/drawing/2014/main" id="{CD965E2A-F6D5-A533-EB9B-65C3F56D23CF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object 6">
            <a:extLst>
              <a:ext uri="{FF2B5EF4-FFF2-40B4-BE49-F238E27FC236}">
                <a16:creationId xmlns:a16="http://schemas.microsoft.com/office/drawing/2014/main" id="{A45CD0B9-A6C8-4EE3-F305-F268C653C4DA}"/>
              </a:ext>
            </a:extLst>
          </p:cNvPr>
          <p:cNvSpPr/>
          <p:nvPr/>
        </p:nvSpPr>
        <p:spPr>
          <a:xfrm>
            <a:off x="8284713" y="-27446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B64906-F9E2-8CB7-E108-576636174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" y="1145272"/>
            <a:ext cx="9144000" cy="411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3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>
          <a:extLst>
            <a:ext uri="{FF2B5EF4-FFF2-40B4-BE49-F238E27FC236}">
              <a16:creationId xmlns:a16="http://schemas.microsoft.com/office/drawing/2014/main" id="{43886C28-F283-CAF1-6973-DE77A73E2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5">
            <a:extLst>
              <a:ext uri="{FF2B5EF4-FFF2-40B4-BE49-F238E27FC236}">
                <a16:creationId xmlns:a16="http://schemas.microsoft.com/office/drawing/2014/main" id="{4243A6C0-CAB5-1DDF-D8D0-DED4FA7352FE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800" b="1" dirty="0">
                <a:solidFill>
                  <a:schemeClr val="accent4">
                    <a:lumMod val="50000"/>
                  </a:schemeClr>
                </a:solidFill>
              </a:rPr>
              <a:t>Architecture and Working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116" name="Google Shape;1116;p115">
            <a:extLst>
              <a:ext uri="{FF2B5EF4-FFF2-40B4-BE49-F238E27FC236}">
                <a16:creationId xmlns:a16="http://schemas.microsoft.com/office/drawing/2014/main" id="{E6A8F446-D4CF-6FB3-49B4-AFE3F27893E7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7" name="Google Shape;1117;p115">
                <a:extLst>
                  <a:ext uri="{FF2B5EF4-FFF2-40B4-BE49-F238E27FC236}">
                    <a16:creationId xmlns:a16="http://schemas.microsoft.com/office/drawing/2014/main" id="{BC1DF208-772C-48EC-B4DF-428967CC2841}"/>
                  </a:ext>
                </a:extLst>
              </p:cNvPr>
              <p:cNvSpPr txBox="1"/>
              <p:nvPr/>
            </p:nvSpPr>
            <p:spPr>
              <a:xfrm>
                <a:off x="312828" y="599447"/>
                <a:ext cx="7674428" cy="422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42900" lvl="0" indent="-342900" algn="l" rtl="0">
                  <a:lnSpc>
                    <a:spcPct val="115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given word at position t, its representation is calculated as,</a:t>
                </a:r>
              </a:p>
              <a:p>
                <a:pPr lvl="0" algn="l" rtl="0">
                  <a:lnSpc>
                    <a:spcPct val="115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𝐸𝐿𝑀𝑜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𝛾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𝐿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lnSpc>
                    <a:spcPct val="115000"/>
                  </a:lnSpc>
                  <a:spcBef>
                    <a:spcPts val="400"/>
                  </a:spcBef>
                  <a:buClr>
                    <a:schemeClr val="dk1"/>
                  </a:buClr>
                  <a:buSzPts val="1100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Where L is the total # of layers,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18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learned scalar wt.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layer k, </a:t>
                </a:r>
                <a14:m>
                  <m:oMath xmlns:m="http://schemas.openxmlformats.org/officeDocument/2006/math">
                    <m:r>
                      <a:rPr lang="en-US" sz="18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𝛾</m:t>
                    </m:r>
                    <m:r>
                      <a:rPr lang="en-US" sz="1800" b="0" i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a learned scaling factor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 adapt to entire </a:t>
                </a:r>
                <a:r>
                  <a:rPr lang="en-US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ELMo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representation.</a:t>
                </a:r>
              </a:p>
              <a:p>
                <a:pPr lvl="0">
                  <a:lnSpc>
                    <a:spcPct val="115000"/>
                  </a:lnSpc>
                  <a:spcBef>
                    <a:spcPts val="400"/>
                  </a:spcBef>
                  <a:buClr>
                    <a:schemeClr val="dk1"/>
                  </a:buClr>
                  <a:buSzPts val="1100"/>
                </a:pPr>
                <a:r>
                  <a:rPr lang="en-US" sz="2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US" sz="2000" i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wts</a:t>
                </a:r>
                <a:r>
                  <a:rPr lang="en-US" sz="2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are learned such that different layers weigh differently to the final word representation, depending on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specific downstream task</a:t>
                </a:r>
                <a:r>
                  <a:rPr lang="en-US" sz="2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0">
                  <a:lnSpc>
                    <a:spcPct val="115000"/>
                  </a:lnSpc>
                  <a:spcBef>
                    <a:spcPts val="400"/>
                  </a:spcBef>
                  <a:buClr>
                    <a:schemeClr val="dk1"/>
                  </a:buClr>
                  <a:buSzPts val="1100"/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b="0" i="0" dirty="0">
                    <a:solidFill>
                      <a:srgbClr val="242424"/>
                    </a:solidFill>
                    <a:effectLst/>
                    <a:latin typeface="Segoe UI" panose="020B0502040204020203" pitchFamily="34" charset="0"/>
                  </a:rPr>
                  <a:t>A downstream task refers to a specific application or task that utilizes pre-trained models or representations to achieve a particular goal. )</a:t>
                </a:r>
                <a:endParaRPr b="1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Roboto"/>
                </a:endParaRPr>
              </a:p>
            </p:txBody>
          </p:sp>
        </mc:Choice>
        <mc:Fallback xmlns="">
          <p:sp>
            <p:nvSpPr>
              <p:cNvPr id="1117" name="Google Shape;1117;p115">
                <a:extLst>
                  <a:ext uri="{FF2B5EF4-FFF2-40B4-BE49-F238E27FC236}">
                    <a16:creationId xmlns:a16="http://schemas.microsoft.com/office/drawing/2014/main" id="{DACF9B6A-0DB8-70FE-EE71-EE3DFAFB1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28" y="599447"/>
                <a:ext cx="7674428" cy="4228500"/>
              </a:xfrm>
              <a:prstGeom prst="rect">
                <a:avLst/>
              </a:prstGeom>
              <a:blipFill>
                <a:blip r:embed="rId3"/>
                <a:stretch>
                  <a:fillRect l="-794" r="-11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6">
            <a:extLst>
              <a:ext uri="{FF2B5EF4-FFF2-40B4-BE49-F238E27FC236}">
                <a16:creationId xmlns:a16="http://schemas.microsoft.com/office/drawing/2014/main" id="{31F9345F-B5D6-EC97-F4BC-31F2CE9D9243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554290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16"/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24" name="Google Shape;1124;p116"/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object 6">
            <a:extLst>
              <a:ext uri="{FF2B5EF4-FFF2-40B4-BE49-F238E27FC236}">
                <a16:creationId xmlns:a16="http://schemas.microsoft.com/office/drawing/2014/main" id="{E1BB8C78-EC71-F4B1-2C7C-EBCA333815AE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82C367-5913-F27A-0151-AE8D6696A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46" y="947542"/>
            <a:ext cx="7839986" cy="36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997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>
          <a:extLst>
            <a:ext uri="{FF2B5EF4-FFF2-40B4-BE49-F238E27FC236}">
              <a16:creationId xmlns:a16="http://schemas.microsoft.com/office/drawing/2014/main" id="{8461DB9D-D147-5ADB-CF5E-390EBBB4B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16">
            <a:extLst>
              <a:ext uri="{FF2B5EF4-FFF2-40B4-BE49-F238E27FC236}">
                <a16:creationId xmlns:a16="http://schemas.microsoft.com/office/drawing/2014/main" id="{E648D145-8A04-EC06-63E0-E3E157341F37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24" name="Google Shape;1124;p116">
            <a:extLst>
              <a:ext uri="{FF2B5EF4-FFF2-40B4-BE49-F238E27FC236}">
                <a16:creationId xmlns:a16="http://schemas.microsoft.com/office/drawing/2014/main" id="{4B44E77A-6C66-477A-BC31-42B829C3A639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5" name="Google Shape;1125;p116">
            <a:extLst>
              <a:ext uri="{FF2B5EF4-FFF2-40B4-BE49-F238E27FC236}">
                <a16:creationId xmlns:a16="http://schemas.microsoft.com/office/drawing/2014/main" id="{635194E7-1AE5-B4E0-A3A7-392C63853819}"/>
              </a:ext>
            </a:extLst>
          </p:cNvPr>
          <p:cNvSpPr txBox="1"/>
          <p:nvPr/>
        </p:nvSpPr>
        <p:spPr>
          <a:xfrm>
            <a:off x="401193" y="551833"/>
            <a:ext cx="6971157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chemeClr val="dk1"/>
                </a:solidFill>
              </a:rPr>
              <a:t>Architecture and Working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</a:rPr>
              <a:t>Context-Aware Understanding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500" u="sng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Dynamic Word Representation</a:t>
            </a: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s: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Unlike traditional word embedding methods like Word2Vec or </a:t>
            </a:r>
            <a:r>
              <a:rPr lang="en-GB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GloVe</a:t>
            </a: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GB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ELMo</a:t>
            </a: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generates </a:t>
            </a:r>
            <a:r>
              <a:rPr lang="en-GB" sz="1500" dirty="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different representations for the same word based on its context</a:t>
            </a: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For example, the word "trust" receives distinct embeddings in phrases like: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"I can't trust you"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"He has a trust fund"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context sensitivity allows </a:t>
            </a:r>
            <a:r>
              <a:rPr lang="en-GB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ELMo</a:t>
            </a: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handle: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Polysemy (multiple word meanings)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Complex linguistic patterns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Contextual nuances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BD7A4616-62C7-0FCE-2C33-3E92E22C4C8E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354060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>
          <a:extLst>
            <a:ext uri="{FF2B5EF4-FFF2-40B4-BE49-F238E27FC236}">
              <a16:creationId xmlns:a16="http://schemas.microsoft.com/office/drawing/2014/main" id="{254E1AAF-F18A-E77B-D395-7EB7BB14A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16">
            <a:extLst>
              <a:ext uri="{FF2B5EF4-FFF2-40B4-BE49-F238E27FC236}">
                <a16:creationId xmlns:a16="http://schemas.microsoft.com/office/drawing/2014/main" id="{EA264031-9864-7F86-681B-1C8BD6EF7809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24" name="Google Shape;1124;p116">
            <a:extLst>
              <a:ext uri="{FF2B5EF4-FFF2-40B4-BE49-F238E27FC236}">
                <a16:creationId xmlns:a16="http://schemas.microsoft.com/office/drawing/2014/main" id="{9C2AC7DC-7585-3114-9C36-399BA2538323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5" name="Google Shape;1125;p116">
            <a:extLst>
              <a:ext uri="{FF2B5EF4-FFF2-40B4-BE49-F238E27FC236}">
                <a16:creationId xmlns:a16="http://schemas.microsoft.com/office/drawing/2014/main" id="{E6B22EB8-A7CC-C1E4-3452-192362723C9D}"/>
              </a:ext>
            </a:extLst>
          </p:cNvPr>
          <p:cNvSpPr txBox="1"/>
          <p:nvPr/>
        </p:nvSpPr>
        <p:spPr>
          <a:xfrm>
            <a:off x="401193" y="551833"/>
            <a:ext cx="6971157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chemeClr val="dk1"/>
                </a:solidFill>
              </a:rPr>
              <a:t>Architecture and Working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</a:rPr>
              <a:t>Context-Aware Understanding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u="sng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Some more example:-</a:t>
            </a:r>
          </a:p>
          <a:p>
            <a:pPr marL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B4182573-F6B1-D590-F2AB-244626A4079E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B51E37-6D90-939B-A3F6-6CC9664CA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966" y="2283542"/>
            <a:ext cx="4186321" cy="95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76"/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Contextual Word Representation</a:t>
            </a: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727" name="Google Shape;727;p76"/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object 6">
            <a:extLst>
              <a:ext uri="{FF2B5EF4-FFF2-40B4-BE49-F238E27FC236}">
                <a16:creationId xmlns:a16="http://schemas.microsoft.com/office/drawing/2014/main" id="{B1A5CCDA-CA7A-E868-76E5-F95DD06CA485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E2556-2443-BC90-1C90-C5F53B4A2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46" y="639982"/>
            <a:ext cx="1762125" cy="2409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008A52-7D3E-5100-5DA2-FBE200F4E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5047" y="1145272"/>
            <a:ext cx="1581150" cy="2571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C1389C-9F75-0977-3A03-1B5EA585C5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3762" y="1654656"/>
            <a:ext cx="1800225" cy="2390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B91F2A-FC98-6EED-989D-CD2863F598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3325" y="2935769"/>
            <a:ext cx="159067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9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17"/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32" name="Google Shape;1132;p117"/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33" name="Google Shape;1133;p117"/>
          <p:cNvSpPr txBox="1"/>
          <p:nvPr/>
        </p:nvSpPr>
        <p:spPr>
          <a:xfrm>
            <a:off x="253092" y="639982"/>
            <a:ext cx="8138793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and Implementation</a:t>
            </a:r>
            <a:endParaRPr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ELMo</a:t>
            </a: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was trained on an impressive corpus of approximately 30 million sentences and 1 billion words. The training process involves: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Pre-training Phase</a:t>
            </a:r>
            <a:endParaRPr sz="1500" b="1" dirty="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Language </a:t>
            </a:r>
            <a:r>
              <a:rPr lang="en-GB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modeling</a:t>
            </a: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task predicting next/previous words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Character-level processing for handling unknown words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Bidirectional training for comprehensive context understanding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Fine-tuning Phase</a:t>
            </a:r>
            <a:endParaRPr sz="1500" b="1" dirty="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 i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Task-specific adaptation</a:t>
            </a:r>
          </a:p>
          <a:p>
            <a:pPr marL="457200" indent="-323850">
              <a:lnSpc>
                <a:spcPct val="115000"/>
              </a:lnSpc>
              <a:spcBef>
                <a:spcPts val="600"/>
              </a:spcBef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Integration with </a:t>
            </a:r>
            <a:r>
              <a:rPr lang="en-US" sz="1500" i="1" dirty="0">
                <a:solidFill>
                  <a:srgbClr val="7030A0"/>
                </a:solidFill>
                <a:latin typeface="Roboto"/>
                <a:ea typeface="Roboto"/>
                <a:cs typeface="Roboto"/>
                <a:sym typeface="Roboto"/>
              </a:rPr>
              <a:t>downstream NLP tasks</a:t>
            </a:r>
            <a:endParaRPr lang="en-GB" sz="1500" i="1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 b="1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Frozen base parameters with adjustable projection matrix</a:t>
            </a:r>
            <a:endParaRPr sz="1500" b="1" dirty="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9CD67F25-CBB6-08B3-4CBC-7428EAC32797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680929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>
          <a:extLst>
            <a:ext uri="{FF2B5EF4-FFF2-40B4-BE49-F238E27FC236}">
              <a16:creationId xmlns:a16="http://schemas.microsoft.com/office/drawing/2014/main" id="{D1131584-4476-A502-9FFA-80934AE05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17">
            <a:extLst>
              <a:ext uri="{FF2B5EF4-FFF2-40B4-BE49-F238E27FC236}">
                <a16:creationId xmlns:a16="http://schemas.microsoft.com/office/drawing/2014/main" id="{531D5777-627D-048D-44AF-6C845C8E6B32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32" name="Google Shape;1132;p117">
            <a:extLst>
              <a:ext uri="{FF2B5EF4-FFF2-40B4-BE49-F238E27FC236}">
                <a16:creationId xmlns:a16="http://schemas.microsoft.com/office/drawing/2014/main" id="{6DB78615-5F78-CEB6-05F4-E4A223314B1E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33" name="Google Shape;1133;p117">
            <a:extLst>
              <a:ext uri="{FF2B5EF4-FFF2-40B4-BE49-F238E27FC236}">
                <a16:creationId xmlns:a16="http://schemas.microsoft.com/office/drawing/2014/main" id="{C1EC1B7A-027F-07AD-7519-220B12BE4CC9}"/>
              </a:ext>
            </a:extLst>
          </p:cNvPr>
          <p:cNvSpPr txBox="1"/>
          <p:nvPr/>
        </p:nvSpPr>
        <p:spPr>
          <a:xfrm>
            <a:off x="220172" y="457500"/>
            <a:ext cx="7966211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Fine-tuning Phase</a:t>
            </a: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Task-specific adaptation</a:t>
            </a:r>
            <a:r>
              <a:rPr lang="en-GB" sz="1800" b="1" u="sng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: </a:t>
            </a:r>
          </a:p>
          <a:p>
            <a:pPr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Tailor the pre-trained </a:t>
            </a:r>
            <a:r>
              <a:rPr lang="en-US" sz="20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ELMo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representations to perform well on a specific NLP task (e.g., sentiment analysis, named entity recognition).</a:t>
            </a:r>
          </a:p>
          <a:p>
            <a:pPr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involves training additional layers or parameters that are specific to the task while leveraging the pre-trained </a:t>
            </a:r>
            <a:r>
              <a:rPr lang="en-US" sz="20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ELMo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embeddings.</a:t>
            </a:r>
          </a:p>
          <a:p>
            <a:pPr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24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Weighted combination of layer outputs using </a:t>
            </a:r>
            <a:r>
              <a:rPr lang="en-US" sz="2000" dirty="0" err="1">
                <a:solidFill>
                  <a:srgbClr val="2424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softmax</a:t>
            </a:r>
            <a:r>
              <a:rPr lang="en-US" sz="2000" dirty="0">
                <a:solidFill>
                  <a:srgbClr val="2424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normalized weights and scaling factor optimizes embedding for downstream tasks.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US" sz="2000" b="1" u="sng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Integration with downstream NLP tasks</a:t>
            </a:r>
            <a:r>
              <a:rPr lang="en-US" sz="2000" b="1" u="sng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: </a:t>
            </a:r>
            <a:r>
              <a:rPr lang="en-US" sz="2000" b="1" i="0" u="sng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Seamlessly incorporate the fine-tuned </a:t>
            </a:r>
            <a:r>
              <a:rPr lang="en-US" sz="20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ELMo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representations into various NLP tasks.</a:t>
            </a:r>
            <a:endParaRPr lang="en-US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  <a:p>
            <a:pPr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ED3B9963-B5BA-7EE5-D5B6-B31F59D0512B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4043896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>
          <a:extLst>
            <a:ext uri="{FF2B5EF4-FFF2-40B4-BE49-F238E27FC236}">
              <a16:creationId xmlns:a16="http://schemas.microsoft.com/office/drawing/2014/main" id="{A5FE3F3B-0060-F702-E7AA-191006A2D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17">
            <a:extLst>
              <a:ext uri="{FF2B5EF4-FFF2-40B4-BE49-F238E27FC236}">
                <a16:creationId xmlns:a16="http://schemas.microsoft.com/office/drawing/2014/main" id="{42507734-AEC9-2C4B-1ED8-F911825459BF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32" name="Google Shape;1132;p117">
            <a:extLst>
              <a:ext uri="{FF2B5EF4-FFF2-40B4-BE49-F238E27FC236}">
                <a16:creationId xmlns:a16="http://schemas.microsoft.com/office/drawing/2014/main" id="{46712644-AF11-2219-C8E0-C7CC096170F1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33" name="Google Shape;1133;p117">
            <a:extLst>
              <a:ext uri="{FF2B5EF4-FFF2-40B4-BE49-F238E27FC236}">
                <a16:creationId xmlns:a16="http://schemas.microsoft.com/office/drawing/2014/main" id="{40762EF1-5071-37A0-4379-F1A641C3BE35}"/>
              </a:ext>
            </a:extLst>
          </p:cNvPr>
          <p:cNvSpPr txBox="1"/>
          <p:nvPr/>
        </p:nvSpPr>
        <p:spPr>
          <a:xfrm>
            <a:off x="220172" y="457500"/>
            <a:ext cx="8138793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Fine-tuning Phase</a:t>
            </a:r>
            <a:endParaRPr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endParaRPr lang="en-GB" sz="1800" dirty="0">
              <a:solidFill>
                <a:srgbClr val="000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  <a:p>
            <a:pPr marL="13335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r>
              <a:rPr lang="en-GB" sz="2000" b="1" u="sng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Frozen base parameters with adjustable projection matrix: </a:t>
            </a:r>
          </a:p>
          <a:p>
            <a:pPr marL="457200" lvl="1" indent="-323850" algn="just">
              <a:lnSpc>
                <a:spcPct val="115000"/>
              </a:lnSpc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parameters 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the pre-trained </a:t>
            </a:r>
            <a:r>
              <a:rPr lang="en-US" sz="20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ELMo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(i.e., the weights of the bidirectional language model)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kept fixed 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the fine-tuning phase. This ensures that the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 contextual information captured during pre-training is preserved.  </a:t>
            </a: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000" b="0" i="0" dirty="0">
                <a:solidFill>
                  <a:srgbClr val="FF33C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task-specific projection matrix 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introduced, which can be adjusted during fine-tuning. This matrix maps the </a:t>
            </a:r>
            <a:r>
              <a:rPr lang="en-US" sz="20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ELMo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embeddings to a space that is more suitable for the specific task at hand. By adjusting this matrix, the </a:t>
            </a:r>
            <a:r>
              <a:rPr lang="en-US" sz="2000" b="0" i="0" dirty="0">
                <a:solidFill>
                  <a:srgbClr val="FF33C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can better align the pre-trained embeddings with the requirements of the downstream task.</a:t>
            </a:r>
            <a:endParaRPr sz="2000" dirty="0">
              <a:solidFill>
                <a:srgbClr val="FF33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C57E7C7A-D59B-77AC-9E49-9113697CE3C1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3935777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>
          <a:extLst>
            <a:ext uri="{FF2B5EF4-FFF2-40B4-BE49-F238E27FC236}">
              <a16:creationId xmlns:a16="http://schemas.microsoft.com/office/drawing/2014/main" id="{DB8FBC04-2C54-4825-22BA-B4D6DE0EA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17">
            <a:extLst>
              <a:ext uri="{FF2B5EF4-FFF2-40B4-BE49-F238E27FC236}">
                <a16:creationId xmlns:a16="http://schemas.microsoft.com/office/drawing/2014/main" id="{16F0AFF6-E438-F1CE-A2A1-95E97D46D412}"/>
              </a:ext>
            </a:extLst>
          </p:cNvPr>
          <p:cNvSpPr txBox="1"/>
          <p:nvPr/>
        </p:nvSpPr>
        <p:spPr>
          <a:xfrm>
            <a:off x="17400" y="8700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GB" sz="24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: An example</a:t>
            </a: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132" name="Google Shape;1132;p117">
            <a:extLst>
              <a:ext uri="{FF2B5EF4-FFF2-40B4-BE49-F238E27FC236}">
                <a16:creationId xmlns:a16="http://schemas.microsoft.com/office/drawing/2014/main" id="{0381CFAA-9255-B842-9D87-CE6D3A3ABC1F}"/>
              </a:ext>
            </a:extLst>
          </p:cNvPr>
          <p:cNvCxnSpPr/>
          <p:nvPr/>
        </p:nvCxnSpPr>
        <p:spPr>
          <a:xfrm>
            <a:off x="-8" y="59944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33" name="Google Shape;1133;p117">
            <a:extLst>
              <a:ext uri="{FF2B5EF4-FFF2-40B4-BE49-F238E27FC236}">
                <a16:creationId xmlns:a16="http://schemas.microsoft.com/office/drawing/2014/main" id="{E807A39C-5BEF-1942-FACC-EB5582DDB2D2}"/>
              </a:ext>
            </a:extLst>
          </p:cNvPr>
          <p:cNvSpPr txBox="1"/>
          <p:nvPr/>
        </p:nvSpPr>
        <p:spPr>
          <a:xfrm>
            <a:off x="253092" y="639982"/>
            <a:ext cx="8138793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CDCFDE96-EA70-D774-165E-5CBC9E812498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7C204-BC86-8947-5731-8B62F605F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12" y="650098"/>
            <a:ext cx="5350431" cy="438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92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6EE60-30CD-77AE-D941-6B006791F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2D01B423-A6B6-D47F-5DCC-AB484EC59893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1780954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EF8E2-FF9E-83F7-7D20-D17F05CCA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B0612540-E8B3-BD21-7FC7-01C7B21C5449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1738962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62B2F49-C65B-20E7-9CFA-A54277AE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2D1325C9-982D-E632-3894-D4C642860E18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A16A0-D5C4-C02D-4934-B852055D9CB0}"/>
              </a:ext>
            </a:extLst>
          </p:cNvPr>
          <p:cNvSpPr/>
          <p:nvPr/>
        </p:nvSpPr>
        <p:spPr>
          <a:xfrm>
            <a:off x="238402" y="930599"/>
            <a:ext cx="914795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ELMo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Deep contextualized word representations Peters et al. (</a:t>
            </a:r>
            <a:r>
              <a:rPr lang="en-I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AllenNLP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OpenAI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 GPT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Improving Language Understanding by Generative Pre-Training Radford et al.(</a:t>
            </a:r>
            <a:r>
              <a:rPr lang="en-I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OpenAI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BERT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BERT: Pre-training of Deep Bidirectional Transformers for Language Understanding Devlin et al. (Google)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29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3586437" y="2131467"/>
            <a:ext cx="562291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Transformers Anatomy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6437" y="3311627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Course Instructor: Dr. Pooja Agarwal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6437" y="3609831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Department of Computer Science and Engineering</a:t>
            </a:r>
            <a:endParaRPr lang="en-IN" sz="18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235384" y="4117275"/>
            <a:ext cx="800171" cy="808616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  <p:sp>
          <p:nvSpPr>
            <p:cNvPr id="25" name="Rectangle 24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</p:grpSp>
      <p:cxnSp>
        <p:nvCxnSpPr>
          <p:cNvPr id="11" name="Straight Connector 10"/>
          <p:cNvCxnSpPr/>
          <p:nvPr/>
        </p:nvCxnSpPr>
        <p:spPr>
          <a:xfrm flipV="1">
            <a:off x="3586437" y="3084327"/>
            <a:ext cx="3436087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 rot="10800000">
            <a:off x="8141777" y="199552"/>
            <a:ext cx="800171" cy="808616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  <p:sp>
          <p:nvSpPr>
            <p:cNvPr id="18" name="Rectangle 17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</p:grpSp>
      <p:pic>
        <p:nvPicPr>
          <p:cNvPr id="2" name="object 6">
            <a:extLst>
              <a:ext uri="{FF2B5EF4-FFF2-40B4-BE49-F238E27FC236}">
                <a16:creationId xmlns:a16="http://schemas.microsoft.com/office/drawing/2014/main" id="{5CB84F91-B80D-1EB6-C9B0-8C4E117338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8840" y="1222682"/>
            <a:ext cx="1457201" cy="2698136"/>
          </a:xfrm>
          <a:prstGeom prst="rect">
            <a:avLst/>
          </a:prstGeom>
        </p:spPr>
      </p:pic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1D40992D-3524-F251-9BB9-962878728244}"/>
              </a:ext>
            </a:extLst>
          </p:cNvPr>
          <p:cNvSpPr/>
          <p:nvPr/>
        </p:nvSpPr>
        <p:spPr>
          <a:xfrm>
            <a:off x="3449392" y="1558194"/>
            <a:ext cx="4192875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buSzPts val="3600"/>
            </a:pPr>
            <a:r>
              <a:rPr lang="en-GB" sz="225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2405382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A6508-DF43-87D0-83AE-9829849F1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759564-1FCD-11E8-BA71-107A1E0EC07A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A3298FE-12CD-304F-2825-883153A75D1F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600"/>
            </a:pPr>
            <a:r>
              <a:rPr lang="en-US" sz="18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D9F8AD36-E521-6694-389C-51D9CC0374CB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Transformer Anatomy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6DF56A6A-5D11-C668-8D10-B8E67C42D3DC}"/>
              </a:ext>
            </a:extLst>
          </p:cNvPr>
          <p:cNvSpPr txBox="1"/>
          <p:nvPr/>
        </p:nvSpPr>
        <p:spPr>
          <a:xfrm>
            <a:off x="1013084" y="1607502"/>
            <a:ext cx="6295313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2250" dirty="0">
                <a:solidFill>
                  <a:schemeClr val="tx1"/>
                </a:solidFill>
              </a:rPr>
              <a:t>Disadvantages of RNN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altLang="en-IN" sz="2250" dirty="0"/>
              <a:t>Attention and Attention Mechanism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altLang="en-IN" sz="2250" dirty="0"/>
              <a:t>Encoder and Decoder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altLang="en-IN" sz="2250" dirty="0"/>
              <a:t>Positional Encoding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altLang="en-IN" sz="2250" dirty="0"/>
              <a:t>Transformer Anatomy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altLang="en-IN" sz="2250" dirty="0"/>
              <a:t>Decoder – Masked Multi-Head (Self) attention</a:t>
            </a:r>
          </a:p>
          <a:p>
            <a:endParaRPr lang="en-US" altLang="en-IN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A9AB1A12-DB30-70B9-131A-683B107AEAD3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2440762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95903-6D76-1C41-9D71-CC2D56AD9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FF1C86-9DEE-CB2B-84D5-BBF0657B0DB2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6D88135-B825-C029-6744-0C37A9310DC7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600"/>
            </a:pPr>
            <a:r>
              <a:rPr lang="en-US" sz="18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DA4A3C47-F189-5F35-5C76-C9DC96F9542F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Disadvantages of RNN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7245E1E-9C3D-6D58-A2B0-4EAA95316416}"/>
              </a:ext>
            </a:extLst>
          </p:cNvPr>
          <p:cNvSpPr txBox="1"/>
          <p:nvPr/>
        </p:nvSpPr>
        <p:spPr>
          <a:xfrm>
            <a:off x="294626" y="1027837"/>
            <a:ext cx="6801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</a:rPr>
              <a:t>Let’s take an example of Sequence to Sequence RNN Model for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machine translation (English to Hindi) for the following sentence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697E8314-122E-2A08-ABE2-020B8572693E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">
                <a:extLst>
                  <a:ext uri="{FF2B5EF4-FFF2-40B4-BE49-F238E27FC236}">
                    <a16:creationId xmlns:a16="http://schemas.microsoft.com/office/drawing/2014/main" id="{039ACB97-9AEE-4660-70E7-EE8E658A40E7}"/>
                  </a:ext>
                </a:extLst>
              </p:cNvPr>
              <p:cNvSpPr txBox="1"/>
              <p:nvPr/>
            </p:nvSpPr>
            <p:spPr>
              <a:xfrm>
                <a:off x="4872339" y="1771479"/>
                <a:ext cx="4118425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</a:rPr>
                  <a:t>The final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is called as the context vector which is ideally supposed to store the entire context of the sentence in a single vector.</a:t>
                </a: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</a:rPr>
                  <a:t>For huge inputs, the hidden state will not be able to store </a:t>
                </a:r>
                <a:r>
                  <a:rPr lang="en-US" sz="1800" dirty="0">
                    <a:solidFill>
                      <a:srgbClr val="FF0000"/>
                    </a:solidFill>
                  </a:rPr>
                  <a:t>long range dependencies</a:t>
                </a:r>
                <a:r>
                  <a:rPr lang="en-US" sz="1800" dirty="0">
                    <a:solidFill>
                      <a:schemeClr val="tx1"/>
                    </a:solidFill>
                  </a:rPr>
                  <a:t> and hence, the Decoder will not be able to translate well </a:t>
                </a:r>
                <a:r>
                  <a:rPr lang="en-US" sz="1800" dirty="0"/>
                  <a:t>given only the previous hidden state</a:t>
                </a:r>
                <a:r>
                  <a:rPr 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Another problem Is that its highly inefficient as it has to process all the words serially. (</a:t>
                </a:r>
                <a:r>
                  <a:rPr lang="en-US" sz="1800" dirty="0">
                    <a:solidFill>
                      <a:srgbClr val="FF0000"/>
                    </a:solidFill>
                  </a:rPr>
                  <a:t>not parallelizable</a:t>
                </a:r>
                <a:r>
                  <a:rPr lang="en-US" sz="1800" dirty="0"/>
                  <a:t>)</a:t>
                </a:r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 Box 2">
                <a:extLst>
                  <a:ext uri="{FF2B5EF4-FFF2-40B4-BE49-F238E27FC236}">
                    <a16:creationId xmlns:a16="http://schemas.microsoft.com/office/drawing/2014/main" id="{039ACB97-9AEE-4660-70E7-EE8E658A4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339" y="1771479"/>
                <a:ext cx="4118425" cy="3693319"/>
              </a:xfrm>
              <a:prstGeom prst="rect">
                <a:avLst/>
              </a:prstGeom>
              <a:blipFill>
                <a:blip r:embed="rId3"/>
                <a:stretch>
                  <a:fillRect l="-888" t="-992" r="-1479" b="-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224D6250-5836-D1F2-4725-663C153FF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27" y="1651084"/>
            <a:ext cx="4497550" cy="349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74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2118C-C57E-262F-A7C3-57DE949B1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A0C24F-58B0-1F7E-77B8-37BB47916238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347C075-CF3B-974E-3103-4C946F0D110B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600"/>
            </a:pPr>
            <a:r>
              <a:rPr lang="en-US" sz="18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7CF7010-D676-EFA2-BF30-E754A8B75471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4D5709DF-C3FE-859E-6C12-0574ECA42C89}"/>
              </a:ext>
            </a:extLst>
          </p:cNvPr>
          <p:cNvSpPr txBox="1"/>
          <p:nvPr/>
        </p:nvSpPr>
        <p:spPr>
          <a:xfrm>
            <a:off x="294627" y="945787"/>
            <a:ext cx="84974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In the context of the Transformer model, attention refers to a mechanism that</a:t>
            </a:r>
          </a:p>
          <a:p>
            <a:r>
              <a:rPr lang="en-US" sz="1800" dirty="0"/>
              <a:t> determines which parts of an input sequence are most relevant for generating</a:t>
            </a:r>
          </a:p>
          <a:p>
            <a:r>
              <a:rPr lang="en-US" sz="1800" dirty="0"/>
              <a:t> the output at a specific time.</a:t>
            </a:r>
          </a:p>
          <a:p>
            <a:endParaRPr lang="en-US" sz="1800" dirty="0"/>
          </a:p>
          <a:p>
            <a:r>
              <a:rPr lang="en-US" sz="1800" b="1" u="sng" dirty="0"/>
              <a:t>Key Ideas:</a:t>
            </a:r>
          </a:p>
          <a:p>
            <a:r>
              <a:rPr lang="en-US" sz="1800" b="1" dirty="0"/>
              <a:t>Self-Attention: </a:t>
            </a:r>
            <a:r>
              <a:rPr lang="en-US" sz="1800" dirty="0"/>
              <a:t>Each token in a sequence focuses on all other tokens to capture relationships and context, regardless of their position.</a:t>
            </a:r>
          </a:p>
          <a:p>
            <a:r>
              <a:rPr lang="en-US" sz="1800" b="1" dirty="0"/>
              <a:t>Query, Key, and Value: </a:t>
            </a:r>
            <a:r>
              <a:rPr lang="en-US" sz="1800" dirty="0"/>
              <a:t>These are vector representations of input tokens. Attention scores are computed as a function of queries and keys, determining how much "attention" each token pays to others.</a:t>
            </a:r>
          </a:p>
          <a:p>
            <a:r>
              <a:rPr lang="en-US" sz="1800" b="1" dirty="0"/>
              <a:t>Weighted Summation: </a:t>
            </a:r>
            <a:r>
              <a:rPr lang="en-US" sz="1800" dirty="0"/>
              <a:t>The final output is a weighted sum of the values, based on the </a:t>
            </a:r>
          </a:p>
          <a:p>
            <a:r>
              <a:rPr lang="en-US" sz="1800" dirty="0"/>
              <a:t>computed attention scores.</a:t>
            </a:r>
          </a:p>
          <a:p>
            <a:endParaRPr lang="en-US" sz="1800" dirty="0"/>
          </a:p>
          <a:p>
            <a:r>
              <a:rPr lang="en-US" sz="1800" dirty="0"/>
              <a:t>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E4C03C98-217A-C30C-FFED-656C5B4A84F4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685143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B3CB7-CB53-5806-2CCF-83FE1831C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4672FB-E04C-852D-13AA-4A53A9DC693E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D394D61-6D7E-F8CD-80EE-AA5CCC4FF284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600"/>
            </a:pPr>
            <a:r>
              <a:rPr lang="en-US" sz="18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4DE3F71F-A066-B392-8B71-B259E06E73E4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 and Attention Mechanism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6385184A-BA3B-4D14-69D6-0AD7C6D258D8}"/>
              </a:ext>
            </a:extLst>
          </p:cNvPr>
          <p:cNvSpPr txBox="1"/>
          <p:nvPr/>
        </p:nvSpPr>
        <p:spPr>
          <a:xfrm>
            <a:off x="100346" y="930856"/>
            <a:ext cx="8497484" cy="3947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Attention: 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dirty="0"/>
              <a:t>Refers to the ability of a model to </a:t>
            </a:r>
            <a:r>
              <a:rPr lang="en-US" sz="1650" dirty="0">
                <a:highlight>
                  <a:srgbClr val="00FFFF"/>
                </a:highlight>
              </a:rPr>
              <a:t>focus on different parts of the input sequence </a:t>
            </a:r>
            <a:r>
              <a:rPr lang="en-US" sz="1650" dirty="0"/>
              <a:t>when making predictions, especially in sequence-to-sequence tasks like machine translation. 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dirty="0"/>
              <a:t>It determines how much weight or importance each element in the input sequence should have when predicting each element of the output sequence.</a:t>
            </a:r>
          </a:p>
          <a:p>
            <a:endParaRPr lang="en-US" sz="1650" dirty="0"/>
          </a:p>
          <a:p>
            <a:r>
              <a:rPr lang="en-US" sz="1800" b="1" dirty="0"/>
              <a:t>Attention Mechanism: 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dirty="0"/>
              <a:t>This is used to take care of LONG RANGE DEPENDENCIES.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dirty="0"/>
              <a:t>This is the actual </a:t>
            </a:r>
            <a:r>
              <a:rPr lang="en-US" sz="1650" dirty="0">
                <a:highlight>
                  <a:srgbClr val="FFFF00"/>
                </a:highlight>
              </a:rPr>
              <a:t>computational framework or algorithm </a:t>
            </a:r>
            <a:r>
              <a:rPr lang="en-US" sz="1650" dirty="0"/>
              <a:t>that enables attention. It is the mathematical structure that allows the model </a:t>
            </a:r>
            <a:r>
              <a:rPr lang="en-US" sz="1650" dirty="0">
                <a:highlight>
                  <a:srgbClr val="00FFFF"/>
                </a:highlight>
              </a:rPr>
              <a:t>to compute which parts of the input sequence should be given more importance </a:t>
            </a:r>
            <a:r>
              <a:rPr lang="en-US" sz="1650" dirty="0"/>
              <a:t>(i.e., higher weights) when making a decision at each step. 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dirty="0"/>
              <a:t>It is realized through a </a:t>
            </a:r>
            <a:r>
              <a:rPr lang="en-US" sz="1650" b="1" i="1" dirty="0">
                <a:solidFill>
                  <a:srgbClr val="FF0000"/>
                </a:solidFill>
              </a:rPr>
              <a:t>scaled dot-product attention</a:t>
            </a:r>
            <a:r>
              <a:rPr lang="en-US" sz="1650" dirty="0"/>
              <a:t>, where the </a:t>
            </a:r>
            <a:r>
              <a:rPr lang="en-US" sz="1650" i="1" dirty="0">
                <a:solidFill>
                  <a:srgbClr val="FF0000"/>
                </a:solidFill>
              </a:rPr>
              <a:t>input tokens are transformed into query, key, and value vectors</a:t>
            </a:r>
            <a:r>
              <a:rPr lang="en-US" sz="1650" dirty="0"/>
              <a:t>, and the attention score is computed using the dot product of the query and key vectors.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F34C263F-1556-9E93-2224-60EF41873778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2297582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94627" y="945787"/>
            <a:ext cx="92544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“As the animal entered the forest, … blending it into the shadows of the </a:t>
            </a:r>
          </a:p>
          <a:p>
            <a:r>
              <a:rPr lang="en-US" sz="1800" dirty="0"/>
              <a:t>towering trees.”</a:t>
            </a:r>
            <a:br>
              <a:rPr lang="en-US" sz="1800" dirty="0"/>
            </a:br>
            <a:endParaRPr lang="en-US" sz="1800" dirty="0"/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Here, “it” refers to “animal” earlier in the sentence. </a:t>
            </a:r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RNN’s have a short reference window; if the input is too big, </a:t>
            </a:r>
            <a:r>
              <a:rPr lang="en-US" sz="1800" dirty="0"/>
              <a:t>“it” ‘s reference will not be</a:t>
            </a:r>
            <a:br>
              <a:rPr lang="en-US" sz="1800" dirty="0"/>
            </a:br>
            <a:r>
              <a:rPr lang="en-US" sz="1800" dirty="0"/>
              <a:t>s</a:t>
            </a:r>
            <a:r>
              <a:rPr lang="en-US" sz="1800" dirty="0">
                <a:solidFill>
                  <a:schemeClr val="tx1"/>
                </a:solidFill>
              </a:rPr>
              <a:t>tored in the context window.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LSTM’s and GRU’s have a slightly better reference window.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proposed </a:t>
            </a:r>
            <a:r>
              <a:rPr lang="en-US" sz="1800" dirty="0"/>
              <a:t>A</a:t>
            </a:r>
            <a:r>
              <a:rPr lang="en-US" sz="1800" dirty="0">
                <a:solidFill>
                  <a:schemeClr val="tx1"/>
                </a:solidFill>
              </a:rPr>
              <a:t>ttention </a:t>
            </a:r>
            <a:r>
              <a:rPr lang="en-US" sz="1800" dirty="0"/>
              <a:t>Me</a:t>
            </a:r>
            <a:r>
              <a:rPr lang="en-US" sz="1800" dirty="0">
                <a:solidFill>
                  <a:schemeClr val="tx1"/>
                </a:solidFill>
              </a:rPr>
              <a:t>ch</a:t>
            </a:r>
            <a:r>
              <a:rPr lang="en-US" sz="1800" dirty="0"/>
              <a:t>anism in theory has an infinite reference window.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RNN’s window-</a:t>
            </a:r>
          </a:p>
          <a:p>
            <a:r>
              <a:rPr lang="en-US" sz="1800" dirty="0"/>
              <a:t>As the animal entered the forest, … blending it into the shadows of the towering trees.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LSTM’s window-</a:t>
            </a:r>
          </a:p>
          <a:p>
            <a:r>
              <a:rPr lang="en-US" sz="1800" dirty="0"/>
              <a:t>As the animal entered the forest, … blending it into the shadows of the towering trees.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Attention window-</a:t>
            </a:r>
          </a:p>
          <a:p>
            <a:r>
              <a:rPr lang="en-US" sz="1800" dirty="0"/>
              <a:t>As the animal entered the forest, … blending it into the shadows of the towering trees.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43FEE6-AB70-4AAB-9FBD-02D5748F5E29}"/>
              </a:ext>
            </a:extLst>
          </p:cNvPr>
          <p:cNvSpPr/>
          <p:nvPr/>
        </p:nvSpPr>
        <p:spPr>
          <a:xfrm>
            <a:off x="4510454" y="3726681"/>
            <a:ext cx="3873639" cy="27507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8144FF-F79F-4829-8D20-85FDB13816A6}"/>
              </a:ext>
            </a:extLst>
          </p:cNvPr>
          <p:cNvSpPr/>
          <p:nvPr/>
        </p:nvSpPr>
        <p:spPr>
          <a:xfrm>
            <a:off x="3413928" y="4280597"/>
            <a:ext cx="4970165" cy="27507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94BD9C-5EED-4F21-9CB6-E9E7D08C3DCD}"/>
              </a:ext>
            </a:extLst>
          </p:cNvPr>
          <p:cNvSpPr/>
          <p:nvPr/>
        </p:nvSpPr>
        <p:spPr>
          <a:xfrm>
            <a:off x="294627" y="4830747"/>
            <a:ext cx="8089466" cy="27507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28587330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1"/>
            <a:ext cx="56229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/>
          </a:p>
          <a:p>
            <a:endParaRPr lang="en-US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F9962707-02E8-42CF-8128-7A95A479E1E2}"/>
              </a:ext>
            </a:extLst>
          </p:cNvPr>
          <p:cNvSpPr txBox="1"/>
          <p:nvPr/>
        </p:nvSpPr>
        <p:spPr>
          <a:xfrm>
            <a:off x="2697982" y="1011254"/>
            <a:ext cx="622503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</a:rPr>
              <a:t>Here, the word “its” has a strong reference to the</a:t>
            </a:r>
          </a:p>
          <a:p>
            <a:pPr algn="l"/>
            <a:r>
              <a:rPr lang="en-US" sz="1800" dirty="0"/>
              <a:t>Word “Law”.</a:t>
            </a:r>
          </a:p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/>
              <a:t>Since, we are finding attention between words of the same sentence, this is called </a:t>
            </a:r>
            <a:r>
              <a:rPr lang="en-US" sz="1800" dirty="0">
                <a:solidFill>
                  <a:srgbClr val="FF0000"/>
                </a:solidFill>
              </a:rPr>
              <a:t>self-attention</a:t>
            </a:r>
            <a:r>
              <a:rPr lang="en-US" sz="1800" dirty="0"/>
              <a:t>.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If we instead computed attention between words of different sentences, this is called </a:t>
            </a:r>
            <a:r>
              <a:rPr lang="en-US" sz="1800" dirty="0">
                <a:solidFill>
                  <a:srgbClr val="FF0000"/>
                </a:solidFill>
              </a:rPr>
              <a:t>cross-attention</a:t>
            </a:r>
            <a:r>
              <a:rPr lang="en-US" sz="1800" dirty="0"/>
              <a:t>.</a:t>
            </a:r>
          </a:p>
          <a:p>
            <a:pPr algn="l"/>
            <a:r>
              <a:rPr lang="en-US" sz="1800" dirty="0" err="1"/>
              <a:t>Eg</a:t>
            </a:r>
            <a:r>
              <a:rPr lang="en-US" sz="1800" dirty="0"/>
              <a:t>: attention between every word of “I want to eat” and “main </a:t>
            </a:r>
            <a:r>
              <a:rPr lang="en-US" sz="1800" dirty="0" err="1"/>
              <a:t>khana</a:t>
            </a:r>
            <a:r>
              <a:rPr lang="en-US" sz="1800" dirty="0"/>
              <a:t> </a:t>
            </a:r>
            <a:r>
              <a:rPr lang="en-US" sz="1800" dirty="0" err="1"/>
              <a:t>chahta</a:t>
            </a:r>
            <a:r>
              <a:rPr lang="en-US" sz="1800" dirty="0"/>
              <a:t> </a:t>
            </a:r>
            <a:r>
              <a:rPr lang="en-US" sz="1800" dirty="0" err="1"/>
              <a:t>hoon</a:t>
            </a:r>
            <a:r>
              <a:rPr lang="en-US" sz="1800" dirty="0"/>
              <a:t>”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Attention tells the model what parts of the sentence to focus 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8B4AC3-A389-4C75-B59B-63F36B19E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26" y="934483"/>
            <a:ext cx="2343066" cy="418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A4BDE9D-6526-4F64-9324-CF08654CFE49}"/>
              </a:ext>
            </a:extLst>
          </p:cNvPr>
          <p:cNvSpPr/>
          <p:nvPr/>
        </p:nvSpPr>
        <p:spPr>
          <a:xfrm>
            <a:off x="8141804" y="4866501"/>
            <a:ext cx="100219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050" dirty="0">
                <a:hlinkClick r:id="rId4"/>
              </a:rPr>
              <a:t>Picture Credit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66486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94626" y="1027837"/>
            <a:ext cx="9943748" cy="4201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dirty="0"/>
              <a:t>For each word in the sentence, we need to compute a relational score between</a:t>
            </a:r>
          </a:p>
          <a:p>
            <a:pPr algn="l"/>
            <a:r>
              <a:rPr lang="en-US" sz="1800" dirty="0"/>
              <a:t>the word and every other word in the sentence.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The higher the score, the more related they are contextually or on some parameter.</a:t>
            </a:r>
          </a:p>
          <a:p>
            <a:pPr algn="l"/>
            <a:endParaRPr lang="en-US" sz="1800" dirty="0"/>
          </a:p>
          <a:p>
            <a:r>
              <a:rPr lang="en-US" sz="1800" b="1" dirty="0"/>
              <a:t>Relational Score (Attention Score)</a:t>
            </a:r>
            <a:r>
              <a:rPr lang="en-US" sz="1800" dirty="0"/>
              <a:t>: </a:t>
            </a:r>
          </a:p>
          <a:p>
            <a:pPr algn="just"/>
            <a:r>
              <a:rPr lang="en-US" sz="1800" dirty="0"/>
              <a:t>The </a:t>
            </a:r>
            <a:r>
              <a:rPr lang="en-US" sz="1800" b="1" dirty="0"/>
              <a:t>relational score</a:t>
            </a:r>
            <a:r>
              <a:rPr lang="en-US" sz="1800" dirty="0"/>
              <a:t> is computed as the </a:t>
            </a:r>
            <a:r>
              <a:rPr lang="en-US" sz="1800" b="1" dirty="0"/>
              <a:t>dot product</a:t>
            </a:r>
            <a:r>
              <a:rPr lang="en-US" sz="1800" dirty="0"/>
              <a:t> of the </a:t>
            </a:r>
            <a:r>
              <a:rPr lang="en-US" sz="1800" b="1" dirty="0">
                <a:solidFill>
                  <a:srgbClr val="C00000"/>
                </a:solidFill>
              </a:rPr>
              <a:t>Query</a:t>
            </a:r>
            <a:r>
              <a:rPr lang="en-US" sz="1800" dirty="0">
                <a:solidFill>
                  <a:srgbClr val="C00000"/>
                </a:solidFill>
              </a:rPr>
              <a:t> vector of </a:t>
            </a:r>
            <a:r>
              <a:rPr lang="en-US" sz="1800" b="1" i="1" dirty="0">
                <a:solidFill>
                  <a:srgbClr val="C00000"/>
                </a:solidFill>
              </a:rPr>
              <a:t>one word </a:t>
            </a:r>
            <a:r>
              <a:rPr lang="en-US" sz="1800" dirty="0"/>
              <a:t>and the</a:t>
            </a:r>
          </a:p>
          <a:p>
            <a:pPr algn="just"/>
            <a:r>
              <a:rPr lang="en-US" sz="1800" dirty="0"/>
              <a:t> </a:t>
            </a:r>
            <a:r>
              <a:rPr lang="en-US" sz="1800" b="1" dirty="0"/>
              <a:t>Key</a:t>
            </a:r>
            <a:r>
              <a:rPr lang="en-US" sz="1800" dirty="0"/>
              <a:t> vector of </a:t>
            </a:r>
            <a:r>
              <a:rPr lang="en-US" sz="1800" b="1" i="1" dirty="0"/>
              <a:t>another word</a:t>
            </a:r>
            <a:r>
              <a:rPr lang="en-US" sz="1800" dirty="0"/>
              <a:t>. </a:t>
            </a:r>
          </a:p>
          <a:p>
            <a:pPr algn="just"/>
            <a:r>
              <a:rPr lang="en-US" sz="1800" i="1" dirty="0"/>
              <a:t>This dot product gives a measure of similarity between the two vectors, </a:t>
            </a:r>
          </a:p>
          <a:p>
            <a:pPr algn="just"/>
            <a:r>
              <a:rPr lang="en-US" sz="1800" dirty="0">
                <a:highlight>
                  <a:srgbClr val="C0C0C0"/>
                </a:highlight>
              </a:rPr>
              <a:t>which translates to how much attention one word should give to the other.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dirty="0"/>
              <a:t>The formula to calculate the attention score is:</a:t>
            </a:r>
          </a:p>
          <a:p>
            <a:pPr algn="just"/>
            <a:r>
              <a:rPr lang="en-US" sz="1800" dirty="0"/>
              <a:t>Attention Score=Q⋅K</a:t>
            </a:r>
          </a:p>
          <a:p>
            <a:pPr algn="just"/>
            <a:r>
              <a:rPr lang="en-US" sz="1800" dirty="0">
                <a:highlight>
                  <a:srgbClr val="FFFF00"/>
                </a:highlight>
              </a:rPr>
              <a:t>Where</a:t>
            </a:r>
            <a:r>
              <a:rPr lang="en-US" sz="1800" dirty="0"/>
              <a:t> </a:t>
            </a:r>
            <a:r>
              <a:rPr lang="en-US" sz="1500" i="1" dirty="0">
                <a:solidFill>
                  <a:srgbClr val="C00000"/>
                </a:solidFill>
              </a:rPr>
              <a:t>Q is the Query vector of the current word. </a:t>
            </a:r>
            <a:r>
              <a:rPr lang="en-US" sz="1500" i="1" dirty="0"/>
              <a:t>K is the Key vector of another word. </a:t>
            </a:r>
          </a:p>
          <a:p>
            <a:pPr algn="just"/>
            <a:r>
              <a:rPr lang="en-US" sz="1500" i="1" dirty="0">
                <a:solidFill>
                  <a:srgbClr val="C00000"/>
                </a:solidFill>
              </a:rPr>
              <a:t>Q⋅K represents the dot product of the two vectors.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AE934DC1-B682-4CE9-B440-1F55FA86F850}"/>
              </a:ext>
            </a:extLst>
          </p:cNvPr>
          <p:cNvSpPr txBox="1"/>
          <p:nvPr/>
        </p:nvSpPr>
        <p:spPr>
          <a:xfrm>
            <a:off x="8075727" y="4843418"/>
            <a:ext cx="12346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00" dirty="0">
                <a:hlinkClick r:id="rId3"/>
              </a:rPr>
              <a:t>Table Credit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263582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1"/>
            <a:ext cx="56229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/>
          </a:p>
          <a:p>
            <a:endParaRPr lang="en-US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294626" y="1027837"/>
                <a:ext cx="9892452" cy="3693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en-US" sz="1800" dirty="0"/>
              </a:p>
              <a:p>
                <a:pPr algn="l"/>
                <a:r>
                  <a:rPr lang="en-US" sz="1800" dirty="0"/>
                  <a:t>The database stores key-value pairs of documents. Keys can be specific characteristics / terms</a:t>
                </a:r>
              </a:p>
              <a:p>
                <a:pPr algn="l"/>
                <a:r>
                  <a:rPr lang="en-US" sz="1800" dirty="0"/>
                  <a:t>in the document and values will be the document itself. For this example, we take Keys as the</a:t>
                </a:r>
              </a:p>
              <a:p>
                <a:pPr algn="l"/>
                <a:r>
                  <a:rPr lang="en-US" sz="1800" dirty="0"/>
                  <a:t>title of the web page and the value is the web page itself.</a:t>
                </a:r>
              </a:p>
              <a:p>
                <a:pPr algn="l"/>
                <a:endParaRPr lang="en-US" sz="1800" dirty="0"/>
              </a:p>
              <a:p>
                <a:pPr algn="l"/>
                <a:r>
                  <a:rPr lang="en-US" sz="1800" dirty="0"/>
                  <a:t>When the user submits a Query, a similarity score is computed for each Key with the Query</a:t>
                </a:r>
              </a:p>
              <a:p>
                <a:pPr algn="l"/>
                <a:r>
                  <a:rPr lang="en-US" sz="1800" dirty="0"/>
                  <a:t>and the top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800" dirty="0"/>
                  <a:t> ranked keys are returned. When we click on a link, we get the Value of the Key.</a:t>
                </a:r>
              </a:p>
              <a:p>
                <a:pPr algn="l"/>
                <a:endParaRPr lang="en-US" sz="1800" dirty="0"/>
              </a:p>
              <a:p>
                <a:pPr algn="l"/>
                <a:r>
                  <a:rPr lang="en-US" sz="1800" dirty="0"/>
                  <a:t>Similarly, if we represent each word in a sentence as a vector- we can calculate cosine </a:t>
                </a:r>
              </a:p>
              <a:p>
                <a:pPr algn="l"/>
                <a:r>
                  <a:rPr lang="en-US" sz="1800" dirty="0"/>
                  <a:t>similarity between each vector and get an attention matrix. </a:t>
                </a:r>
              </a:p>
              <a:p>
                <a:pPr algn="l"/>
                <a:endParaRPr lang="en-US" sz="1800" dirty="0"/>
              </a:p>
              <a:p>
                <a:pPr algn="l"/>
                <a:r>
                  <a:rPr lang="en-US" sz="1800" dirty="0"/>
                  <a:t>This attention matrix acts as a filter and can be applied to the original sentence to give more </a:t>
                </a:r>
              </a:p>
              <a:p>
                <a:pPr algn="l"/>
                <a:r>
                  <a:rPr lang="en-US" sz="1800" dirty="0"/>
                  <a:t>focus on certain important parts of the sentence.</a:t>
                </a:r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6" y="1027837"/>
                <a:ext cx="9892452" cy="3693319"/>
              </a:xfrm>
              <a:prstGeom prst="rect">
                <a:avLst/>
              </a:prstGeom>
              <a:blipFill>
                <a:blip r:embed="rId2"/>
                <a:stretch>
                  <a:fillRect l="-493" b="-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8F1D8A3F-0F6A-4FB3-8750-CF6A881FF3F1}"/>
              </a:ext>
            </a:extLst>
          </p:cNvPr>
          <p:cNvSpPr txBox="1"/>
          <p:nvPr/>
        </p:nvSpPr>
        <p:spPr>
          <a:xfrm>
            <a:off x="8219613" y="4843418"/>
            <a:ext cx="10743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00" dirty="0">
                <a:hlinkClick r:id="rId4"/>
              </a:rPr>
              <a:t>Reference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1206840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CF34F-3762-4690-93E2-33AF2EA91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11" y="1037577"/>
            <a:ext cx="6355631" cy="402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119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1"/>
            <a:ext cx="56229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/>
          </a:p>
          <a:p>
            <a:endParaRPr lang="en-US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294626" y="1027837"/>
                <a:ext cx="9045040" cy="4332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800" dirty="0"/>
                  <a:t>Find the token Embedding of size </a:t>
                </a:r>
                <a:r>
                  <a:rPr lang="en-US" sz="1800" dirty="0" err="1"/>
                  <a:t>Hn</a:t>
                </a:r>
                <a:r>
                  <a:rPr lang="en-US" sz="1800" dirty="0"/>
                  <a:t> X </a:t>
                </a:r>
                <a:r>
                  <a:rPr lang="en-US" sz="1800" dirty="0" err="1"/>
                  <a:t>dmodel</a:t>
                </a:r>
                <a:endParaRPr lang="en-US" sz="1800" dirty="0"/>
              </a:p>
              <a:p>
                <a:pPr algn="l"/>
                <a:r>
                  <a:rPr lang="en-US" sz="1800" dirty="0"/>
                  <a:t>Find the positional Embedding </a:t>
                </a:r>
                <a:r>
                  <a:rPr lang="en-US" sz="1800" dirty="0" err="1"/>
                  <a:t>Hn</a:t>
                </a:r>
                <a:r>
                  <a:rPr lang="en-US" sz="1800" dirty="0"/>
                  <a:t> = </a:t>
                </a:r>
                <a:r>
                  <a:rPr lang="en-US" sz="1800" dirty="0" err="1"/>
                  <a:t>Hn</a:t>
                </a:r>
                <a:r>
                  <a:rPr lang="en-US" sz="1800" dirty="0"/>
                  <a:t> + PE</a:t>
                </a:r>
              </a:p>
              <a:p>
                <a:pPr algn="l"/>
                <a:r>
                  <a:rPr lang="en-US" sz="1800" dirty="0"/>
                  <a:t>Randomly Initialize Wq0, </a:t>
                </a:r>
                <a:r>
                  <a:rPr lang="en-US" sz="1800" dirty="0" err="1"/>
                  <a:t>Wko</a:t>
                </a:r>
                <a:r>
                  <a:rPr lang="en-US" sz="1800" dirty="0"/>
                  <a:t>, Wv0, Wq1, Wk1, Wv1,…..</a:t>
                </a:r>
              </a:p>
              <a:p>
                <a:pPr algn="l"/>
                <a:r>
                  <a:rPr lang="en-US" sz="1800" dirty="0"/>
                  <a:t>Q = </a:t>
                </a:r>
                <a:r>
                  <a:rPr lang="en-US" sz="1800" dirty="0" err="1"/>
                  <a:t>Hn</a:t>
                </a:r>
                <a:r>
                  <a:rPr lang="en-US" sz="1800" dirty="0"/>
                  <a:t>* Wq0</a:t>
                </a:r>
              </a:p>
              <a:p>
                <a:pPr algn="l"/>
                <a:r>
                  <a:rPr lang="en-US" sz="1800" dirty="0"/>
                  <a:t>K =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1800" dirty="0"/>
                  <a:t> are linear transformation matrices which are learned by the model.</a:t>
                </a:r>
              </a:p>
              <a:p>
                <a:r>
                  <a:rPr lang="en-US" sz="1800" dirty="0"/>
                  <a:t>The dimensions are-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is of dimension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 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is of dimension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1800" dirty="0"/>
                  <a:t> 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is of dimension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Generally,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US" sz="1800" dirty="0"/>
                  <a:t> as it benefits the model for having a lower dimension</a:t>
                </a:r>
              </a:p>
              <a:p>
                <a:r>
                  <a:rPr lang="en-US" sz="1800" dirty="0"/>
                  <a:t>for calculations and performance.</a:t>
                </a:r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6" y="1027837"/>
                <a:ext cx="9045040" cy="4332981"/>
              </a:xfrm>
              <a:prstGeom prst="rect">
                <a:avLst/>
              </a:prstGeom>
              <a:blipFill>
                <a:blip r:embed="rId2"/>
                <a:stretch>
                  <a:fillRect l="-539" t="-845" b="-1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24701674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3F7D-084E-B4F3-61CD-0FAD8BE59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E6BFD3-0FF4-E8B5-50D9-CD84FBB45D1A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A7DD507-95AD-EDD2-B7F5-FEE07AD57013}"/>
              </a:ext>
            </a:extLst>
          </p:cNvPr>
          <p:cNvSpPr/>
          <p:nvPr/>
        </p:nvSpPr>
        <p:spPr>
          <a:xfrm>
            <a:off x="294833" y="189181"/>
            <a:ext cx="56229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/>
          </a:p>
          <a:p>
            <a:endParaRPr lang="en-US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4978CD92-19D4-FFA2-3FBA-1FCC598B3E09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F828A396-8171-CE6B-14B2-F652EC568894}"/>
                  </a:ext>
                </a:extLst>
              </p:cNvPr>
              <p:cNvSpPr txBox="1"/>
              <p:nvPr/>
            </p:nvSpPr>
            <p:spPr>
              <a:xfrm>
                <a:off x="294627" y="1027837"/>
                <a:ext cx="9615517" cy="38003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57175" indent="-257175">
                  <a:buFont typeface="Wingdings" panose="05000000000000000000" pitchFamily="2" charset="2"/>
                  <a:buChar char="Ø"/>
                </a:pPr>
                <a:r>
                  <a:rPr lang="en-US" sz="1800" dirty="0"/>
                  <a:t>Find the token Embedding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US" sz="1800" dirty="0"/>
                  <a:t>, Find the positional 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+ PE</a:t>
                </a:r>
              </a:p>
              <a:p>
                <a:pPr algn="l"/>
                <a:r>
                  <a:rPr lang="en-US" sz="1800" dirty="0"/>
                  <a:t>Randomly 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</a:p>
              <a:p>
                <a:pPr marL="257175" indent="-257175">
                  <a:buFont typeface="Wingdings" panose="05000000000000000000" pitchFamily="2" charset="2"/>
                  <a:buChar char="Ø"/>
                </a:pPr>
                <a:r>
                  <a:rPr lang="en-US" sz="1800" dirty="0"/>
                  <a:t>Let each word be represented by a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of dimension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US" sz="1800" dirty="0"/>
                  <a:t> where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algn="l"/>
                <a:r>
                  <a:rPr lang="en-US" sz="1800" dirty="0"/>
                  <a:t>is the index of the word in the sentence.</a:t>
                </a:r>
              </a:p>
              <a:p>
                <a:pPr marL="257175" indent="-257175">
                  <a:buFont typeface="Wingdings" panose="05000000000000000000" pitchFamily="2" charset="2"/>
                  <a:buChar char="Ø"/>
                </a:pPr>
                <a:r>
                  <a:rPr lang="en-US" sz="1800" dirty="0"/>
                  <a:t>To compute the Query, Key &amp; Value vectors of the word, we pass the word vector</a:t>
                </a:r>
              </a:p>
              <a:p>
                <a:pPr algn="l"/>
                <a:r>
                  <a:rPr lang="en-US" sz="1800" dirty="0"/>
                  <a:t>through a linear layer –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257175" indent="-257175">
                  <a:buFont typeface="Wingdings" panose="05000000000000000000" pitchFamily="2" charset="2"/>
                  <a:buChar char="Ø"/>
                </a:pPr>
                <a:r>
                  <a:rPr lang="en-US" sz="1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1800" dirty="0"/>
                  <a:t> are linear transformation matrices which are learned by the model.</a:t>
                </a:r>
              </a:p>
              <a:p>
                <a:pPr marL="257175" indent="-257175">
                  <a:buFont typeface="Wingdings" panose="05000000000000000000" pitchFamily="2" charset="2"/>
                  <a:buChar char="Ø"/>
                </a:pPr>
                <a:r>
                  <a:rPr lang="en-US" sz="1800" dirty="0"/>
                  <a:t>The dimensions are-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is of dimension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 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is of dimension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1800" dirty="0"/>
                  <a:t> 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is of dimension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Generally,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US" sz="1800" dirty="0"/>
                  <a:t> as it benefits the model for having a lower dimension</a:t>
                </a:r>
              </a:p>
              <a:p>
                <a:r>
                  <a:rPr lang="en-US" sz="1800" dirty="0"/>
                  <a:t>for calculations and performance.</a:t>
                </a:r>
              </a:p>
            </p:txBody>
          </p:sp>
        </mc:Choice>
        <mc:Fallback xmlns="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F828A396-8171-CE6B-14B2-F652EC568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7" y="1027837"/>
                <a:ext cx="9615517" cy="3800399"/>
              </a:xfrm>
              <a:prstGeom prst="rect">
                <a:avLst/>
              </a:prstGeom>
              <a:blipFill>
                <a:blip r:embed="rId2"/>
                <a:stretch>
                  <a:fillRect l="-507" t="-963" b="-17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5E2FB947-ECD0-7383-3C99-060474CAED64}"/>
              </a:ext>
            </a:extLst>
          </p:cNvPr>
          <p:cNvSpPr/>
          <p:nvPr/>
        </p:nvSpPr>
        <p:spPr>
          <a:xfrm>
            <a:off x="8218227" y="189180"/>
            <a:ext cx="630941" cy="875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7863424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294626" y="1027837"/>
                <a:ext cx="8928342" cy="3464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800" dirty="0"/>
                  <a:t>To compute the cosine similarity between the Query and Key vectors, we </a:t>
                </a:r>
                <a:br>
                  <a:rPr lang="en-US" sz="1800" dirty="0"/>
                </a:br>
                <a:r>
                  <a:rPr lang="en-US" sz="1800" dirty="0"/>
                  <a:t>perform a dot product multiplication between them. </a:t>
                </a:r>
              </a:p>
              <a:p>
                <a:pPr algn="l"/>
                <a:endParaRPr lang="en-US" sz="1800" dirty="0"/>
              </a:p>
              <a:p>
                <a:pPr algn="l"/>
                <a:r>
                  <a:rPr lang="en-US" sz="1800" dirty="0"/>
                  <a:t>Assuming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words in the sentence:</a:t>
                </a:r>
              </a:p>
              <a:p>
                <a:pPr algn="l"/>
                <a:r>
                  <a:rPr lang="en-US" sz="1800" dirty="0"/>
                  <a:t>For 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, the </a:t>
                </a:r>
                <a:r>
                  <a:rPr lang="en-US" sz="1800" b="1" dirty="0"/>
                  <a:t>attention scores </a:t>
                </a:r>
                <a:r>
                  <a:rPr lang="en-US" sz="1800" dirty="0"/>
                  <a:t>with respect to every other word in the sentence is-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…,</m:t>
                          </m:r>
                          <m:r>
                            <m:rPr>
                              <m:lit/>
                            </m:r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  <a:p>
                <a:endParaRPr lang="en-US" sz="1800" dirty="0"/>
              </a:p>
              <a:p>
                <a:r>
                  <a:rPr lang="en-US" sz="1800" dirty="0"/>
                  <a:t>To convert scores to probability, we apply SoftMax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sz="1800" dirty="0"/>
                  <a:t>) across the vector.</a:t>
                </a:r>
              </a:p>
              <a:p>
                <a:endParaRPr lang="en-US" sz="1800" dirty="0"/>
              </a:p>
              <a:p>
                <a:r>
                  <a:rPr lang="en-US" sz="1800" b="1" dirty="0"/>
                  <a:t>We also divide the scores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1800" dirty="0"/>
                  <a:t> to prevent exploding gradients. </a:t>
                </a:r>
              </a:p>
              <a:p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 is the dimension of the Key vector)</a:t>
                </a:r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6" y="1027837"/>
                <a:ext cx="8928342" cy="3464603"/>
              </a:xfrm>
              <a:prstGeom prst="rect">
                <a:avLst/>
              </a:prstGeom>
              <a:blipFill>
                <a:blip r:embed="rId2"/>
                <a:stretch>
                  <a:fillRect l="-546" t="-1056" b="-19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76BE1D-F8DC-4657-9CF3-3F123938C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206" y="3736586"/>
            <a:ext cx="4511267" cy="146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855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FAE4-930B-9957-6631-FCED3D5E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DA2544-28FF-CF95-A69A-4FC87DD274EC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69160E8-7501-81BF-9585-D02C4BF9C336}"/>
              </a:ext>
            </a:extLst>
          </p:cNvPr>
          <p:cNvSpPr/>
          <p:nvPr/>
        </p:nvSpPr>
        <p:spPr>
          <a:xfrm>
            <a:off x="294833" y="189181"/>
            <a:ext cx="56229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/>
          </a:p>
          <a:p>
            <a:endParaRPr lang="en-US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DC094C47-B147-0812-FCE5-1A0EA1967870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98110023-B573-7D5A-CE3B-6C9729AE2891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19C08B-490B-CB7F-AC27-C34941C29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06" y="1653778"/>
            <a:ext cx="7372350" cy="183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382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294627" y="3003185"/>
                <a:ext cx="9366667" cy="2074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We can compute the values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lit/>
                      </m:rP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 …,</m:t>
                    </m:r>
                    <m:r>
                      <m:rPr>
                        <m:lit/>
                      </m:rP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/>
                  <a:t> parallelly if we combine all the word vectors</a:t>
                </a:r>
              </a:p>
              <a:p>
                <a:r>
                  <a:rPr lang="en-US" sz="1800" dirty="0"/>
                  <a:t>into a single matrix and perform matrix multiplication between the Query and Key matrices</a:t>
                </a:r>
              </a:p>
              <a:p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1800" dirty="0"/>
                  <a:t>and hence is of dimension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hence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800" dirty="0"/>
                  <a:t> matrices are of dimension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lit/>
                      </m:rP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lit/>
                      </m:rP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1800" dirty="0"/>
                  <a:t> respectively.</a:t>
                </a:r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7" y="3003185"/>
                <a:ext cx="9366667" cy="2074158"/>
              </a:xfrm>
              <a:prstGeom prst="rect">
                <a:avLst/>
              </a:prstGeom>
              <a:blipFill>
                <a:blip r:embed="rId2"/>
                <a:stretch>
                  <a:fillRect l="-520" t="-1765" b="-2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C19F39-1FA4-4E56-8E93-84AED92D7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6641" y="697809"/>
            <a:ext cx="7864522" cy="26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084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C763D-C78A-91BE-0A31-9CA26E6A0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D31DE5-0515-99F5-50BD-A9DD5E7761C8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65C1EF2-1BF8-05A2-7168-BC1204180512}"/>
              </a:ext>
            </a:extLst>
          </p:cNvPr>
          <p:cNvSpPr/>
          <p:nvPr/>
        </p:nvSpPr>
        <p:spPr>
          <a:xfrm>
            <a:off x="294833" y="189181"/>
            <a:ext cx="56229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/>
          </a:p>
          <a:p>
            <a:endParaRPr lang="en-US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2032564D-B688-DE46-404A-79DEB9195CA7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08AB1F48-6476-B1EA-F739-FB1E00BD3E81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BFE6DD-1839-5861-B3C2-141F3D3C7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90" y="1603772"/>
            <a:ext cx="7422356" cy="193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7269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294627" y="1027837"/>
                <a:ext cx="6969909" cy="45711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800" dirty="0"/>
                  <a:t>Hence the attention filter,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Where, the dimensions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dirty="0"/>
                  <a:t> are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.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is the no. of words in the input)</a:t>
                </a:r>
              </a:p>
              <a:p>
                <a:r>
                  <a:rPr lang="en-US" sz="1800" dirty="0"/>
                  <a:t>This matrix now acts a filter and tells the model which parts of the</a:t>
                </a:r>
              </a:p>
              <a:p>
                <a:r>
                  <a:rPr lang="en-US" sz="1800" dirty="0"/>
                  <a:t>sentence is more important than others and which are less important.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We apply this filter to the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800" dirty="0"/>
                  <a:t> matrix to get the final attention,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𝐴𝑉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Where, the dimensions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800" dirty="0"/>
                  <a:t> are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scales the values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dirty="0"/>
                  <a:t>, it is called </a:t>
                </a:r>
              </a:p>
              <a:p>
                <a:r>
                  <a:rPr lang="en-US" sz="1800" dirty="0"/>
                  <a:t>The scaled dot-product attention.</a:t>
                </a:r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7" y="1027837"/>
                <a:ext cx="6969909" cy="4571123"/>
              </a:xfrm>
              <a:prstGeom prst="rect">
                <a:avLst/>
              </a:prstGeom>
              <a:blipFill>
                <a:blip r:embed="rId2"/>
                <a:stretch>
                  <a:fillRect l="-699" t="-801" b="-13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7006AE-40A8-4BC9-82DD-7F10B0344AB7}"/>
              </a:ext>
            </a:extLst>
          </p:cNvPr>
          <p:cNvSpPr/>
          <p:nvPr/>
        </p:nvSpPr>
        <p:spPr>
          <a:xfrm>
            <a:off x="8141804" y="4866501"/>
            <a:ext cx="100219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050" dirty="0">
                <a:hlinkClick r:id="rId4"/>
              </a:rPr>
              <a:t>Picture Credit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0D6035-931C-4C42-A4A6-3BEDE167D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765" y="3351840"/>
            <a:ext cx="1634473" cy="16819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B2DE10-4260-403F-ABB3-54F89B339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081" y="1391794"/>
            <a:ext cx="1981919" cy="190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484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1"/>
            <a:ext cx="56229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/>
          </a:p>
          <a:p>
            <a:endParaRPr lang="en-US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294627" y="1027837"/>
                <a:ext cx="8586860" cy="4752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/>
                  <a:t>Attention matrices can be compared to convolutional filters or kernels in CNNs.</a:t>
                </a:r>
              </a:p>
              <a:p>
                <a:r>
                  <a:rPr lang="en-US" sz="1800" dirty="0"/>
                  <a:t>Each filter we use in a CNN learns an abstract representation and captures different</a:t>
                </a:r>
              </a:p>
              <a:p>
                <a:r>
                  <a:rPr lang="en-US" sz="1800" dirty="0"/>
                  <a:t>information than other filters.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Similarly, we can have different attention matrices with different linear transformations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1800" dirty="0"/>
                  <a:t> for each matrix.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Hence, we have multiple “heads”, each of which has its own transformation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sz="1800" dirty="0"/>
                  <a:t>)</a:t>
                </a:r>
              </a:p>
              <a:p>
                <a:r>
                  <a:rPr lang="en-US" sz="1800" dirty="0"/>
                  <a:t>and computes its own attention matrix. In the end, we combine all the attention matrices from the different heads and pass it through a last linear transformation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US" sz="1800" dirty="0"/>
                  <a:t>).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This is called as Multi-Head Attention where each head computes its attention independently and hence can be parallelized.</a:t>
                </a:r>
              </a:p>
              <a:p>
                <a:endParaRPr lang="en-US" sz="1050" dirty="0"/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7" y="1027837"/>
                <a:ext cx="8586860" cy="4752007"/>
              </a:xfrm>
              <a:prstGeom prst="rect">
                <a:avLst/>
              </a:prstGeom>
              <a:blipFill>
                <a:blip r:embed="rId2"/>
                <a:stretch>
                  <a:fillRect l="-568" t="-7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2431216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81006-D9C4-65B3-BF14-54BA89469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7B0718-D8F3-0E75-49B4-0F11E3042F7E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4A2D90C-D6C7-5942-865F-F509DDC8F7D0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2BEB62DC-D02B-D0D0-3ADF-1FBB60CD3D6F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Encoder and Decoder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EEC3C902-BE6B-04E0-93BE-62244F00BC9B}"/>
              </a:ext>
            </a:extLst>
          </p:cNvPr>
          <p:cNvSpPr txBox="1"/>
          <p:nvPr/>
        </p:nvSpPr>
        <p:spPr>
          <a:xfrm>
            <a:off x="100346" y="930856"/>
            <a:ext cx="8497484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i="1" dirty="0">
                <a:highlight>
                  <a:srgbClr val="C0C0C0"/>
                </a:highlight>
              </a:rPr>
              <a:t>Encoder is responsible for 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650" dirty="0"/>
              <a:t>processing the input sequence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dirty="0"/>
              <a:t>converting it into a set of continuous representations (or embeddings)</a:t>
            </a:r>
            <a:endParaRPr lang="en-IN" sz="1650" dirty="0"/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C00000"/>
                </a:solidFill>
              </a:rPr>
              <a:t>consists of </a:t>
            </a:r>
            <a:r>
              <a:rPr lang="en-US" sz="1650" b="1" dirty="0">
                <a:solidFill>
                  <a:srgbClr val="C00000"/>
                </a:solidFill>
              </a:rPr>
              <a:t>N identical layers</a:t>
            </a:r>
            <a:r>
              <a:rPr lang="en-IN" sz="1650" b="1" dirty="0">
                <a:solidFill>
                  <a:srgbClr val="C00000"/>
                </a:solidFill>
              </a:rPr>
              <a:t>, </a:t>
            </a:r>
            <a:r>
              <a:rPr lang="en-US" sz="1650" dirty="0">
                <a:solidFill>
                  <a:srgbClr val="C00000"/>
                </a:solidFill>
              </a:rPr>
              <a:t>each of which has </a:t>
            </a:r>
            <a:r>
              <a:rPr lang="en-US" sz="1650" dirty="0">
                <a:solidFill>
                  <a:srgbClr val="C00000"/>
                </a:solidFill>
                <a:highlight>
                  <a:srgbClr val="FFFF00"/>
                </a:highlight>
              </a:rPr>
              <a:t>two main sub-components</a:t>
            </a:r>
            <a:r>
              <a:rPr lang="en-US" sz="1650" dirty="0">
                <a:solidFill>
                  <a:srgbClr val="C00000"/>
                </a:solidFill>
              </a:rPr>
              <a:t>:</a:t>
            </a:r>
            <a:endParaRPr lang="en-IN" sz="1650" b="1" dirty="0">
              <a:solidFill>
                <a:srgbClr val="C00000"/>
              </a:solidFill>
            </a:endParaRPr>
          </a:p>
          <a:p>
            <a:pPr marL="600075" lvl="1" indent="-257175">
              <a:buFont typeface="Wingdings" panose="05000000000000000000" pitchFamily="2" charset="2"/>
              <a:buChar char="Ø"/>
            </a:pPr>
            <a:r>
              <a:rPr lang="en-US" sz="1650" b="1" dirty="0">
                <a:highlight>
                  <a:srgbClr val="FFFF00"/>
                </a:highlight>
              </a:rPr>
              <a:t>Self-Attention Layer</a:t>
            </a:r>
            <a:r>
              <a:rPr lang="en-US" sz="1650" dirty="0">
                <a:highlight>
                  <a:srgbClr val="FFFF00"/>
                </a:highlight>
              </a:rPr>
              <a:t>: </a:t>
            </a:r>
            <a:r>
              <a:rPr lang="en-US" sz="1650" dirty="0"/>
              <a:t>This layer allows the encoder to consider the entire sequence of input tokens when computing its representation. </a:t>
            </a:r>
          </a:p>
          <a:p>
            <a:pPr marL="600075" lvl="1" indent="-257175">
              <a:buFont typeface="Wingdings" panose="05000000000000000000" pitchFamily="2" charset="2"/>
              <a:buChar char="Ø"/>
            </a:pPr>
            <a:r>
              <a:rPr lang="en-US" sz="1650" dirty="0"/>
              <a:t>Every token in the input can "attend" to all other tokens in the sequence, capturing dependencies and relationships regardless of distance between tokens. </a:t>
            </a:r>
          </a:p>
          <a:p>
            <a:pPr marL="600075" lvl="1" indent="-257175">
              <a:buFont typeface="Wingdings" panose="05000000000000000000" pitchFamily="2" charset="2"/>
              <a:buChar char="Ø"/>
            </a:pPr>
            <a:r>
              <a:rPr lang="en-US" sz="1650" dirty="0"/>
              <a:t>This is done through the </a:t>
            </a:r>
            <a:r>
              <a:rPr lang="en-US" sz="1650" b="1" dirty="0"/>
              <a:t>scaled dot-product attention</a:t>
            </a:r>
            <a:r>
              <a:rPr lang="en-US" sz="1650" dirty="0"/>
              <a:t> mechanism.</a:t>
            </a:r>
          </a:p>
          <a:p>
            <a:r>
              <a:rPr lang="en-US" sz="1650" dirty="0">
                <a:solidFill>
                  <a:srgbClr val="FF0000"/>
                </a:solidFill>
              </a:rPr>
              <a:t>The self-attention mechanism works by computing </a:t>
            </a:r>
            <a:r>
              <a:rPr lang="en-US" sz="1650" b="1" i="1" u="sng" dirty="0">
                <a:solidFill>
                  <a:srgbClr val="FF0000"/>
                </a:solidFill>
              </a:rPr>
              <a:t>three vectors </a:t>
            </a:r>
            <a:r>
              <a:rPr lang="en-US" sz="1650" dirty="0">
                <a:solidFill>
                  <a:srgbClr val="FF0000"/>
                </a:solidFill>
              </a:rPr>
              <a:t>for each token in the sequence: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50" b="1" dirty="0"/>
              <a:t>Query (Q)</a:t>
            </a:r>
            <a:r>
              <a:rPr lang="en-US" sz="1650" dirty="0"/>
              <a:t>: Represents the current token.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50" b="1" dirty="0"/>
              <a:t>Key (K)</a:t>
            </a:r>
            <a:r>
              <a:rPr lang="en-US" sz="1650" dirty="0"/>
              <a:t>: Represents all tokens.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50" b="1" dirty="0"/>
              <a:t>Value (V)</a:t>
            </a:r>
            <a:r>
              <a:rPr lang="en-US" sz="1650" dirty="0"/>
              <a:t>: Represents the information that will be passed through</a:t>
            </a:r>
          </a:p>
          <a:p>
            <a:pPr algn="just"/>
            <a:r>
              <a:rPr lang="en-US" sz="1500" dirty="0">
                <a:solidFill>
                  <a:srgbClr val="FF0000"/>
                </a:solidFill>
              </a:rPr>
              <a:t>Attention is computed by taking the dot product of the query and key vectors</a:t>
            </a:r>
            <a:r>
              <a:rPr lang="en-US" sz="1500" dirty="0"/>
              <a:t>, </a:t>
            </a:r>
            <a:r>
              <a:rPr lang="en-US" sz="1500" dirty="0">
                <a:highlight>
                  <a:srgbClr val="00FFFF"/>
                </a:highlight>
              </a:rPr>
              <a:t>scaling the result, and applying a </a:t>
            </a:r>
            <a:r>
              <a:rPr lang="en-US" sz="1500" dirty="0" err="1">
                <a:highlight>
                  <a:srgbClr val="00FFFF"/>
                </a:highlight>
              </a:rPr>
              <a:t>softmax</a:t>
            </a:r>
            <a:r>
              <a:rPr lang="en-US" sz="1500" dirty="0">
                <a:highlight>
                  <a:srgbClr val="00FFFF"/>
                </a:highlight>
              </a:rPr>
              <a:t> function to generate attention weights. </a:t>
            </a:r>
            <a:r>
              <a:rPr lang="en-US" sz="1500" b="1" dirty="0">
                <a:solidFill>
                  <a:schemeClr val="accent6"/>
                </a:solidFill>
              </a:rPr>
              <a:t>These weights are used to compute a weighted sum of the value vectors, which forms the new representation for each token.</a:t>
            </a:r>
          </a:p>
          <a:p>
            <a:pPr lvl="1"/>
            <a:endParaRPr lang="en-US" sz="1650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17CE44E0-98C1-2371-B0C0-0AA32451B330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3838239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1352A-F0C3-3F74-E589-A7214279B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D559F8-918E-3279-383D-B29CC553A8EF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83ADA3B-3823-E2C9-A947-4FE722105BC8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1B74447F-461E-9952-774C-72E657C9213B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Encoder and Decoder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21B50CB-FAFD-B06E-A4E5-1D6FE147D5F5}"/>
              </a:ext>
            </a:extLst>
          </p:cNvPr>
          <p:cNvSpPr txBox="1"/>
          <p:nvPr/>
        </p:nvSpPr>
        <p:spPr>
          <a:xfrm>
            <a:off x="100346" y="1486838"/>
            <a:ext cx="84974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b="1" dirty="0">
                <a:highlight>
                  <a:srgbClr val="FFFF00"/>
                </a:highlight>
              </a:rPr>
              <a:t>Feed-Forward Neural Network (FFN)</a:t>
            </a:r>
            <a:r>
              <a:rPr lang="en-US" sz="1650" dirty="0">
                <a:highlight>
                  <a:srgbClr val="FFFF00"/>
                </a:highlight>
              </a:rPr>
              <a:t>: </a:t>
            </a:r>
            <a:r>
              <a:rPr lang="en-US" sz="1650" dirty="0"/>
              <a:t>After the self-attention layer, 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dirty="0"/>
              <a:t>each token representation is passed through a position-wise feed-forward neural network. 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endParaRPr lang="en-US" sz="1650" dirty="0"/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dirty="0"/>
              <a:t>This is applied to each token independently and consists of two fully connected layers with a </a:t>
            </a:r>
            <a:r>
              <a:rPr lang="en-US" sz="1650" dirty="0" err="1"/>
              <a:t>ReLU</a:t>
            </a:r>
            <a:r>
              <a:rPr lang="en-US" sz="1650" dirty="0"/>
              <a:t> activation function in between. 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endParaRPr lang="en-US" sz="1650" dirty="0"/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dirty="0"/>
              <a:t>The FFN allows for more complex transformations of the token representations.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endParaRPr lang="en-US" sz="1650" dirty="0"/>
          </a:p>
          <a:p>
            <a:r>
              <a:rPr lang="en-IN" sz="1800" b="1" i="1" dirty="0">
                <a:highlight>
                  <a:srgbClr val="C0C0C0"/>
                </a:highlight>
              </a:rPr>
              <a:t>Decoder is responsible for 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b="1" dirty="0"/>
              <a:t>Decoder</a:t>
            </a:r>
            <a:r>
              <a:rPr lang="en-US" sz="1650" dirty="0"/>
              <a:t> is responsible for generating the output sequence from the continuous representations produced by the encoder.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endParaRPr lang="en-US" sz="1650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E232E69A-3776-0B2E-04C5-2529FA1A448B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33424723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4056-4846-F325-1C5C-CBB74CF9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B36F14-153D-FF24-E898-DC6036223FED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932B200-3D64-2EED-A35B-F00D9CE27128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60A05FDC-CA5D-FC0F-24E2-F6C926E8315C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Encoder and Decoder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DD0AF847-068A-79F7-2B53-7F7B2992EDD7}"/>
              </a:ext>
            </a:extLst>
          </p:cNvPr>
          <p:cNvSpPr txBox="1"/>
          <p:nvPr/>
        </p:nvSpPr>
        <p:spPr>
          <a:xfrm>
            <a:off x="100346" y="930856"/>
            <a:ext cx="8497484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i="1" dirty="0">
                <a:highlight>
                  <a:srgbClr val="C0C0C0"/>
                </a:highlight>
              </a:rPr>
              <a:t>Decoder is responsible for 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650" b="1" dirty="0"/>
              <a:t>Decoder</a:t>
            </a:r>
            <a:r>
              <a:rPr lang="en-US" sz="1650" dirty="0"/>
              <a:t> is responsible for generating the output sequence from the continuous representations produced by the encoder.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endParaRPr lang="en-US" sz="1650" dirty="0"/>
          </a:p>
          <a:p>
            <a:pPr algn="just"/>
            <a:r>
              <a:rPr lang="en-US" sz="1650" dirty="0"/>
              <a:t>Like the encoder, the decoder consists of </a:t>
            </a:r>
            <a:r>
              <a:rPr lang="en-US" sz="1650" b="1" dirty="0"/>
              <a:t>N identical layers, </a:t>
            </a:r>
            <a:r>
              <a:rPr lang="en-US" sz="1650" dirty="0"/>
              <a:t>with each layer having </a:t>
            </a:r>
            <a:r>
              <a:rPr lang="en-US" sz="1650" dirty="0">
                <a:solidFill>
                  <a:srgbClr val="FF0000"/>
                </a:solidFill>
                <a:highlight>
                  <a:srgbClr val="FFFF00"/>
                </a:highlight>
              </a:rPr>
              <a:t>three main sub-components:</a:t>
            </a:r>
          </a:p>
          <a:p>
            <a:pPr algn="just"/>
            <a:endParaRPr lang="en-US" sz="1650" dirty="0">
              <a:highlight>
                <a:srgbClr val="FFFF00"/>
              </a:highlight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50" b="1" dirty="0">
                <a:highlight>
                  <a:srgbClr val="FFFF00"/>
                </a:highlight>
              </a:rPr>
              <a:t>Masked Self-Attention Layer</a:t>
            </a:r>
            <a:r>
              <a:rPr lang="en-US" sz="1650" dirty="0">
                <a:highlight>
                  <a:srgbClr val="FFFF00"/>
                </a:highlight>
              </a:rPr>
              <a:t>: </a:t>
            </a:r>
            <a:r>
              <a:rPr lang="en-US" sz="1650" dirty="0"/>
              <a:t>In the decoder, the self-attention mechanism is "masked" to prevent attending to future tokens in the output sequence. The masked self-attention ensures that the prediction for each token is only dependent on the previously generated tokens, not future ones.</a:t>
            </a:r>
          </a:p>
          <a:p>
            <a:pPr lvl="1"/>
            <a:endParaRPr lang="en-US" sz="1650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87DC5AD6-DA68-3164-0722-57DA0AADC964}"/>
              </a:ext>
            </a:extLst>
          </p:cNvPr>
          <p:cNvSpPr/>
          <p:nvPr/>
        </p:nvSpPr>
        <p:spPr>
          <a:xfrm>
            <a:off x="8304129" y="53623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1148392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Embeddings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294627" y="1027837"/>
                <a:ext cx="9725739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tx1"/>
                    </a:solidFill>
                  </a:rPr>
                  <a:t>When we give a sentence to the transformer, we first need to split </a:t>
                </a:r>
                <a:r>
                  <a:rPr lang="en-US" sz="1800" dirty="0"/>
                  <a:t>it into tokens</a:t>
                </a:r>
              </a:p>
              <a:p>
                <a:pPr algn="l"/>
                <a:r>
                  <a:rPr lang="en-US" sz="1800" dirty="0"/>
                  <a:t>which are part of the transformer’s vocabulary. We then get the corresponding </a:t>
                </a:r>
              </a:p>
              <a:p>
                <a:pPr algn="l"/>
                <a:r>
                  <a:rPr lang="en-US" sz="1800" dirty="0"/>
                  <a:t>vector representation (embeddings) of the token.</a:t>
                </a:r>
              </a:p>
              <a:p>
                <a:pPr algn="l"/>
                <a:endParaRPr lang="en-US" sz="1800" dirty="0"/>
              </a:p>
              <a:p>
                <a:pPr algn="l"/>
                <a:r>
                  <a:rPr lang="en-US" sz="1800" dirty="0">
                    <a:solidFill>
                      <a:schemeClr val="tx1"/>
                    </a:solidFill>
                  </a:rPr>
                  <a:t>The original Transformer paper uses a vocabulary of 37,000 tokens. </a:t>
                </a:r>
                <a:br>
                  <a:rPr lang="en-US" sz="1800" dirty="0">
                    <a:solidFill>
                      <a:schemeClr val="tx1"/>
                    </a:solidFill>
                  </a:rPr>
                </a:br>
                <a:r>
                  <a:rPr lang="en-US" sz="1800" dirty="0">
                    <a:solidFill>
                      <a:schemeClr val="tx1"/>
                    </a:solidFill>
                  </a:rPr>
                  <a:t>The dimensions of the </a:t>
                </a:r>
                <a:r>
                  <a:rPr lang="en-US" sz="1800" dirty="0"/>
                  <a:t>embeddings used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=512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algn="l"/>
                <a:endParaRPr lang="en-US" sz="1800" dirty="0">
                  <a:solidFill>
                    <a:schemeClr val="tx1"/>
                  </a:solidFill>
                </a:endParaRPr>
              </a:p>
              <a:p>
                <a:r>
                  <a:rPr lang="en-US" sz="1800" dirty="0"/>
                  <a:t>For our example, we’ll use a vocabulary of only 5 words [‘crossed’, ‘dog’, ‘road’, ‘safely’, ‘the’].</a:t>
                </a:r>
              </a:p>
              <a:p>
                <a:r>
                  <a:rPr lang="en-US" sz="1800" dirty="0"/>
                  <a:t>The vector embedding’s are randomly initialized in the beginning and are learnt during</a:t>
                </a:r>
              </a:p>
              <a:p>
                <a:r>
                  <a:rPr lang="en-US" sz="1800" dirty="0"/>
                  <a:t>training.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The dimensions we’ll use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1800" dirty="0"/>
                  <a:t>.</a:t>
                </a:r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7" y="1027837"/>
                <a:ext cx="9725739" cy="3416320"/>
              </a:xfrm>
              <a:prstGeom prst="rect">
                <a:avLst/>
              </a:prstGeom>
              <a:blipFill>
                <a:blip r:embed="rId2"/>
                <a:stretch>
                  <a:fillRect l="-501" t="-1071" b="-19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37FC9A-EE38-4695-BD10-B0B98F38E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323" y="3344670"/>
            <a:ext cx="1543677" cy="179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983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Embeddings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94626" y="926947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dirty="0"/>
              <a:t>Initial Embeddings: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58EFF34-391C-40DD-A2B4-66D68C709E7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23876" y="1273196"/>
              <a:ext cx="3896249" cy="16878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614">
                      <a:extLst>
                        <a:ext uri="{9D8B030D-6E8A-4147-A177-3AD203B41FA5}">
                          <a16:colId xmlns:a16="http://schemas.microsoft.com/office/drawing/2014/main" val="2824927548"/>
                        </a:ext>
                      </a:extLst>
                    </a:gridCol>
                    <a:gridCol w="960873">
                      <a:extLst>
                        <a:ext uri="{9D8B030D-6E8A-4147-A177-3AD203B41FA5}">
                          <a16:colId xmlns:a16="http://schemas.microsoft.com/office/drawing/2014/main" val="1704006912"/>
                        </a:ext>
                      </a:extLst>
                    </a:gridCol>
                    <a:gridCol w="1872762">
                      <a:extLst>
                        <a:ext uri="{9D8B030D-6E8A-4147-A177-3AD203B41FA5}">
                          <a16:colId xmlns:a16="http://schemas.microsoft.com/office/drawing/2014/main" val="1103263485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 ID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 Embedding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3164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40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0.62, 0.79, 0.26, 0.43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444764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‘dog’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40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0.42, 0.34, 0.34, 0.49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1796013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[0.04, 0.54, 0.51, 0.86]</m:t>
                                </m:r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657047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[0.56, 0.98, 0.86, 0.42]</m:t>
                                </m:r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0106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‘the</a:t>
                          </a:r>
                          <a:r>
                            <a:rPr lang="en-IN" sz="1100" b="0" dirty="0">
                              <a:solidFill>
                                <a:schemeClr val="tx1"/>
                              </a:solidFill>
                            </a:rPr>
                            <a:t>’</a:t>
                          </a:r>
                          <a:endParaRPr lang="en-US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[0.86, 0.34, 0.49, 0.57]</m:t>
                                </m:r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736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58EFF34-391C-40DD-A2B4-66D68C709E7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23876" y="1273196"/>
              <a:ext cx="3896249" cy="16878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614">
                      <a:extLst>
                        <a:ext uri="{9D8B030D-6E8A-4147-A177-3AD203B41FA5}">
                          <a16:colId xmlns:a16="http://schemas.microsoft.com/office/drawing/2014/main" val="2824927548"/>
                        </a:ext>
                      </a:extLst>
                    </a:gridCol>
                    <a:gridCol w="960873">
                      <a:extLst>
                        <a:ext uri="{9D8B030D-6E8A-4147-A177-3AD203B41FA5}">
                          <a16:colId xmlns:a16="http://schemas.microsoft.com/office/drawing/2014/main" val="1704006912"/>
                        </a:ext>
                      </a:extLst>
                    </a:gridCol>
                    <a:gridCol w="1872762">
                      <a:extLst>
                        <a:ext uri="{9D8B030D-6E8A-4147-A177-3AD203B41FA5}">
                          <a16:colId xmlns:a16="http://schemas.microsoft.com/office/drawing/2014/main" val="1103263485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 ID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 Embedding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31644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104348" r="-649" b="-4195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4447648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‘dog’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200000" r="-649" b="-3106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1796013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306522" r="-649" b="-2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657047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397872" r="-649" b="-1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0106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‘the</a:t>
                          </a:r>
                          <a:r>
                            <a:rPr lang="en-IN" sz="1100" b="0" dirty="0">
                              <a:solidFill>
                                <a:schemeClr val="tx1"/>
                              </a:solidFill>
                            </a:rPr>
                            <a:t>’</a:t>
                          </a:r>
                          <a:endParaRPr lang="en-US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508696" r="-649" b="-1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7363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63683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5E92-7FDE-225A-9173-561619F8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CF83AD-38C5-C298-D4E9-F2F703885B63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CC884D7-EE7D-FBAC-E636-B788859C4F22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D953BF67-B6F4-570F-ADE2-52F9BB8AC1FF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Embeddings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BC4757A9-A462-655B-8EBF-EA9FC6CEBB6F}"/>
              </a:ext>
            </a:extLst>
          </p:cNvPr>
          <p:cNvSpPr txBox="1"/>
          <p:nvPr/>
        </p:nvSpPr>
        <p:spPr>
          <a:xfrm>
            <a:off x="294626" y="926947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dirty="0"/>
              <a:t>Initial Embeddings: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1B60D918-68A5-B3E9-1410-B68C283912AC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5B6322B-EBEB-3B6C-FD40-B7DC14D94B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23876" y="1273196"/>
              <a:ext cx="3896249" cy="16878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614">
                      <a:extLst>
                        <a:ext uri="{9D8B030D-6E8A-4147-A177-3AD203B41FA5}">
                          <a16:colId xmlns:a16="http://schemas.microsoft.com/office/drawing/2014/main" val="2824927548"/>
                        </a:ext>
                      </a:extLst>
                    </a:gridCol>
                    <a:gridCol w="960873">
                      <a:extLst>
                        <a:ext uri="{9D8B030D-6E8A-4147-A177-3AD203B41FA5}">
                          <a16:colId xmlns:a16="http://schemas.microsoft.com/office/drawing/2014/main" val="1704006912"/>
                        </a:ext>
                      </a:extLst>
                    </a:gridCol>
                    <a:gridCol w="1872762">
                      <a:extLst>
                        <a:ext uri="{9D8B030D-6E8A-4147-A177-3AD203B41FA5}">
                          <a16:colId xmlns:a16="http://schemas.microsoft.com/office/drawing/2014/main" val="1103263485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 ID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 Embedding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3164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40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0.62, 0.79, 0.26, 0.43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444764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‘dog’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40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0.42, 0.34, 0.34, 0.49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1796013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[0.04, 0.54, 0.51, 0.86]</m:t>
                                </m:r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657047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[0.56, 0.98, 0.86, 0.42]</m:t>
                                </m:r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0106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‘the</a:t>
                          </a:r>
                          <a:r>
                            <a:rPr lang="en-IN" sz="1100" b="0" dirty="0">
                              <a:solidFill>
                                <a:schemeClr val="tx1"/>
                              </a:solidFill>
                            </a:rPr>
                            <a:t>’</a:t>
                          </a:r>
                          <a:endParaRPr lang="en-US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[0.86, 0.34, 0.49, 0.57]</m:t>
                                </m:r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736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5B6322B-EBEB-3B6C-FD40-B7DC14D94B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23876" y="1273196"/>
              <a:ext cx="3896249" cy="16878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614">
                      <a:extLst>
                        <a:ext uri="{9D8B030D-6E8A-4147-A177-3AD203B41FA5}">
                          <a16:colId xmlns:a16="http://schemas.microsoft.com/office/drawing/2014/main" val="2824927548"/>
                        </a:ext>
                      </a:extLst>
                    </a:gridCol>
                    <a:gridCol w="960873">
                      <a:extLst>
                        <a:ext uri="{9D8B030D-6E8A-4147-A177-3AD203B41FA5}">
                          <a16:colId xmlns:a16="http://schemas.microsoft.com/office/drawing/2014/main" val="1704006912"/>
                        </a:ext>
                      </a:extLst>
                    </a:gridCol>
                    <a:gridCol w="1872762">
                      <a:extLst>
                        <a:ext uri="{9D8B030D-6E8A-4147-A177-3AD203B41FA5}">
                          <a16:colId xmlns:a16="http://schemas.microsoft.com/office/drawing/2014/main" val="1103263485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 ID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 Embedding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31644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104348" r="-649" b="-4195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4447648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‘dog’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200000" r="-649" b="-3106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1796013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306522" r="-649" b="-2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657047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397872" r="-649" b="-1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0106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‘the</a:t>
                          </a:r>
                          <a:r>
                            <a:rPr lang="en-IN" sz="1100" b="0" dirty="0">
                              <a:solidFill>
                                <a:schemeClr val="tx1"/>
                              </a:solidFill>
                            </a:rPr>
                            <a:t>’</a:t>
                          </a:r>
                          <a:endParaRPr lang="en-US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508696" r="-649" b="-1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7363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">
                <a:extLst>
                  <a:ext uri="{FF2B5EF4-FFF2-40B4-BE49-F238E27FC236}">
                    <a16:creationId xmlns:a16="http://schemas.microsoft.com/office/drawing/2014/main" id="{55BBADE7-6EEE-8CC6-6A2B-03A9F0E6FB89}"/>
                  </a:ext>
                </a:extLst>
              </p:cNvPr>
              <p:cNvSpPr txBox="1"/>
              <p:nvPr/>
            </p:nvSpPr>
            <p:spPr>
              <a:xfrm>
                <a:off x="294626" y="3148662"/>
                <a:ext cx="9305240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800" dirty="0"/>
                  <a:t>So for an Input of “the dog safely”, the following input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 will be generated : </a:t>
                </a:r>
              </a:p>
            </p:txBody>
          </p:sp>
        </mc:Choice>
        <mc:Fallback xmlns="">
          <p:sp>
            <p:nvSpPr>
              <p:cNvPr id="10" name="Text Box 2">
                <a:extLst>
                  <a:ext uri="{FF2B5EF4-FFF2-40B4-BE49-F238E27FC236}">
                    <a16:creationId xmlns:a16="http://schemas.microsoft.com/office/drawing/2014/main" id="{55BBADE7-6EEE-8CC6-6A2B-03A9F0E6F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6" y="3148662"/>
                <a:ext cx="9305240" cy="395429"/>
              </a:xfrm>
              <a:prstGeom prst="rect">
                <a:avLst/>
              </a:prstGeom>
              <a:blipFill>
                <a:blip r:embed="rId4"/>
                <a:stretch>
                  <a:fillRect l="-524" t="-9375" b="-18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9073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82F47-AA21-8383-3E09-460670E1E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9001C3-F92D-ADBD-ADE1-ED8B44CEED72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F79C352-C375-6CCE-53C3-169DC7B2A68B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80C6FA4B-1404-65D3-89E7-9C3D12E3222F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Embeddings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DA01797-51C9-5FEE-C185-A785507AA0FA}"/>
              </a:ext>
            </a:extLst>
          </p:cNvPr>
          <p:cNvSpPr txBox="1"/>
          <p:nvPr/>
        </p:nvSpPr>
        <p:spPr>
          <a:xfrm>
            <a:off x="294626" y="926947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dirty="0"/>
              <a:t>Initial Embeddings: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26BD3EBC-4A01-A840-7358-926ACDAFE79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1D1F160-C631-B509-D7F4-158BD1B531B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23876" y="1273196"/>
              <a:ext cx="3896249" cy="16878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614">
                      <a:extLst>
                        <a:ext uri="{9D8B030D-6E8A-4147-A177-3AD203B41FA5}">
                          <a16:colId xmlns:a16="http://schemas.microsoft.com/office/drawing/2014/main" val="2824927548"/>
                        </a:ext>
                      </a:extLst>
                    </a:gridCol>
                    <a:gridCol w="960873">
                      <a:extLst>
                        <a:ext uri="{9D8B030D-6E8A-4147-A177-3AD203B41FA5}">
                          <a16:colId xmlns:a16="http://schemas.microsoft.com/office/drawing/2014/main" val="1704006912"/>
                        </a:ext>
                      </a:extLst>
                    </a:gridCol>
                    <a:gridCol w="1872762">
                      <a:extLst>
                        <a:ext uri="{9D8B030D-6E8A-4147-A177-3AD203B41FA5}">
                          <a16:colId xmlns:a16="http://schemas.microsoft.com/office/drawing/2014/main" val="1103263485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 ID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 Embedding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3164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40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0.62, 0.79, 0.26, 0.43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444764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‘dog’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40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0.42, 0.34, 0.34, 0.49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1796013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[0.04, 0.54, 0.51, 0.86]</m:t>
                                </m:r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657047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[0.56, 0.98, 0.86, 0.42]</m:t>
                                </m:r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0106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‘the</a:t>
                          </a:r>
                          <a:r>
                            <a:rPr lang="en-IN" sz="1100" b="0" dirty="0">
                              <a:solidFill>
                                <a:schemeClr val="tx1"/>
                              </a:solidFill>
                            </a:rPr>
                            <a:t>’</a:t>
                          </a:r>
                          <a:endParaRPr lang="en-US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[0.86, 0.34, 0.49, 0.57]</m:t>
                                </m:r>
                              </m:oMath>
                            </m:oMathPara>
                          </a14:m>
                          <a:endParaRPr lang="en-IN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736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1D1F160-C631-B509-D7F4-158BD1B531B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23876" y="1273196"/>
              <a:ext cx="3896249" cy="16878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614">
                      <a:extLst>
                        <a:ext uri="{9D8B030D-6E8A-4147-A177-3AD203B41FA5}">
                          <a16:colId xmlns:a16="http://schemas.microsoft.com/office/drawing/2014/main" val="2824927548"/>
                        </a:ext>
                      </a:extLst>
                    </a:gridCol>
                    <a:gridCol w="960873">
                      <a:extLst>
                        <a:ext uri="{9D8B030D-6E8A-4147-A177-3AD203B41FA5}">
                          <a16:colId xmlns:a16="http://schemas.microsoft.com/office/drawing/2014/main" val="1704006912"/>
                        </a:ext>
                      </a:extLst>
                    </a:gridCol>
                    <a:gridCol w="1872762">
                      <a:extLst>
                        <a:ext uri="{9D8B030D-6E8A-4147-A177-3AD203B41FA5}">
                          <a16:colId xmlns:a16="http://schemas.microsoft.com/office/drawing/2014/main" val="1103263485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 ID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Token Embedding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31644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104348" r="-649" b="-4195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4447648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‘dog’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200000" r="-649" b="-3106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1796013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306522" r="-649" b="-2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657047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397872" r="-649" b="-1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0106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‘the</a:t>
                          </a:r>
                          <a:r>
                            <a:rPr lang="en-IN" sz="1100" b="0" dirty="0">
                              <a:solidFill>
                                <a:schemeClr val="tx1"/>
                              </a:solidFill>
                            </a:rPr>
                            <a:t>’</a:t>
                          </a:r>
                          <a:endParaRPr lang="en-US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117" t="-508696" r="-649" b="-1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7363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">
                <a:extLst>
                  <a:ext uri="{FF2B5EF4-FFF2-40B4-BE49-F238E27FC236}">
                    <a16:creationId xmlns:a16="http://schemas.microsoft.com/office/drawing/2014/main" id="{86F59689-BE60-B784-B50F-E5AD7601CA42}"/>
                  </a:ext>
                </a:extLst>
              </p:cNvPr>
              <p:cNvSpPr txBox="1"/>
              <p:nvPr/>
            </p:nvSpPr>
            <p:spPr>
              <a:xfrm>
                <a:off x="294626" y="3148662"/>
                <a:ext cx="9305240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800" dirty="0"/>
                  <a:t>So for an Input of “the dog safely”, the following input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 will be generated : </a:t>
                </a:r>
              </a:p>
            </p:txBody>
          </p:sp>
        </mc:Choice>
        <mc:Fallback xmlns="">
          <p:sp>
            <p:nvSpPr>
              <p:cNvPr id="10" name="Text Box 2">
                <a:extLst>
                  <a:ext uri="{FF2B5EF4-FFF2-40B4-BE49-F238E27FC236}">
                    <a16:creationId xmlns:a16="http://schemas.microsoft.com/office/drawing/2014/main" id="{86F59689-BE60-B784-B50F-E5AD7601C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6" y="3148662"/>
                <a:ext cx="9305240" cy="395429"/>
              </a:xfrm>
              <a:prstGeom prst="rect">
                <a:avLst/>
              </a:prstGeom>
              <a:blipFill>
                <a:blip r:embed="rId4"/>
                <a:stretch>
                  <a:fillRect l="-524" t="-9375" b="-18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6F470EE-4D90-DB5C-12EF-85F8C1565F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9991" y="3773990"/>
              <a:ext cx="2681045" cy="842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4949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471017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539751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511558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523770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‘the’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0.86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0.49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0.57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‘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dog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’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0.42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</a:t>
                          </a:r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’</a:t>
                          </a:r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0.56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0.98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0.86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0.42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6F470EE-4D90-DB5C-12EF-85F8C1565F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9991" y="3773990"/>
              <a:ext cx="2681045" cy="842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4949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471017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539751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511558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523770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‘the’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33333" t="-6522" r="-334615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4494" t="-6522" r="-193258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22619" t="-6522" r="-104762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12791" t="-6522" r="-2326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6522" r="-325962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33333" t="-106522" r="-334615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4494" t="-106522" r="-193258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22619" t="-106522" r="-104762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12791" t="-106522" r="-2326" b="-1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</a:t>
                          </a:r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’</a:t>
                          </a:r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33333" t="-202128" r="-334615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4494" t="-202128" r="-193258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22619" t="-202128" r="-104762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12791" t="-202128" r="-2326" b="-42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FA1EA0A-1613-043B-2804-A663C24D3D4A}"/>
                  </a:ext>
                </a:extLst>
              </p:cNvPr>
              <p:cNvSpPr/>
              <p:nvPr/>
            </p:nvSpPr>
            <p:spPr>
              <a:xfrm>
                <a:off x="5434900" y="4018061"/>
                <a:ext cx="9661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sub>
                      </m:sSub>
                    </m:oMath>
                  </m:oMathPara>
                </a14:m>
                <a:endParaRPr lang="en-IN" sz="105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FA1EA0A-1613-043B-2804-A663C24D3D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900" y="4018061"/>
                <a:ext cx="96616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EE05539-B9AF-1322-F4E2-A5EA641658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0323" y="3344670"/>
            <a:ext cx="1543677" cy="179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0254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Positional Encoding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94627" y="1027837"/>
            <a:ext cx="849463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i="1" dirty="0">
                <a:solidFill>
                  <a:schemeClr val="tx1"/>
                </a:solidFill>
              </a:rPr>
              <a:t>We need some way of encoding the </a:t>
            </a:r>
            <a:r>
              <a:rPr lang="en-US" sz="1800" b="1" i="1" dirty="0">
                <a:solidFill>
                  <a:schemeClr val="tx1"/>
                </a:solidFill>
              </a:rPr>
              <a:t>positional da</a:t>
            </a:r>
            <a:r>
              <a:rPr lang="en-US" sz="1800" b="1" i="1" dirty="0"/>
              <a:t>ta </a:t>
            </a:r>
            <a:r>
              <a:rPr lang="en-US" sz="1800" dirty="0"/>
              <a:t>of the words in the sentence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For example: consider the two sentences-</a:t>
            </a:r>
          </a:p>
          <a:p>
            <a:r>
              <a:rPr lang="en-US" sz="1800" dirty="0">
                <a:solidFill>
                  <a:srgbClr val="00B050"/>
                </a:solidFill>
              </a:rPr>
              <a:t>The coach praised the player because he worked hard. </a:t>
            </a:r>
          </a:p>
          <a:p>
            <a:r>
              <a:rPr lang="en-US" sz="1800" dirty="0"/>
              <a:t>The coach because he worked hard praised the player.</a:t>
            </a:r>
          </a:p>
          <a:p>
            <a:endParaRPr lang="en-US" sz="1800" dirty="0"/>
          </a:p>
          <a:p>
            <a:pPr algn="l"/>
            <a:r>
              <a:rPr lang="en-US" sz="1800" dirty="0"/>
              <a:t>In the 1</a:t>
            </a:r>
            <a:r>
              <a:rPr lang="en-US" sz="1800" baseline="30000" dirty="0"/>
              <a:t>st</a:t>
            </a:r>
            <a:r>
              <a:rPr lang="en-US" sz="1800" dirty="0"/>
              <a:t> sentence, ‘he’ refers to the player. </a:t>
            </a:r>
          </a:p>
          <a:p>
            <a:pPr algn="l"/>
            <a:r>
              <a:rPr lang="en-US" sz="1800" dirty="0">
                <a:solidFill>
                  <a:schemeClr val="accent2"/>
                </a:solidFill>
              </a:rPr>
              <a:t>But with only a change of position of words, </a:t>
            </a:r>
          </a:p>
          <a:p>
            <a:pPr algn="l"/>
            <a:r>
              <a:rPr lang="en-US" sz="1800" dirty="0"/>
              <a:t>in the 2</a:t>
            </a:r>
            <a:r>
              <a:rPr lang="en-US" sz="1800" baseline="30000" dirty="0"/>
              <a:t>nd</a:t>
            </a:r>
            <a:r>
              <a:rPr lang="en-US" sz="1800" dirty="0"/>
              <a:t> sentence, ‘he’ refers to the coach.</a:t>
            </a:r>
          </a:p>
          <a:p>
            <a:pPr algn="l"/>
            <a:endParaRPr lang="en-US" sz="1800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E98A2E-2C11-45C5-8197-65F9A6897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954" y="1430006"/>
            <a:ext cx="2539046" cy="238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8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DBFF1-E638-4F44-242E-15D2E113B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BF26D5-911A-0460-AD73-6548ECF0C98A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DDFDBAF-4CC5-EE3E-E80D-500482E524B4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CBED981-3989-13C2-790F-ED675F5DA934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Positional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199BD843-DFB8-EFB3-B073-3B1CB6FD17AB}"/>
                  </a:ext>
                </a:extLst>
              </p:cNvPr>
              <p:cNvSpPr txBox="1"/>
              <p:nvPr/>
            </p:nvSpPr>
            <p:spPr>
              <a:xfrm>
                <a:off x="294627" y="1027837"/>
                <a:ext cx="9353843" cy="41189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800" i="1" dirty="0">
                    <a:solidFill>
                      <a:schemeClr val="tx1"/>
                    </a:solidFill>
                  </a:rPr>
                  <a:t>We need some way of encoding the </a:t>
                </a:r>
                <a:r>
                  <a:rPr lang="en-US" sz="1800" b="1" i="1" dirty="0">
                    <a:solidFill>
                      <a:schemeClr val="tx1"/>
                    </a:solidFill>
                  </a:rPr>
                  <a:t>positional da</a:t>
                </a:r>
                <a:r>
                  <a:rPr lang="en-US" sz="1800" b="1" i="1" dirty="0"/>
                  <a:t>ta </a:t>
                </a:r>
                <a:r>
                  <a:rPr lang="en-US" sz="1800" dirty="0"/>
                  <a:t>of the words in the sentence</a:t>
                </a:r>
              </a:p>
              <a:p>
                <a:pPr algn="l"/>
                <a:endParaRPr lang="en-US" sz="1800" dirty="0"/>
              </a:p>
              <a:p>
                <a:pPr algn="l"/>
                <a:r>
                  <a:rPr lang="en-US" sz="1800" dirty="0"/>
                  <a:t>For example: consider the two sentences-</a:t>
                </a:r>
              </a:p>
              <a:p>
                <a:r>
                  <a:rPr lang="en-US" sz="1800" dirty="0">
                    <a:solidFill>
                      <a:srgbClr val="00B050"/>
                    </a:solidFill>
                  </a:rPr>
                  <a:t>The coach praised the player because he worked hard. </a:t>
                </a:r>
              </a:p>
              <a:p>
                <a:r>
                  <a:rPr lang="en-US" sz="1800" dirty="0"/>
                  <a:t>The coach because he worked hard praised the player.</a:t>
                </a:r>
              </a:p>
              <a:p>
                <a:endParaRPr lang="en-US" sz="1800" dirty="0"/>
              </a:p>
              <a:p>
                <a:pPr algn="l"/>
                <a:r>
                  <a:rPr lang="en-US" sz="1800" dirty="0"/>
                  <a:t>In the 1</a:t>
                </a:r>
                <a:r>
                  <a:rPr lang="en-US" sz="1800" baseline="30000" dirty="0"/>
                  <a:t>st</a:t>
                </a:r>
                <a:r>
                  <a:rPr lang="en-US" sz="1800" dirty="0"/>
                  <a:t> sentence, ‘he’ refers to the player. </a:t>
                </a:r>
              </a:p>
              <a:p>
                <a:pPr algn="l"/>
                <a:r>
                  <a:rPr lang="en-US" sz="1800" dirty="0">
                    <a:solidFill>
                      <a:schemeClr val="accent2"/>
                    </a:solidFill>
                  </a:rPr>
                  <a:t>But with only a change of position of words, </a:t>
                </a:r>
              </a:p>
              <a:p>
                <a:pPr algn="l"/>
                <a:r>
                  <a:rPr lang="en-US" sz="1800" dirty="0"/>
                  <a:t>in the 2</a:t>
                </a:r>
                <a:r>
                  <a:rPr lang="en-US" sz="1800" baseline="30000" dirty="0"/>
                  <a:t>nd</a:t>
                </a:r>
                <a:r>
                  <a:rPr lang="en-US" sz="1800" dirty="0"/>
                  <a:t> sentence, ‘he’ refers to the coach.</a:t>
                </a:r>
              </a:p>
              <a:p>
                <a:pPr algn="l"/>
                <a:endParaRPr lang="en-US" sz="1800" dirty="0"/>
              </a:p>
              <a:p>
                <a:pPr algn="l"/>
                <a:r>
                  <a:rPr lang="en-US" sz="1800" dirty="0"/>
                  <a:t>Hence, we use the following to encode the position of the word along with the embedding-</a:t>
                </a:r>
              </a:p>
              <a:p>
                <a:r>
                  <a:rPr lang="en-US" sz="1800" dirty="0"/>
                  <a:t>For even position,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lit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10000</m:t>
                                </m:r>
                              </m:e>
                              <m:sup>
                                <m:f>
                                  <m:fPr>
                                    <m:type m:val="skw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𝑚𝑜𝑑𝑒𝑙</m:t>
                                        </m:r>
                                      </m:sub>
                                    </m:sSub>
                                  </m:den>
                                </m:f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1800" dirty="0"/>
                  <a:t>, where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/>
                  <a:t> is the dimension.</a:t>
                </a:r>
              </a:p>
              <a:p>
                <a:r>
                  <a:rPr lang="en-US" sz="1800" dirty="0"/>
                  <a:t>For odd position,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lit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10000</m:t>
                                </m:r>
                              </m:e>
                              <m:sup>
                                <m:f>
                                  <m:fPr>
                                    <m:type m:val="skw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𝑚𝑜𝑑𝑒𝑙</m:t>
                                        </m:r>
                                      </m:sub>
                                    </m:sSub>
                                  </m:den>
                                </m:f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1800" dirty="0"/>
                  <a:t>,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𝑝𝑜𝑠</m:t>
                    </m:r>
                  </m:oMath>
                </a14:m>
                <a:r>
                  <a:rPr lang="en-US" sz="1800" dirty="0"/>
                  <a:t> is the position.</a:t>
                </a:r>
              </a:p>
            </p:txBody>
          </p:sp>
        </mc:Choice>
        <mc:Fallback xmlns="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199BD843-DFB8-EFB3-B073-3B1CB6FD1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7" y="1027837"/>
                <a:ext cx="9353843" cy="4118948"/>
              </a:xfrm>
              <a:prstGeom prst="rect">
                <a:avLst/>
              </a:prstGeom>
              <a:blipFill>
                <a:blip r:embed="rId2"/>
                <a:stretch>
                  <a:fillRect l="-521" t="-889" b="-96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966F38C5-D65F-6A03-B044-5A9A06891CCE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FFD8EF-607E-057C-9920-651600AE1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954" y="1430006"/>
            <a:ext cx="2539046" cy="238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540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Positional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294627" y="1236261"/>
                <a:ext cx="7844007" cy="1071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For even position,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lit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10000</m:t>
                                </m:r>
                              </m:e>
                              <m:sup>
                                <m:f>
                                  <m:fPr>
                                    <m:type m:val="skw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𝑚𝑜𝑑𝑒𝑙</m:t>
                                        </m:r>
                                      </m:sub>
                                    </m:sSub>
                                  </m:den>
                                </m:f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1800" dirty="0"/>
                  <a:t>, where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/>
                  <a:t> is the dimension.</a:t>
                </a:r>
              </a:p>
              <a:p>
                <a:r>
                  <a:rPr lang="en-US" sz="1800" dirty="0"/>
                  <a:t>For odd position,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lit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10000</m:t>
                                </m:r>
                              </m:e>
                              <m:sup>
                                <m:f>
                                  <m:fPr>
                                    <m:type m:val="skw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𝑚𝑜𝑑𝑒𝑙</m:t>
                                        </m:r>
                                      </m:sub>
                                    </m:sSub>
                                  </m:den>
                                </m:f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1800" dirty="0"/>
                  <a:t>,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𝑝𝑜𝑠</m:t>
                    </m:r>
                  </m:oMath>
                </a14:m>
                <a:r>
                  <a:rPr lang="en-US" sz="1800" dirty="0"/>
                  <a:t> is the position.</a:t>
                </a:r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7" y="1236261"/>
                <a:ext cx="7844007" cy="1071960"/>
              </a:xfrm>
              <a:prstGeom prst="rect">
                <a:avLst/>
              </a:prstGeom>
              <a:blipFill>
                <a:blip r:embed="rId2"/>
                <a:stretch>
                  <a:fillRect l="-622" t="-10227" b="-392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1A9F9-1C40-47B5-9C71-27AA7F1AFF50}"/>
              </a:ext>
            </a:extLst>
          </p:cNvPr>
          <p:cNvSpPr/>
          <p:nvPr/>
        </p:nvSpPr>
        <p:spPr>
          <a:xfrm>
            <a:off x="294626" y="2376100"/>
            <a:ext cx="432682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/>
              <a:t>So, for our example [‘the’, ‘dog’, ‘safely’]:</a:t>
            </a:r>
          </a:p>
          <a:p>
            <a:endParaRPr lang="en-US" sz="1800" dirty="0"/>
          </a:p>
          <a:p>
            <a:r>
              <a:rPr lang="en-US" sz="1800" dirty="0"/>
              <a:t>‘the’ is in position 0 -</a:t>
            </a:r>
          </a:p>
        </p:txBody>
      </p:sp>
    </p:spTree>
    <p:extLst>
      <p:ext uri="{BB962C8B-B14F-4D97-AF65-F5344CB8AC3E}">
        <p14:creationId xmlns:p14="http://schemas.microsoft.com/office/powerpoint/2010/main" val="21575260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2213A-3839-E1A4-A18D-2ECA4CE3A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E57C10-0702-8DCA-21C9-D747BA895F37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65823BE-370F-D681-79DA-CE8BF78660C2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4C0A90F4-378E-14D9-AE0C-71308FFAD744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Positional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7DE0CA4F-3252-7011-49D9-10BA6703FB10}"/>
                  </a:ext>
                </a:extLst>
              </p:cNvPr>
              <p:cNvSpPr txBox="1"/>
              <p:nvPr/>
            </p:nvSpPr>
            <p:spPr>
              <a:xfrm>
                <a:off x="294627" y="1236261"/>
                <a:ext cx="7844007" cy="1071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For even position,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lit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10000</m:t>
                                </m:r>
                              </m:e>
                              <m:sup>
                                <m:f>
                                  <m:fPr>
                                    <m:type m:val="skw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𝑚𝑜𝑑𝑒𝑙</m:t>
                                        </m:r>
                                      </m:sub>
                                    </m:sSub>
                                  </m:den>
                                </m:f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1800" dirty="0"/>
                  <a:t>, where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/>
                  <a:t> is the dimension.</a:t>
                </a:r>
              </a:p>
              <a:p>
                <a:r>
                  <a:rPr lang="en-US" sz="1800" dirty="0"/>
                  <a:t>For odd position,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lit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10000</m:t>
                                </m:r>
                              </m:e>
                              <m:sup>
                                <m:f>
                                  <m:fPr>
                                    <m:type m:val="skw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𝑚𝑜𝑑𝑒𝑙</m:t>
                                        </m:r>
                                      </m:sub>
                                    </m:sSub>
                                  </m:den>
                                </m:f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1800" dirty="0"/>
                  <a:t>,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𝑝𝑜𝑠</m:t>
                    </m:r>
                  </m:oMath>
                </a14:m>
                <a:r>
                  <a:rPr lang="en-US" sz="1800" dirty="0"/>
                  <a:t> is the position.</a:t>
                </a:r>
              </a:p>
            </p:txBody>
          </p:sp>
        </mc:Choice>
        <mc:Fallback xmlns="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7DE0CA4F-3252-7011-49D9-10BA6703F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7" y="1236261"/>
                <a:ext cx="7844007" cy="1071960"/>
              </a:xfrm>
              <a:prstGeom prst="rect">
                <a:avLst/>
              </a:prstGeom>
              <a:blipFill>
                <a:blip r:embed="rId2"/>
                <a:stretch>
                  <a:fillRect l="-622" t="-10227" b="-392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17AD317A-0B85-43B4-A70D-F7E87A49E38A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58B1B48-77A2-A3F8-7C34-7E57D894CA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4626" y="3473191"/>
              <a:ext cx="7112371" cy="13883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676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1635369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1665515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1642905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1642906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𝑖𝑛𝑑𝑒𝑥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21758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100" b="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0.86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0.49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0.57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300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0/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(2∗0/4)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0/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(2∗0/4)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0/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(2∗1/4)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0/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(2∗1/4)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𝑃𝐸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58B1B48-77A2-A3F8-7C34-7E57D894CA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4626" y="3473191"/>
              <a:ext cx="7112371" cy="13883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676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1635369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1665515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1642905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1642906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348" r="-1260465" b="-55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21758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4348" r="-1260465" b="-45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1970" t="-104348" r="-302974" b="-45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30037" t="-104348" r="-198535" b="-45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32593" t="-104348" r="-100741" b="-45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32593" t="-104348" r="-741" b="-45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5501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1970" t="-104444" r="-302974" b="-13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30037" t="-104444" r="-198535" b="-13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32593" t="-104444" r="-100741" b="-13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32593" t="-104444" r="-741" b="-13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91489" r="-1260465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1970" t="-391489" r="-302974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30037" t="-391489" r="-198535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32593" t="-391489" r="-100741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32593" t="-391489" r="-741" b="-1531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591CE64-EBE4-9C68-949C-D4424ADBD275}"/>
              </a:ext>
            </a:extLst>
          </p:cNvPr>
          <p:cNvSpPr/>
          <p:nvPr/>
        </p:nvSpPr>
        <p:spPr>
          <a:xfrm>
            <a:off x="294626" y="2376100"/>
            <a:ext cx="432682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/>
              <a:t>So, for our example [‘the’, ‘dog’, ‘safely’]:</a:t>
            </a:r>
          </a:p>
          <a:p>
            <a:endParaRPr lang="en-US" sz="1800" dirty="0"/>
          </a:p>
          <a:p>
            <a:r>
              <a:rPr lang="en-US" sz="1800" dirty="0"/>
              <a:t>‘the’ is in position 0 -</a:t>
            </a:r>
          </a:p>
        </p:txBody>
      </p:sp>
    </p:spTree>
    <p:extLst>
      <p:ext uri="{BB962C8B-B14F-4D97-AF65-F5344CB8AC3E}">
        <p14:creationId xmlns:p14="http://schemas.microsoft.com/office/powerpoint/2010/main" val="8995733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0A58-13EA-8F12-34B8-3187F443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97D065-F96A-146D-2963-CA3F97EA50B8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A3FF1F1-53FD-2034-6ADD-FFA277674782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4E03A64D-9191-1E66-4491-03CC62540AF7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Positional Encoding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C2D664FB-8BD1-A44F-95C7-066F32526154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146C80-8FBC-A22F-7FB4-C980145D602E}"/>
              </a:ext>
            </a:extLst>
          </p:cNvPr>
          <p:cNvSpPr/>
          <p:nvPr/>
        </p:nvSpPr>
        <p:spPr>
          <a:xfrm>
            <a:off x="294626" y="942263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/>
              <a:t>‘dog’ is in position 1 -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9F4A88-6E56-ACE2-9135-5784768D5716}"/>
              </a:ext>
            </a:extLst>
          </p:cNvPr>
          <p:cNvSpPr/>
          <p:nvPr/>
        </p:nvSpPr>
        <p:spPr>
          <a:xfrm>
            <a:off x="294626" y="2944869"/>
            <a:ext cx="2557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/>
              <a:t>‘safely’ is in position 2 -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3B38225-A111-C06F-27B4-AEE4780E983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4626" y="1467154"/>
              <a:ext cx="7112371" cy="13921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676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1635369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1665515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1642905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1642906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𝑖𝑛𝑑𝑒𝑥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21758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100" b="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0.42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300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1/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(2∗0/4)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1/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(2∗0/4)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1/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(2∗1/4)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1/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(2∗1/4)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𝑃𝐸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0.8415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0.5403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0.01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0.9999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3B38225-A111-C06F-27B4-AEE4780E983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4626" y="1467154"/>
              <a:ext cx="7112371" cy="13921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676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1635369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1665515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1642905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1642906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4348" r="-1260465" b="-5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217586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2128" r="-1260465" b="-444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970" t="-102128" r="-302974" b="-444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0037" t="-102128" r="-198535" b="-444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32593" t="-102128" r="-100741" b="-444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32593" t="-102128" r="-741" b="-444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5501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970" t="-105556" r="-302974" b="-13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0037" t="-105556" r="-198535" b="-13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32593" t="-105556" r="-100741" b="-13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32593" t="-105556" r="-741" b="-13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93617" r="-1260465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970" t="-393617" r="-302974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0037" t="-393617" r="-198535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32593" t="-393617" r="-100741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32593" t="-393617" r="-741" b="-1531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608312E-FC56-EC89-D047-81FCEDE1D72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4626" y="3633643"/>
              <a:ext cx="7112371" cy="13921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676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1635369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1665515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1642905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1642906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𝑖𝑛𝑑𝑒𝑥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21758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100" b="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0.56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0.98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0.86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0.42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300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2/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(2∗0/4)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2/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(2∗0/4)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2/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(2∗1/4)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2/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(2∗1/4)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𝑃𝐸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0.9093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−0.4161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0.02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0.9998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608312E-FC56-EC89-D047-81FCEDE1D72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4626" y="3633643"/>
              <a:ext cx="7112371" cy="13921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676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1635369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1665515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1642905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1642906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6522" r="-1260465" b="-55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217586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522" r="-1260465" b="-45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1970" t="-106522" r="-302974" b="-45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30037" t="-106522" r="-198535" b="-45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32593" t="-106522" r="-100741" b="-45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32593" t="-106522" r="-741" b="-45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5501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1970" t="-104396" r="-302974" b="-1296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30037" t="-104396" r="-198535" b="-1296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32593" t="-104396" r="-100741" b="-1296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32593" t="-104396" r="-741" b="-1296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04348" r="-1260465" b="-1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1970" t="-404348" r="-302974" b="-1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30037" t="-404348" r="-198535" b="-1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32593" t="-404348" r="-100741" b="-1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32593" t="-404348" r="-741" b="-15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020120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EF692-B134-7CDD-6CB6-4AD92D21A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2E201B-130B-8CD8-6C69-B0119B8D38DC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02BBECB-20CF-F922-E6F8-04F9ABDF0F57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2DDA1A91-B6D7-8356-2531-820E0C8D79B4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Positional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4F57477A-8B47-2AEC-B730-5B15F716381E}"/>
                  </a:ext>
                </a:extLst>
              </p:cNvPr>
              <p:cNvSpPr txBox="1"/>
              <p:nvPr/>
            </p:nvSpPr>
            <p:spPr>
              <a:xfrm>
                <a:off x="294627" y="972164"/>
                <a:ext cx="51870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We finally add the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𝑃𝐸</m:t>
                    </m:r>
                  </m:oMath>
                </a14:m>
                <a:r>
                  <a:rPr lang="en-US" sz="1800" dirty="0"/>
                  <a:t> with the input embeddings:</a:t>
                </a:r>
              </a:p>
            </p:txBody>
          </p:sp>
        </mc:Choice>
        <mc:Fallback xmlns="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4F57477A-8B47-2AEC-B730-5B15F7163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7" y="972164"/>
                <a:ext cx="5187061" cy="369332"/>
              </a:xfrm>
              <a:prstGeom prst="rect">
                <a:avLst/>
              </a:prstGeom>
              <a:blipFill>
                <a:blip r:embed="rId2"/>
                <a:stretch>
                  <a:fillRect l="-940" t="-8197" r="-353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0CE129CE-A2AF-BC3A-A6F5-EF0C3405B591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75895E5-6263-3D5D-C1D8-91FCB37A836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42456" y="2101003"/>
              <a:ext cx="2681045" cy="842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4949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471017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539751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511558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523770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‘the’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0.86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0.49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0.57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‘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dog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’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0.42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</a:t>
                          </a:r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’</a:t>
                          </a:r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0.56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0.98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0.86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0.42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75895E5-6263-3D5D-C1D8-91FCB37A836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42456" y="2101003"/>
              <a:ext cx="2681045" cy="842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4949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471017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539751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511558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523770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‘the’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33333" t="-4348" r="-334615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4494" t="-4348" r="-193258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22619" t="-4348" r="-104762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12791" t="-4348" r="-2326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4348" r="-325962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33333" t="-104348" r="-334615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4494" t="-104348" r="-193258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22619" t="-104348" r="-104762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12791" t="-104348" r="-2326" b="-1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</a:t>
                          </a:r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’</a:t>
                          </a:r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33333" t="-200000" r="-334615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4494" t="-200000" r="-193258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22619" t="-200000" r="-104762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12791" t="-200000" r="-2326" b="-42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B61866-15B1-A93C-DA7A-AB5C10881E34}"/>
                  </a:ext>
                </a:extLst>
              </p:cNvPr>
              <p:cNvSpPr/>
              <p:nvPr/>
            </p:nvSpPr>
            <p:spPr>
              <a:xfrm>
                <a:off x="294626" y="1546843"/>
                <a:ext cx="20821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𝑃𝐸</m:t>
                      </m:r>
                    </m:oMath>
                  </m:oMathPara>
                </a14:m>
                <a:endParaRPr lang="en-IN" sz="105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B61866-15B1-A93C-DA7A-AB5C10881E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6" y="1546843"/>
                <a:ext cx="2082108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0CE4C45-AA61-6E79-7C48-8A51695BE847}"/>
                  </a:ext>
                </a:extLst>
              </p:cNvPr>
              <p:cNvSpPr/>
              <p:nvPr/>
            </p:nvSpPr>
            <p:spPr>
              <a:xfrm>
                <a:off x="3916830" y="2321990"/>
                <a:ext cx="46198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sz="21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0CE4C45-AA61-6E79-7C48-8A51695BE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830" y="2321990"/>
                <a:ext cx="461986" cy="4154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B08E82D-CF05-40B6-602C-A2F82748DE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10749" y="2101003"/>
              <a:ext cx="2650730" cy="845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1157">
                      <a:extLst>
                        <a:ext uri="{9D8B030D-6E8A-4147-A177-3AD203B41FA5}">
                          <a16:colId xmlns:a16="http://schemas.microsoft.com/office/drawing/2014/main" val="309892094"/>
                        </a:ext>
                      </a:extLst>
                    </a:gridCol>
                    <a:gridCol w="700872">
                      <a:extLst>
                        <a:ext uri="{9D8B030D-6E8A-4147-A177-3AD203B41FA5}">
                          <a16:colId xmlns:a16="http://schemas.microsoft.com/office/drawing/2014/main" val="905055787"/>
                        </a:ext>
                      </a:extLst>
                    </a:gridCol>
                    <a:gridCol w="610154">
                      <a:extLst>
                        <a:ext uri="{9D8B030D-6E8A-4147-A177-3AD203B41FA5}">
                          <a16:colId xmlns:a16="http://schemas.microsoft.com/office/drawing/2014/main" val="2498278083"/>
                        </a:ext>
                      </a:extLst>
                    </a:gridCol>
                    <a:gridCol w="678547">
                      <a:extLst>
                        <a:ext uri="{9D8B030D-6E8A-4147-A177-3AD203B41FA5}">
                          <a16:colId xmlns:a16="http://schemas.microsoft.com/office/drawing/2014/main" val="2304279743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46108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0.8415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0.5403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0.01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0.9999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866113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0.9093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−0.4161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0.02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0.9998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1476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B08E82D-CF05-40B6-602C-A2F82748DE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10749" y="2101003"/>
              <a:ext cx="2650730" cy="845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1157">
                      <a:extLst>
                        <a:ext uri="{9D8B030D-6E8A-4147-A177-3AD203B41FA5}">
                          <a16:colId xmlns:a16="http://schemas.microsoft.com/office/drawing/2014/main" val="309892094"/>
                        </a:ext>
                      </a:extLst>
                    </a:gridCol>
                    <a:gridCol w="700872">
                      <a:extLst>
                        <a:ext uri="{9D8B030D-6E8A-4147-A177-3AD203B41FA5}">
                          <a16:colId xmlns:a16="http://schemas.microsoft.com/office/drawing/2014/main" val="905055787"/>
                        </a:ext>
                      </a:extLst>
                    </a:gridCol>
                    <a:gridCol w="610154">
                      <a:extLst>
                        <a:ext uri="{9D8B030D-6E8A-4147-A177-3AD203B41FA5}">
                          <a16:colId xmlns:a16="http://schemas.microsoft.com/office/drawing/2014/main" val="2498278083"/>
                        </a:ext>
                      </a:extLst>
                    </a:gridCol>
                    <a:gridCol w="678547">
                      <a:extLst>
                        <a:ext uri="{9D8B030D-6E8A-4147-A177-3AD203B41FA5}">
                          <a16:colId xmlns:a16="http://schemas.microsoft.com/office/drawing/2014/main" val="2304279743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17" t="-2128" r="-301835" b="-2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5652" t="-2128" r="-186087" b="-2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25000" t="-2128" r="-114000" b="-2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90179" t="-2128" r="-1786" b="-2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461089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17" t="-104348" r="-301835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5652" t="-104348" r="-186087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25000" t="-104348" r="-114000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90179" t="-104348" r="-1786" b="-1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866113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17" t="-200000" r="-301835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5652" t="-200000" r="-186087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25000" t="-200000" r="-114000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90179" t="-200000" r="-1786" b="-42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14769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C02804FB-4E4C-5EDF-6F78-EC5E34FF99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4954" y="2760930"/>
            <a:ext cx="2539046" cy="238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897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Positional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294627" y="972164"/>
                <a:ext cx="51870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We finally add the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𝑃𝐸</m:t>
                    </m:r>
                  </m:oMath>
                </a14:m>
                <a:r>
                  <a:rPr lang="en-US" sz="1800" dirty="0"/>
                  <a:t> with the input embeddings:</a:t>
                </a:r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7" y="972164"/>
                <a:ext cx="5187061" cy="369332"/>
              </a:xfrm>
              <a:prstGeom prst="rect">
                <a:avLst/>
              </a:prstGeom>
              <a:blipFill>
                <a:blip r:embed="rId2"/>
                <a:stretch>
                  <a:fillRect l="-940" t="-8197" r="-353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59BBCD4-7046-4969-903A-86A0BB3A94D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42456" y="2101003"/>
              <a:ext cx="2681045" cy="842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4949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471017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539751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511558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523770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‘the’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0.86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0.49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0.57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‘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dog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’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0.42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</a:t>
                          </a:r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’</a:t>
                          </a:r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0.56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0.98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0.86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0.42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59BBCD4-7046-4969-903A-86A0BB3A94D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42456" y="2101003"/>
              <a:ext cx="2681045" cy="842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4949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471017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539751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511558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523770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‘the’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33333" t="-4348" r="-334615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4494" t="-4348" r="-193258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22619" t="-4348" r="-104762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12791" t="-4348" r="-2326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4348" r="-325962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33333" t="-104348" r="-334615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4494" t="-104348" r="-193258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22619" t="-104348" r="-104762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12791" t="-104348" r="-2326" b="-1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</a:t>
                          </a:r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’</a:t>
                          </a:r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33333" t="-200000" r="-334615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4494" t="-200000" r="-193258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22619" t="-200000" r="-104762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12791" t="-200000" r="-2326" b="-42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7E7170A-B0E8-4C72-8C83-4C63AB6D7164}"/>
                  </a:ext>
                </a:extLst>
              </p:cNvPr>
              <p:cNvSpPr/>
              <p:nvPr/>
            </p:nvSpPr>
            <p:spPr>
              <a:xfrm>
                <a:off x="294626" y="1546843"/>
                <a:ext cx="20821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𝑃𝐸</m:t>
                      </m:r>
                    </m:oMath>
                  </m:oMathPara>
                </a14:m>
                <a:endParaRPr lang="en-IN" sz="105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7E7170A-B0E8-4C72-8C83-4C63AB6D7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6" y="1546843"/>
                <a:ext cx="2082108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77CAC16-83B6-44A4-8F80-A6D94F5ADBD4}"/>
                  </a:ext>
                </a:extLst>
              </p:cNvPr>
              <p:cNvSpPr/>
              <p:nvPr/>
            </p:nvSpPr>
            <p:spPr>
              <a:xfrm>
                <a:off x="3916830" y="2321990"/>
                <a:ext cx="46198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sz="21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77CAC16-83B6-44A4-8F80-A6D94F5AD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830" y="2321990"/>
                <a:ext cx="461986" cy="4154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1B7E88C-968E-4724-817B-C74525250E2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10749" y="2101003"/>
              <a:ext cx="2650730" cy="845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1157">
                      <a:extLst>
                        <a:ext uri="{9D8B030D-6E8A-4147-A177-3AD203B41FA5}">
                          <a16:colId xmlns:a16="http://schemas.microsoft.com/office/drawing/2014/main" val="309892094"/>
                        </a:ext>
                      </a:extLst>
                    </a:gridCol>
                    <a:gridCol w="700872">
                      <a:extLst>
                        <a:ext uri="{9D8B030D-6E8A-4147-A177-3AD203B41FA5}">
                          <a16:colId xmlns:a16="http://schemas.microsoft.com/office/drawing/2014/main" val="905055787"/>
                        </a:ext>
                      </a:extLst>
                    </a:gridCol>
                    <a:gridCol w="610154">
                      <a:extLst>
                        <a:ext uri="{9D8B030D-6E8A-4147-A177-3AD203B41FA5}">
                          <a16:colId xmlns:a16="http://schemas.microsoft.com/office/drawing/2014/main" val="2498278083"/>
                        </a:ext>
                      </a:extLst>
                    </a:gridCol>
                    <a:gridCol w="678547">
                      <a:extLst>
                        <a:ext uri="{9D8B030D-6E8A-4147-A177-3AD203B41FA5}">
                          <a16:colId xmlns:a16="http://schemas.microsoft.com/office/drawing/2014/main" val="2304279743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46108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0.8415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0.5403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0.01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0.9999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866113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0.9093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−0.4161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0.02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0.9998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1476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1B7E88C-968E-4724-817B-C74525250E2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10749" y="2101003"/>
              <a:ext cx="2650730" cy="845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1157">
                      <a:extLst>
                        <a:ext uri="{9D8B030D-6E8A-4147-A177-3AD203B41FA5}">
                          <a16:colId xmlns:a16="http://schemas.microsoft.com/office/drawing/2014/main" val="309892094"/>
                        </a:ext>
                      </a:extLst>
                    </a:gridCol>
                    <a:gridCol w="700872">
                      <a:extLst>
                        <a:ext uri="{9D8B030D-6E8A-4147-A177-3AD203B41FA5}">
                          <a16:colId xmlns:a16="http://schemas.microsoft.com/office/drawing/2014/main" val="905055787"/>
                        </a:ext>
                      </a:extLst>
                    </a:gridCol>
                    <a:gridCol w="610154">
                      <a:extLst>
                        <a:ext uri="{9D8B030D-6E8A-4147-A177-3AD203B41FA5}">
                          <a16:colId xmlns:a16="http://schemas.microsoft.com/office/drawing/2014/main" val="2498278083"/>
                        </a:ext>
                      </a:extLst>
                    </a:gridCol>
                    <a:gridCol w="678547">
                      <a:extLst>
                        <a:ext uri="{9D8B030D-6E8A-4147-A177-3AD203B41FA5}">
                          <a16:colId xmlns:a16="http://schemas.microsoft.com/office/drawing/2014/main" val="2304279743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17" t="-2128" r="-301835" b="-2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5652" t="-2128" r="-186087" b="-2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25000" t="-2128" r="-114000" b="-2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90179" t="-2128" r="-1786" b="-2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461089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17" t="-104348" r="-301835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5652" t="-104348" r="-186087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25000" t="-104348" r="-114000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90179" t="-104348" r="-1786" b="-1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0866113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17" t="-200000" r="-301835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5652" t="-200000" r="-186087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25000" t="-200000" r="-114000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90179" t="-200000" r="-1786" b="-42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1476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60148A9-0B76-46AB-A739-68F22B185C92}"/>
                  </a:ext>
                </a:extLst>
              </p:cNvPr>
              <p:cNvSpPr/>
              <p:nvPr/>
            </p:nvSpPr>
            <p:spPr>
              <a:xfrm>
                <a:off x="294626" y="3651964"/>
                <a:ext cx="9661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1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60148A9-0B76-46AB-A739-68F22B185C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6" y="3651964"/>
                <a:ext cx="96616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C1A63066-7F58-488F-8AB0-6522F09168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42457" y="3407893"/>
              <a:ext cx="3511900" cy="842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7785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657025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752903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713576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730611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‘the’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0.86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1.34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0.49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1.57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‘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dog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chemeClr val="tx1"/>
                                    </a:solidFill>
                                  </a:rPr>
                                  <m:t>’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1.2615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0.8803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1.4899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</a:t>
                          </a:r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’</a:t>
                          </a:r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1.4693</m:t>
                                </m:r>
                              </m:oMath>
                            </m:oMathPara>
                          </a14:m>
                          <a:endParaRPr lang="en-IN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0.5639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</m:t>
                                </m:r>
                                <m:r>
                                  <a:rPr lang="en-US" sz="14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1.4198</m:t>
                                </m:r>
                              </m:oMath>
                            </m:oMathPara>
                          </a14:m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C1A63066-7F58-488F-8AB0-6522F09168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42457" y="3407893"/>
              <a:ext cx="3511900" cy="842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7785">
                      <a:extLst>
                        <a:ext uri="{9D8B030D-6E8A-4147-A177-3AD203B41FA5}">
                          <a16:colId xmlns:a16="http://schemas.microsoft.com/office/drawing/2014/main" val="2036213061"/>
                        </a:ext>
                      </a:extLst>
                    </a:gridCol>
                    <a:gridCol w="657025">
                      <a:extLst>
                        <a:ext uri="{9D8B030D-6E8A-4147-A177-3AD203B41FA5}">
                          <a16:colId xmlns:a16="http://schemas.microsoft.com/office/drawing/2014/main" val="1472354994"/>
                        </a:ext>
                      </a:extLst>
                    </a:gridCol>
                    <a:gridCol w="752903">
                      <a:extLst>
                        <a:ext uri="{9D8B030D-6E8A-4147-A177-3AD203B41FA5}">
                          <a16:colId xmlns:a16="http://schemas.microsoft.com/office/drawing/2014/main" val="354109933"/>
                        </a:ext>
                      </a:extLst>
                    </a:gridCol>
                    <a:gridCol w="713576">
                      <a:extLst>
                        <a:ext uri="{9D8B030D-6E8A-4147-A177-3AD203B41FA5}">
                          <a16:colId xmlns:a16="http://schemas.microsoft.com/office/drawing/2014/main" val="381483847"/>
                        </a:ext>
                      </a:extLst>
                    </a:gridCol>
                    <a:gridCol w="730611">
                      <a:extLst>
                        <a:ext uri="{9D8B030D-6E8A-4147-A177-3AD203B41FA5}">
                          <a16:colId xmlns:a16="http://schemas.microsoft.com/office/drawing/2014/main" val="29336978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‘the’</a:t>
                          </a:r>
                          <a:endParaRPr lang="en-IN" sz="11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000" t="-6522" r="-336111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74194" t="-6522" r="-192742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290598" t="-6522" r="-104274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380833" t="-6522" r="-1667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233665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t="-106522" r="-436111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000" t="-106522" r="-336111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74194" t="-106522" r="-192742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290598" t="-106522" r="-104274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380833" t="-106522" r="-1667" b="-1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417998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</a:rPr>
                            <a:t>‘safely</a:t>
                          </a:r>
                          <a:r>
                            <a:rPr lang="en-US" sz="11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’</a:t>
                          </a:r>
                          <a:endParaRPr lang="en-IN" sz="1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000" t="-202128" r="-336111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74194" t="-202128" r="-192742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290598" t="-202128" r="-104274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380833" t="-202128" r="-1667" b="-42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85086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E67E1AF5-0FCF-4A0D-B3FC-ED5E29C1EF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4954" y="2760930"/>
            <a:ext cx="2539046" cy="238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2940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>
          <a:extLst>
            <a:ext uri="{FF2B5EF4-FFF2-40B4-BE49-F238E27FC236}">
              <a16:creationId xmlns:a16="http://schemas.microsoft.com/office/drawing/2014/main" id="{3F13FB1B-640F-4EED-1ADC-2CC5DEBB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76">
            <a:extLst>
              <a:ext uri="{FF2B5EF4-FFF2-40B4-BE49-F238E27FC236}">
                <a16:creationId xmlns:a16="http://schemas.microsoft.com/office/drawing/2014/main" id="{9234A5AD-CF9E-DE15-A2C3-308A2E26828D}"/>
              </a:ext>
            </a:extLst>
          </p:cNvPr>
          <p:cNvSpPr txBox="1"/>
          <p:nvPr/>
        </p:nvSpPr>
        <p:spPr>
          <a:xfrm>
            <a:off x="17400" y="417241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Transformer Anatomy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27" name="Google Shape;727;p76">
            <a:extLst>
              <a:ext uri="{FF2B5EF4-FFF2-40B4-BE49-F238E27FC236}">
                <a16:creationId xmlns:a16="http://schemas.microsoft.com/office/drawing/2014/main" id="{F481F1F2-9673-516E-16B5-B1852E44B652}"/>
              </a:ext>
            </a:extLst>
          </p:cNvPr>
          <p:cNvCxnSpPr/>
          <p:nvPr/>
        </p:nvCxnSpPr>
        <p:spPr>
          <a:xfrm>
            <a:off x="17400" y="966840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8" name="Google Shape;728;p76">
            <a:extLst>
              <a:ext uri="{FF2B5EF4-FFF2-40B4-BE49-F238E27FC236}">
                <a16:creationId xmlns:a16="http://schemas.microsoft.com/office/drawing/2014/main" id="{FC39550F-DDEC-0F9F-6A2E-4410DEBC5406}"/>
              </a:ext>
            </a:extLst>
          </p:cNvPr>
          <p:cNvSpPr txBox="1"/>
          <p:nvPr/>
        </p:nvSpPr>
        <p:spPr>
          <a:xfrm>
            <a:off x="90950" y="861325"/>
            <a:ext cx="9109200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GB" sz="1500" dirty="0">
                <a:solidFill>
                  <a:schemeClr val="dk1"/>
                </a:solidFill>
              </a:rPr>
              <a:t>Transformer Architecture</a:t>
            </a:r>
            <a:endParaRPr sz="1500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GB" sz="1500" b="1" dirty="0">
                <a:solidFill>
                  <a:schemeClr val="dk1"/>
                </a:solidFill>
              </a:rPr>
              <a:t>Transformer </a:t>
            </a:r>
            <a:r>
              <a:rPr lang="en-GB" sz="1500" dirty="0">
                <a:solidFill>
                  <a:schemeClr val="dk1"/>
                </a:solidFill>
              </a:rPr>
              <a:t>is a deep learning model introduced in the 2017 paper </a:t>
            </a:r>
            <a:r>
              <a:rPr lang="en-GB" sz="1500" i="1" dirty="0">
                <a:solidFill>
                  <a:schemeClr val="dk1"/>
                </a:solidFill>
              </a:rPr>
              <a:t>"Attention Is All You Need"</a:t>
            </a:r>
            <a:r>
              <a:rPr lang="en-GB" sz="1500" dirty="0">
                <a:solidFill>
                  <a:schemeClr val="dk1"/>
                </a:solidFill>
              </a:rPr>
              <a:t>. It has become the foundation for most modern large language models (LLMs) due to its efficiency and effectiveness in handling sequential data, such as text. </a:t>
            </a:r>
            <a:endParaRPr sz="1500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GB" sz="1500" dirty="0">
                <a:solidFill>
                  <a:schemeClr val="dk1"/>
                </a:solidFill>
              </a:rPr>
              <a:t>Originally, it was designed for </a:t>
            </a:r>
            <a:r>
              <a:rPr lang="en-GB" sz="1500" b="1" dirty="0">
                <a:solidFill>
                  <a:schemeClr val="dk1"/>
                </a:solidFill>
              </a:rPr>
              <a:t>machine translation</a:t>
            </a:r>
            <a:r>
              <a:rPr lang="en-GB" sz="1500" dirty="0">
                <a:solidFill>
                  <a:schemeClr val="dk1"/>
                </a:solidFill>
              </a:rPr>
              <a:t>, where it translated text from one language (e.g., English) to another (e.g., German or French).</a:t>
            </a:r>
            <a:endParaRPr sz="1500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GB" sz="1500" dirty="0">
                <a:solidFill>
                  <a:schemeClr val="dk1"/>
                </a:solidFill>
              </a:rPr>
              <a:t>The Transformer consists of two main parts:</a:t>
            </a:r>
            <a:endParaRPr sz="1500" dirty="0">
              <a:solidFill>
                <a:schemeClr val="dk1"/>
              </a:solidFill>
            </a:endParaRPr>
          </a:p>
          <a:p>
            <a:pPr marL="457189" indent="-323842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GB" sz="1500" b="1" dirty="0">
                <a:solidFill>
                  <a:schemeClr val="dk1"/>
                </a:solidFill>
              </a:rPr>
              <a:t>Encoder</a:t>
            </a:r>
            <a:r>
              <a:rPr lang="en-GB" sz="1500" dirty="0">
                <a:solidFill>
                  <a:schemeClr val="dk1"/>
                </a:solidFill>
              </a:rPr>
              <a:t>: Processes the input text and converts it into a numerical representation (embedding).</a:t>
            </a:r>
            <a:endParaRPr sz="1500" dirty="0">
              <a:solidFill>
                <a:schemeClr val="dk1"/>
              </a:solidFill>
            </a:endParaRPr>
          </a:p>
          <a:p>
            <a:pPr marL="457189" indent="-323842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GB" sz="1500" b="1" dirty="0">
                <a:solidFill>
                  <a:schemeClr val="dk1"/>
                </a:solidFill>
              </a:rPr>
              <a:t>Decoder</a:t>
            </a:r>
            <a:r>
              <a:rPr lang="en-GB" sz="1500" dirty="0">
                <a:solidFill>
                  <a:schemeClr val="dk1"/>
                </a:solidFill>
              </a:rPr>
              <a:t>: Uses the encoded representation to generate the output text, one word at a time.</a:t>
            </a:r>
            <a:endParaRPr sz="1500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440F4B24-B2BE-0B7C-A70A-78345FFCB98C}"/>
              </a:ext>
            </a:extLst>
          </p:cNvPr>
          <p:cNvSpPr/>
          <p:nvPr/>
        </p:nvSpPr>
        <p:spPr>
          <a:xfrm>
            <a:off x="8304130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299F0B-6CBA-32D8-58B8-6B8975611F07}"/>
              </a:ext>
            </a:extLst>
          </p:cNvPr>
          <p:cNvSpPr/>
          <p:nvPr/>
        </p:nvSpPr>
        <p:spPr>
          <a:xfrm>
            <a:off x="17400" y="240276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600"/>
            </a:pPr>
            <a:r>
              <a:rPr lang="en-US" sz="1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8179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5" name="Google Shape;735;p77"/>
          <p:cNvCxnSpPr/>
          <p:nvPr/>
        </p:nvCxnSpPr>
        <p:spPr>
          <a:xfrm>
            <a:off x="17400" y="861325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6" name="Google Shape;736;p77"/>
          <p:cNvSpPr txBox="1"/>
          <p:nvPr/>
        </p:nvSpPr>
        <p:spPr>
          <a:xfrm>
            <a:off x="90950" y="861325"/>
            <a:ext cx="9109200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GB" sz="1500">
                <a:solidFill>
                  <a:schemeClr val="dk1"/>
                </a:solidFill>
              </a:rPr>
              <a:t>Transformer Architecture</a:t>
            </a:r>
            <a:endParaRPr sz="15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5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GB" sz="1500">
                <a:solidFill>
                  <a:schemeClr val="dk1"/>
                </a:solidFill>
              </a:rPr>
              <a:t>A simplified diagram </a:t>
            </a:r>
            <a:br>
              <a:rPr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</a:rPr>
              <a:t>taken from:</a:t>
            </a:r>
            <a:endParaRPr sz="1500">
              <a:solidFill>
                <a:schemeClr val="dk1"/>
              </a:solidFill>
            </a:endParaRPr>
          </a:p>
          <a:p>
            <a:pPr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GB" sz="8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Book: Build a Large Language Model (From Scratch)</a:t>
            </a:r>
            <a:endParaRPr sz="15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5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endParaRPr sz="1500">
              <a:solidFill>
                <a:schemeClr val="dk1"/>
              </a:solidFill>
            </a:endParaRPr>
          </a:p>
        </p:txBody>
      </p:sp>
      <p:pic>
        <p:nvPicPr>
          <p:cNvPr id="738" name="Google Shape;73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2476" y="1050651"/>
            <a:ext cx="5501350" cy="39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77"/>
          <p:cNvSpPr txBox="1"/>
          <p:nvPr/>
        </p:nvSpPr>
        <p:spPr>
          <a:xfrm>
            <a:off x="0" y="4622400"/>
            <a:ext cx="27666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800">
                <a:solidFill>
                  <a:schemeClr val="dk2"/>
                </a:solidFill>
              </a:rPr>
              <a:t>References:</a:t>
            </a:r>
            <a:endParaRPr sz="800">
              <a:solidFill>
                <a:schemeClr val="dk2"/>
              </a:solidFill>
            </a:endParaRPr>
          </a:p>
          <a:p>
            <a:r>
              <a:rPr lang="en-GB" sz="800" u="sng">
                <a:solidFill>
                  <a:schemeClr val="hlink"/>
                </a:solidFill>
                <a:hlinkClick r:id="rId3"/>
              </a:rPr>
              <a:t>Book: Build a Large Language Model (From Scratch) </a:t>
            </a:r>
            <a:endParaRPr sz="800">
              <a:solidFill>
                <a:schemeClr val="dk2"/>
              </a:solidFill>
            </a:endParaRPr>
          </a:p>
          <a:p>
            <a:endParaRPr sz="800">
              <a:solidFill>
                <a:schemeClr val="dk2"/>
              </a:solidFill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84AEA904-B054-E0E1-8884-BD099BC70D96}"/>
              </a:ext>
            </a:extLst>
          </p:cNvPr>
          <p:cNvSpPr/>
          <p:nvPr/>
        </p:nvSpPr>
        <p:spPr>
          <a:xfrm>
            <a:off x="8304130" y="53623"/>
            <a:ext cx="739525" cy="11727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3" name="Google Shape;726;p76">
            <a:extLst>
              <a:ext uri="{FF2B5EF4-FFF2-40B4-BE49-F238E27FC236}">
                <a16:creationId xmlns:a16="http://schemas.microsoft.com/office/drawing/2014/main" id="{14E216A9-951C-9AE0-9D76-1F350FA15661}"/>
              </a:ext>
            </a:extLst>
          </p:cNvPr>
          <p:cNvSpPr txBox="1"/>
          <p:nvPr/>
        </p:nvSpPr>
        <p:spPr>
          <a:xfrm>
            <a:off x="17400" y="417241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Transformer Anatomy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71FDB0-5846-CB47-6B67-6E3BBF460CA2}"/>
              </a:ext>
            </a:extLst>
          </p:cNvPr>
          <p:cNvSpPr/>
          <p:nvPr/>
        </p:nvSpPr>
        <p:spPr>
          <a:xfrm>
            <a:off x="17400" y="240276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600"/>
            </a:pPr>
            <a:r>
              <a:rPr lang="en-US" sz="1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7412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5" name="Google Shape;745;p78"/>
          <p:cNvCxnSpPr/>
          <p:nvPr/>
        </p:nvCxnSpPr>
        <p:spPr>
          <a:xfrm>
            <a:off x="358100" y="797325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46" name="Google Shape;746;p78"/>
          <p:cNvSpPr txBox="1"/>
          <p:nvPr/>
        </p:nvSpPr>
        <p:spPr>
          <a:xfrm>
            <a:off x="90950" y="861325"/>
            <a:ext cx="9109200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GB" sz="1500">
                <a:solidFill>
                  <a:schemeClr val="dk1"/>
                </a:solidFill>
              </a:rPr>
              <a:t>Transformer Architecture</a:t>
            </a:r>
            <a:endParaRPr sz="15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500">
              <a:solidFill>
                <a:schemeClr val="dk1"/>
              </a:solidFill>
            </a:endParaRPr>
          </a:p>
          <a:p>
            <a:pPr>
              <a:spcBef>
                <a:spcPts val="1200"/>
              </a:spcBef>
            </a:pPr>
            <a:r>
              <a:rPr lang="en-GB" sz="1500">
                <a:solidFill>
                  <a:schemeClr val="dk1"/>
                </a:solidFill>
              </a:rPr>
              <a:t>Original diagram from the paper:</a:t>
            </a:r>
            <a:endParaRPr sz="1500">
              <a:solidFill>
                <a:schemeClr val="dk1"/>
              </a:solidFill>
            </a:endParaRPr>
          </a:p>
          <a:p>
            <a:r>
              <a:rPr lang="en-GB" sz="1500" u="sng">
                <a:solidFill>
                  <a:schemeClr val="hlink"/>
                </a:solidFill>
                <a:hlinkClick r:id="rId3"/>
              </a:rPr>
              <a:t>Source</a:t>
            </a:r>
            <a:endParaRPr sz="15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5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748" name="Google Shape;748;p78"/>
          <p:cNvSpPr txBox="1"/>
          <p:nvPr/>
        </p:nvSpPr>
        <p:spPr>
          <a:xfrm>
            <a:off x="0" y="4622400"/>
            <a:ext cx="27666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800">
                <a:solidFill>
                  <a:schemeClr val="dk2"/>
                </a:solidFill>
              </a:rPr>
              <a:t>References:</a:t>
            </a:r>
            <a:endParaRPr sz="800">
              <a:solidFill>
                <a:schemeClr val="dk2"/>
              </a:solidFill>
            </a:endParaRPr>
          </a:p>
          <a:p>
            <a:r>
              <a:rPr lang="en-GB" sz="800" u="sng">
                <a:solidFill>
                  <a:schemeClr val="hlink"/>
                </a:solidFill>
                <a:hlinkClick r:id="rId4"/>
              </a:rPr>
              <a:t>Book: Build a Large Language Model (From Scratch) </a:t>
            </a:r>
            <a:endParaRPr sz="800">
              <a:solidFill>
                <a:schemeClr val="dk2"/>
              </a:solidFill>
            </a:endParaRPr>
          </a:p>
          <a:p>
            <a:endParaRPr sz="800">
              <a:solidFill>
                <a:schemeClr val="dk2"/>
              </a:solidFill>
            </a:endParaRPr>
          </a:p>
        </p:txBody>
      </p:sp>
      <p:pic>
        <p:nvPicPr>
          <p:cNvPr id="749" name="Google Shape;749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3650" y="797325"/>
            <a:ext cx="3044550" cy="4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bject 6">
            <a:extLst>
              <a:ext uri="{FF2B5EF4-FFF2-40B4-BE49-F238E27FC236}">
                <a16:creationId xmlns:a16="http://schemas.microsoft.com/office/drawing/2014/main" id="{2395FA89-CB13-F4FD-ECE2-8281C65A912C}"/>
              </a:ext>
            </a:extLst>
          </p:cNvPr>
          <p:cNvSpPr/>
          <p:nvPr/>
        </p:nvSpPr>
        <p:spPr>
          <a:xfrm>
            <a:off x="8304130" y="53623"/>
            <a:ext cx="739525" cy="11727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5" name="Google Shape;726;p76">
            <a:extLst>
              <a:ext uri="{FF2B5EF4-FFF2-40B4-BE49-F238E27FC236}">
                <a16:creationId xmlns:a16="http://schemas.microsoft.com/office/drawing/2014/main" id="{38987B8A-55AC-7203-EDBA-7479956678E2}"/>
              </a:ext>
            </a:extLst>
          </p:cNvPr>
          <p:cNvSpPr txBox="1"/>
          <p:nvPr/>
        </p:nvSpPr>
        <p:spPr>
          <a:xfrm>
            <a:off x="17400" y="417241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Transformer Anatomy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2605BD-B6FE-5F12-CC49-F4038F947D39}"/>
              </a:ext>
            </a:extLst>
          </p:cNvPr>
          <p:cNvSpPr/>
          <p:nvPr/>
        </p:nvSpPr>
        <p:spPr>
          <a:xfrm>
            <a:off x="17400" y="240276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600"/>
            </a:pPr>
            <a:r>
              <a:rPr lang="en-US" sz="1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4707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5" name="Google Shape;755;p79"/>
          <p:cNvCxnSpPr/>
          <p:nvPr/>
        </p:nvCxnSpPr>
        <p:spPr>
          <a:xfrm>
            <a:off x="0" y="780433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56" name="Google Shape;756;p79"/>
          <p:cNvSpPr txBox="1"/>
          <p:nvPr/>
        </p:nvSpPr>
        <p:spPr>
          <a:xfrm>
            <a:off x="90950" y="861325"/>
            <a:ext cx="9109200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GB" sz="1500" b="1">
                <a:solidFill>
                  <a:schemeClr val="dk1"/>
                </a:solidFill>
              </a:rPr>
              <a:t>How the Transformer Works</a:t>
            </a:r>
            <a:endParaRPr sz="1500" b="1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GB" sz="1500" b="1">
                <a:solidFill>
                  <a:schemeClr val="dk1"/>
                </a:solidFill>
              </a:rPr>
              <a:t>Encoder</a:t>
            </a:r>
            <a:r>
              <a:rPr lang="en-GB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marL="457189" indent="-323842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The encoder takes the input text (e.g., "This is an example") </a:t>
            </a:r>
            <a:br>
              <a:rPr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</a:rPr>
              <a:t>and converts it into a series of </a:t>
            </a:r>
            <a:r>
              <a:rPr lang="en-GB" sz="1500" b="1">
                <a:solidFill>
                  <a:schemeClr val="dk1"/>
                </a:solidFill>
              </a:rPr>
              <a:t>numerical vectors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marL="457189" indent="-323842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These vectors capture the </a:t>
            </a:r>
            <a:r>
              <a:rPr lang="en-GB" sz="1500" b="1">
                <a:solidFill>
                  <a:schemeClr val="dk1"/>
                </a:solidFill>
              </a:rPr>
              <a:t>contextual meaning</a:t>
            </a:r>
            <a:r>
              <a:rPr lang="en-GB" sz="1500">
                <a:solidFill>
                  <a:schemeClr val="dk1"/>
                </a:solidFill>
              </a:rPr>
              <a:t> </a:t>
            </a:r>
            <a:br>
              <a:rPr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</a:rPr>
              <a:t>of the input text, considering the relationships between words.</a:t>
            </a:r>
            <a:endParaRPr sz="1500">
              <a:solidFill>
                <a:schemeClr val="dk1"/>
              </a:solidFill>
            </a:endParaRPr>
          </a:p>
          <a:p>
            <a:pPr marL="457189" indent="-323842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The encoder consists of multiple layers, each</a:t>
            </a:r>
            <a:br>
              <a:rPr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</a:rPr>
              <a:t>using a mechanism called </a:t>
            </a:r>
            <a:r>
              <a:rPr lang="en-GB" sz="1500" b="1">
                <a:solidFill>
                  <a:schemeClr val="dk1"/>
                </a:solidFill>
              </a:rPr>
              <a:t>self-attention</a:t>
            </a:r>
            <a:r>
              <a:rPr lang="en-GB" sz="1500">
                <a:solidFill>
                  <a:schemeClr val="dk1"/>
                </a:solidFill>
              </a:rPr>
              <a:t> to focus </a:t>
            </a:r>
            <a:br>
              <a:rPr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</a:rPr>
              <a:t>on the most important parts of the input text.</a:t>
            </a:r>
            <a:endParaRPr sz="15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5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endParaRPr sz="1500">
              <a:solidFill>
                <a:schemeClr val="dk1"/>
              </a:solidFill>
            </a:endParaRPr>
          </a:p>
        </p:txBody>
      </p:sp>
      <p:pic>
        <p:nvPicPr>
          <p:cNvPr id="758" name="Google Shape;758;p79"/>
          <p:cNvPicPr preferRelativeResize="0"/>
          <p:nvPr/>
        </p:nvPicPr>
        <p:blipFill rotWithShape="1">
          <a:blip r:embed="rId3">
            <a:alphaModFix/>
          </a:blip>
          <a:srcRect l="2550" r="52552"/>
          <a:stretch/>
        </p:blipFill>
        <p:spPr>
          <a:xfrm>
            <a:off x="6055726" y="1013751"/>
            <a:ext cx="2469999" cy="39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9"/>
          <p:cNvSpPr txBox="1"/>
          <p:nvPr/>
        </p:nvSpPr>
        <p:spPr>
          <a:xfrm>
            <a:off x="0" y="4622400"/>
            <a:ext cx="27666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800">
                <a:solidFill>
                  <a:schemeClr val="dk2"/>
                </a:solidFill>
              </a:rPr>
              <a:t>References:</a:t>
            </a:r>
            <a:endParaRPr sz="800">
              <a:solidFill>
                <a:schemeClr val="dk2"/>
              </a:solidFill>
            </a:endParaRPr>
          </a:p>
          <a:p>
            <a:r>
              <a:rPr lang="en-GB" sz="800" u="sng">
                <a:solidFill>
                  <a:schemeClr val="hlink"/>
                </a:solidFill>
                <a:hlinkClick r:id="rId4"/>
              </a:rPr>
              <a:t>Book: Build a Large Language Model (From Scratch) </a:t>
            </a:r>
            <a:endParaRPr sz="800">
              <a:solidFill>
                <a:schemeClr val="dk2"/>
              </a:solidFill>
            </a:endParaRPr>
          </a:p>
          <a:p>
            <a:endParaRPr sz="800">
              <a:solidFill>
                <a:schemeClr val="dk2"/>
              </a:solidFill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57BBD543-3F7B-6ADF-DE97-84183EA30976}"/>
              </a:ext>
            </a:extLst>
          </p:cNvPr>
          <p:cNvSpPr/>
          <p:nvPr/>
        </p:nvSpPr>
        <p:spPr>
          <a:xfrm>
            <a:off x="8304130" y="53623"/>
            <a:ext cx="739525" cy="11727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3" name="Google Shape;726;p76">
            <a:extLst>
              <a:ext uri="{FF2B5EF4-FFF2-40B4-BE49-F238E27FC236}">
                <a16:creationId xmlns:a16="http://schemas.microsoft.com/office/drawing/2014/main" id="{D6B4AF31-C4A5-25A5-1E2B-BA3CC48B184F}"/>
              </a:ext>
            </a:extLst>
          </p:cNvPr>
          <p:cNvSpPr txBox="1"/>
          <p:nvPr/>
        </p:nvSpPr>
        <p:spPr>
          <a:xfrm>
            <a:off x="35975" y="306822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Transformer Anatomy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C4CA60-6A76-8982-DBE9-80063AFC0A93}"/>
              </a:ext>
            </a:extLst>
          </p:cNvPr>
          <p:cNvSpPr/>
          <p:nvPr/>
        </p:nvSpPr>
        <p:spPr>
          <a:xfrm>
            <a:off x="35975" y="129857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600"/>
            </a:pPr>
            <a:r>
              <a:rPr lang="en-US" sz="1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585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5" name="Google Shape;765;p80"/>
          <p:cNvCxnSpPr/>
          <p:nvPr/>
        </p:nvCxnSpPr>
        <p:spPr>
          <a:xfrm>
            <a:off x="17400" y="829419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6" name="Google Shape;766;p80"/>
          <p:cNvSpPr txBox="1"/>
          <p:nvPr/>
        </p:nvSpPr>
        <p:spPr>
          <a:xfrm>
            <a:off x="90950" y="861325"/>
            <a:ext cx="9109200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GB" sz="1500" b="1">
                <a:solidFill>
                  <a:schemeClr val="dk1"/>
                </a:solidFill>
              </a:rPr>
              <a:t>How the Transformer Works</a:t>
            </a:r>
            <a:endParaRPr sz="1500" b="1">
              <a:solidFill>
                <a:schemeClr val="dk1"/>
              </a:solidFill>
            </a:endParaRPr>
          </a:p>
          <a:p>
            <a:pPr marL="457189" indent="-228594">
              <a:lnSpc>
                <a:spcPct val="115000"/>
              </a:lnSpc>
              <a:spcBef>
                <a:spcPts val="1200"/>
              </a:spcBef>
            </a:pPr>
            <a:r>
              <a:rPr lang="en-GB" sz="1500" b="1">
                <a:solidFill>
                  <a:schemeClr val="dk1"/>
                </a:solidFill>
              </a:rPr>
              <a:t>Decoder</a:t>
            </a:r>
            <a:r>
              <a:rPr lang="en-GB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marL="457189" indent="-323842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The decoder takes the encoded vectors from </a:t>
            </a:r>
            <a:br>
              <a:rPr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</a:rPr>
              <a:t>the encoder and generates the output text </a:t>
            </a:r>
            <a:br>
              <a:rPr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</a:rPr>
              <a:t>(e.g., "Das ist ein Beispiel").</a:t>
            </a:r>
            <a:endParaRPr sz="1500">
              <a:solidFill>
                <a:schemeClr val="dk1"/>
              </a:solidFill>
            </a:endParaRPr>
          </a:p>
          <a:p>
            <a:pPr marL="457189" indent="-323842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It generates the output </a:t>
            </a:r>
            <a:r>
              <a:rPr lang="en-GB" sz="1500" b="1">
                <a:solidFill>
                  <a:schemeClr val="dk1"/>
                </a:solidFill>
              </a:rPr>
              <a:t>one word at a time</a:t>
            </a:r>
            <a:r>
              <a:rPr lang="en-GB" sz="1500">
                <a:solidFill>
                  <a:schemeClr val="dk1"/>
                </a:solidFill>
              </a:rPr>
              <a:t>, </a:t>
            </a:r>
            <a:br>
              <a:rPr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</a:rPr>
              <a:t>using the context provided by the encoder and the words </a:t>
            </a:r>
            <a:br>
              <a:rPr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</a:rPr>
              <a:t>it has already generated.</a:t>
            </a:r>
            <a:endParaRPr sz="1500">
              <a:solidFill>
                <a:schemeClr val="dk1"/>
              </a:solidFill>
            </a:endParaRPr>
          </a:p>
          <a:p>
            <a:pPr marL="457189" indent="-323842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Like the encoder, the decoder also uses </a:t>
            </a:r>
            <a:r>
              <a:rPr lang="en-GB" sz="1500" b="1">
                <a:solidFill>
                  <a:schemeClr val="dk1"/>
                </a:solidFill>
              </a:rPr>
              <a:t>self-attention</a:t>
            </a:r>
            <a:r>
              <a:rPr lang="en-GB" sz="1500">
                <a:solidFill>
                  <a:schemeClr val="dk1"/>
                </a:solidFill>
              </a:rPr>
              <a:t> </a:t>
            </a:r>
            <a:br>
              <a:rPr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</a:rPr>
              <a:t>to focus on relevant parts of the input and previously </a:t>
            </a:r>
            <a:br>
              <a:rPr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</a:rPr>
              <a:t>generated output.</a:t>
            </a:r>
            <a:endParaRPr sz="1500">
              <a:solidFill>
                <a:schemeClr val="dk1"/>
              </a:solidFill>
            </a:endParaRPr>
          </a:p>
          <a:p>
            <a:pPr marL="457189">
              <a:lnSpc>
                <a:spcPct val="115000"/>
              </a:lnSpc>
              <a:spcBef>
                <a:spcPts val="1200"/>
              </a:spcBef>
            </a:pPr>
            <a:endParaRPr sz="1500" b="1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5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endParaRPr sz="1500">
              <a:solidFill>
                <a:schemeClr val="dk1"/>
              </a:solidFill>
            </a:endParaRPr>
          </a:p>
        </p:txBody>
      </p:sp>
      <p:pic>
        <p:nvPicPr>
          <p:cNvPr id="768" name="Google Shape;768;p80"/>
          <p:cNvPicPr preferRelativeResize="0"/>
          <p:nvPr/>
        </p:nvPicPr>
        <p:blipFill rotWithShape="1">
          <a:blip r:embed="rId3">
            <a:alphaModFix/>
          </a:blip>
          <a:srcRect l="48341"/>
          <a:stretch/>
        </p:blipFill>
        <p:spPr>
          <a:xfrm>
            <a:off x="5887325" y="1013751"/>
            <a:ext cx="2841900" cy="39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80"/>
          <p:cNvSpPr txBox="1"/>
          <p:nvPr/>
        </p:nvSpPr>
        <p:spPr>
          <a:xfrm>
            <a:off x="0" y="4622400"/>
            <a:ext cx="27666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800">
                <a:solidFill>
                  <a:schemeClr val="dk2"/>
                </a:solidFill>
              </a:rPr>
              <a:t>References:</a:t>
            </a:r>
            <a:endParaRPr sz="800">
              <a:solidFill>
                <a:schemeClr val="dk2"/>
              </a:solidFill>
            </a:endParaRPr>
          </a:p>
          <a:p>
            <a:r>
              <a:rPr lang="en-GB" sz="800" u="sng">
                <a:solidFill>
                  <a:schemeClr val="hlink"/>
                </a:solidFill>
                <a:hlinkClick r:id="rId4"/>
              </a:rPr>
              <a:t>Book: Build a Large Language Model (From Scratch) </a:t>
            </a:r>
            <a:endParaRPr sz="800">
              <a:solidFill>
                <a:schemeClr val="dk2"/>
              </a:solidFill>
            </a:endParaRPr>
          </a:p>
          <a:p>
            <a:endParaRPr sz="800">
              <a:solidFill>
                <a:schemeClr val="dk2"/>
              </a:solidFill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81A7659A-0E0A-C8C1-1A1D-FD94C697CBF3}"/>
              </a:ext>
            </a:extLst>
          </p:cNvPr>
          <p:cNvSpPr/>
          <p:nvPr/>
        </p:nvSpPr>
        <p:spPr>
          <a:xfrm>
            <a:off x="8304130" y="53623"/>
            <a:ext cx="739525" cy="11727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3" name="Google Shape;726;p76">
            <a:extLst>
              <a:ext uri="{FF2B5EF4-FFF2-40B4-BE49-F238E27FC236}">
                <a16:creationId xmlns:a16="http://schemas.microsoft.com/office/drawing/2014/main" id="{5F6E0324-32D1-442A-EF8D-C30868089519}"/>
              </a:ext>
            </a:extLst>
          </p:cNvPr>
          <p:cNvSpPr txBox="1"/>
          <p:nvPr/>
        </p:nvSpPr>
        <p:spPr>
          <a:xfrm>
            <a:off x="17400" y="417241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Transformer Anatomy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ECE105-F429-48AB-FC3E-DECC24E650D0}"/>
              </a:ext>
            </a:extLst>
          </p:cNvPr>
          <p:cNvSpPr/>
          <p:nvPr/>
        </p:nvSpPr>
        <p:spPr>
          <a:xfrm>
            <a:off x="17400" y="240276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600"/>
            </a:pPr>
            <a:r>
              <a:rPr lang="en-US" sz="1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757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5" name="Google Shape;775;p81"/>
          <p:cNvCxnSpPr/>
          <p:nvPr/>
        </p:nvCxnSpPr>
        <p:spPr>
          <a:xfrm>
            <a:off x="17400" y="840287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76" name="Google Shape;776;p81"/>
          <p:cNvSpPr txBox="1"/>
          <p:nvPr/>
        </p:nvSpPr>
        <p:spPr>
          <a:xfrm>
            <a:off x="90950" y="861325"/>
            <a:ext cx="9109200" cy="4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GB" sz="1500" b="1">
                <a:solidFill>
                  <a:schemeClr val="dk1"/>
                </a:solidFill>
              </a:rPr>
              <a:t>Self-Attention Mechanism</a:t>
            </a:r>
            <a:endParaRPr sz="1500" b="1">
              <a:solidFill>
                <a:schemeClr val="dk1"/>
              </a:solidFill>
            </a:endParaRPr>
          </a:p>
          <a:p>
            <a:pPr marL="457189" indent="-323842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A </a:t>
            </a:r>
            <a:r>
              <a:rPr lang="en-GB" sz="1500" b="1">
                <a:solidFill>
                  <a:schemeClr val="dk1"/>
                </a:solidFill>
              </a:rPr>
              <a:t>key innovation</a:t>
            </a:r>
            <a:r>
              <a:rPr lang="en-GB" sz="1500">
                <a:solidFill>
                  <a:schemeClr val="dk1"/>
                </a:solidFill>
              </a:rPr>
              <a:t> of the Transformer is the </a:t>
            </a:r>
            <a:r>
              <a:rPr lang="en-GB" sz="1500" b="1">
                <a:solidFill>
                  <a:schemeClr val="dk1"/>
                </a:solidFill>
              </a:rPr>
              <a:t>self-attention mechanism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marL="457189">
              <a:lnSpc>
                <a:spcPct val="115000"/>
              </a:lnSpc>
              <a:spcBef>
                <a:spcPts val="1200"/>
              </a:spcBef>
            </a:pPr>
            <a:r>
              <a:rPr lang="en-GB" sz="1500" b="1">
                <a:solidFill>
                  <a:schemeClr val="dk1"/>
                </a:solidFill>
              </a:rPr>
              <a:t>What it does</a:t>
            </a:r>
            <a:r>
              <a:rPr lang="en-GB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marL="914378" lvl="1" indent="-323842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It allows the model to weigh the importance of different words in a sequence relative to each other.</a:t>
            </a:r>
            <a:endParaRPr sz="1500">
              <a:solidFill>
                <a:schemeClr val="dk1"/>
              </a:solidFill>
            </a:endParaRPr>
          </a:p>
          <a:p>
            <a:pPr marL="914378" lvl="1" indent="-323842">
              <a:lnSpc>
                <a:spcPct val="115000"/>
              </a:lnSpc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For example, in the sentence "The cat sat on the mat," the word "cat" is more important to "sat" than "mat" when determining the meaning of the sentence.</a:t>
            </a:r>
            <a:endParaRPr sz="1500">
              <a:solidFill>
                <a:schemeClr val="dk1"/>
              </a:solidFill>
            </a:endParaRPr>
          </a:p>
          <a:p>
            <a:pPr marL="457189">
              <a:lnSpc>
                <a:spcPct val="115000"/>
              </a:lnSpc>
              <a:spcBef>
                <a:spcPts val="1200"/>
              </a:spcBef>
            </a:pPr>
            <a:r>
              <a:rPr lang="en-GB" sz="1500" b="1">
                <a:solidFill>
                  <a:schemeClr val="dk1"/>
                </a:solidFill>
              </a:rPr>
              <a:t>Why it matters</a:t>
            </a:r>
            <a:r>
              <a:rPr lang="en-GB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marL="914378" lvl="1" indent="-323842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It enables the model to capture </a:t>
            </a:r>
            <a:r>
              <a:rPr lang="en-GB" sz="1500" b="1">
                <a:solidFill>
                  <a:schemeClr val="dk1"/>
                </a:solidFill>
              </a:rPr>
              <a:t>long-range dependencies</a:t>
            </a:r>
            <a:r>
              <a:rPr lang="en-GB" sz="1500">
                <a:solidFill>
                  <a:schemeClr val="dk1"/>
                </a:solidFill>
              </a:rPr>
              <a:t> (e.g., relationships between words far apart in a sentence).</a:t>
            </a:r>
            <a:endParaRPr sz="1500">
              <a:solidFill>
                <a:schemeClr val="dk1"/>
              </a:solidFill>
            </a:endParaRPr>
          </a:p>
          <a:p>
            <a:pPr marL="914378" lvl="1" indent="-323842">
              <a:lnSpc>
                <a:spcPct val="115000"/>
              </a:lnSpc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This improves the model's ability to understand context and generate coherent, contextually relevant output.</a:t>
            </a:r>
            <a:endParaRPr sz="15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500" b="1">
              <a:solidFill>
                <a:schemeClr val="dk1"/>
              </a:solidFill>
            </a:endParaRPr>
          </a:p>
          <a:p>
            <a:pPr marL="457189">
              <a:lnSpc>
                <a:spcPct val="115000"/>
              </a:lnSpc>
              <a:spcBef>
                <a:spcPts val="1200"/>
              </a:spcBef>
            </a:pPr>
            <a:endParaRPr sz="1500" b="1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5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EADA5BE0-CEFF-A161-9F0D-4062D9B38C9D}"/>
              </a:ext>
            </a:extLst>
          </p:cNvPr>
          <p:cNvSpPr/>
          <p:nvPr/>
        </p:nvSpPr>
        <p:spPr>
          <a:xfrm>
            <a:off x="8304130" y="53623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3" name="Google Shape;726;p76">
            <a:extLst>
              <a:ext uri="{FF2B5EF4-FFF2-40B4-BE49-F238E27FC236}">
                <a16:creationId xmlns:a16="http://schemas.microsoft.com/office/drawing/2014/main" id="{63DC7AB5-2CD6-6DE5-0E5F-FF7149AB0090}"/>
              </a:ext>
            </a:extLst>
          </p:cNvPr>
          <p:cNvSpPr txBox="1"/>
          <p:nvPr/>
        </p:nvSpPr>
        <p:spPr>
          <a:xfrm>
            <a:off x="17400" y="417241"/>
            <a:ext cx="91440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Transformer Anatomy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AE7746-E81C-8811-1BDA-66035018ECA6}"/>
              </a:ext>
            </a:extLst>
          </p:cNvPr>
          <p:cNvSpPr/>
          <p:nvPr/>
        </p:nvSpPr>
        <p:spPr>
          <a:xfrm>
            <a:off x="17400" y="240276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600"/>
            </a:pPr>
            <a:r>
              <a:rPr lang="en-US" sz="1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Generative AI and its Applications </a:t>
            </a:r>
            <a:endParaRPr lang="en-US" sz="1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2206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Architecture of Transformers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FCB0EF3B-9756-40E2-BB4B-2CE619AD3DAF}"/>
              </a:ext>
            </a:extLst>
          </p:cNvPr>
          <p:cNvSpPr txBox="1"/>
          <p:nvPr/>
        </p:nvSpPr>
        <p:spPr>
          <a:xfrm>
            <a:off x="294627" y="1111443"/>
            <a:ext cx="51497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Embeddings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Positional Encoding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Encoder Components-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Multi-Head (Self) Attention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Fully Connected Feed Forward Network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Residual Connections &amp; Layer Normalization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Decoder Components-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Masked Multi-Head (Self) Attention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Multi-Head (Cross) Attention</a:t>
            </a:r>
          </a:p>
          <a:p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Final Linear &amp; SoftMax Layer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4BB0A6-D485-4DED-9390-6A00E04F0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869" y="0"/>
            <a:ext cx="36004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307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Decoder – Multi-Head (Cross) attention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137784" y="1673819"/>
            <a:ext cx="571182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</a:rPr>
              <a:t>The second Multi-Head attention module in the layer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is slightly different.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It takes the </a:t>
            </a:r>
            <a:r>
              <a:rPr lang="en-US" sz="1800" dirty="0">
                <a:solidFill>
                  <a:srgbClr val="FF0000"/>
                </a:solidFill>
              </a:rPr>
              <a:t>Keys &amp; Values from the encoder </a:t>
            </a:r>
            <a:r>
              <a:rPr lang="en-US" sz="1800" dirty="0"/>
              <a:t>module</a:t>
            </a:r>
          </a:p>
          <a:p>
            <a:pPr algn="l"/>
            <a:r>
              <a:rPr lang="en-US" sz="1800" dirty="0"/>
              <a:t>and the Query from the previous multi-head attention</a:t>
            </a:r>
          </a:p>
          <a:p>
            <a:pPr algn="l"/>
            <a:r>
              <a:rPr lang="en-US" sz="1800" dirty="0"/>
              <a:t>module in the layer.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Since the Query (from decoder) is being performed on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a Key (from encoder), this is called </a:t>
            </a:r>
            <a:r>
              <a:rPr lang="en-US" sz="1800" dirty="0"/>
              <a:t>c</a:t>
            </a:r>
            <a:r>
              <a:rPr lang="en-US" sz="1800" dirty="0">
                <a:solidFill>
                  <a:schemeClr val="tx1"/>
                </a:solidFill>
              </a:rPr>
              <a:t>ross attention.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D70742-39F6-4B0B-969C-FEC76A91A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40" y="1500441"/>
            <a:ext cx="2998544" cy="29089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273863-5E41-EB95-EB88-41BCE7309B80}"/>
                  </a:ext>
                </a:extLst>
              </p14:cNvPr>
              <p14:cNvContentPartPr/>
              <p14:nvPr/>
            </p14:nvContentPartPr>
            <p14:xfrm>
              <a:off x="4992030" y="2816910"/>
              <a:ext cx="56700" cy="729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273863-5E41-EB95-EB88-41BCE7309B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82700" y="2807884"/>
                <a:ext cx="75361" cy="249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97595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Final Layer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294626" y="1027837"/>
                <a:ext cx="9199954" cy="3970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tx1"/>
                    </a:solidFill>
                  </a:rPr>
                  <a:t>The Decoder is also composed of a stack of identical layers. In the original </a:t>
                </a:r>
              </a:p>
              <a:p>
                <a:pPr algn="l"/>
                <a:r>
                  <a:rPr lang="en-US" sz="1800" dirty="0"/>
                  <a:t>paper, it is 6. The output of the top most decoder layer is passed through a</a:t>
                </a:r>
              </a:p>
              <a:p>
                <a:pPr algn="l"/>
                <a:r>
                  <a:rPr lang="en-US" sz="1800" dirty="0"/>
                  <a:t>Linear Layer which acts as a classifier to compute the scores of each word </a:t>
                </a:r>
              </a:p>
              <a:p>
                <a:pPr algn="l"/>
                <a:r>
                  <a:rPr lang="en-US" sz="1800" dirty="0"/>
                  <a:t>in the model’s vocabulary.</a:t>
                </a:r>
              </a:p>
              <a:p>
                <a:pPr algn="l"/>
                <a:endParaRPr lang="en-US" sz="1800" dirty="0"/>
              </a:p>
              <a:p>
                <a:pPr algn="l"/>
                <a:r>
                  <a:rPr lang="en-US" sz="1800" dirty="0"/>
                  <a:t>The last word embedding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US" sz="1800" dirty="0"/>
                  <a:t>) of the last output layer is passed through a linear </a:t>
                </a:r>
              </a:p>
              <a:p>
                <a:pPr algn="l"/>
                <a:r>
                  <a:rPr lang="en-US" sz="1800" dirty="0"/>
                  <a:t>transformation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1800" dirty="0"/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𝑉𝑜𝑐𝑎𝑏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algn="l"/>
                <a:endParaRPr lang="en-US" sz="1800" dirty="0"/>
              </a:p>
              <a:p>
                <a:pPr algn="l"/>
                <a:r>
                  <a:rPr lang="en-US" sz="1800" dirty="0"/>
                  <a:t>This transformation outputs a vector which has a score for each word in the vocabulary.</a:t>
                </a:r>
              </a:p>
              <a:p>
                <a:pPr algn="l"/>
                <a:r>
                  <a:rPr lang="en-US" sz="1800" dirty="0"/>
                  <a:t>SoftMax is applied on the vector and the word with the highest probability is chosen as</a:t>
                </a:r>
              </a:p>
              <a:p>
                <a:pPr algn="l"/>
                <a:r>
                  <a:rPr lang="en-US" sz="1800" dirty="0"/>
                  <a:t>the predicted word.</a:t>
                </a:r>
              </a:p>
              <a:p>
                <a:pPr algn="l"/>
                <a:endParaRPr lang="en-US" sz="1800" dirty="0"/>
              </a:p>
              <a:p>
                <a:pPr algn="l"/>
                <a:r>
                  <a:rPr lang="en-US" sz="1800" dirty="0"/>
                  <a:t>The predicted word is then passed as input to the decoder again until the &lt;end&gt; token is</a:t>
                </a:r>
              </a:p>
              <a:p>
                <a:pPr algn="l"/>
                <a:r>
                  <a:rPr lang="en-US" sz="1800" dirty="0"/>
                  <a:t>chosen. (auto-regressive)</a:t>
                </a:r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6" y="1027837"/>
                <a:ext cx="9199954" cy="3970318"/>
              </a:xfrm>
              <a:prstGeom prst="rect">
                <a:avLst/>
              </a:prstGeom>
              <a:blipFill>
                <a:blip r:embed="rId2"/>
                <a:stretch>
                  <a:fillRect l="-530" t="-922" b="-15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20890728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/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</p:spTree>
    <p:extLst>
      <p:ext uri="{BB962C8B-B14F-4D97-AF65-F5344CB8AC3E}">
        <p14:creationId xmlns:p14="http://schemas.microsoft.com/office/powerpoint/2010/main" val="27783214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5196B-9D93-FB7D-3C91-281CB456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5BE242-8856-11D6-4CAC-D47D9FF2A6AE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58C4B55-9BE1-7E73-95C0-A4C08E3AD64C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36630131-7E04-8043-EECB-7D287360949F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9A38CBDE-DA50-253B-56B5-28F2452398EC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98BDD7-2984-5776-B077-2054D6899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2" y="1131095"/>
            <a:ext cx="7565507" cy="341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3561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AF577-1414-4DB1-ABF6-8BCFCC55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028F38-F679-AD38-355A-F86AF631FE72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C41B0DF-4AC7-AB28-D105-D70AB344AC8D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F36C0CE6-F930-CCCF-A455-709F48DD326A}"/>
              </a:ext>
            </a:extLst>
          </p:cNvPr>
          <p:cNvSpPr/>
          <p:nvPr/>
        </p:nvSpPr>
        <p:spPr>
          <a:xfrm>
            <a:off x="294626" y="535120"/>
            <a:ext cx="5999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EF073D99-30EF-848B-139B-A2404DA213CA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2C167-D465-F938-11A9-25721014E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45" y="1122441"/>
            <a:ext cx="5147849" cy="3113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F95282-34B2-6786-26E5-0F1CD3DB1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578" y="4455241"/>
            <a:ext cx="4878716" cy="68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816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89D87-54EC-6E4D-3847-8FE1D2817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08611D-C41F-79B3-8006-DC273768C70D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8217373-7BC6-E023-9FEB-48B9A34564C5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F74B5F7C-1972-1FF3-1B21-207FF5A71DA7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4AD2C1-A115-0F01-6A15-F45ED9EE3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27" y="1837963"/>
            <a:ext cx="6807994" cy="207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234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4A4EA-B06E-F738-06C2-32AB9CD35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327A0C-9D0E-93CC-4D53-0A50642B576D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BFFEF91-EE8E-E87F-B420-D0C6A1A57E50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FB8B29FE-EA11-B195-68BA-28C5F9184D5B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972D1-FD66-6A23-A7E4-9C4E0C24D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410" y="1732360"/>
            <a:ext cx="7165181" cy="167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356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F3FE6-F92E-6302-0448-37A0C4FB5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49C543-3243-3E9E-15E8-8C59352827D6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4A26C75-FDE4-FEC0-EEFF-1391A3D45253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D2958282-1806-D6DF-F957-F0C980925F3B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AF8F0F-766E-1E50-4456-F9D2957B1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65" y="934483"/>
            <a:ext cx="5170060" cy="1756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49EB7A-64F5-2C42-5C6B-DBD5DEE51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09" y="2763118"/>
            <a:ext cx="4597159" cy="184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206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C11FB-38F6-EC8F-D2EA-929F7437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8CBE37-E64B-4EFC-A290-ADF4B9F9E290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602B979-F90B-CE19-F688-81274EFFF6F8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7AA2544C-9B6D-0310-60B4-FBA5BD19270C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708345-5EB2-FB65-EBB5-6081010E9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97" y="980812"/>
            <a:ext cx="4843486" cy="18353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E41E4D-B35C-86BB-8EF4-C28E73DA0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206" y="2734193"/>
            <a:ext cx="5030909" cy="198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489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91C41-E3F2-F6BF-106E-0BBCF63F8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580CEA-C592-D8FF-1F16-F61AB38ED89C}"/>
              </a:ext>
            </a:extLst>
          </p:cNvPr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E42255B-127F-285A-4502-0D71DBE4289C}"/>
              </a:ext>
            </a:extLst>
          </p:cNvPr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FFBA6944-BF9E-8AB9-0F70-E51D48EC9D52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DD34797D-0547-5A54-5DAA-1104BEAED6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33314" y="1042996"/>
              <a:ext cx="3885494" cy="1526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2230">
                      <a:extLst>
                        <a:ext uri="{9D8B030D-6E8A-4147-A177-3AD203B41FA5}">
                          <a16:colId xmlns:a16="http://schemas.microsoft.com/office/drawing/2014/main" val="2515087151"/>
                        </a:ext>
                      </a:extLst>
                    </a:gridCol>
                    <a:gridCol w="755816">
                      <a:extLst>
                        <a:ext uri="{9D8B030D-6E8A-4147-A177-3AD203B41FA5}">
                          <a16:colId xmlns:a16="http://schemas.microsoft.com/office/drawing/2014/main" val="750279534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2352219603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242084101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176792147"/>
                        </a:ext>
                      </a:extLst>
                    </a:gridCol>
                  </a:tblGrid>
                  <a:tr h="305352">
                    <a:tc>
                      <a:txBody>
                        <a:bodyPr/>
                        <a:lstStyle/>
                        <a:p>
                          <a:pPr algn="ctr"/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2399545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0.8408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2.0970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2.7278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2.7686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4142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0.1084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1.2778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−0.2488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−1.1374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557569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1.2523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2.7686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3.7890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0.4894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28104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1.2608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0.2271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−1.1589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0.6870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77898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DD34797D-0547-5A54-5DAA-1104BEAED6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33314" y="1042996"/>
              <a:ext cx="3885494" cy="1526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2230">
                      <a:extLst>
                        <a:ext uri="{9D8B030D-6E8A-4147-A177-3AD203B41FA5}">
                          <a16:colId xmlns:a16="http://schemas.microsoft.com/office/drawing/2014/main" val="2515087151"/>
                        </a:ext>
                      </a:extLst>
                    </a:gridCol>
                    <a:gridCol w="755816">
                      <a:extLst>
                        <a:ext uri="{9D8B030D-6E8A-4147-A177-3AD203B41FA5}">
                          <a16:colId xmlns:a16="http://schemas.microsoft.com/office/drawing/2014/main" val="750279534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2352219603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242084101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176792147"/>
                        </a:ext>
                      </a:extLst>
                    </a:gridCol>
                  </a:tblGrid>
                  <a:tr h="305352">
                    <a:tc>
                      <a:txBody>
                        <a:bodyPr/>
                        <a:lstStyle/>
                        <a:p>
                          <a:pPr algn="ctr"/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2399545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0484" t="-106000" r="-306452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7143" t="-106000" r="-201587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7143" t="-106000" r="-101587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7143" t="-106000" r="-1587" b="-3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4142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0484" t="-201961" r="-30645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7143" t="-201961" r="-20158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7143" t="-201961" r="-10158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7143" t="-201961" r="-1587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557569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0484" t="-308000" r="-306452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7143" t="-308000" r="-201587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7143" t="-308000" r="-101587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7143" t="-308000" r="-1587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28104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0484" t="-408000" r="-306452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7143" t="-408000" r="-201587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7143" t="-408000" r="-101587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7143" t="-408000" r="-1587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77898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B1D39F3-F3B5-433E-EE14-DDF9A6EDA899}"/>
                  </a:ext>
                </a:extLst>
              </p:cNvPr>
              <p:cNvSpPr/>
              <p:nvPr/>
            </p:nvSpPr>
            <p:spPr>
              <a:xfrm>
                <a:off x="1093471" y="1438257"/>
                <a:ext cx="941027" cy="7645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18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B1D39F3-F3B5-433E-EE14-DDF9A6EDA8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71" y="1438257"/>
                <a:ext cx="941027" cy="7645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AE4516-81CA-F79A-2F0F-21D864986833}"/>
              </a:ext>
            </a:extLst>
          </p:cNvPr>
          <p:cNvCxnSpPr>
            <a:cxnSpLocks/>
          </p:cNvCxnSpPr>
          <p:nvPr/>
        </p:nvCxnSpPr>
        <p:spPr>
          <a:xfrm>
            <a:off x="4507369" y="2724360"/>
            <a:ext cx="0" cy="5915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AD936A3-5C98-D0D0-3E96-EDAA88F3540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33314" y="3427560"/>
              <a:ext cx="3885494" cy="1526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2230">
                      <a:extLst>
                        <a:ext uri="{9D8B030D-6E8A-4147-A177-3AD203B41FA5}">
                          <a16:colId xmlns:a16="http://schemas.microsoft.com/office/drawing/2014/main" val="2515087151"/>
                        </a:ext>
                      </a:extLst>
                    </a:gridCol>
                    <a:gridCol w="755816">
                      <a:extLst>
                        <a:ext uri="{9D8B030D-6E8A-4147-A177-3AD203B41FA5}">
                          <a16:colId xmlns:a16="http://schemas.microsoft.com/office/drawing/2014/main" val="750279534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2352219603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242084101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176792147"/>
                        </a:ext>
                      </a:extLst>
                    </a:gridCol>
                  </a:tblGrid>
                  <a:tr h="305352">
                    <a:tc>
                      <a:txBody>
                        <a:bodyPr/>
                        <a:lstStyle/>
                        <a:p>
                          <a:pPr algn="ctr"/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2399545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0.8408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4142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0.1084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1.2778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557569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1.2523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2.7686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3.7890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28104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1.2608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0.2271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−1.1589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0.6870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77898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AD936A3-5C98-D0D0-3E96-EDAA88F3540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33314" y="3427560"/>
              <a:ext cx="3885494" cy="1526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2230">
                      <a:extLst>
                        <a:ext uri="{9D8B030D-6E8A-4147-A177-3AD203B41FA5}">
                          <a16:colId xmlns:a16="http://schemas.microsoft.com/office/drawing/2014/main" val="2515087151"/>
                        </a:ext>
                      </a:extLst>
                    </a:gridCol>
                    <a:gridCol w="755816">
                      <a:extLst>
                        <a:ext uri="{9D8B030D-6E8A-4147-A177-3AD203B41FA5}">
                          <a16:colId xmlns:a16="http://schemas.microsoft.com/office/drawing/2014/main" val="750279534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2352219603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242084101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176792147"/>
                        </a:ext>
                      </a:extLst>
                    </a:gridCol>
                  </a:tblGrid>
                  <a:tr h="305352">
                    <a:tc>
                      <a:txBody>
                        <a:bodyPr/>
                        <a:lstStyle/>
                        <a:p>
                          <a:pPr algn="ctr"/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2399545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484" t="-106000" r="-306452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7143" t="-106000" r="-201587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7143" t="-106000" r="-101587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7143" t="-106000" r="-1587" b="-3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4142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484" t="-201961" r="-30645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7143" t="-201961" r="-20158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7143" t="-201961" r="-10158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7143" t="-201961" r="-1587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557569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484" t="-308000" r="-306452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7143" t="-308000" r="-201587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7143" t="-308000" r="-101587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7143" t="-308000" r="-1587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28104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484" t="-408000" r="-306452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7143" t="-408000" r="-201587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7143" t="-408000" r="-101587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7143" t="-408000" r="-1587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778984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022736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6231" y="907442"/>
            <a:ext cx="622503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833" y="189180"/>
            <a:ext cx="5622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294626" y="1027837"/>
                <a:ext cx="793037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By placing </a:t>
                </a:r>
                <a14:m>
                  <m:oMath xmlns:m="http://schemas.openxmlformats.org/officeDocument/2006/math">
                    <m:r>
                      <a:rPr lang="en-US" sz="180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800" dirty="0"/>
                  <a:t> in the places where we don’t want the model to know the </a:t>
                </a:r>
              </a:p>
              <a:p>
                <a:r>
                  <a:rPr lang="en-US" sz="1800" dirty="0"/>
                  <a:t>attention scores, SoftMax computes them as 0, and hence future words are </a:t>
                </a:r>
              </a:p>
              <a:p>
                <a:r>
                  <a:rPr lang="en-US" sz="1800" dirty="0"/>
                  <a:t>successfully hidden from the model.</a:t>
                </a:r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6" y="1027837"/>
                <a:ext cx="7930376" cy="923330"/>
              </a:xfrm>
              <a:prstGeom prst="rect">
                <a:avLst/>
              </a:prstGeom>
              <a:blipFill>
                <a:blip r:embed="rId2"/>
                <a:stretch>
                  <a:fillRect l="-615" t="-3974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3FBB7E03-E1D7-7DDE-9EBB-67857B050945}"/>
              </a:ext>
            </a:extLst>
          </p:cNvPr>
          <p:cNvSpPr/>
          <p:nvPr/>
        </p:nvSpPr>
        <p:spPr>
          <a:xfrm>
            <a:off x="7834506" y="219075"/>
            <a:ext cx="739525" cy="1172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45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DF045C11-809B-4E5F-896D-D189DD02D5C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2453" y="2571750"/>
              <a:ext cx="3885494" cy="1526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2230">
                      <a:extLst>
                        <a:ext uri="{9D8B030D-6E8A-4147-A177-3AD203B41FA5}">
                          <a16:colId xmlns:a16="http://schemas.microsoft.com/office/drawing/2014/main" val="2515087151"/>
                        </a:ext>
                      </a:extLst>
                    </a:gridCol>
                    <a:gridCol w="755816">
                      <a:extLst>
                        <a:ext uri="{9D8B030D-6E8A-4147-A177-3AD203B41FA5}">
                          <a16:colId xmlns:a16="http://schemas.microsoft.com/office/drawing/2014/main" val="750279534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2352219603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242084101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176792147"/>
                        </a:ext>
                      </a:extLst>
                    </a:gridCol>
                  </a:tblGrid>
                  <a:tr h="305352">
                    <a:tc>
                      <a:txBody>
                        <a:bodyPr/>
                        <a:lstStyle/>
                        <a:p>
                          <a:pPr algn="ctr"/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2399545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0.8408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4142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0.1084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1.2778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557569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1.2523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2.7686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3.7890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28104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1.2608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0.2271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−1.1589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0.6870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77898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DF045C11-809B-4E5F-896D-D189DD02D5C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2453" y="2571750"/>
              <a:ext cx="3885494" cy="1526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2230">
                      <a:extLst>
                        <a:ext uri="{9D8B030D-6E8A-4147-A177-3AD203B41FA5}">
                          <a16:colId xmlns:a16="http://schemas.microsoft.com/office/drawing/2014/main" val="2515087151"/>
                        </a:ext>
                      </a:extLst>
                    </a:gridCol>
                    <a:gridCol w="755816">
                      <a:extLst>
                        <a:ext uri="{9D8B030D-6E8A-4147-A177-3AD203B41FA5}">
                          <a16:colId xmlns:a16="http://schemas.microsoft.com/office/drawing/2014/main" val="750279534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2352219603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242084101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176792147"/>
                        </a:ext>
                      </a:extLst>
                    </a:gridCol>
                  </a:tblGrid>
                  <a:tr h="305352">
                    <a:tc>
                      <a:txBody>
                        <a:bodyPr/>
                        <a:lstStyle/>
                        <a:p>
                          <a:pPr algn="ctr"/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2399545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0484" t="-101961" r="-30645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7143" t="-101961" r="-20158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7143" t="-101961" r="-10158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07143" t="-101961" r="-1587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4142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0484" t="-206000" r="-306452" b="-2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7143" t="-206000" r="-201587" b="-2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7143" t="-206000" r="-101587" b="-2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07143" t="-206000" r="-1587" b="-2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557569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0484" t="-300000" r="-306452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7143" t="-300000" r="-201587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7143" t="-300000" r="-101587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07143" t="-300000" r="-1587" b="-10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28104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0484" t="-408000" r="-306452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7143" t="-408000" r="-201587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7143" t="-408000" r="-101587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07143" t="-408000" r="-1587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778984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21F325-1F9D-4352-8C48-880502553D19}"/>
              </a:ext>
            </a:extLst>
          </p:cNvPr>
          <p:cNvCxnSpPr>
            <a:cxnSpLocks/>
          </p:cNvCxnSpPr>
          <p:nvPr/>
        </p:nvCxnSpPr>
        <p:spPr>
          <a:xfrm>
            <a:off x="4092899" y="3492614"/>
            <a:ext cx="8478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CB1CFC0-5A1D-4F8F-A1A4-D56B6661D6D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940729" y="2571750"/>
              <a:ext cx="3885494" cy="1526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2230">
                      <a:extLst>
                        <a:ext uri="{9D8B030D-6E8A-4147-A177-3AD203B41FA5}">
                          <a16:colId xmlns:a16="http://schemas.microsoft.com/office/drawing/2014/main" val="2515087151"/>
                        </a:ext>
                      </a:extLst>
                    </a:gridCol>
                    <a:gridCol w="755816">
                      <a:extLst>
                        <a:ext uri="{9D8B030D-6E8A-4147-A177-3AD203B41FA5}">
                          <a16:colId xmlns:a16="http://schemas.microsoft.com/office/drawing/2014/main" val="750279534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2352219603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242084101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176792147"/>
                        </a:ext>
                      </a:extLst>
                    </a:gridCol>
                  </a:tblGrid>
                  <a:tr h="305352">
                    <a:tc>
                      <a:txBody>
                        <a:bodyPr/>
                        <a:lstStyle/>
                        <a:p>
                          <a:pPr algn="ctr"/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2399545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4142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0.2370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0.7630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557569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0.0550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0.2504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0.6946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28104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0.5324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0.1202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100" b="0" i="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0474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77898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CB1CFC0-5A1D-4F8F-A1A4-D56B6661D6D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940729" y="2571750"/>
              <a:ext cx="3885494" cy="1526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2230">
                      <a:extLst>
                        <a:ext uri="{9D8B030D-6E8A-4147-A177-3AD203B41FA5}">
                          <a16:colId xmlns:a16="http://schemas.microsoft.com/office/drawing/2014/main" val="2515087151"/>
                        </a:ext>
                      </a:extLst>
                    </a:gridCol>
                    <a:gridCol w="755816">
                      <a:extLst>
                        <a:ext uri="{9D8B030D-6E8A-4147-A177-3AD203B41FA5}">
                          <a16:colId xmlns:a16="http://schemas.microsoft.com/office/drawing/2014/main" val="750279534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2352219603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242084101"/>
                        </a:ext>
                      </a:extLst>
                    </a:gridCol>
                    <a:gridCol w="765816">
                      <a:extLst>
                        <a:ext uri="{9D8B030D-6E8A-4147-A177-3AD203B41FA5}">
                          <a16:colId xmlns:a16="http://schemas.microsoft.com/office/drawing/2014/main" val="3176792147"/>
                        </a:ext>
                      </a:extLst>
                    </a:gridCol>
                  </a:tblGrid>
                  <a:tr h="305352">
                    <a:tc>
                      <a:txBody>
                        <a:bodyPr/>
                        <a:lstStyle/>
                        <a:p>
                          <a:pPr algn="ctr"/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2399545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&lt;start&gt;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484" t="-101961" r="-30564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7143" t="-101961" r="-20079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9600" t="-101961" r="-1024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6349" t="-101961" r="-1587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4142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‘crossed’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484" t="-206000" r="-305645" b="-2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7143" t="-206000" r="-200794" b="-2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9600" t="-206000" r="-102400" b="-2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6349" t="-206000" r="-1587" b="-2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557569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‘the’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484" t="-300000" r="-305645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7143" t="-300000" r="-200794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9600" t="-300000" r="-102400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6349" t="-300000" r="-1587" b="-10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28104"/>
                      </a:ext>
                    </a:extLst>
                  </a:tr>
                  <a:tr h="305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‘road’</a:t>
                          </a:r>
                          <a:endParaRPr lang="en-IN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484" t="-408000" r="-30564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7143" t="-408000" r="-20079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9600" t="-408000" r="-10240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6349" t="-408000" r="-1587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77898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E9463A8-C31B-4353-AEB5-E720E91B602F}"/>
                  </a:ext>
                </a:extLst>
              </p:cNvPr>
              <p:cNvSpPr/>
              <p:nvPr/>
            </p:nvSpPr>
            <p:spPr>
              <a:xfrm>
                <a:off x="4089678" y="3457739"/>
                <a:ext cx="746615" cy="253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 dirty="0">
                          <a:latin typeface="Cambria Math" panose="02040503050406030204" pitchFamily="18" charset="0"/>
                        </a:rPr>
                        <m:t>𝑠𝑜𝑓𝑡𝑚𝑎𝑥</m:t>
                      </m:r>
                    </m:oMath>
                  </m:oMathPara>
                </a14:m>
                <a:endParaRPr lang="en-IN" sz="105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E9463A8-C31B-4353-AEB5-E720E91B60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678" y="3457739"/>
                <a:ext cx="746615" cy="253916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2112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811A-2FC1-0C77-BD31-2E6C082F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6DF6489-D7A3-40AC-112A-543C900C9F3F}"/>
              </a:ext>
            </a:extLst>
          </p:cNvPr>
          <p:cNvGrpSpPr/>
          <p:nvPr/>
        </p:nvGrpSpPr>
        <p:grpSpPr>
          <a:xfrm>
            <a:off x="235384" y="4117275"/>
            <a:ext cx="800171" cy="808616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D25856-DCFF-7A6A-4374-83D050D31E24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0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71B449-2826-7977-8466-4D1865C32AA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05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CDF589-379E-0A5A-E263-6500CA2727EE}"/>
              </a:ext>
            </a:extLst>
          </p:cNvPr>
          <p:cNvCxnSpPr/>
          <p:nvPr/>
        </p:nvCxnSpPr>
        <p:spPr>
          <a:xfrm flipV="1">
            <a:off x="3667125" y="3288506"/>
            <a:ext cx="3436144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2A50068-80A7-0452-01BA-6FF1BFF4A0D8}"/>
              </a:ext>
            </a:extLst>
          </p:cNvPr>
          <p:cNvGrpSpPr/>
          <p:nvPr/>
        </p:nvGrpSpPr>
        <p:grpSpPr>
          <a:xfrm rot="10800000">
            <a:off x="8141777" y="199552"/>
            <a:ext cx="800171" cy="808616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4D576D-9B28-A545-1BD0-2B01A87345AC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05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6175C2-36E1-01FD-5B60-D8FD3FB0A51F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050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83248446-CE7F-0835-D6E8-CAE0E10E0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56" y="1340644"/>
            <a:ext cx="1781175" cy="2742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9F8ED8-595B-56B2-E722-3B6812D733E9}"/>
              </a:ext>
            </a:extLst>
          </p:cNvPr>
          <p:cNvSpPr/>
          <p:nvPr/>
        </p:nvSpPr>
        <p:spPr>
          <a:xfrm>
            <a:off x="3548270" y="2711649"/>
            <a:ext cx="46122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         Thank You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51200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5351</Words>
  <Application>Microsoft Office PowerPoint</Application>
  <PresentationFormat>On-screen Show (16:9)</PresentationFormat>
  <Paragraphs>851</Paragraphs>
  <Slides>79</Slides>
  <Notes>31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8" baseType="lpstr">
      <vt:lpstr>-apple-system</vt:lpstr>
      <vt:lpstr>Arial</vt:lpstr>
      <vt:lpstr>Calibri</vt:lpstr>
      <vt:lpstr>Cambria Math</vt:lpstr>
      <vt:lpstr>Roboto</vt:lpstr>
      <vt:lpstr>Segoe UI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 Pooja Agarwal</cp:lastModifiedBy>
  <cp:revision>43</cp:revision>
  <dcterms:modified xsi:type="dcterms:W3CDTF">2026-01-22T00:36:56Z</dcterms:modified>
</cp:coreProperties>
</file>